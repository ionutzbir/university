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789" r:id="rId2"/>
    <p:sldId id="791" r:id="rId3"/>
    <p:sldId id="792" r:id="rId4"/>
    <p:sldId id="790" r:id="rId5"/>
    <p:sldId id="794" r:id="rId6"/>
    <p:sldId id="795" r:id="rId7"/>
    <p:sldId id="796" r:id="rId8"/>
    <p:sldId id="797" r:id="rId9"/>
    <p:sldId id="798" r:id="rId10"/>
    <p:sldId id="799" r:id="rId11"/>
    <p:sldId id="800" r:id="rId12"/>
    <p:sldId id="801" r:id="rId13"/>
    <p:sldId id="802" r:id="rId14"/>
    <p:sldId id="803" r:id="rId15"/>
    <p:sldId id="804" r:id="rId16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>
          <p15:clr>
            <a:srgbClr val="A4A3A4"/>
          </p15:clr>
        </p15:guide>
        <p15:guide id="2" pos="15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3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bg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8000"/>
    <a:srgbClr val="FFCCFF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 autoAdjust="0"/>
    <p:restoredTop sz="89122" autoAdjust="0"/>
  </p:normalViewPr>
  <p:slideViewPr>
    <p:cSldViewPr>
      <p:cViewPr varScale="1">
        <p:scale>
          <a:sx n="59" d="100"/>
          <a:sy n="59" d="100"/>
        </p:scale>
        <p:origin x="1494" y="30"/>
      </p:cViewPr>
      <p:guideLst>
        <p:guide orient="horz" pos="3888"/>
        <p:guide pos="15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 varScale="1">
        <p:scale>
          <a:sx n="47" d="100"/>
          <a:sy n="47" d="100"/>
        </p:scale>
        <p:origin x="2710" y="44"/>
      </p:cViewPr>
      <p:guideLst>
        <p:guide orient="horz" pos="3023"/>
        <p:guide pos="230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5749925" y="8799513"/>
            <a:ext cx="684213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5227" tIns="46777" rIns="95227" bIns="46777">
            <a:spAutoFit/>
          </a:bodyPr>
          <a:lstStyle/>
          <a:p>
            <a:pPr defTabSz="963613" eaLnBrk="0" hangingPunct="0">
              <a:defRPr/>
            </a:pPr>
            <a:fld id="{1748623B-0616-4834-9F8E-5736999A7D95}" type="slidenum">
              <a:rPr lang="en-US" sz="2500">
                <a:latin typeface="Book Antiqua" pitchFamily="18" charset="0"/>
              </a:rPr>
              <a:pPr defTabSz="963613" eaLnBrk="0" hangingPunct="0">
                <a:defRPr/>
              </a:pPr>
              <a:t>‹N›</a:t>
            </a:fld>
            <a:endParaRPr lang="en-US" sz="250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2920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6825" y="727075"/>
            <a:ext cx="4783138" cy="35877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5750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27" tIns="46777" rIns="95227" bIns="467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80603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101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 smtClean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457950" y="225425"/>
            <a:ext cx="1924050" cy="587057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225425"/>
            <a:ext cx="5619750" cy="587057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25538"/>
            <a:ext cx="7696200" cy="497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5425"/>
            <a:ext cx="7696200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1371600" y="6324600"/>
            <a:ext cx="1981200" cy="3635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 anchorCtr="1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latin typeface="Arial" charset="0"/>
              </a:rPr>
              <a:t>Giuseppe Bianchi </a:t>
            </a: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685800" y="64770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3429000" y="64770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685800" y="65532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1033" name="Line 9"/>
          <p:cNvSpPr>
            <a:spLocks noChangeShapeType="1"/>
          </p:cNvSpPr>
          <p:nvPr/>
        </p:nvSpPr>
        <p:spPr bwMode="auto">
          <a:xfrm>
            <a:off x="3429000" y="65532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è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ð"/>
        <a:defRPr sz="3200">
          <a:solidFill>
            <a:schemeClr val="tx1"/>
          </a:solidFill>
          <a:latin typeface="Arial Narrow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à"/>
        <a:defRPr sz="2800">
          <a:solidFill>
            <a:schemeClr val="tx1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498725"/>
            <a:ext cx="7772400" cy="1470025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 smtClean="0"/>
              <a:t>Mobile </a:t>
            </a:r>
            <a:r>
              <a:rPr lang="it-IT" dirty="0" err="1" smtClean="0"/>
              <a:t>devices</a:t>
            </a:r>
            <a:r>
              <a:rPr lang="it-IT" dirty="0" smtClean="0"/>
              <a:t> </a:t>
            </a:r>
            <a:r>
              <a:rPr lang="it-IT" dirty="0" err="1" smtClean="0"/>
              <a:t>resilient</a:t>
            </a:r>
            <a:r>
              <a:rPr lang="it-IT" dirty="0" smtClean="0"/>
              <a:t> </a:t>
            </a:r>
            <a:r>
              <a:rPr lang="it-IT" dirty="0" err="1" smtClean="0"/>
              <a:t>to</a:t>
            </a:r>
            <a:r>
              <a:rPr lang="it-IT" dirty="0" smtClean="0"/>
              <a:t> </a:t>
            </a:r>
            <a:r>
              <a:rPr lang="it-IT" dirty="0" err="1" smtClean="0"/>
              <a:t>capture</a:t>
            </a:r>
            <a:r>
              <a:rPr lang="it-IT" dirty="0" smtClean="0"/>
              <a:t/>
            </a:r>
            <a:br>
              <a:rPr lang="it-IT" dirty="0" smtClean="0"/>
            </a:br>
            <a:r>
              <a:rPr lang="it-IT" sz="2400" dirty="0" smtClean="0"/>
              <a:t>(</a:t>
            </a:r>
            <a:r>
              <a:rPr lang="it-IT" sz="2400" dirty="0" err="1" smtClean="0"/>
              <a:t>MacKenzie</a:t>
            </a:r>
            <a:r>
              <a:rPr lang="it-IT" sz="2400" dirty="0" smtClean="0"/>
              <a:t> &amp; </a:t>
            </a:r>
            <a:r>
              <a:rPr lang="it-IT" sz="2400" dirty="0" err="1" smtClean="0"/>
              <a:t>Reiter</a:t>
            </a:r>
            <a:r>
              <a:rPr lang="it-IT" sz="2400" dirty="0" smtClean="0"/>
              <a:t> 2003)</a:t>
            </a:r>
            <a:endParaRPr lang="it-IT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smtClean="0"/>
              <a:t>Some </a:t>
            </a:r>
            <a:r>
              <a:rPr lang="it-IT" dirty="0" err="1" smtClean="0"/>
              <a:t>statistics</a:t>
            </a:r>
            <a:r>
              <a:rPr lang="it-IT" dirty="0" smtClean="0"/>
              <a:t> (@2010)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defRPr/>
            </a:pPr>
            <a:r>
              <a:rPr lang="it-IT" dirty="0" smtClean="0"/>
              <a:t>1 laptop </a:t>
            </a:r>
            <a:r>
              <a:rPr lang="it-IT" dirty="0" err="1" smtClean="0"/>
              <a:t>stolen</a:t>
            </a:r>
            <a:r>
              <a:rPr lang="it-IT" dirty="0" smtClean="0"/>
              <a:t> </a:t>
            </a:r>
            <a:r>
              <a:rPr lang="it-IT" dirty="0" err="1" smtClean="0"/>
              <a:t>every</a:t>
            </a:r>
            <a:r>
              <a:rPr lang="it-IT" dirty="0" smtClean="0"/>
              <a:t> 12 </a:t>
            </a:r>
            <a:r>
              <a:rPr lang="it-IT" dirty="0" err="1" smtClean="0"/>
              <a:t>seconds</a:t>
            </a:r>
            <a:endParaRPr lang="it-IT" dirty="0" smtClean="0"/>
          </a:p>
          <a:p>
            <a:pPr>
              <a:defRPr/>
            </a:pPr>
            <a:endParaRPr lang="it-IT" dirty="0" smtClean="0"/>
          </a:p>
          <a:p>
            <a:pPr>
              <a:defRPr/>
            </a:pPr>
            <a:r>
              <a:rPr lang="it-IT" dirty="0" err="1" smtClean="0"/>
              <a:t>Survey</a:t>
            </a:r>
            <a:r>
              <a:rPr lang="it-IT" dirty="0" smtClean="0"/>
              <a:t> on 329 </a:t>
            </a:r>
            <a:r>
              <a:rPr lang="it-IT" dirty="0" err="1" smtClean="0"/>
              <a:t>organizations</a:t>
            </a:r>
            <a:r>
              <a:rPr lang="it-IT" dirty="0" smtClean="0"/>
              <a:t>:</a:t>
            </a:r>
          </a:p>
          <a:p>
            <a:pPr lvl="1">
              <a:defRPr/>
            </a:pPr>
            <a:r>
              <a:rPr lang="it-IT" dirty="0" smtClean="0"/>
              <a:t>86400 laptop </a:t>
            </a:r>
            <a:r>
              <a:rPr lang="it-IT" dirty="0" err="1" smtClean="0"/>
              <a:t>lost</a:t>
            </a:r>
            <a:r>
              <a:rPr lang="it-IT" dirty="0" smtClean="0"/>
              <a:t>; </a:t>
            </a:r>
            <a:r>
              <a:rPr lang="it-IT" dirty="0" err="1" smtClean="0"/>
              <a:t>value</a:t>
            </a:r>
            <a:r>
              <a:rPr lang="it-IT" dirty="0" smtClean="0"/>
              <a:t>: 2.1 </a:t>
            </a:r>
            <a:r>
              <a:rPr lang="it-IT" dirty="0" err="1" smtClean="0"/>
              <a:t>B$</a:t>
            </a:r>
            <a:endParaRPr lang="it-IT" dirty="0" smtClean="0"/>
          </a:p>
          <a:p>
            <a:pPr lvl="2">
              <a:defRPr/>
            </a:pPr>
            <a:r>
              <a:rPr lang="it-IT" dirty="0" smtClean="0"/>
              <a:t>Data </a:t>
            </a:r>
            <a:r>
              <a:rPr lang="it-IT" dirty="0" err="1" smtClean="0"/>
              <a:t>value</a:t>
            </a:r>
            <a:r>
              <a:rPr lang="it-IT" dirty="0" smtClean="0"/>
              <a:t> </a:t>
            </a:r>
            <a:r>
              <a:rPr lang="it-IT" dirty="0" err="1" smtClean="0"/>
              <a:t>is</a:t>
            </a:r>
            <a:r>
              <a:rPr lang="it-IT" dirty="0" smtClean="0"/>
              <a:t> </a:t>
            </a:r>
            <a:r>
              <a:rPr lang="it-IT" dirty="0" err="1" smtClean="0"/>
              <a:t>greater</a:t>
            </a:r>
            <a:r>
              <a:rPr lang="it-IT" dirty="0" smtClean="0"/>
              <a:t> </a:t>
            </a:r>
            <a:r>
              <a:rPr lang="it-IT" dirty="0" err="1" smtClean="0"/>
              <a:t>than</a:t>
            </a:r>
            <a:r>
              <a:rPr lang="it-IT" dirty="0" smtClean="0"/>
              <a:t> PC </a:t>
            </a:r>
            <a:r>
              <a:rPr lang="it-IT" dirty="0" err="1" smtClean="0"/>
              <a:t>value</a:t>
            </a:r>
            <a:r>
              <a:rPr lang="it-IT" dirty="0" smtClean="0"/>
              <a:t>!</a:t>
            </a:r>
          </a:p>
          <a:p>
            <a:pPr lvl="1">
              <a:defRPr/>
            </a:pPr>
            <a:r>
              <a:rPr lang="it-IT" dirty="0" smtClean="0"/>
              <a:t>43% </a:t>
            </a:r>
            <a:r>
              <a:rPr lang="it-IT" dirty="0" err="1" smtClean="0"/>
              <a:t>stolen</a:t>
            </a:r>
            <a:r>
              <a:rPr lang="it-IT" dirty="0" smtClean="0"/>
              <a:t> at home</a:t>
            </a:r>
          </a:p>
          <a:p>
            <a:pPr lvl="1">
              <a:defRPr/>
            </a:pPr>
            <a:endParaRPr lang="it-IT" dirty="0" smtClean="0"/>
          </a:p>
          <a:p>
            <a:pPr>
              <a:defRPr/>
            </a:pPr>
            <a:r>
              <a:rPr lang="it-IT" dirty="0" smtClean="0"/>
              <a:t>FBI data (2001-2005)</a:t>
            </a:r>
          </a:p>
          <a:p>
            <a:pPr lvl="1">
              <a:defRPr/>
            </a:pPr>
            <a:r>
              <a:rPr lang="it-IT" dirty="0" smtClean="0"/>
              <a:t>160 </a:t>
            </a:r>
            <a:r>
              <a:rPr lang="it-IT" dirty="0" err="1" smtClean="0"/>
              <a:t>stolen</a:t>
            </a:r>
            <a:r>
              <a:rPr lang="it-IT" dirty="0" smtClean="0"/>
              <a:t> laptop</a:t>
            </a:r>
          </a:p>
          <a:p>
            <a:pPr lvl="1">
              <a:defRPr/>
            </a:pPr>
            <a:r>
              <a:rPr lang="it-IT" dirty="0" smtClean="0"/>
              <a:t>10+ </a:t>
            </a:r>
            <a:r>
              <a:rPr lang="it-IT" dirty="0" err="1" smtClean="0"/>
              <a:t>with</a:t>
            </a:r>
            <a:r>
              <a:rPr lang="it-IT" dirty="0" smtClean="0"/>
              <a:t> </a:t>
            </a:r>
            <a:r>
              <a:rPr lang="it-IT" dirty="0" err="1" smtClean="0"/>
              <a:t>critical</a:t>
            </a:r>
            <a:r>
              <a:rPr lang="it-IT" dirty="0" smtClean="0"/>
              <a:t> (</a:t>
            </a:r>
            <a:r>
              <a:rPr lang="it-IT" dirty="0" err="1" smtClean="0"/>
              <a:t>classified</a:t>
            </a:r>
            <a:r>
              <a:rPr lang="it-IT" dirty="0" smtClean="0"/>
              <a:t>) data</a:t>
            </a:r>
          </a:p>
          <a:p>
            <a:pPr lvl="1">
              <a:defRPr/>
            </a:pPr>
            <a:r>
              <a:rPr lang="it-IT" dirty="0" smtClean="0"/>
              <a:t>51: </a:t>
            </a:r>
            <a:r>
              <a:rPr lang="it-IT" dirty="0" err="1" smtClean="0"/>
              <a:t>unsure</a:t>
            </a:r>
            <a:r>
              <a:rPr lang="it-IT" dirty="0" smtClean="0"/>
              <a:t> </a:t>
            </a:r>
            <a:r>
              <a:rPr lang="it-IT" dirty="0" err="1" smtClean="0"/>
              <a:t>whether</a:t>
            </a:r>
            <a:r>
              <a:rPr lang="it-IT" dirty="0" smtClean="0"/>
              <a:t> </a:t>
            </a:r>
            <a:r>
              <a:rPr lang="it-IT" dirty="0" err="1" smtClean="0"/>
              <a:t>contained</a:t>
            </a:r>
            <a:r>
              <a:rPr lang="it-IT" dirty="0" smtClean="0"/>
              <a:t> </a:t>
            </a:r>
            <a:r>
              <a:rPr lang="it-IT" dirty="0" err="1" smtClean="0"/>
              <a:t>classified</a:t>
            </a:r>
            <a:r>
              <a:rPr lang="it-IT" dirty="0" smtClean="0"/>
              <a:t> data</a:t>
            </a:r>
          </a:p>
          <a:p>
            <a:pPr lvl="1">
              <a:defRPr/>
            </a:pPr>
            <a:endParaRPr lang="it-IT" dirty="0" smtClean="0"/>
          </a:p>
          <a:p>
            <a:pPr>
              <a:defRPr/>
            </a:pPr>
            <a:r>
              <a:rPr lang="it-IT" dirty="0" err="1" smtClean="0"/>
              <a:t>Famous</a:t>
            </a:r>
            <a:r>
              <a:rPr lang="it-IT" dirty="0" smtClean="0"/>
              <a:t> </a:t>
            </a:r>
            <a:r>
              <a:rPr lang="it-IT" dirty="0" err="1" smtClean="0"/>
              <a:t>R&amp;B</a:t>
            </a:r>
            <a:r>
              <a:rPr lang="it-IT" dirty="0" smtClean="0"/>
              <a:t> singer, Ryan Leslie</a:t>
            </a:r>
          </a:p>
          <a:p>
            <a:pPr lvl="1">
              <a:defRPr/>
            </a:pPr>
            <a:r>
              <a:rPr lang="it-IT" dirty="0" err="1" smtClean="0"/>
              <a:t>Offered</a:t>
            </a:r>
            <a:r>
              <a:rPr lang="it-IT" dirty="0" smtClean="0"/>
              <a:t> 1M$ </a:t>
            </a:r>
            <a:r>
              <a:rPr lang="it-IT" dirty="0" err="1" smtClean="0"/>
              <a:t>for</a:t>
            </a:r>
            <a:r>
              <a:rPr lang="it-IT" dirty="0" smtClean="0"/>
              <a:t> </a:t>
            </a:r>
            <a:r>
              <a:rPr lang="it-IT" dirty="0" err="1" smtClean="0"/>
              <a:t>his</a:t>
            </a:r>
            <a:r>
              <a:rPr lang="it-IT" dirty="0" smtClean="0"/>
              <a:t> </a:t>
            </a:r>
            <a:r>
              <a:rPr lang="it-IT" dirty="0" err="1" smtClean="0"/>
              <a:t>stolen</a:t>
            </a:r>
            <a:r>
              <a:rPr lang="it-IT" dirty="0" smtClean="0"/>
              <a:t> laptop in 2010</a:t>
            </a:r>
          </a:p>
          <a:p>
            <a:pPr lvl="1">
              <a:defRPr/>
            </a:pPr>
            <a:r>
              <a:rPr lang="it-IT" dirty="0" smtClean="0"/>
              <a:t>New </a:t>
            </a:r>
            <a:r>
              <a:rPr lang="it-IT" dirty="0" err="1" smtClean="0"/>
              <a:t>original</a:t>
            </a:r>
            <a:r>
              <a:rPr lang="it-IT" dirty="0" smtClean="0"/>
              <a:t> </a:t>
            </a:r>
            <a:r>
              <a:rPr lang="it-IT" dirty="0" err="1" smtClean="0"/>
              <a:t>songs</a:t>
            </a:r>
            <a:r>
              <a:rPr lang="it-IT" dirty="0" smtClean="0"/>
              <a:t> and </a:t>
            </a:r>
            <a:r>
              <a:rPr lang="it-IT" dirty="0" err="1" smtClean="0"/>
              <a:t>videos</a:t>
            </a:r>
            <a:r>
              <a:rPr lang="it-IT" dirty="0" smtClean="0"/>
              <a:t> </a:t>
            </a:r>
            <a:r>
              <a:rPr lang="it-IT" dirty="0" err="1" smtClean="0"/>
              <a:t>worth</a:t>
            </a:r>
            <a:r>
              <a:rPr lang="it-IT" dirty="0" smtClean="0"/>
              <a:t> A LOT </a:t>
            </a:r>
            <a:r>
              <a:rPr lang="it-IT" dirty="0" err="1" smtClean="0"/>
              <a:t>for</a:t>
            </a:r>
            <a:r>
              <a:rPr lang="it-IT" dirty="0" smtClean="0"/>
              <a:t> </a:t>
            </a:r>
            <a:r>
              <a:rPr lang="it-IT" dirty="0" err="1" smtClean="0"/>
              <a:t>him</a:t>
            </a:r>
            <a:endParaRPr lang="it-IT" dirty="0" smtClean="0"/>
          </a:p>
          <a:p>
            <a:pPr lvl="2">
              <a:defRPr/>
            </a:pPr>
            <a:r>
              <a:rPr lang="it-IT" dirty="0" smtClean="0"/>
              <a:t>(</a:t>
            </a:r>
            <a:r>
              <a:rPr lang="it-IT" dirty="0" err="1" smtClean="0"/>
              <a:t>did</a:t>
            </a:r>
            <a:r>
              <a:rPr lang="it-IT" dirty="0" smtClean="0"/>
              <a:t> </a:t>
            </a:r>
            <a:r>
              <a:rPr lang="it-IT" dirty="0" err="1" smtClean="0"/>
              <a:t>not</a:t>
            </a:r>
            <a:r>
              <a:rPr lang="it-IT" dirty="0" smtClean="0"/>
              <a:t> </a:t>
            </a:r>
            <a:r>
              <a:rPr lang="it-IT" dirty="0" err="1" smtClean="0"/>
              <a:t>get</a:t>
            </a:r>
            <a:r>
              <a:rPr lang="it-IT" dirty="0" smtClean="0"/>
              <a:t> </a:t>
            </a:r>
            <a:r>
              <a:rPr lang="it-IT" dirty="0" err="1" smtClean="0"/>
              <a:t>it</a:t>
            </a:r>
            <a:r>
              <a:rPr lang="it-IT" dirty="0" smtClean="0"/>
              <a:t> back)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 smtClean="0"/>
              <a:t>Capture</a:t>
            </a:r>
            <a:r>
              <a:rPr lang="it-IT" dirty="0" smtClean="0"/>
              <a:t> </a:t>
            </a:r>
            <a:r>
              <a:rPr lang="it-IT" dirty="0" err="1" smtClean="0"/>
              <a:t>resilient</a:t>
            </a:r>
            <a:r>
              <a:rPr lang="it-IT" dirty="0" smtClean="0"/>
              <a:t> </a:t>
            </a:r>
            <a:r>
              <a:rPr lang="it-IT" dirty="0" err="1" smtClean="0"/>
              <a:t>device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defRPr/>
            </a:pPr>
            <a:r>
              <a:rPr lang="it-IT" dirty="0" smtClean="0"/>
              <a:t>A </a:t>
            </a:r>
            <a:r>
              <a:rPr lang="it-IT" dirty="0" err="1" smtClean="0"/>
              <a:t>device</a:t>
            </a:r>
            <a:r>
              <a:rPr lang="it-IT" dirty="0" smtClean="0"/>
              <a:t> </a:t>
            </a:r>
            <a:r>
              <a:rPr lang="it-IT" dirty="0" err="1" smtClean="0"/>
              <a:t>that</a:t>
            </a:r>
            <a:r>
              <a:rPr lang="it-IT" dirty="0" smtClean="0"/>
              <a:t> CANNOT </a:t>
            </a:r>
            <a:r>
              <a:rPr lang="it-IT" dirty="0" err="1" smtClean="0"/>
              <a:t>be</a:t>
            </a:r>
            <a:r>
              <a:rPr lang="it-IT" dirty="0" smtClean="0"/>
              <a:t> </a:t>
            </a:r>
            <a:r>
              <a:rPr lang="it-IT" dirty="0" err="1" smtClean="0"/>
              <a:t>used</a:t>
            </a:r>
            <a:r>
              <a:rPr lang="it-IT" dirty="0" smtClean="0"/>
              <a:t> </a:t>
            </a:r>
            <a:r>
              <a:rPr lang="it-IT" dirty="0" err="1" smtClean="0"/>
              <a:t>by</a:t>
            </a:r>
            <a:r>
              <a:rPr lang="it-IT" dirty="0" smtClean="0"/>
              <a:t> </a:t>
            </a:r>
            <a:r>
              <a:rPr lang="it-IT" dirty="0" err="1" smtClean="0"/>
              <a:t>other</a:t>
            </a:r>
            <a:r>
              <a:rPr lang="it-IT" dirty="0" smtClean="0"/>
              <a:t> </a:t>
            </a:r>
            <a:r>
              <a:rPr lang="it-IT" dirty="0" err="1" smtClean="0"/>
              <a:t>than</a:t>
            </a:r>
            <a:r>
              <a:rPr lang="it-IT" dirty="0" smtClean="0"/>
              <a:t> the </a:t>
            </a:r>
            <a:r>
              <a:rPr lang="it-IT" dirty="0" err="1" smtClean="0"/>
              <a:t>rightful</a:t>
            </a:r>
            <a:r>
              <a:rPr lang="it-IT" dirty="0" smtClean="0"/>
              <a:t> </a:t>
            </a:r>
            <a:r>
              <a:rPr lang="it-IT" dirty="0" err="1" smtClean="0"/>
              <a:t>owner</a:t>
            </a:r>
            <a:endParaRPr lang="it-IT" dirty="0" smtClean="0"/>
          </a:p>
          <a:p>
            <a:pPr>
              <a:defRPr/>
            </a:pPr>
            <a:endParaRPr lang="it-IT" dirty="0" smtClean="0"/>
          </a:p>
          <a:p>
            <a:pPr>
              <a:defRPr/>
            </a:pPr>
            <a:r>
              <a:rPr lang="it-IT" dirty="0" smtClean="0"/>
              <a:t>Assume “</a:t>
            </a:r>
            <a:r>
              <a:rPr lang="it-IT" dirty="0" err="1" smtClean="0"/>
              <a:t>core</a:t>
            </a:r>
            <a:r>
              <a:rPr lang="it-IT" dirty="0" smtClean="0"/>
              <a:t>” </a:t>
            </a:r>
            <a:r>
              <a:rPr lang="it-IT" dirty="0" err="1" smtClean="0"/>
              <a:t>of</a:t>
            </a:r>
            <a:r>
              <a:rPr lang="it-IT" dirty="0" smtClean="0"/>
              <a:t> the </a:t>
            </a:r>
            <a:r>
              <a:rPr lang="it-IT" dirty="0" err="1" smtClean="0"/>
              <a:t>device</a:t>
            </a:r>
            <a:r>
              <a:rPr lang="it-IT" dirty="0" smtClean="0"/>
              <a:t> </a:t>
            </a:r>
            <a:r>
              <a:rPr lang="it-IT" dirty="0" err="1" smtClean="0"/>
              <a:t>is</a:t>
            </a:r>
            <a:r>
              <a:rPr lang="it-IT" dirty="0" smtClean="0"/>
              <a:t> a secret key</a:t>
            </a:r>
          </a:p>
          <a:p>
            <a:pPr lvl="1">
              <a:defRPr/>
            </a:pPr>
            <a:r>
              <a:rPr lang="it-IT" dirty="0" smtClean="0"/>
              <a:t>E.g. </a:t>
            </a:r>
            <a:r>
              <a:rPr lang="it-IT" dirty="0" err="1" smtClean="0"/>
              <a:t>to</a:t>
            </a:r>
            <a:r>
              <a:rPr lang="it-IT" dirty="0" smtClean="0"/>
              <a:t> </a:t>
            </a:r>
            <a:r>
              <a:rPr lang="it-IT" dirty="0" err="1" smtClean="0"/>
              <a:t>permit</a:t>
            </a:r>
            <a:r>
              <a:rPr lang="it-IT" dirty="0" smtClean="0"/>
              <a:t> </a:t>
            </a:r>
            <a:r>
              <a:rPr lang="it-IT" dirty="0" err="1" smtClean="0"/>
              <a:t>decryption</a:t>
            </a:r>
            <a:r>
              <a:rPr lang="it-IT" dirty="0" smtClean="0"/>
              <a:t>, </a:t>
            </a:r>
            <a:r>
              <a:rPr lang="it-IT" dirty="0" err="1" smtClean="0"/>
              <a:t>digital</a:t>
            </a:r>
            <a:r>
              <a:rPr lang="it-IT" dirty="0" smtClean="0"/>
              <a:t> </a:t>
            </a:r>
            <a:r>
              <a:rPr lang="it-IT" dirty="0" err="1" smtClean="0"/>
              <a:t>signatures</a:t>
            </a:r>
            <a:r>
              <a:rPr lang="it-IT" dirty="0" smtClean="0"/>
              <a:t>, </a:t>
            </a:r>
            <a:r>
              <a:rPr lang="it-IT" dirty="0" err="1" smtClean="0"/>
              <a:t>etc</a:t>
            </a:r>
            <a:endParaRPr lang="it-IT" dirty="0" smtClean="0"/>
          </a:p>
          <a:p>
            <a:pPr lvl="1">
              <a:defRPr/>
            </a:pPr>
            <a:r>
              <a:rPr lang="it-IT" dirty="0" smtClean="0"/>
              <a:t>E.g. SIM card</a:t>
            </a:r>
          </a:p>
          <a:p>
            <a:pPr lvl="1">
              <a:defRPr/>
            </a:pPr>
            <a:endParaRPr lang="it-IT" dirty="0" smtClean="0"/>
          </a:p>
          <a:p>
            <a:pPr>
              <a:defRPr/>
            </a:pPr>
            <a:r>
              <a:rPr lang="it-IT" dirty="0" err="1" smtClean="0"/>
              <a:t>Possible</a:t>
            </a:r>
            <a:r>
              <a:rPr lang="it-IT" dirty="0" smtClean="0"/>
              <a:t> security </a:t>
            </a:r>
            <a:r>
              <a:rPr lang="it-IT" dirty="0" err="1" smtClean="0"/>
              <a:t>approaches</a:t>
            </a:r>
            <a:endParaRPr lang="it-IT" dirty="0" smtClean="0"/>
          </a:p>
          <a:p>
            <a:pPr lvl="1">
              <a:defRPr/>
            </a:pPr>
            <a:r>
              <a:rPr lang="it-IT" dirty="0" err="1" smtClean="0"/>
              <a:t>Lock</a:t>
            </a:r>
            <a:r>
              <a:rPr lang="it-IT" dirty="0" smtClean="0"/>
              <a:t>/</a:t>
            </a:r>
            <a:r>
              <a:rPr lang="it-IT" dirty="0" err="1" smtClean="0"/>
              <a:t>Unlock</a:t>
            </a:r>
            <a:r>
              <a:rPr lang="it-IT" dirty="0" smtClean="0"/>
              <a:t> key via </a:t>
            </a:r>
            <a:r>
              <a:rPr lang="it-IT" dirty="0" err="1" smtClean="0"/>
              <a:t>passwd</a:t>
            </a:r>
            <a:r>
              <a:rPr lang="it-IT" dirty="0" smtClean="0"/>
              <a:t> (e.g. </a:t>
            </a:r>
            <a:r>
              <a:rPr lang="it-IT" dirty="0" err="1" smtClean="0"/>
              <a:t>cipher</a:t>
            </a:r>
            <a:r>
              <a:rPr lang="it-IT" dirty="0" smtClean="0"/>
              <a:t>/</a:t>
            </a:r>
            <a:r>
              <a:rPr lang="it-IT" dirty="0" err="1" smtClean="0"/>
              <a:t>decipher</a:t>
            </a:r>
            <a:r>
              <a:rPr lang="it-IT" dirty="0" smtClean="0"/>
              <a:t> </a:t>
            </a:r>
            <a:r>
              <a:rPr lang="it-IT" dirty="0" err="1" smtClean="0"/>
              <a:t>it</a:t>
            </a:r>
            <a:r>
              <a:rPr lang="it-IT" dirty="0" smtClean="0"/>
              <a:t>)</a:t>
            </a:r>
          </a:p>
          <a:p>
            <a:pPr lvl="2">
              <a:defRPr/>
            </a:pPr>
            <a:r>
              <a:rPr lang="it-IT" dirty="0" err="1" smtClean="0"/>
              <a:t>Weak</a:t>
            </a:r>
            <a:r>
              <a:rPr lang="it-IT" dirty="0" smtClean="0"/>
              <a:t>: </a:t>
            </a:r>
            <a:r>
              <a:rPr lang="it-IT" dirty="0" err="1" smtClean="0"/>
              <a:t>dictionary</a:t>
            </a:r>
            <a:r>
              <a:rPr lang="it-IT" dirty="0" smtClean="0"/>
              <a:t> </a:t>
            </a:r>
            <a:r>
              <a:rPr lang="it-IT" dirty="0" err="1" smtClean="0"/>
              <a:t>attack</a:t>
            </a:r>
            <a:r>
              <a:rPr lang="it-IT" dirty="0" smtClean="0"/>
              <a:t> </a:t>
            </a:r>
            <a:r>
              <a:rPr lang="it-IT" dirty="0" err="1" smtClean="0"/>
              <a:t>likely</a:t>
            </a:r>
            <a:r>
              <a:rPr lang="it-IT" dirty="0" smtClean="0"/>
              <a:t> </a:t>
            </a:r>
            <a:r>
              <a:rPr lang="it-IT" dirty="0" err="1" smtClean="0"/>
              <a:t>to</a:t>
            </a:r>
            <a:r>
              <a:rPr lang="it-IT" dirty="0" smtClean="0"/>
              <a:t> </a:t>
            </a:r>
            <a:r>
              <a:rPr lang="it-IT" dirty="0" err="1" smtClean="0"/>
              <a:t>succeed</a:t>
            </a:r>
            <a:endParaRPr lang="it-IT" dirty="0" smtClean="0"/>
          </a:p>
          <a:p>
            <a:pPr lvl="1">
              <a:defRPr/>
            </a:pPr>
            <a:r>
              <a:rPr lang="it-IT" dirty="0" err="1" smtClean="0"/>
              <a:t>Store</a:t>
            </a:r>
            <a:r>
              <a:rPr lang="it-IT" dirty="0" smtClean="0"/>
              <a:t> secret in </a:t>
            </a:r>
            <a:r>
              <a:rPr lang="it-IT" dirty="0" err="1" smtClean="0"/>
              <a:t>tamper-proof</a:t>
            </a:r>
            <a:r>
              <a:rPr lang="it-IT" dirty="0" smtClean="0"/>
              <a:t> HW box</a:t>
            </a:r>
          </a:p>
          <a:p>
            <a:pPr lvl="2">
              <a:defRPr/>
            </a:pPr>
            <a:r>
              <a:rPr lang="it-IT" dirty="0" err="1" smtClean="0"/>
              <a:t>Must</a:t>
            </a:r>
            <a:r>
              <a:rPr lang="it-IT" dirty="0" smtClean="0"/>
              <a:t> </a:t>
            </a:r>
            <a:r>
              <a:rPr lang="it-IT" dirty="0" err="1" smtClean="0"/>
              <a:t>have</a:t>
            </a:r>
            <a:r>
              <a:rPr lang="it-IT" dirty="0" smtClean="0"/>
              <a:t> </a:t>
            </a:r>
            <a:r>
              <a:rPr lang="it-IT" dirty="0" err="1" smtClean="0"/>
              <a:t>it</a:t>
            </a:r>
            <a:r>
              <a:rPr lang="it-IT" dirty="0" smtClean="0"/>
              <a:t>! </a:t>
            </a:r>
            <a:r>
              <a:rPr lang="it-IT" dirty="0" err="1" smtClean="0"/>
              <a:t>Must</a:t>
            </a:r>
            <a:r>
              <a:rPr lang="it-IT" dirty="0" smtClean="0"/>
              <a:t> </a:t>
            </a:r>
            <a:r>
              <a:rPr lang="it-IT" dirty="0" err="1" smtClean="0"/>
              <a:t>be</a:t>
            </a:r>
            <a:r>
              <a:rPr lang="it-IT" dirty="0" smtClean="0"/>
              <a:t> </a:t>
            </a:r>
            <a:r>
              <a:rPr lang="it-IT" dirty="0" err="1" smtClean="0"/>
              <a:t>robust</a:t>
            </a:r>
            <a:r>
              <a:rPr lang="it-IT" dirty="0" smtClean="0"/>
              <a:t> </a:t>
            </a:r>
            <a:r>
              <a:rPr lang="it-IT" dirty="0" err="1" smtClean="0"/>
              <a:t>to</a:t>
            </a:r>
            <a:r>
              <a:rPr lang="it-IT" dirty="0" smtClean="0"/>
              <a:t> side </a:t>
            </a:r>
            <a:r>
              <a:rPr lang="it-IT" dirty="0" err="1" smtClean="0"/>
              <a:t>channel</a:t>
            </a:r>
            <a:r>
              <a:rPr lang="it-IT" dirty="0" smtClean="0"/>
              <a:t> </a:t>
            </a:r>
            <a:r>
              <a:rPr lang="it-IT" dirty="0" err="1" smtClean="0"/>
              <a:t>analysis</a:t>
            </a:r>
            <a:endParaRPr lang="it-IT" dirty="0" smtClean="0"/>
          </a:p>
          <a:p>
            <a:pPr lvl="1">
              <a:defRPr/>
            </a:pPr>
            <a:r>
              <a:rPr lang="it-IT" dirty="0" err="1" smtClean="0"/>
              <a:t>Dynamically</a:t>
            </a:r>
            <a:r>
              <a:rPr lang="it-IT" dirty="0" smtClean="0"/>
              <a:t> download key </a:t>
            </a:r>
            <a:r>
              <a:rPr lang="it-IT" dirty="0" err="1" smtClean="0"/>
              <a:t>from</a:t>
            </a:r>
            <a:r>
              <a:rPr lang="it-IT" dirty="0" smtClean="0"/>
              <a:t> network </a:t>
            </a:r>
            <a:r>
              <a:rPr lang="it-IT" dirty="0" err="1" smtClean="0"/>
              <a:t>repository</a:t>
            </a:r>
            <a:endParaRPr lang="it-IT" dirty="0" smtClean="0"/>
          </a:p>
          <a:p>
            <a:pPr lvl="2">
              <a:defRPr/>
            </a:pPr>
            <a:r>
              <a:rPr lang="it-IT" dirty="0" err="1" smtClean="0"/>
              <a:t>Must</a:t>
            </a:r>
            <a:r>
              <a:rPr lang="it-IT" dirty="0" smtClean="0"/>
              <a:t> trust network </a:t>
            </a:r>
            <a:r>
              <a:rPr lang="it-IT" dirty="0" err="1" smtClean="0"/>
              <a:t>repository</a:t>
            </a:r>
            <a:r>
              <a:rPr lang="it-IT" dirty="0" smtClean="0"/>
              <a:t>!</a:t>
            </a:r>
          </a:p>
          <a:p>
            <a:pPr lvl="1">
              <a:defRPr/>
            </a:pPr>
            <a:endParaRPr lang="it-IT" dirty="0" smtClean="0"/>
          </a:p>
          <a:p>
            <a:pPr>
              <a:defRPr/>
            </a:pPr>
            <a:r>
              <a:rPr lang="it-IT" dirty="0" err="1" smtClean="0"/>
              <a:t>Other</a:t>
            </a:r>
            <a:r>
              <a:rPr lang="it-IT" dirty="0" smtClean="0"/>
              <a:t> </a:t>
            </a:r>
            <a:r>
              <a:rPr lang="it-IT" dirty="0" err="1" smtClean="0"/>
              <a:t>ideas</a:t>
            </a:r>
            <a:r>
              <a:rPr lang="it-IT" dirty="0" smtClean="0"/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 smtClean="0"/>
              <a:t>MacKenzie</a:t>
            </a:r>
            <a:r>
              <a:rPr lang="it-IT" dirty="0" smtClean="0"/>
              <a:t> + </a:t>
            </a:r>
            <a:r>
              <a:rPr lang="it-IT" dirty="0" err="1" smtClean="0"/>
              <a:t>Reiter</a:t>
            </a:r>
            <a:r>
              <a:rPr lang="it-IT" dirty="0" smtClean="0"/>
              <a:t>, 2003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it-IT" dirty="0" err="1" smtClean="0"/>
              <a:t>Assumption</a:t>
            </a:r>
            <a:r>
              <a:rPr lang="it-IT" dirty="0" smtClean="0"/>
              <a:t>: </a:t>
            </a:r>
            <a:r>
              <a:rPr lang="it-IT" dirty="0" err="1" smtClean="0"/>
              <a:t>device</a:t>
            </a:r>
            <a:r>
              <a:rPr lang="it-IT" dirty="0" smtClean="0"/>
              <a:t> </a:t>
            </a:r>
            <a:r>
              <a:rPr lang="it-IT" dirty="0" err="1" smtClean="0"/>
              <a:t>is</a:t>
            </a:r>
            <a:r>
              <a:rPr lang="it-IT" dirty="0" smtClean="0"/>
              <a:t> </a:t>
            </a:r>
            <a:r>
              <a:rPr lang="it-IT" dirty="0" err="1" smtClean="0"/>
              <a:t>connected</a:t>
            </a:r>
            <a:r>
              <a:rPr lang="it-IT" dirty="0" smtClean="0"/>
              <a:t> </a:t>
            </a:r>
            <a:r>
              <a:rPr lang="it-IT" dirty="0" err="1" smtClean="0"/>
              <a:t>when</a:t>
            </a:r>
            <a:r>
              <a:rPr lang="it-IT" dirty="0" smtClean="0"/>
              <a:t> </a:t>
            </a:r>
            <a:r>
              <a:rPr lang="it-IT" dirty="0" err="1" smtClean="0"/>
              <a:t>used</a:t>
            </a:r>
            <a:endParaRPr lang="it-IT" dirty="0" smtClean="0"/>
          </a:p>
          <a:p>
            <a:pPr lvl="3">
              <a:defRPr/>
            </a:pPr>
            <a:endParaRPr lang="it-IT" dirty="0" smtClean="0"/>
          </a:p>
          <a:p>
            <a:pPr>
              <a:defRPr/>
            </a:pPr>
            <a:r>
              <a:rPr lang="it-IT" dirty="0" err="1" smtClean="0"/>
              <a:t>Solution</a:t>
            </a:r>
            <a:r>
              <a:rPr lang="it-IT" dirty="0" smtClean="0"/>
              <a:t>: involve a </a:t>
            </a:r>
            <a:r>
              <a:rPr lang="en-US" dirty="0" smtClean="0"/>
              <a:t> “capture-protection server” in the </a:t>
            </a:r>
            <a:r>
              <a:rPr lang="it-IT" dirty="0" smtClean="0"/>
              <a:t>network</a:t>
            </a:r>
          </a:p>
          <a:p>
            <a:pPr lvl="1">
              <a:defRPr/>
            </a:pPr>
            <a:r>
              <a:rPr lang="it-IT" dirty="0" smtClean="0"/>
              <a:t>Server </a:t>
            </a:r>
            <a:r>
              <a:rPr lang="en-US" dirty="0" smtClean="0"/>
              <a:t>confirms that device remains in owner’s possession before permitting usage of key</a:t>
            </a:r>
          </a:p>
          <a:p>
            <a:pPr lvl="1">
              <a:defRPr/>
            </a:pPr>
            <a:r>
              <a:rPr lang="en-US" dirty="0" smtClean="0"/>
              <a:t>SW only, no tamper-proof requirements </a:t>
            </a:r>
          </a:p>
          <a:p>
            <a:pPr lvl="4">
              <a:defRPr/>
            </a:pPr>
            <a:endParaRPr lang="it-IT" dirty="0" smtClean="0"/>
          </a:p>
          <a:p>
            <a:pPr>
              <a:defRPr/>
            </a:pPr>
            <a:r>
              <a:rPr lang="en-US" dirty="0" smtClean="0"/>
              <a:t>“capture-protection server” does NOT need to be trusted!</a:t>
            </a:r>
          </a:p>
          <a:p>
            <a:pPr lvl="1">
              <a:buNone/>
              <a:defRPr/>
            </a:pPr>
            <a:endParaRPr lang="it-IT" dirty="0" smtClean="0"/>
          </a:p>
          <a:p>
            <a:pPr>
              <a:defRPr/>
            </a:pPr>
            <a:r>
              <a:rPr lang="it-IT" dirty="0" err="1" smtClean="0"/>
              <a:t>Two</a:t>
            </a:r>
            <a:r>
              <a:rPr lang="it-IT" dirty="0" smtClean="0"/>
              <a:t> </a:t>
            </a:r>
            <a:r>
              <a:rPr lang="it-IT" dirty="0" err="1" smtClean="0"/>
              <a:t>approaches</a:t>
            </a:r>
            <a:r>
              <a:rPr lang="it-IT" dirty="0" smtClean="0"/>
              <a:t>:</a:t>
            </a:r>
          </a:p>
          <a:p>
            <a:pPr lvl="1">
              <a:defRPr/>
            </a:pPr>
            <a:r>
              <a:rPr lang="it-IT" dirty="0" err="1" smtClean="0"/>
              <a:t>Basic</a:t>
            </a:r>
            <a:r>
              <a:rPr lang="it-IT" dirty="0" smtClean="0"/>
              <a:t> </a:t>
            </a:r>
            <a:r>
              <a:rPr lang="it-IT" dirty="0" err="1" smtClean="0"/>
              <a:t>one</a:t>
            </a:r>
            <a:r>
              <a:rPr lang="it-IT" dirty="0" smtClean="0"/>
              <a:t>, standard </a:t>
            </a:r>
            <a:r>
              <a:rPr lang="it-IT" dirty="0" err="1" smtClean="0"/>
              <a:t>protocol</a:t>
            </a:r>
            <a:endParaRPr lang="it-IT" dirty="0" smtClean="0"/>
          </a:p>
          <a:p>
            <a:pPr lvl="1">
              <a:defRPr/>
            </a:pPr>
            <a:r>
              <a:rPr lang="it-IT" dirty="0" err="1" smtClean="0"/>
              <a:t>Extended</a:t>
            </a:r>
            <a:r>
              <a:rPr lang="it-IT" dirty="0" smtClean="0"/>
              <a:t> </a:t>
            </a:r>
            <a:r>
              <a:rPr lang="it-IT" dirty="0" err="1" smtClean="0"/>
              <a:t>one</a:t>
            </a:r>
            <a:r>
              <a:rPr lang="it-IT" dirty="0" smtClean="0"/>
              <a:t>, </a:t>
            </a:r>
            <a:r>
              <a:rPr lang="it-IT" dirty="0" err="1" smtClean="0"/>
              <a:t>uses</a:t>
            </a:r>
            <a:r>
              <a:rPr lang="it-IT" dirty="0" smtClean="0"/>
              <a:t> (2,2) secret </a:t>
            </a:r>
            <a:r>
              <a:rPr lang="it-IT" dirty="0" err="1" smtClean="0"/>
              <a:t>sharing</a:t>
            </a:r>
            <a:endParaRPr lang="it-IT" dirty="0" smtClean="0"/>
          </a:p>
          <a:p>
            <a:pPr lvl="2">
              <a:defRPr/>
            </a:pPr>
            <a:r>
              <a:rPr lang="it-IT" dirty="0" err="1" smtClean="0"/>
              <a:t>Even</a:t>
            </a:r>
            <a:r>
              <a:rPr lang="it-IT" dirty="0" smtClean="0"/>
              <a:t> </a:t>
            </a:r>
            <a:r>
              <a:rPr lang="it-IT" dirty="0" err="1" smtClean="0"/>
              <a:t>if</a:t>
            </a:r>
            <a:r>
              <a:rPr lang="it-IT" dirty="0" smtClean="0"/>
              <a:t> </a:t>
            </a:r>
            <a:r>
              <a:rPr lang="it-IT" dirty="0" err="1" smtClean="0"/>
              <a:t>attacker</a:t>
            </a:r>
            <a:r>
              <a:rPr lang="it-IT" dirty="0" smtClean="0"/>
              <a:t> </a:t>
            </a:r>
            <a:r>
              <a:rPr lang="it-IT" dirty="0" err="1" smtClean="0"/>
              <a:t>cracks</a:t>
            </a:r>
            <a:r>
              <a:rPr lang="it-IT" dirty="0" smtClean="0"/>
              <a:t> the </a:t>
            </a:r>
            <a:r>
              <a:rPr lang="it-IT" dirty="0" err="1" smtClean="0"/>
              <a:t>device</a:t>
            </a:r>
            <a:r>
              <a:rPr lang="it-IT" dirty="0" smtClean="0"/>
              <a:t> (and the </a:t>
            </a:r>
            <a:r>
              <a:rPr lang="it-IT" dirty="0" err="1" smtClean="0"/>
              <a:t>user</a:t>
            </a:r>
            <a:r>
              <a:rPr lang="it-IT" dirty="0" smtClean="0"/>
              <a:t> password), </a:t>
            </a:r>
            <a:r>
              <a:rPr lang="it-IT" dirty="0" err="1" smtClean="0"/>
              <a:t>device</a:t>
            </a:r>
            <a:r>
              <a:rPr lang="it-IT" dirty="0" smtClean="0"/>
              <a:t> key can </a:t>
            </a:r>
            <a:r>
              <a:rPr lang="it-IT" dirty="0" err="1" smtClean="0"/>
              <a:t>be</a:t>
            </a:r>
            <a:r>
              <a:rPr lang="it-IT" dirty="0" smtClean="0"/>
              <a:t> </a:t>
            </a:r>
            <a:r>
              <a:rPr lang="it-IT" dirty="0" err="1" smtClean="0"/>
              <a:t>disabled</a:t>
            </a:r>
            <a:endParaRPr lang="it-IT" dirty="0" smtClean="0"/>
          </a:p>
          <a:p>
            <a:pPr lvl="1">
              <a:defRPr/>
            </a:pPr>
            <a:endParaRPr lang="it-IT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smtClean="0"/>
              <a:t>Scenario</a:t>
            </a:r>
            <a:br>
              <a:rPr lang="it-IT" dirty="0" smtClean="0"/>
            </a:br>
            <a:r>
              <a:rPr lang="it-IT" sz="2400" dirty="0" smtClean="0"/>
              <a:t>(</a:t>
            </a:r>
            <a:r>
              <a:rPr lang="it-IT" sz="2400" dirty="0" err="1" smtClean="0"/>
              <a:t>MacKenzie</a:t>
            </a:r>
            <a:r>
              <a:rPr lang="it-IT" sz="2400" dirty="0" smtClean="0"/>
              <a:t> &amp; </a:t>
            </a:r>
            <a:r>
              <a:rPr lang="it-IT" sz="2400" dirty="0" err="1" smtClean="0"/>
              <a:t>Reiter</a:t>
            </a:r>
            <a:r>
              <a:rPr lang="it-IT" sz="2400" dirty="0" smtClean="0"/>
              <a:t>)</a:t>
            </a:r>
            <a:endParaRPr lang="it-IT" dirty="0"/>
          </a:p>
        </p:txBody>
      </p:sp>
      <p:pic>
        <p:nvPicPr>
          <p:cNvPr id="51203" name="Immagine 4" descr="server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88125" y="3194050"/>
            <a:ext cx="2228850" cy="225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04" name="Immagine 5" descr="images (1)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4225" y="1211263"/>
            <a:ext cx="2095500" cy="218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05" name="Immagine 6" descr="images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50938" y="3705225"/>
            <a:ext cx="2466975" cy="184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asellaDiTesto 7"/>
          <p:cNvSpPr txBox="1">
            <a:spLocks noChangeArrowheads="1"/>
          </p:cNvSpPr>
          <p:nvPr/>
        </p:nvSpPr>
        <p:spPr bwMode="auto">
          <a:xfrm>
            <a:off x="1800225" y="5553075"/>
            <a:ext cx="2389188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/>
              <a:t>Secret Key	SKd</a:t>
            </a:r>
          </a:p>
          <a:p>
            <a:r>
              <a:rPr lang="it-IT"/>
              <a:t>Public Key		PKd</a:t>
            </a:r>
          </a:p>
        </p:txBody>
      </p:sp>
      <p:sp>
        <p:nvSpPr>
          <p:cNvPr id="9" name="CasellaDiTesto 8"/>
          <p:cNvSpPr txBox="1">
            <a:spLocks noChangeArrowheads="1"/>
          </p:cNvSpPr>
          <p:nvPr/>
        </p:nvSpPr>
        <p:spPr bwMode="auto">
          <a:xfrm>
            <a:off x="6429375" y="5553075"/>
            <a:ext cx="2390775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/>
              <a:t>Secret Key	SKs</a:t>
            </a:r>
          </a:p>
          <a:p>
            <a:r>
              <a:rPr lang="it-IT"/>
              <a:t>Public Key		PKs</a:t>
            </a:r>
          </a:p>
        </p:txBody>
      </p:sp>
      <p:sp>
        <p:nvSpPr>
          <p:cNvPr id="10" name="CasellaDiTesto 9"/>
          <p:cNvSpPr txBox="1">
            <a:spLocks noChangeArrowheads="1"/>
          </p:cNvSpPr>
          <p:nvPr/>
        </p:nvSpPr>
        <p:spPr bwMode="auto">
          <a:xfrm>
            <a:off x="2700338" y="1700213"/>
            <a:ext cx="119538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/>
              <a:t>Password P</a:t>
            </a:r>
          </a:p>
        </p:txBody>
      </p:sp>
      <p:sp>
        <p:nvSpPr>
          <p:cNvPr id="11" name="CasellaDiTesto 10"/>
          <p:cNvSpPr txBox="1">
            <a:spLocks noChangeArrowheads="1"/>
          </p:cNvSpPr>
          <p:nvPr/>
        </p:nvSpPr>
        <p:spPr bwMode="auto">
          <a:xfrm>
            <a:off x="4716463" y="1341438"/>
            <a:ext cx="4352925" cy="1754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b="1"/>
              <a:t>Many possible attack scenarios</a:t>
            </a:r>
          </a:p>
          <a:p>
            <a:r>
              <a:rPr lang="it-IT" b="1"/>
              <a:t>	- password known</a:t>
            </a:r>
          </a:p>
          <a:p>
            <a:r>
              <a:rPr lang="it-IT" b="1"/>
              <a:t>	- device stolen</a:t>
            </a:r>
          </a:p>
          <a:p>
            <a:r>
              <a:rPr lang="it-IT" b="1"/>
              <a:t>	- </a:t>
            </a:r>
            <a:r>
              <a:rPr lang="it-IT" b="1">
                <a:solidFill>
                  <a:srgbClr val="FF0000"/>
                </a:solidFill>
              </a:rPr>
              <a:t>server cracked (no trusted server!)</a:t>
            </a:r>
          </a:p>
          <a:p>
            <a:r>
              <a:rPr lang="it-IT" b="1"/>
              <a:t>Good: Solution resilient to any crack</a:t>
            </a:r>
          </a:p>
          <a:p>
            <a:r>
              <a:rPr lang="it-IT" b="1"/>
              <a:t>Better: Solution resilient to more than 1 crack!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 smtClean="0"/>
              <a:t>Basic</a:t>
            </a:r>
            <a:r>
              <a:rPr lang="it-IT" dirty="0" smtClean="0"/>
              <a:t> </a:t>
            </a:r>
            <a:r>
              <a:rPr lang="it-IT" dirty="0" err="1" smtClean="0"/>
              <a:t>solution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dirty="0" err="1" smtClean="0"/>
              <a:t>Robust</a:t>
            </a:r>
            <a:r>
              <a:rPr lang="it-IT" dirty="0" smtClean="0"/>
              <a:t> </a:t>
            </a:r>
            <a:r>
              <a:rPr lang="it-IT" dirty="0" err="1" smtClean="0"/>
              <a:t>to</a:t>
            </a:r>
            <a:r>
              <a:rPr lang="it-IT" dirty="0" smtClean="0"/>
              <a:t> </a:t>
            </a:r>
            <a:r>
              <a:rPr lang="it-IT" dirty="0" err="1" smtClean="0"/>
              <a:t>following</a:t>
            </a:r>
            <a:r>
              <a:rPr lang="it-IT" dirty="0" smtClean="0"/>
              <a:t> </a:t>
            </a:r>
            <a:r>
              <a:rPr lang="it-IT" dirty="0" err="1" smtClean="0"/>
              <a:t>attacks</a:t>
            </a:r>
            <a:r>
              <a:rPr lang="it-IT" dirty="0" smtClean="0"/>
              <a:t>:</a:t>
            </a:r>
          </a:p>
          <a:p>
            <a:pPr lvl="1">
              <a:defRPr/>
            </a:pPr>
            <a:r>
              <a:rPr lang="it-IT" dirty="0" smtClean="0"/>
              <a:t>Server </a:t>
            </a:r>
            <a:r>
              <a:rPr lang="it-IT" dirty="0" err="1" smtClean="0"/>
              <a:t>cracked</a:t>
            </a:r>
            <a:r>
              <a:rPr lang="it-IT" dirty="0" smtClean="0"/>
              <a:t> AND password </a:t>
            </a:r>
            <a:r>
              <a:rPr lang="it-IT" dirty="0" err="1" smtClean="0"/>
              <a:t>known</a:t>
            </a:r>
            <a:endParaRPr lang="it-IT" dirty="0" smtClean="0"/>
          </a:p>
          <a:p>
            <a:pPr lvl="2">
              <a:defRPr/>
            </a:pPr>
            <a:r>
              <a:rPr lang="it-IT" dirty="0" err="1" smtClean="0"/>
              <a:t>Attacker</a:t>
            </a:r>
            <a:r>
              <a:rPr lang="it-IT" dirty="0" smtClean="0"/>
              <a:t> </a:t>
            </a:r>
            <a:r>
              <a:rPr lang="it-IT" dirty="0" err="1" smtClean="0"/>
              <a:t>cannot</a:t>
            </a:r>
            <a:r>
              <a:rPr lang="it-IT" dirty="0" smtClean="0"/>
              <a:t> </a:t>
            </a:r>
            <a:r>
              <a:rPr lang="it-IT" dirty="0" err="1" smtClean="0"/>
              <a:t>sign</a:t>
            </a:r>
            <a:r>
              <a:rPr lang="it-IT" dirty="0" smtClean="0"/>
              <a:t>/</a:t>
            </a:r>
            <a:r>
              <a:rPr lang="it-IT" dirty="0" err="1" smtClean="0"/>
              <a:t>decrypt</a:t>
            </a:r>
            <a:endParaRPr lang="it-IT" dirty="0" smtClean="0"/>
          </a:p>
          <a:p>
            <a:pPr lvl="1">
              <a:defRPr/>
            </a:pPr>
            <a:r>
              <a:rPr lang="it-IT" dirty="0" err="1" smtClean="0"/>
              <a:t>Device</a:t>
            </a:r>
            <a:r>
              <a:rPr lang="it-IT" dirty="0" smtClean="0"/>
              <a:t> </a:t>
            </a:r>
            <a:r>
              <a:rPr lang="it-IT" dirty="0" err="1" smtClean="0"/>
              <a:t>cracked</a:t>
            </a:r>
            <a:r>
              <a:rPr lang="it-IT" dirty="0" smtClean="0"/>
              <a:t>/</a:t>
            </a:r>
            <a:r>
              <a:rPr lang="it-IT" dirty="0" err="1" smtClean="0"/>
              <a:t>stolen</a:t>
            </a:r>
            <a:endParaRPr lang="it-IT" dirty="0" smtClean="0"/>
          </a:p>
          <a:p>
            <a:pPr lvl="2">
              <a:defRPr/>
            </a:pPr>
            <a:r>
              <a:rPr lang="it-IT" dirty="0" err="1" smtClean="0"/>
              <a:t>Attacker</a:t>
            </a:r>
            <a:r>
              <a:rPr lang="it-IT" dirty="0" smtClean="0"/>
              <a:t> can </a:t>
            </a:r>
            <a:r>
              <a:rPr lang="it-IT" dirty="0" err="1" smtClean="0"/>
              <a:t>only</a:t>
            </a:r>
            <a:r>
              <a:rPr lang="it-IT" dirty="0" smtClean="0"/>
              <a:t> </a:t>
            </a:r>
            <a:r>
              <a:rPr lang="it-IT" dirty="0" err="1" smtClean="0"/>
              <a:t>perform</a:t>
            </a:r>
            <a:r>
              <a:rPr lang="it-IT" dirty="0" smtClean="0"/>
              <a:t> </a:t>
            </a:r>
            <a:r>
              <a:rPr lang="it-IT" dirty="0" err="1" smtClean="0"/>
              <a:t>dictionary</a:t>
            </a:r>
            <a:r>
              <a:rPr lang="it-IT" dirty="0" smtClean="0"/>
              <a:t> </a:t>
            </a:r>
            <a:r>
              <a:rPr lang="it-IT" dirty="0" err="1" smtClean="0"/>
              <a:t>attack</a:t>
            </a:r>
            <a:r>
              <a:rPr lang="it-IT" dirty="0" smtClean="0"/>
              <a:t> ONLINE</a:t>
            </a:r>
          </a:p>
          <a:p>
            <a:pPr lvl="1">
              <a:defRPr/>
            </a:pPr>
            <a:r>
              <a:rPr lang="it-IT" dirty="0" err="1" smtClean="0"/>
              <a:t>Device</a:t>
            </a:r>
            <a:r>
              <a:rPr lang="it-IT" dirty="0" smtClean="0"/>
              <a:t> and Server </a:t>
            </a:r>
            <a:r>
              <a:rPr lang="it-IT" dirty="0" err="1" smtClean="0"/>
              <a:t>cracked</a:t>
            </a:r>
            <a:endParaRPr lang="it-IT" dirty="0" smtClean="0"/>
          </a:p>
          <a:p>
            <a:pPr lvl="2">
              <a:defRPr/>
            </a:pPr>
            <a:r>
              <a:rPr lang="it-IT" dirty="0" err="1" smtClean="0"/>
              <a:t>Attacker</a:t>
            </a:r>
            <a:r>
              <a:rPr lang="it-IT" dirty="0" smtClean="0"/>
              <a:t> can </a:t>
            </a:r>
            <a:r>
              <a:rPr lang="it-IT" dirty="0" err="1" smtClean="0"/>
              <a:t>only</a:t>
            </a:r>
            <a:r>
              <a:rPr lang="it-IT" dirty="0" smtClean="0"/>
              <a:t> </a:t>
            </a:r>
            <a:r>
              <a:rPr lang="it-IT" dirty="0" err="1" smtClean="0"/>
              <a:t>perform</a:t>
            </a:r>
            <a:r>
              <a:rPr lang="it-IT" dirty="0" smtClean="0"/>
              <a:t> </a:t>
            </a:r>
            <a:r>
              <a:rPr lang="it-IT" dirty="0" err="1" smtClean="0"/>
              <a:t>dictionary</a:t>
            </a:r>
            <a:r>
              <a:rPr lang="it-IT" dirty="0" smtClean="0"/>
              <a:t> </a:t>
            </a:r>
            <a:r>
              <a:rPr lang="it-IT" dirty="0" err="1" smtClean="0"/>
              <a:t>attack</a:t>
            </a:r>
            <a:r>
              <a:rPr lang="it-IT" dirty="0" smtClean="0"/>
              <a:t> OFFLINE</a:t>
            </a:r>
          </a:p>
          <a:p>
            <a:pPr lvl="2">
              <a:defRPr/>
            </a:pPr>
            <a:endParaRPr lang="it-IT" dirty="0" smtClean="0"/>
          </a:p>
          <a:p>
            <a:pPr>
              <a:defRPr/>
            </a:pPr>
            <a:r>
              <a:rPr lang="it-IT" dirty="0" err="1" smtClean="0"/>
              <a:t>Basic</a:t>
            </a:r>
            <a:r>
              <a:rPr lang="it-IT" dirty="0" smtClean="0"/>
              <a:t> </a:t>
            </a:r>
            <a:r>
              <a:rPr lang="it-IT" dirty="0" err="1" smtClean="0"/>
              <a:t>solution</a:t>
            </a:r>
            <a:r>
              <a:rPr lang="it-IT" dirty="0" smtClean="0"/>
              <a:t> NOT </a:t>
            </a:r>
            <a:r>
              <a:rPr lang="it-IT" dirty="0" err="1" smtClean="0"/>
              <a:t>robust</a:t>
            </a:r>
            <a:r>
              <a:rPr lang="it-IT" dirty="0" smtClean="0"/>
              <a:t> </a:t>
            </a:r>
            <a:r>
              <a:rPr lang="it-IT" dirty="0" err="1" smtClean="0"/>
              <a:t>to</a:t>
            </a:r>
            <a:r>
              <a:rPr lang="it-IT" dirty="0" smtClean="0"/>
              <a:t>:</a:t>
            </a:r>
          </a:p>
          <a:p>
            <a:pPr lvl="1">
              <a:defRPr/>
            </a:pPr>
            <a:r>
              <a:rPr lang="it-IT" dirty="0" err="1" smtClean="0"/>
              <a:t>Device</a:t>
            </a:r>
            <a:r>
              <a:rPr lang="it-IT" dirty="0" smtClean="0"/>
              <a:t> AND password </a:t>
            </a:r>
            <a:r>
              <a:rPr lang="it-IT" dirty="0" err="1" smtClean="0"/>
              <a:t>cracked</a:t>
            </a:r>
            <a:endParaRPr lang="it-IT" dirty="0" smtClean="0"/>
          </a:p>
          <a:p>
            <a:pPr lvl="2">
              <a:defRPr/>
            </a:pPr>
            <a:r>
              <a:rPr lang="it-IT" dirty="0" smtClean="0"/>
              <a:t>Game </a:t>
            </a:r>
            <a:r>
              <a:rPr lang="it-IT" dirty="0" err="1" smtClean="0"/>
              <a:t>over…</a:t>
            </a:r>
            <a:r>
              <a:rPr lang="it-IT" dirty="0" smtClean="0"/>
              <a:t> </a:t>
            </a:r>
            <a:r>
              <a:rPr lang="it-IT" dirty="0" err="1" smtClean="0"/>
              <a:t>Attacker</a:t>
            </a:r>
            <a:r>
              <a:rPr lang="it-IT" dirty="0" smtClean="0"/>
              <a:t> can do </a:t>
            </a:r>
            <a:r>
              <a:rPr lang="it-IT" dirty="0" err="1" smtClean="0"/>
              <a:t>all</a:t>
            </a:r>
            <a:endParaRPr lang="it-IT" dirty="0" smtClean="0"/>
          </a:p>
          <a:p>
            <a:pPr lvl="2">
              <a:defRPr/>
            </a:pP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smtClean="0"/>
              <a:t>Idea: </a:t>
            </a:r>
            <a:r>
              <a:rPr lang="it-IT" dirty="0" err="1" smtClean="0"/>
              <a:t>use</a:t>
            </a:r>
            <a:r>
              <a:rPr lang="it-IT" dirty="0" smtClean="0"/>
              <a:t> “</a:t>
            </a:r>
            <a:r>
              <a:rPr lang="it-IT" dirty="0" err="1" smtClean="0"/>
              <a:t>tickets</a:t>
            </a:r>
            <a:r>
              <a:rPr lang="it-IT" dirty="0" smtClean="0"/>
              <a:t>”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it-IT" dirty="0" err="1" smtClean="0"/>
              <a:t>Assumption</a:t>
            </a:r>
            <a:r>
              <a:rPr lang="it-IT" dirty="0" smtClean="0"/>
              <a:t>: </a:t>
            </a:r>
          </a:p>
          <a:p>
            <a:pPr lvl="1">
              <a:defRPr/>
            </a:pPr>
            <a:r>
              <a:rPr lang="it-IT" dirty="0" err="1" smtClean="0"/>
              <a:t>device</a:t>
            </a:r>
            <a:r>
              <a:rPr lang="it-IT" dirty="0" smtClean="0"/>
              <a:t> </a:t>
            </a:r>
            <a:r>
              <a:rPr lang="it-IT" dirty="0" err="1" smtClean="0"/>
              <a:t>has</a:t>
            </a:r>
            <a:r>
              <a:rPr lang="it-IT" dirty="0" smtClean="0"/>
              <a:t> </a:t>
            </a:r>
            <a:r>
              <a:rPr lang="it-IT" dirty="0" err="1" smtClean="0"/>
              <a:t>access</a:t>
            </a:r>
            <a:r>
              <a:rPr lang="it-IT" dirty="0" smtClean="0"/>
              <a:t> </a:t>
            </a:r>
            <a:r>
              <a:rPr lang="it-IT" dirty="0" err="1" smtClean="0"/>
              <a:t>to</a:t>
            </a:r>
            <a:r>
              <a:rPr lang="it-IT" dirty="0" smtClean="0"/>
              <a:t> network</a:t>
            </a:r>
          </a:p>
          <a:p>
            <a:pPr lvl="1">
              <a:defRPr/>
            </a:pPr>
            <a:endParaRPr lang="it-IT" dirty="0" smtClean="0"/>
          </a:p>
          <a:p>
            <a:pPr>
              <a:defRPr/>
            </a:pPr>
            <a:r>
              <a:rPr lang="it-IT" dirty="0" err="1" smtClean="0"/>
              <a:t>Protection</a:t>
            </a:r>
            <a:r>
              <a:rPr lang="it-IT" dirty="0" smtClean="0"/>
              <a:t>:</a:t>
            </a:r>
          </a:p>
          <a:p>
            <a:pPr lvl="1">
              <a:defRPr/>
            </a:pPr>
            <a:r>
              <a:rPr lang="it-IT" dirty="0" err="1" smtClean="0"/>
              <a:t>Encrypt</a:t>
            </a:r>
            <a:r>
              <a:rPr lang="it-IT" dirty="0" smtClean="0"/>
              <a:t> </a:t>
            </a:r>
            <a:r>
              <a:rPr lang="it-IT" dirty="0" err="1" smtClean="0"/>
              <a:t>device</a:t>
            </a:r>
            <a:r>
              <a:rPr lang="it-IT" dirty="0" smtClean="0"/>
              <a:t> key so </a:t>
            </a:r>
            <a:r>
              <a:rPr lang="it-IT" dirty="0" err="1" smtClean="0"/>
              <a:t>that</a:t>
            </a:r>
            <a:r>
              <a:rPr lang="it-IT" dirty="0" smtClean="0"/>
              <a:t> </a:t>
            </a:r>
            <a:r>
              <a:rPr lang="it-IT" dirty="0" err="1" smtClean="0"/>
              <a:t>it</a:t>
            </a:r>
            <a:r>
              <a:rPr lang="it-IT" dirty="0" smtClean="0"/>
              <a:t> can </a:t>
            </a:r>
            <a:r>
              <a:rPr lang="it-IT" dirty="0" err="1" smtClean="0"/>
              <a:t>be</a:t>
            </a:r>
            <a:r>
              <a:rPr lang="it-IT" dirty="0" smtClean="0"/>
              <a:t> </a:t>
            </a:r>
            <a:r>
              <a:rPr lang="it-IT" dirty="0" err="1" smtClean="0"/>
              <a:t>decrypted</a:t>
            </a:r>
            <a:r>
              <a:rPr lang="it-IT" dirty="0" smtClean="0"/>
              <a:t> </a:t>
            </a:r>
            <a:r>
              <a:rPr lang="it-IT" dirty="0" err="1" smtClean="0"/>
              <a:t>only</a:t>
            </a:r>
            <a:r>
              <a:rPr lang="it-IT" dirty="0" smtClean="0"/>
              <a:t> via </a:t>
            </a:r>
            <a:r>
              <a:rPr lang="it-IT" dirty="0" err="1" smtClean="0"/>
              <a:t>cooperation</a:t>
            </a:r>
            <a:r>
              <a:rPr lang="it-IT" dirty="0" smtClean="0"/>
              <a:t> </a:t>
            </a:r>
            <a:r>
              <a:rPr lang="it-IT" dirty="0" err="1" smtClean="0"/>
              <a:t>with</a:t>
            </a:r>
            <a:r>
              <a:rPr lang="it-IT" dirty="0" smtClean="0"/>
              <a:t> server</a:t>
            </a:r>
          </a:p>
          <a:p>
            <a:pPr lvl="1">
              <a:defRPr/>
            </a:pPr>
            <a:endParaRPr lang="it-IT" dirty="0" smtClean="0"/>
          </a:p>
          <a:p>
            <a:pPr>
              <a:defRPr/>
            </a:pPr>
            <a:r>
              <a:rPr lang="it-IT" dirty="0" smtClean="0"/>
              <a:t>Idea: </a:t>
            </a:r>
          </a:p>
          <a:p>
            <a:pPr lvl="1">
              <a:defRPr/>
            </a:pPr>
            <a:r>
              <a:rPr lang="it-IT" dirty="0" err="1" smtClean="0"/>
              <a:t>Send</a:t>
            </a:r>
            <a:r>
              <a:rPr lang="it-IT" dirty="0" smtClean="0"/>
              <a:t> </a:t>
            </a:r>
            <a:r>
              <a:rPr lang="it-IT" dirty="0" err="1" smtClean="0"/>
              <a:t>encrypted</a:t>
            </a:r>
            <a:r>
              <a:rPr lang="it-IT" dirty="0" smtClean="0"/>
              <a:t> “ticket” </a:t>
            </a:r>
            <a:r>
              <a:rPr lang="it-IT" dirty="0" err="1" smtClean="0"/>
              <a:t>to</a:t>
            </a:r>
            <a:r>
              <a:rPr lang="it-IT" dirty="0" smtClean="0"/>
              <a:t> server</a:t>
            </a:r>
          </a:p>
          <a:p>
            <a:pPr lvl="2">
              <a:defRPr/>
            </a:pPr>
            <a:r>
              <a:rPr lang="it-IT" dirty="0" err="1" smtClean="0"/>
              <a:t>Contains</a:t>
            </a:r>
            <a:r>
              <a:rPr lang="it-IT" dirty="0" smtClean="0"/>
              <a:t> </a:t>
            </a:r>
            <a:r>
              <a:rPr lang="it-IT" dirty="0" err="1" smtClean="0"/>
              <a:t>authentication</a:t>
            </a:r>
            <a:r>
              <a:rPr lang="it-IT" dirty="0" smtClean="0"/>
              <a:t> material </a:t>
            </a:r>
            <a:r>
              <a:rPr lang="it-IT" dirty="0" err="1" smtClean="0"/>
              <a:t>for</a:t>
            </a:r>
            <a:r>
              <a:rPr lang="it-IT" dirty="0" smtClean="0"/>
              <a:t> </a:t>
            </a:r>
            <a:r>
              <a:rPr lang="it-IT" dirty="0" err="1" smtClean="0"/>
              <a:t>user</a:t>
            </a:r>
            <a:r>
              <a:rPr lang="it-IT" dirty="0" smtClean="0"/>
              <a:t>!!</a:t>
            </a:r>
          </a:p>
          <a:p>
            <a:pPr lvl="2">
              <a:defRPr/>
            </a:pPr>
            <a:r>
              <a:rPr lang="it-IT" dirty="0" smtClean="0"/>
              <a:t>No </a:t>
            </a:r>
            <a:r>
              <a:rPr lang="it-IT" dirty="0" err="1" smtClean="0"/>
              <a:t>need</a:t>
            </a:r>
            <a:r>
              <a:rPr lang="it-IT" dirty="0" smtClean="0"/>
              <a:t> </a:t>
            </a:r>
            <a:r>
              <a:rPr lang="it-IT" dirty="0" err="1" smtClean="0"/>
              <a:t>to</a:t>
            </a:r>
            <a:r>
              <a:rPr lang="it-IT" dirty="0" smtClean="0"/>
              <a:t> </a:t>
            </a:r>
            <a:r>
              <a:rPr lang="it-IT" dirty="0" err="1" smtClean="0"/>
              <a:t>store</a:t>
            </a:r>
            <a:r>
              <a:rPr lang="it-IT" dirty="0" smtClean="0"/>
              <a:t> on server</a:t>
            </a:r>
          </a:p>
          <a:p>
            <a:pPr lvl="1">
              <a:defRPr/>
            </a:pPr>
            <a:r>
              <a:rPr lang="it-IT" dirty="0" err="1" smtClean="0"/>
              <a:t>Use</a:t>
            </a:r>
            <a:r>
              <a:rPr lang="it-IT" dirty="0" smtClean="0"/>
              <a:t> </a:t>
            </a:r>
            <a:r>
              <a:rPr lang="it-IT" dirty="0" err="1" smtClean="0"/>
              <a:t>content</a:t>
            </a:r>
            <a:r>
              <a:rPr lang="it-IT" dirty="0" smtClean="0"/>
              <a:t> </a:t>
            </a:r>
            <a:r>
              <a:rPr lang="it-IT" dirty="0" err="1" smtClean="0"/>
              <a:t>of</a:t>
            </a:r>
            <a:r>
              <a:rPr lang="it-IT" dirty="0" smtClean="0"/>
              <a:t> ticket </a:t>
            </a:r>
            <a:r>
              <a:rPr lang="it-IT" dirty="0" err="1" smtClean="0"/>
              <a:t>to</a:t>
            </a:r>
            <a:r>
              <a:rPr lang="it-IT" dirty="0" smtClean="0"/>
              <a:t> </a:t>
            </a:r>
            <a:r>
              <a:rPr lang="it-IT" dirty="0" err="1" smtClean="0"/>
              <a:t>authenticate</a:t>
            </a:r>
            <a:r>
              <a:rPr lang="it-IT" dirty="0" smtClean="0"/>
              <a:t> </a:t>
            </a:r>
            <a:r>
              <a:rPr lang="it-IT" dirty="0" err="1" smtClean="0"/>
              <a:t>user</a:t>
            </a:r>
            <a:endParaRPr lang="it-IT" dirty="0" smtClean="0"/>
          </a:p>
          <a:p>
            <a:pPr lvl="1">
              <a:defRPr/>
            </a:pPr>
            <a:r>
              <a:rPr lang="it-IT" dirty="0" err="1" smtClean="0"/>
              <a:t>Use</a:t>
            </a:r>
            <a:r>
              <a:rPr lang="it-IT" dirty="0" smtClean="0"/>
              <a:t> </a:t>
            </a:r>
            <a:r>
              <a:rPr lang="it-IT" dirty="0" err="1" smtClean="0"/>
              <a:t>content</a:t>
            </a:r>
            <a:r>
              <a:rPr lang="it-IT" dirty="0" smtClean="0"/>
              <a:t> </a:t>
            </a:r>
            <a:r>
              <a:rPr lang="it-IT" dirty="0" err="1" smtClean="0"/>
              <a:t>of</a:t>
            </a:r>
            <a:r>
              <a:rPr lang="it-IT" dirty="0" smtClean="0"/>
              <a:t> ticket </a:t>
            </a:r>
            <a:r>
              <a:rPr lang="it-IT" dirty="0" err="1" smtClean="0"/>
              <a:t>to</a:t>
            </a:r>
            <a:r>
              <a:rPr lang="it-IT" dirty="0" smtClean="0"/>
              <a:t> “</a:t>
            </a:r>
            <a:r>
              <a:rPr lang="it-IT" dirty="0" err="1" smtClean="0"/>
              <a:t>partially</a:t>
            </a:r>
            <a:r>
              <a:rPr lang="it-IT" dirty="0" smtClean="0"/>
              <a:t>” </a:t>
            </a:r>
            <a:r>
              <a:rPr lang="it-IT" dirty="0" err="1" smtClean="0"/>
              <a:t>decrypt</a:t>
            </a:r>
            <a:r>
              <a:rPr lang="it-IT" dirty="0" smtClean="0"/>
              <a:t> </a:t>
            </a:r>
            <a:r>
              <a:rPr lang="it-IT" dirty="0" err="1" smtClean="0"/>
              <a:t>device</a:t>
            </a:r>
            <a:r>
              <a:rPr lang="it-IT" dirty="0" smtClean="0"/>
              <a:t> key </a:t>
            </a:r>
          </a:p>
          <a:p>
            <a:pPr lvl="2">
              <a:defRPr/>
            </a:pPr>
            <a:r>
              <a:rPr lang="it-IT" dirty="0" err="1" smtClean="0"/>
              <a:t>Final</a:t>
            </a:r>
            <a:r>
              <a:rPr lang="it-IT" dirty="0" smtClean="0"/>
              <a:t> </a:t>
            </a:r>
            <a:r>
              <a:rPr lang="it-IT" dirty="0" err="1" smtClean="0"/>
              <a:t>decryption</a:t>
            </a:r>
            <a:r>
              <a:rPr lang="it-IT" dirty="0" smtClean="0"/>
              <a:t> at </a:t>
            </a:r>
            <a:r>
              <a:rPr lang="it-IT" dirty="0" err="1" smtClean="0"/>
              <a:t>User</a:t>
            </a:r>
            <a:r>
              <a:rPr lang="it-IT" dirty="0" smtClean="0"/>
              <a:t> – server </a:t>
            </a:r>
            <a:r>
              <a:rPr lang="it-IT" dirty="0" err="1" smtClean="0"/>
              <a:t>never</a:t>
            </a:r>
            <a:r>
              <a:rPr lang="it-IT" dirty="0" smtClean="0"/>
              <a:t> </a:t>
            </a:r>
            <a:r>
              <a:rPr lang="it-IT" dirty="0" err="1" smtClean="0"/>
              <a:t>sees</a:t>
            </a:r>
            <a:r>
              <a:rPr lang="it-IT" dirty="0" smtClean="0"/>
              <a:t> key!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 smtClean="0"/>
              <a:t>Protocol</a:t>
            </a:r>
            <a:r>
              <a:rPr lang="it-IT" dirty="0" smtClean="0"/>
              <a:t>: </a:t>
            </a:r>
            <a:r>
              <a:rPr lang="it-IT" dirty="0" err="1" smtClean="0"/>
              <a:t>device</a:t>
            </a:r>
            <a:r>
              <a:rPr lang="it-IT" dirty="0" smtClean="0"/>
              <a:t> </a:t>
            </a:r>
            <a:r>
              <a:rPr lang="it-IT" dirty="0" err="1" smtClean="0"/>
              <a:t>initialization</a:t>
            </a:r>
            <a:endParaRPr lang="it-IT" dirty="0"/>
          </a:p>
        </p:txBody>
      </p:sp>
      <p:sp>
        <p:nvSpPr>
          <p:cNvPr id="4" name="Rettangolo 3"/>
          <p:cNvSpPr>
            <a:spLocks noChangeArrowheads="1"/>
          </p:cNvSpPr>
          <p:nvPr/>
        </p:nvSpPr>
        <p:spPr bwMode="auto">
          <a:xfrm>
            <a:off x="900113" y="1916113"/>
            <a:ext cx="5832475" cy="3781425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r>
              <a:rPr lang="it-IT" sz="2400" dirty="0">
                <a:solidFill>
                  <a:srgbClr val="FF0000"/>
                </a:solidFill>
              </a:rPr>
              <a:t>Password		P</a:t>
            </a:r>
          </a:p>
          <a:p>
            <a:endParaRPr lang="it-IT" sz="2400" dirty="0"/>
          </a:p>
          <a:p>
            <a:r>
              <a:rPr lang="it-IT" sz="2400" b="1" dirty="0" err="1"/>
              <a:t>Gen</a:t>
            </a:r>
            <a:r>
              <a:rPr lang="it-IT" sz="2400" b="1" dirty="0"/>
              <a:t> </a:t>
            </a:r>
            <a:r>
              <a:rPr lang="it-IT" sz="2400" b="1" dirty="0" err="1"/>
              <a:t>random</a:t>
            </a:r>
            <a:r>
              <a:rPr lang="it-IT" sz="2400" b="1" dirty="0"/>
              <a:t> key	v</a:t>
            </a:r>
          </a:p>
          <a:p>
            <a:r>
              <a:rPr lang="it-IT" sz="2400" b="1" dirty="0" err="1"/>
              <a:t>Gen</a:t>
            </a:r>
            <a:r>
              <a:rPr lang="it-IT" sz="2400" b="1" dirty="0"/>
              <a:t> </a:t>
            </a:r>
            <a:r>
              <a:rPr lang="it-IT" sz="2400" b="1" dirty="0" err="1"/>
              <a:t>random</a:t>
            </a:r>
            <a:r>
              <a:rPr lang="it-IT" sz="2400" b="1" dirty="0"/>
              <a:t> key	a</a:t>
            </a:r>
          </a:p>
          <a:p>
            <a:r>
              <a:rPr lang="it-IT" sz="2400" dirty="0" err="1">
                <a:solidFill>
                  <a:srgbClr val="FF0000"/>
                </a:solidFill>
              </a:rPr>
              <a:t>Hash</a:t>
            </a:r>
            <a:r>
              <a:rPr lang="it-IT" sz="2400" dirty="0">
                <a:solidFill>
                  <a:srgbClr val="FF0000"/>
                </a:solidFill>
              </a:rPr>
              <a:t> password		b = H(P)</a:t>
            </a:r>
          </a:p>
          <a:p>
            <a:r>
              <a:rPr lang="it-IT" sz="2400" dirty="0" err="1">
                <a:solidFill>
                  <a:srgbClr val="FF0000"/>
                </a:solidFill>
              </a:rPr>
              <a:t>Crypt</a:t>
            </a:r>
            <a:r>
              <a:rPr lang="it-IT" sz="2400" dirty="0">
                <a:solidFill>
                  <a:srgbClr val="FF0000"/>
                </a:solidFill>
              </a:rPr>
              <a:t> Secret Key	c = </a:t>
            </a:r>
            <a:r>
              <a:rPr lang="it-IT" sz="2400" dirty="0" err="1">
                <a:solidFill>
                  <a:srgbClr val="FF0000"/>
                </a:solidFill>
              </a:rPr>
              <a:t>Sk</a:t>
            </a:r>
            <a:r>
              <a:rPr lang="it-IT" sz="2400" baseline="-25000" dirty="0" err="1">
                <a:solidFill>
                  <a:srgbClr val="FF0000"/>
                </a:solidFill>
              </a:rPr>
              <a:t>device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FF0000"/>
                </a:solidFill>
                <a:sym typeface="Symbol" pitchFamily="18" charset="2"/>
              </a:rPr>
              <a:t></a:t>
            </a:r>
            <a:r>
              <a:rPr lang="it-IT" sz="2400" dirty="0">
                <a:solidFill>
                  <a:srgbClr val="FF0000"/>
                </a:solidFill>
              </a:rPr>
              <a:t> PRF(v; P)</a:t>
            </a:r>
          </a:p>
          <a:p>
            <a:r>
              <a:rPr lang="it-IT" sz="2400" b="1" dirty="0"/>
              <a:t>Create ticket		</a:t>
            </a:r>
            <a:r>
              <a:rPr lang="it-IT" sz="2400" b="1" dirty="0" err="1"/>
              <a:t>tkt</a:t>
            </a:r>
            <a:r>
              <a:rPr lang="it-IT" sz="2400" b="1" dirty="0"/>
              <a:t> = </a:t>
            </a:r>
            <a:r>
              <a:rPr lang="it-IT" sz="2400" b="1" dirty="0" err="1"/>
              <a:t>E</a:t>
            </a:r>
            <a:r>
              <a:rPr lang="it-IT" sz="2400" b="1" baseline="-25000" dirty="0" err="1"/>
              <a:t>pk-server</a:t>
            </a:r>
            <a:r>
              <a:rPr lang="it-IT" sz="2400" b="1" dirty="0"/>
              <a:t>[a,b,c] </a:t>
            </a:r>
          </a:p>
          <a:p>
            <a:endParaRPr lang="it-IT" sz="2400" b="1" dirty="0"/>
          </a:p>
          <a:p>
            <a:r>
              <a:rPr lang="it-IT" sz="2400" b="1" dirty="0" err="1"/>
              <a:t>Device</a:t>
            </a:r>
            <a:r>
              <a:rPr lang="it-IT" sz="2400" b="1" dirty="0"/>
              <a:t> public key	</a:t>
            </a:r>
            <a:r>
              <a:rPr lang="it-IT" sz="2400" b="1" dirty="0" err="1"/>
              <a:t>PK</a:t>
            </a:r>
            <a:r>
              <a:rPr lang="it-IT" sz="2400" b="1" baseline="-25000" dirty="0" err="1"/>
              <a:t>device</a:t>
            </a:r>
            <a:endParaRPr lang="it-IT" sz="2400" b="1" baseline="-25000" dirty="0"/>
          </a:p>
          <a:p>
            <a:r>
              <a:rPr lang="it-IT" sz="2400" b="1" dirty="0" err="1">
                <a:solidFill>
                  <a:srgbClr val="FF0000"/>
                </a:solidFill>
              </a:rPr>
              <a:t>Device</a:t>
            </a:r>
            <a:r>
              <a:rPr lang="it-IT" sz="2400" b="1" dirty="0">
                <a:solidFill>
                  <a:srgbClr val="FF0000"/>
                </a:solidFill>
              </a:rPr>
              <a:t> Secret key	</a:t>
            </a:r>
            <a:r>
              <a:rPr lang="it-IT" sz="2400" b="1" dirty="0" err="1">
                <a:solidFill>
                  <a:srgbClr val="FF0000"/>
                </a:solidFill>
              </a:rPr>
              <a:t>SK</a:t>
            </a:r>
            <a:r>
              <a:rPr lang="it-IT" sz="2400" b="1" baseline="-25000" dirty="0" err="1">
                <a:solidFill>
                  <a:srgbClr val="FF0000"/>
                </a:solidFill>
              </a:rPr>
              <a:t>device</a:t>
            </a:r>
            <a:endParaRPr lang="it-IT" sz="2400" b="1" baseline="-25000" dirty="0">
              <a:solidFill>
                <a:srgbClr val="FF0000"/>
              </a:solidFill>
            </a:endParaRPr>
          </a:p>
        </p:txBody>
      </p:sp>
      <p:sp>
        <p:nvSpPr>
          <p:cNvPr id="5" name="Freccia in giù 4"/>
          <p:cNvSpPr>
            <a:spLocks noChangeArrowheads="1"/>
          </p:cNvSpPr>
          <p:nvPr/>
        </p:nvSpPr>
        <p:spPr bwMode="auto">
          <a:xfrm>
            <a:off x="2592388" y="1268413"/>
            <a:ext cx="1439862" cy="61277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6" name="CasellaDiTesto 5"/>
          <p:cNvSpPr txBox="1">
            <a:spLocks noChangeArrowheads="1"/>
          </p:cNvSpPr>
          <p:nvPr/>
        </p:nvSpPr>
        <p:spPr bwMode="auto">
          <a:xfrm>
            <a:off x="2806700" y="908050"/>
            <a:ext cx="10810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/>
              <a:t>Passwd: P</a:t>
            </a:r>
          </a:p>
        </p:txBody>
      </p:sp>
      <p:sp>
        <p:nvSpPr>
          <p:cNvPr id="7" name="Freccia a destra 6"/>
          <p:cNvSpPr>
            <a:spLocks noChangeArrowheads="1"/>
          </p:cNvSpPr>
          <p:nvPr/>
        </p:nvSpPr>
        <p:spPr bwMode="auto">
          <a:xfrm flipH="1">
            <a:off x="6875463" y="2205038"/>
            <a:ext cx="973137" cy="755650"/>
          </a:xfrm>
          <a:prstGeom prst="rightArrow">
            <a:avLst>
              <a:gd name="adj1" fmla="val 50000"/>
              <a:gd name="adj2" fmla="val 50082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8" name="CasellaDiTesto 7"/>
          <p:cNvSpPr txBox="1">
            <a:spLocks noChangeArrowheads="1"/>
          </p:cNvSpPr>
          <p:nvPr/>
        </p:nvSpPr>
        <p:spPr bwMode="auto">
          <a:xfrm>
            <a:off x="8064500" y="2168525"/>
            <a:ext cx="795338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/>
              <a:t>Server </a:t>
            </a:r>
          </a:p>
          <a:p>
            <a:r>
              <a:rPr lang="it-IT"/>
              <a:t>Public</a:t>
            </a:r>
          </a:p>
          <a:p>
            <a:r>
              <a:rPr lang="it-IT"/>
              <a:t>Key</a:t>
            </a:r>
          </a:p>
        </p:txBody>
      </p:sp>
      <p:sp>
        <p:nvSpPr>
          <p:cNvPr id="10" name="CasellaDiTesto 9"/>
          <p:cNvSpPr txBox="1">
            <a:spLocks noChangeArrowheads="1"/>
          </p:cNvSpPr>
          <p:nvPr/>
        </p:nvSpPr>
        <p:spPr bwMode="auto">
          <a:xfrm>
            <a:off x="5616575" y="2016125"/>
            <a:ext cx="103822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400" b="1">
                <a:solidFill>
                  <a:srgbClr val="FF0000"/>
                </a:solidFill>
              </a:rPr>
              <a:t>PK</a:t>
            </a:r>
            <a:r>
              <a:rPr lang="it-IT" sz="2400" b="1" baseline="-25000">
                <a:solidFill>
                  <a:srgbClr val="FF0000"/>
                </a:solidFill>
              </a:rPr>
              <a:t>server</a:t>
            </a:r>
          </a:p>
        </p:txBody>
      </p:sp>
      <p:sp>
        <p:nvSpPr>
          <p:cNvPr id="11" name="CasellaDiTesto 10"/>
          <p:cNvSpPr txBox="1">
            <a:spLocks noChangeArrowheads="1"/>
          </p:cNvSpPr>
          <p:nvPr/>
        </p:nvSpPr>
        <p:spPr bwMode="auto">
          <a:xfrm>
            <a:off x="7019925" y="3824288"/>
            <a:ext cx="1301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>
                <a:solidFill>
                  <a:srgbClr val="FF0000"/>
                </a:solidFill>
              </a:rPr>
              <a:t>Delete all 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ttangolo 7"/>
          <p:cNvSpPr>
            <a:spLocks noChangeArrowheads="1"/>
          </p:cNvSpPr>
          <p:nvPr/>
        </p:nvSpPr>
        <p:spPr bwMode="auto">
          <a:xfrm>
            <a:off x="395288" y="981075"/>
            <a:ext cx="3708400" cy="1584325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 smtClean="0"/>
              <a:t>Protocol</a:t>
            </a:r>
            <a:r>
              <a:rPr lang="it-IT" dirty="0" smtClean="0"/>
              <a:t>: key </a:t>
            </a:r>
            <a:r>
              <a:rPr lang="it-IT" dirty="0" err="1" smtClean="0"/>
              <a:t>retrieval</a:t>
            </a:r>
            <a:endParaRPr lang="it-IT" dirty="0"/>
          </a:p>
        </p:txBody>
      </p:sp>
      <p:sp>
        <p:nvSpPr>
          <p:cNvPr id="55300" name="CasellaDiTesto 3"/>
          <p:cNvSpPr txBox="1">
            <a:spLocks noChangeArrowheads="1"/>
          </p:cNvSpPr>
          <p:nvPr/>
        </p:nvSpPr>
        <p:spPr bwMode="auto">
          <a:xfrm>
            <a:off x="395288" y="944563"/>
            <a:ext cx="3786187" cy="163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800" b="1">
                <a:solidFill>
                  <a:srgbClr val="FF0000"/>
                </a:solidFill>
              </a:rPr>
              <a:t>Device</a:t>
            </a:r>
            <a:endParaRPr lang="it-IT">
              <a:solidFill>
                <a:srgbClr val="FF0000"/>
              </a:solidFill>
            </a:endParaRPr>
          </a:p>
          <a:p>
            <a:r>
              <a:rPr lang="it-IT" b="1"/>
              <a:t>random key	v</a:t>
            </a:r>
          </a:p>
          <a:p>
            <a:r>
              <a:rPr lang="it-IT" b="1"/>
              <a:t>random key	a</a:t>
            </a:r>
          </a:p>
          <a:p>
            <a:r>
              <a:rPr lang="it-IT" b="1"/>
              <a:t>ticket		tkt = E</a:t>
            </a:r>
            <a:r>
              <a:rPr lang="it-IT" b="1" baseline="-25000"/>
              <a:t>pk-server</a:t>
            </a:r>
            <a:r>
              <a:rPr lang="it-IT" b="1"/>
              <a:t>[a,b,c] </a:t>
            </a:r>
          </a:p>
          <a:p>
            <a:r>
              <a:rPr lang="it-IT" b="1"/>
              <a:t>Device public key	PK</a:t>
            </a:r>
            <a:r>
              <a:rPr lang="it-IT" b="1" baseline="-25000"/>
              <a:t>device</a:t>
            </a:r>
            <a:endParaRPr lang="it-IT">
              <a:solidFill>
                <a:srgbClr val="FF0000"/>
              </a:solidFill>
            </a:endParaRPr>
          </a:p>
        </p:txBody>
      </p:sp>
      <p:sp>
        <p:nvSpPr>
          <p:cNvPr id="5" name="CasellaDiTesto 4"/>
          <p:cNvSpPr txBox="1">
            <a:spLocks noChangeArrowheads="1"/>
          </p:cNvSpPr>
          <p:nvPr/>
        </p:nvSpPr>
        <p:spPr bwMode="auto">
          <a:xfrm>
            <a:off x="425450" y="2636838"/>
            <a:ext cx="2655888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b="1">
                <a:solidFill>
                  <a:srgbClr val="FF0000"/>
                </a:solidFill>
              </a:rPr>
              <a:t>User input password P</a:t>
            </a:r>
          </a:p>
          <a:p>
            <a:r>
              <a:rPr lang="it-IT" b="1"/>
              <a:t>Compute hash	</a:t>
            </a:r>
            <a:r>
              <a:rPr lang="it-IT" b="1">
                <a:latin typeface="Symbol" pitchFamily="18" charset="2"/>
              </a:rPr>
              <a:t>b</a:t>
            </a:r>
            <a:r>
              <a:rPr lang="it-IT" b="1"/>
              <a:t>=H(P)</a:t>
            </a:r>
          </a:p>
          <a:p>
            <a:r>
              <a:rPr lang="it-IT" b="1"/>
              <a:t>Gen random 	</a:t>
            </a:r>
            <a:r>
              <a:rPr lang="it-IT" b="1">
                <a:latin typeface="Symbol" pitchFamily="18" charset="2"/>
              </a:rPr>
              <a:t>r</a:t>
            </a:r>
          </a:p>
        </p:txBody>
      </p:sp>
      <p:sp>
        <p:nvSpPr>
          <p:cNvPr id="6" name="CasellaDiTesto 5"/>
          <p:cNvSpPr txBox="1">
            <a:spLocks noChangeArrowheads="1"/>
          </p:cNvSpPr>
          <p:nvPr/>
        </p:nvSpPr>
        <p:spPr bwMode="auto">
          <a:xfrm>
            <a:off x="1857375" y="3681413"/>
            <a:ext cx="627063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b="1">
                <a:solidFill>
                  <a:srgbClr val="FF0000"/>
                </a:solidFill>
              </a:rPr>
              <a:t>send</a:t>
            </a:r>
          </a:p>
        </p:txBody>
      </p:sp>
      <p:sp>
        <p:nvSpPr>
          <p:cNvPr id="7" name="Freccia a destra 6"/>
          <p:cNvSpPr>
            <a:spLocks noChangeArrowheads="1"/>
          </p:cNvSpPr>
          <p:nvPr/>
        </p:nvSpPr>
        <p:spPr bwMode="auto">
          <a:xfrm>
            <a:off x="2519363" y="3681413"/>
            <a:ext cx="3889375" cy="431800"/>
          </a:xfrm>
          <a:prstGeom prst="rightArrow">
            <a:avLst>
              <a:gd name="adj1" fmla="val 50000"/>
              <a:gd name="adj2" fmla="val 50041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9" name="CasellaDiTesto 8"/>
          <p:cNvSpPr txBox="1">
            <a:spLocks noChangeArrowheads="1"/>
          </p:cNvSpPr>
          <p:nvPr/>
        </p:nvSpPr>
        <p:spPr bwMode="auto">
          <a:xfrm>
            <a:off x="3224213" y="3392488"/>
            <a:ext cx="23939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b="1"/>
              <a:t>mac</a:t>
            </a:r>
            <a:r>
              <a:rPr lang="it-IT" b="1" baseline="-25000"/>
              <a:t>a</a:t>
            </a:r>
            <a:r>
              <a:rPr lang="it-IT" b="1"/>
              <a:t>[tkt , E</a:t>
            </a:r>
            <a:r>
              <a:rPr lang="it-IT" b="1" baseline="-25000"/>
              <a:t>pk-server</a:t>
            </a:r>
            <a:r>
              <a:rPr lang="it-IT" b="1"/>
              <a:t>[</a:t>
            </a:r>
            <a:r>
              <a:rPr lang="it-IT" b="1">
                <a:latin typeface="Symbol" pitchFamily="18" charset="2"/>
              </a:rPr>
              <a:t>b, r</a:t>
            </a:r>
            <a:r>
              <a:rPr lang="it-IT" b="1"/>
              <a:t>] ]</a:t>
            </a:r>
          </a:p>
        </p:txBody>
      </p:sp>
      <p:sp>
        <p:nvSpPr>
          <p:cNvPr id="10" name="CasellaDiTesto 9"/>
          <p:cNvSpPr txBox="1">
            <a:spLocks noChangeArrowheads="1"/>
          </p:cNvSpPr>
          <p:nvPr/>
        </p:nvSpPr>
        <p:spPr bwMode="auto">
          <a:xfrm>
            <a:off x="7200900" y="2654300"/>
            <a:ext cx="1100138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800" b="1">
                <a:solidFill>
                  <a:srgbClr val="FF0000"/>
                </a:solidFill>
              </a:rPr>
              <a:t>Server</a:t>
            </a:r>
            <a:endParaRPr lang="it-IT" sz="2800">
              <a:solidFill>
                <a:srgbClr val="FF0000"/>
              </a:solidFill>
            </a:endParaRPr>
          </a:p>
        </p:txBody>
      </p:sp>
      <p:sp>
        <p:nvSpPr>
          <p:cNvPr id="11" name="CasellaDiTesto 10"/>
          <p:cNvSpPr txBox="1">
            <a:spLocks noChangeArrowheads="1"/>
          </p:cNvSpPr>
          <p:nvPr/>
        </p:nvSpPr>
        <p:spPr bwMode="auto">
          <a:xfrm>
            <a:off x="6567488" y="3105150"/>
            <a:ext cx="2408237" cy="175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b="1"/>
              <a:t>tkt 	</a:t>
            </a:r>
            <a:r>
              <a:rPr lang="it-IT" b="1">
                <a:sym typeface="Wingdings" pitchFamily="2" charset="2"/>
              </a:rPr>
              <a:t> a,b,c</a:t>
            </a:r>
          </a:p>
          <a:p>
            <a:r>
              <a:rPr lang="it-IT" b="1">
                <a:sym typeface="Wingdings" pitchFamily="2" charset="2"/>
              </a:rPr>
              <a:t>a 	 check MAC</a:t>
            </a:r>
          </a:p>
          <a:p>
            <a:r>
              <a:rPr lang="it-IT" b="1">
                <a:solidFill>
                  <a:srgbClr val="FF0000"/>
                </a:solidFill>
                <a:sym typeface="Wingdings" pitchFamily="2" charset="2"/>
              </a:rPr>
              <a:t>	(auth device!)</a:t>
            </a:r>
            <a:endParaRPr lang="it-IT" b="1">
              <a:sym typeface="Wingdings" pitchFamily="2" charset="2"/>
            </a:endParaRPr>
          </a:p>
          <a:p>
            <a:r>
              <a:rPr lang="it-IT" b="1">
                <a:sym typeface="Wingdings" pitchFamily="2" charset="2"/>
              </a:rPr>
              <a:t>decrypt	 </a:t>
            </a:r>
            <a:r>
              <a:rPr lang="it-IT" b="1">
                <a:latin typeface="Symbol" pitchFamily="18" charset="2"/>
              </a:rPr>
              <a:t>b, r</a:t>
            </a:r>
          </a:p>
          <a:p>
            <a:r>
              <a:rPr lang="it-IT" b="1"/>
              <a:t>Check	</a:t>
            </a:r>
            <a:r>
              <a:rPr lang="it-IT" b="1">
                <a:sym typeface="Wingdings" pitchFamily="2" charset="2"/>
              </a:rPr>
              <a:t> b = </a:t>
            </a:r>
            <a:r>
              <a:rPr lang="it-IT" b="1">
                <a:latin typeface="Symbol" pitchFamily="18" charset="2"/>
              </a:rPr>
              <a:t>b</a:t>
            </a:r>
          </a:p>
          <a:p>
            <a:r>
              <a:rPr lang="it-IT" b="1">
                <a:solidFill>
                  <a:srgbClr val="FF0000"/>
                </a:solidFill>
                <a:sym typeface="Wingdings" pitchFamily="2" charset="2"/>
              </a:rPr>
              <a:t>	(auth user!)</a:t>
            </a:r>
            <a:endParaRPr lang="it-IT" b="1"/>
          </a:p>
        </p:txBody>
      </p:sp>
      <p:sp>
        <p:nvSpPr>
          <p:cNvPr id="12" name="Freccia a destra 11"/>
          <p:cNvSpPr>
            <a:spLocks noChangeArrowheads="1"/>
          </p:cNvSpPr>
          <p:nvPr/>
        </p:nvSpPr>
        <p:spPr bwMode="auto">
          <a:xfrm flipH="1">
            <a:off x="2519363" y="4905375"/>
            <a:ext cx="3889375" cy="431800"/>
          </a:xfrm>
          <a:prstGeom prst="rightArrow">
            <a:avLst>
              <a:gd name="adj1" fmla="val 50000"/>
              <a:gd name="adj2" fmla="val 50041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3" name="CasellaDiTesto 12"/>
          <p:cNvSpPr txBox="1">
            <a:spLocks noChangeArrowheads="1"/>
          </p:cNvSpPr>
          <p:nvPr/>
        </p:nvSpPr>
        <p:spPr bwMode="auto">
          <a:xfrm>
            <a:off x="6392863" y="4905375"/>
            <a:ext cx="73183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b="1">
                <a:solidFill>
                  <a:srgbClr val="FF0000"/>
                </a:solidFill>
              </a:rPr>
              <a:t>return</a:t>
            </a:r>
          </a:p>
        </p:txBody>
      </p:sp>
      <p:sp>
        <p:nvSpPr>
          <p:cNvPr id="14" name="CasellaDiTesto 13"/>
          <p:cNvSpPr txBox="1">
            <a:spLocks noChangeArrowheads="1"/>
          </p:cNvSpPr>
          <p:nvPr/>
        </p:nvSpPr>
        <p:spPr bwMode="auto">
          <a:xfrm>
            <a:off x="4427538" y="4679950"/>
            <a:ext cx="73183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b="1">
                <a:latin typeface="Symbol" pitchFamily="18" charset="2"/>
              </a:rPr>
              <a:t>r </a:t>
            </a:r>
            <a:r>
              <a:rPr lang="it-IT" b="1">
                <a:latin typeface="Symbol" pitchFamily="18" charset="2"/>
                <a:sym typeface="Symbol" pitchFamily="18" charset="2"/>
              </a:rPr>
              <a:t> </a:t>
            </a:r>
            <a:r>
              <a:rPr lang="it-IT" b="1">
                <a:sym typeface="Wingdings" pitchFamily="2" charset="2"/>
              </a:rPr>
              <a:t>c</a:t>
            </a:r>
            <a:endParaRPr lang="it-IT"/>
          </a:p>
        </p:txBody>
      </p:sp>
      <p:sp>
        <p:nvSpPr>
          <p:cNvPr id="15" name="CasellaDiTesto 14"/>
          <p:cNvSpPr txBox="1">
            <a:spLocks noChangeArrowheads="1"/>
          </p:cNvSpPr>
          <p:nvPr/>
        </p:nvSpPr>
        <p:spPr bwMode="auto">
          <a:xfrm>
            <a:off x="4211638" y="1736725"/>
            <a:ext cx="2195512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>
                <a:solidFill>
                  <a:srgbClr val="FF0000"/>
                </a:solidFill>
              </a:rPr>
              <a:t>b=H(P)</a:t>
            </a:r>
          </a:p>
          <a:p>
            <a:r>
              <a:rPr lang="it-IT">
                <a:solidFill>
                  <a:srgbClr val="FF0000"/>
                </a:solidFill>
              </a:rPr>
              <a:t>c = Sk</a:t>
            </a:r>
            <a:r>
              <a:rPr lang="it-IT" baseline="-25000">
                <a:solidFill>
                  <a:srgbClr val="FF0000"/>
                </a:solidFill>
              </a:rPr>
              <a:t>device</a:t>
            </a:r>
            <a:r>
              <a:rPr lang="it-IT">
                <a:solidFill>
                  <a:srgbClr val="FF0000"/>
                </a:solidFill>
              </a:rPr>
              <a:t> </a:t>
            </a:r>
            <a:r>
              <a:rPr lang="it-IT">
                <a:solidFill>
                  <a:srgbClr val="FF0000"/>
                </a:solidFill>
                <a:sym typeface="Symbol" pitchFamily="18" charset="2"/>
              </a:rPr>
              <a:t></a:t>
            </a:r>
            <a:r>
              <a:rPr lang="it-IT">
                <a:solidFill>
                  <a:srgbClr val="FF0000"/>
                </a:solidFill>
              </a:rPr>
              <a:t> PRF(v; P)</a:t>
            </a:r>
          </a:p>
          <a:p>
            <a:endParaRPr lang="it-IT"/>
          </a:p>
        </p:txBody>
      </p:sp>
      <p:sp>
        <p:nvSpPr>
          <p:cNvPr id="16" name="CasellaDiTesto 15"/>
          <p:cNvSpPr txBox="1">
            <a:spLocks noChangeArrowheads="1"/>
          </p:cNvSpPr>
          <p:nvPr/>
        </p:nvSpPr>
        <p:spPr bwMode="auto">
          <a:xfrm>
            <a:off x="431800" y="4965700"/>
            <a:ext cx="335915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b="1">
                <a:solidFill>
                  <a:srgbClr val="FF0000"/>
                </a:solidFill>
              </a:rPr>
              <a:t>Decrypt key</a:t>
            </a:r>
          </a:p>
          <a:p>
            <a:r>
              <a:rPr lang="it-IT" b="1">
                <a:latin typeface="Symbol" pitchFamily="18" charset="2"/>
              </a:rPr>
              <a:t>(r </a:t>
            </a:r>
            <a:r>
              <a:rPr lang="it-IT" b="1">
                <a:latin typeface="Symbol" pitchFamily="18" charset="2"/>
                <a:sym typeface="Symbol" pitchFamily="18" charset="2"/>
              </a:rPr>
              <a:t> </a:t>
            </a:r>
            <a:r>
              <a:rPr lang="it-IT" b="1">
                <a:sym typeface="Wingdings" pitchFamily="2" charset="2"/>
              </a:rPr>
              <a:t>c) </a:t>
            </a:r>
            <a:r>
              <a:rPr lang="it-IT" b="1">
                <a:latin typeface="Symbol" pitchFamily="18" charset="2"/>
                <a:sym typeface="Symbol" pitchFamily="18" charset="2"/>
              </a:rPr>
              <a:t> </a:t>
            </a:r>
            <a:r>
              <a:rPr lang="it-IT" b="1">
                <a:latin typeface="Symbol" pitchFamily="18" charset="2"/>
              </a:rPr>
              <a:t>r </a:t>
            </a:r>
            <a:r>
              <a:rPr lang="it-IT" b="1">
                <a:latin typeface="Symbol" pitchFamily="18" charset="2"/>
                <a:sym typeface="Symbol" pitchFamily="18" charset="2"/>
              </a:rPr>
              <a:t> </a:t>
            </a:r>
            <a:r>
              <a:rPr lang="it-IT" b="1">
                <a:sym typeface="Symbol" pitchFamily="18" charset="2"/>
              </a:rPr>
              <a:t>PRF[v,P)</a:t>
            </a:r>
            <a:r>
              <a:rPr lang="it-IT" b="1">
                <a:latin typeface="Symbol" pitchFamily="18" charset="2"/>
                <a:sym typeface="Symbol" pitchFamily="18" charset="2"/>
              </a:rPr>
              <a:t> </a:t>
            </a:r>
            <a:r>
              <a:rPr lang="it-IT" b="1">
                <a:latin typeface="Symbol" pitchFamily="18" charset="2"/>
                <a:sym typeface="Wingdings" pitchFamily="2" charset="2"/>
              </a:rPr>
              <a:t> </a:t>
            </a:r>
            <a:r>
              <a:rPr lang="it-IT" b="1"/>
              <a:t>Sk</a:t>
            </a:r>
            <a:r>
              <a:rPr lang="it-IT" b="1" baseline="-25000"/>
              <a:t>device</a:t>
            </a:r>
            <a:r>
              <a:rPr lang="it-IT" b="1">
                <a:latin typeface="Symbol" pitchFamily="18" charset="2"/>
                <a:sym typeface="Wingdings" pitchFamily="2" charset="2"/>
              </a:rPr>
              <a:t> </a:t>
            </a:r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9" grpId="0"/>
      <p:bldP spid="10" grpId="0"/>
      <p:bldP spid="12" grpId="0" animBg="1"/>
      <p:bldP spid="13" grpId="0"/>
      <p:bldP spid="14" grpId="0"/>
      <p:bldP spid="15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 smtClean="0"/>
              <a:t>Attacks</a:t>
            </a:r>
            <a:endParaRPr lang="it-IT" dirty="0"/>
          </a:p>
        </p:txBody>
      </p:sp>
      <p:sp>
        <p:nvSpPr>
          <p:cNvPr id="4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it-IT" dirty="0" smtClean="0"/>
              <a:t>Server </a:t>
            </a:r>
            <a:r>
              <a:rPr lang="it-IT" dirty="0" err="1" smtClean="0"/>
              <a:t>cracked</a:t>
            </a:r>
            <a:r>
              <a:rPr lang="it-IT" dirty="0" smtClean="0"/>
              <a:t> AND password </a:t>
            </a:r>
            <a:r>
              <a:rPr lang="it-IT" dirty="0" err="1" smtClean="0"/>
              <a:t>known</a:t>
            </a:r>
            <a:endParaRPr lang="it-IT" dirty="0" smtClean="0"/>
          </a:p>
          <a:p>
            <a:pPr lvl="1">
              <a:defRPr/>
            </a:pPr>
            <a:r>
              <a:rPr lang="it-IT" dirty="0" smtClean="0"/>
              <a:t>Key v in </a:t>
            </a:r>
            <a:r>
              <a:rPr lang="it-IT" dirty="0" err="1" smtClean="0"/>
              <a:t>device</a:t>
            </a:r>
            <a:r>
              <a:rPr lang="it-IT" dirty="0" smtClean="0"/>
              <a:t>, </a:t>
            </a:r>
            <a:r>
              <a:rPr lang="it-IT" dirty="0" err="1" smtClean="0"/>
              <a:t>still</a:t>
            </a:r>
            <a:r>
              <a:rPr lang="it-IT" dirty="0" smtClean="0"/>
              <a:t> secret</a:t>
            </a:r>
          </a:p>
          <a:p>
            <a:pPr lvl="2">
              <a:defRPr/>
            </a:pPr>
            <a:r>
              <a:rPr lang="it-IT" dirty="0" smtClean="0">
                <a:sym typeface="Wingdings" pitchFamily="2" charset="2"/>
              </a:rPr>
              <a:t>SK </a:t>
            </a:r>
            <a:r>
              <a:rPr lang="it-IT" dirty="0" err="1" smtClean="0">
                <a:sym typeface="Wingdings" pitchFamily="2" charset="2"/>
              </a:rPr>
              <a:t>encrypted</a:t>
            </a:r>
            <a:r>
              <a:rPr lang="it-IT" dirty="0" smtClean="0">
                <a:sym typeface="Wingdings" pitchFamily="2" charset="2"/>
              </a:rPr>
              <a:t> </a:t>
            </a:r>
            <a:r>
              <a:rPr lang="it-IT" dirty="0" err="1" smtClean="0">
                <a:sym typeface="Wingdings" pitchFamily="2" charset="2"/>
              </a:rPr>
              <a:t>with</a:t>
            </a:r>
            <a:r>
              <a:rPr lang="it-IT" dirty="0" smtClean="0">
                <a:sym typeface="Wingdings" pitchFamily="2" charset="2"/>
              </a:rPr>
              <a:t> PFR(v,</a:t>
            </a:r>
            <a:r>
              <a:rPr lang="it-IT" dirty="0" err="1" smtClean="0">
                <a:sym typeface="Wingdings" pitchFamily="2" charset="2"/>
              </a:rPr>
              <a:t>passwd</a:t>
            </a:r>
            <a:r>
              <a:rPr lang="it-IT" dirty="0" smtClean="0">
                <a:sym typeface="Wingdings" pitchFamily="2" charset="2"/>
              </a:rPr>
              <a:t>)</a:t>
            </a:r>
          </a:p>
          <a:p>
            <a:pPr lvl="2">
              <a:defRPr/>
            </a:pPr>
            <a:r>
              <a:rPr lang="it-IT" dirty="0" smtClean="0">
                <a:sym typeface="Wingdings" pitchFamily="2" charset="2"/>
              </a:rPr>
              <a:t>SK </a:t>
            </a:r>
            <a:r>
              <a:rPr lang="it-IT" dirty="0" err="1" smtClean="0">
                <a:sym typeface="Wingdings" pitchFamily="2" charset="2"/>
              </a:rPr>
              <a:t>cannot</a:t>
            </a:r>
            <a:r>
              <a:rPr lang="it-IT" dirty="0" smtClean="0">
                <a:sym typeface="Wingdings" pitchFamily="2" charset="2"/>
              </a:rPr>
              <a:t> </a:t>
            </a:r>
            <a:r>
              <a:rPr lang="it-IT" dirty="0" err="1" smtClean="0">
                <a:sym typeface="Wingdings" pitchFamily="2" charset="2"/>
              </a:rPr>
              <a:t>be</a:t>
            </a:r>
            <a:r>
              <a:rPr lang="it-IT" dirty="0" smtClean="0">
                <a:sym typeface="Wingdings" pitchFamily="2" charset="2"/>
              </a:rPr>
              <a:t> </a:t>
            </a:r>
            <a:r>
              <a:rPr lang="it-IT" dirty="0" err="1" smtClean="0">
                <a:sym typeface="Wingdings" pitchFamily="2" charset="2"/>
              </a:rPr>
              <a:t>obtained</a:t>
            </a:r>
            <a:endParaRPr lang="it-IT" dirty="0" smtClean="0">
              <a:sym typeface="Wingdings" pitchFamily="2" charset="2"/>
            </a:endParaRPr>
          </a:p>
          <a:p>
            <a:pPr>
              <a:defRPr/>
            </a:pPr>
            <a:endParaRPr lang="it-IT" dirty="0" smtClean="0"/>
          </a:p>
          <a:p>
            <a:pPr>
              <a:defRPr/>
            </a:pPr>
            <a:r>
              <a:rPr lang="it-IT" dirty="0" err="1" smtClean="0"/>
              <a:t>Device</a:t>
            </a:r>
            <a:r>
              <a:rPr lang="it-IT" dirty="0" smtClean="0"/>
              <a:t> </a:t>
            </a:r>
            <a:r>
              <a:rPr lang="it-IT" dirty="0" err="1" smtClean="0"/>
              <a:t>cracked</a:t>
            </a:r>
            <a:r>
              <a:rPr lang="it-IT" dirty="0" smtClean="0"/>
              <a:t>/</a:t>
            </a:r>
            <a:r>
              <a:rPr lang="it-IT" dirty="0" err="1" smtClean="0"/>
              <a:t>stolen</a:t>
            </a:r>
            <a:endParaRPr lang="it-IT" dirty="0" smtClean="0"/>
          </a:p>
          <a:p>
            <a:pPr lvl="1">
              <a:defRPr/>
            </a:pPr>
            <a:r>
              <a:rPr lang="it-IT" dirty="0" err="1" smtClean="0"/>
              <a:t>Attacker</a:t>
            </a:r>
            <a:r>
              <a:rPr lang="it-IT" dirty="0" smtClean="0"/>
              <a:t> </a:t>
            </a:r>
            <a:r>
              <a:rPr lang="it-IT" dirty="0" err="1" smtClean="0"/>
              <a:t>must</a:t>
            </a:r>
            <a:r>
              <a:rPr lang="it-IT" dirty="0" smtClean="0"/>
              <a:t> </a:t>
            </a:r>
            <a:r>
              <a:rPr lang="it-IT" dirty="0" err="1" smtClean="0"/>
              <a:t>send</a:t>
            </a:r>
            <a:r>
              <a:rPr lang="it-IT" dirty="0" smtClean="0"/>
              <a:t> </a:t>
            </a:r>
            <a:r>
              <a:rPr lang="it-IT" dirty="0" err="1" smtClean="0"/>
              <a:t>valid</a:t>
            </a:r>
            <a:r>
              <a:rPr lang="it-IT" dirty="0" smtClean="0"/>
              <a:t> </a:t>
            </a:r>
            <a:r>
              <a:rPr lang="it-IT" dirty="0" err="1" smtClean="0"/>
              <a:t>passwd</a:t>
            </a:r>
            <a:r>
              <a:rPr lang="it-IT" dirty="0" smtClean="0"/>
              <a:t> </a:t>
            </a:r>
            <a:r>
              <a:rPr lang="it-IT" dirty="0" err="1" smtClean="0"/>
              <a:t>hash</a:t>
            </a:r>
            <a:endParaRPr lang="it-IT" dirty="0" smtClean="0"/>
          </a:p>
          <a:p>
            <a:pPr lvl="1">
              <a:defRPr/>
            </a:pPr>
            <a:r>
              <a:rPr lang="it-IT" dirty="0" smtClean="0"/>
              <a:t>can </a:t>
            </a:r>
            <a:r>
              <a:rPr lang="it-IT" dirty="0" err="1" smtClean="0"/>
              <a:t>only</a:t>
            </a:r>
            <a:r>
              <a:rPr lang="it-IT" dirty="0" smtClean="0"/>
              <a:t> </a:t>
            </a:r>
            <a:r>
              <a:rPr lang="it-IT" dirty="0" err="1" smtClean="0"/>
              <a:t>perform</a:t>
            </a:r>
            <a:r>
              <a:rPr lang="it-IT" dirty="0" smtClean="0"/>
              <a:t> </a:t>
            </a:r>
            <a:r>
              <a:rPr lang="it-IT" dirty="0" err="1" smtClean="0"/>
              <a:t>dictionary</a:t>
            </a:r>
            <a:r>
              <a:rPr lang="it-IT" dirty="0" smtClean="0"/>
              <a:t> </a:t>
            </a:r>
            <a:r>
              <a:rPr lang="it-IT" dirty="0" err="1" smtClean="0"/>
              <a:t>attack</a:t>
            </a:r>
            <a:r>
              <a:rPr lang="it-IT" dirty="0" smtClean="0"/>
              <a:t> ONLINE</a:t>
            </a:r>
          </a:p>
          <a:p>
            <a:pPr lvl="2">
              <a:defRPr/>
            </a:pPr>
            <a:r>
              <a:rPr lang="it-IT" dirty="0" smtClean="0"/>
              <a:t>Easy </a:t>
            </a:r>
            <a:r>
              <a:rPr lang="it-IT" dirty="0" err="1" smtClean="0"/>
              <a:t>to</a:t>
            </a:r>
            <a:r>
              <a:rPr lang="it-IT" dirty="0" smtClean="0"/>
              <a:t> </a:t>
            </a:r>
            <a:r>
              <a:rPr lang="it-IT" dirty="0" err="1" smtClean="0"/>
              <a:t>detect</a:t>
            </a:r>
            <a:r>
              <a:rPr lang="it-IT" dirty="0" smtClean="0"/>
              <a:t>! </a:t>
            </a:r>
          </a:p>
          <a:p>
            <a:pPr lvl="2">
              <a:defRPr/>
            </a:pPr>
            <a:r>
              <a:rPr lang="it-IT" dirty="0" smtClean="0"/>
              <a:t>MAC </a:t>
            </a:r>
            <a:r>
              <a:rPr lang="it-IT" dirty="0" err="1" smtClean="0"/>
              <a:t>verified</a:t>
            </a:r>
            <a:r>
              <a:rPr lang="it-IT" dirty="0" smtClean="0"/>
              <a:t> (</a:t>
            </a:r>
            <a:r>
              <a:rPr lang="it-IT" dirty="0" err="1" smtClean="0"/>
              <a:t>attacker</a:t>
            </a:r>
            <a:r>
              <a:rPr lang="it-IT" dirty="0" smtClean="0"/>
              <a:t> </a:t>
            </a:r>
            <a:r>
              <a:rPr lang="it-IT" dirty="0" err="1" smtClean="0"/>
              <a:t>knows</a:t>
            </a:r>
            <a:r>
              <a:rPr lang="it-IT" dirty="0" smtClean="0"/>
              <a:t> a), </a:t>
            </a:r>
            <a:r>
              <a:rPr lang="it-IT" dirty="0" err="1" smtClean="0"/>
              <a:t>but</a:t>
            </a:r>
            <a:r>
              <a:rPr lang="it-IT" dirty="0" smtClean="0"/>
              <a:t> </a:t>
            </a:r>
            <a:r>
              <a:rPr lang="it-IT" dirty="0" err="1" smtClean="0"/>
              <a:t>passwd</a:t>
            </a:r>
            <a:r>
              <a:rPr lang="it-IT" dirty="0" smtClean="0"/>
              <a:t> </a:t>
            </a:r>
            <a:r>
              <a:rPr lang="it-IT" dirty="0" err="1" smtClean="0"/>
              <a:t>fails</a:t>
            </a:r>
            <a:r>
              <a:rPr lang="it-IT" dirty="0" smtClean="0"/>
              <a:t> </a:t>
            </a:r>
            <a:r>
              <a:rPr lang="it-IT" dirty="0" err="1" smtClean="0"/>
              <a:t>many</a:t>
            </a:r>
            <a:r>
              <a:rPr lang="it-IT" dirty="0" smtClean="0"/>
              <a:t> </a:t>
            </a:r>
            <a:r>
              <a:rPr lang="it-IT" dirty="0" err="1" smtClean="0"/>
              <a:t>times</a:t>
            </a:r>
            <a:endParaRPr lang="it-IT" dirty="0" smtClean="0"/>
          </a:p>
          <a:p>
            <a:pPr>
              <a:defRPr/>
            </a:pPr>
            <a:endParaRPr lang="it-IT" dirty="0" smtClean="0"/>
          </a:p>
          <a:p>
            <a:pPr>
              <a:defRPr/>
            </a:pPr>
            <a:r>
              <a:rPr lang="it-IT" dirty="0" err="1" smtClean="0"/>
              <a:t>Device</a:t>
            </a:r>
            <a:r>
              <a:rPr lang="it-IT" dirty="0" smtClean="0"/>
              <a:t> and Server </a:t>
            </a:r>
            <a:r>
              <a:rPr lang="it-IT" dirty="0" err="1" smtClean="0"/>
              <a:t>cracked</a:t>
            </a:r>
            <a:endParaRPr lang="it-IT" dirty="0" smtClean="0"/>
          </a:p>
          <a:p>
            <a:pPr lvl="1">
              <a:defRPr/>
            </a:pPr>
            <a:r>
              <a:rPr lang="it-IT" dirty="0" err="1" smtClean="0"/>
              <a:t>Passwd</a:t>
            </a:r>
            <a:r>
              <a:rPr lang="it-IT" dirty="0" smtClean="0"/>
              <a:t> </a:t>
            </a:r>
            <a:r>
              <a:rPr lang="it-IT" dirty="0" err="1" smtClean="0"/>
              <a:t>still</a:t>
            </a:r>
            <a:r>
              <a:rPr lang="it-IT" dirty="0" smtClean="0"/>
              <a:t> </a:t>
            </a:r>
            <a:r>
              <a:rPr lang="it-IT" dirty="0" err="1" smtClean="0"/>
              <a:t>missing</a:t>
            </a:r>
            <a:endParaRPr lang="it-IT" dirty="0" smtClean="0"/>
          </a:p>
          <a:p>
            <a:pPr lvl="1">
              <a:defRPr/>
            </a:pPr>
            <a:r>
              <a:rPr lang="it-IT" dirty="0" err="1" smtClean="0"/>
              <a:t>Dictionary</a:t>
            </a:r>
            <a:r>
              <a:rPr lang="it-IT" dirty="0" smtClean="0"/>
              <a:t> </a:t>
            </a:r>
            <a:r>
              <a:rPr lang="it-IT" dirty="0" err="1" smtClean="0"/>
              <a:t>attack</a:t>
            </a:r>
            <a:r>
              <a:rPr lang="it-IT" dirty="0" smtClean="0"/>
              <a:t> OFFLINE </a:t>
            </a:r>
            <a:r>
              <a:rPr lang="it-IT" dirty="0" err="1" smtClean="0"/>
              <a:t>against</a:t>
            </a:r>
            <a:r>
              <a:rPr lang="it-IT" dirty="0" smtClean="0"/>
              <a:t> </a:t>
            </a:r>
            <a:r>
              <a:rPr lang="it-IT" dirty="0" err="1" smtClean="0"/>
              <a:t>b=H</a:t>
            </a:r>
            <a:r>
              <a:rPr lang="it-IT" dirty="0" smtClean="0"/>
              <a:t>(</a:t>
            </a:r>
            <a:r>
              <a:rPr lang="it-IT" dirty="0" err="1" smtClean="0"/>
              <a:t>Passwd</a:t>
            </a:r>
            <a:r>
              <a:rPr lang="it-IT" dirty="0" smtClean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smtClean="0"/>
              <a:t>Can </a:t>
            </a:r>
            <a:r>
              <a:rPr lang="it-IT" dirty="0" err="1" smtClean="0"/>
              <a:t>we</a:t>
            </a:r>
            <a:r>
              <a:rPr lang="it-IT" dirty="0" smtClean="0"/>
              <a:t> do </a:t>
            </a:r>
            <a:r>
              <a:rPr lang="it-IT" dirty="0" err="1" smtClean="0"/>
              <a:t>better</a:t>
            </a:r>
            <a:r>
              <a:rPr lang="it-IT" dirty="0" smtClean="0"/>
              <a:t>?</a:t>
            </a:r>
            <a:endParaRPr lang="it-IT" dirty="0"/>
          </a:p>
        </p:txBody>
      </p:sp>
      <p:sp>
        <p:nvSpPr>
          <p:cNvPr id="57347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 err="1" smtClean="0"/>
              <a:t>Limitation</a:t>
            </a:r>
            <a:endParaRPr lang="it-IT" dirty="0" smtClean="0"/>
          </a:p>
          <a:p>
            <a:pPr lvl="1"/>
            <a:r>
              <a:rPr lang="it-IT" dirty="0" err="1" smtClean="0"/>
              <a:t>device</a:t>
            </a:r>
            <a:r>
              <a:rPr lang="it-IT" dirty="0" smtClean="0"/>
              <a:t> </a:t>
            </a:r>
            <a:r>
              <a:rPr lang="it-IT" dirty="0" err="1" smtClean="0"/>
              <a:t>stolen</a:t>
            </a:r>
            <a:r>
              <a:rPr lang="it-IT" dirty="0" smtClean="0"/>
              <a:t> and </a:t>
            </a:r>
            <a:r>
              <a:rPr lang="it-IT" dirty="0" err="1" smtClean="0"/>
              <a:t>passwd</a:t>
            </a:r>
            <a:r>
              <a:rPr lang="it-IT" dirty="0" smtClean="0"/>
              <a:t> </a:t>
            </a:r>
            <a:r>
              <a:rPr lang="it-IT" dirty="0" err="1" smtClean="0"/>
              <a:t>known</a:t>
            </a:r>
            <a:endParaRPr lang="it-IT" dirty="0" smtClean="0"/>
          </a:p>
          <a:p>
            <a:pPr lvl="2"/>
            <a:r>
              <a:rPr lang="it-IT" dirty="0" err="1" smtClean="0"/>
              <a:t>Attacket</a:t>
            </a:r>
            <a:r>
              <a:rPr lang="it-IT" dirty="0" smtClean="0"/>
              <a:t> can </a:t>
            </a:r>
            <a:r>
              <a:rPr lang="it-IT" dirty="0" err="1" smtClean="0"/>
              <a:t>get</a:t>
            </a:r>
            <a:r>
              <a:rPr lang="it-IT" dirty="0" smtClean="0"/>
              <a:t> SK and </a:t>
            </a:r>
            <a:r>
              <a:rPr lang="it-IT" dirty="0" err="1" smtClean="0"/>
              <a:t>use</a:t>
            </a:r>
            <a:r>
              <a:rPr lang="it-IT" dirty="0" smtClean="0"/>
              <a:t> </a:t>
            </a:r>
            <a:r>
              <a:rPr lang="it-IT" dirty="0" err="1" smtClean="0"/>
              <a:t>it</a:t>
            </a:r>
            <a:r>
              <a:rPr lang="it-IT" dirty="0" smtClean="0"/>
              <a:t> </a:t>
            </a:r>
            <a:r>
              <a:rPr lang="it-IT" dirty="0" err="1" smtClean="0"/>
              <a:t>from</a:t>
            </a:r>
            <a:r>
              <a:rPr lang="it-IT" dirty="0" smtClean="0"/>
              <a:t> </a:t>
            </a:r>
            <a:r>
              <a:rPr lang="it-IT" dirty="0" err="1" smtClean="0"/>
              <a:t>now</a:t>
            </a:r>
            <a:r>
              <a:rPr lang="it-IT" dirty="0" smtClean="0"/>
              <a:t> on</a:t>
            </a:r>
          </a:p>
          <a:p>
            <a:r>
              <a:rPr lang="it-IT" dirty="0" err="1" smtClean="0"/>
              <a:t>Solution</a:t>
            </a:r>
            <a:r>
              <a:rPr lang="it-IT" dirty="0" smtClean="0"/>
              <a:t>:</a:t>
            </a:r>
          </a:p>
          <a:p>
            <a:pPr lvl="1"/>
            <a:r>
              <a:rPr lang="it-IT" dirty="0" err="1" smtClean="0"/>
              <a:t>Must</a:t>
            </a:r>
            <a:r>
              <a:rPr lang="it-IT" dirty="0" smtClean="0"/>
              <a:t> NOT </a:t>
            </a:r>
            <a:r>
              <a:rPr lang="it-IT" dirty="0" err="1" smtClean="0"/>
              <a:t>reveal</a:t>
            </a:r>
            <a:r>
              <a:rPr lang="it-IT" dirty="0" smtClean="0"/>
              <a:t> SK </a:t>
            </a:r>
            <a:r>
              <a:rPr lang="it-IT" dirty="0" err="1" smtClean="0"/>
              <a:t>to</a:t>
            </a:r>
            <a:r>
              <a:rPr lang="it-IT" dirty="0" smtClean="0"/>
              <a:t> the </a:t>
            </a:r>
            <a:r>
              <a:rPr lang="it-IT" dirty="0" err="1" smtClean="0"/>
              <a:t>device</a:t>
            </a:r>
            <a:r>
              <a:rPr lang="it-IT" dirty="0" smtClean="0"/>
              <a:t> </a:t>
            </a:r>
            <a:r>
              <a:rPr lang="it-IT" dirty="0" err="1" smtClean="0"/>
              <a:t>itself</a:t>
            </a:r>
            <a:r>
              <a:rPr lang="it-IT" dirty="0" smtClean="0"/>
              <a:t>!</a:t>
            </a:r>
          </a:p>
          <a:p>
            <a:pPr lvl="1"/>
            <a:r>
              <a:rPr lang="it-IT" dirty="0" smtClean="0"/>
              <a:t>Easy (</a:t>
            </a:r>
            <a:r>
              <a:rPr lang="it-IT" dirty="0" err="1" smtClean="0"/>
              <a:t>now</a:t>
            </a:r>
            <a:r>
              <a:rPr lang="it-IT" dirty="0" smtClean="0"/>
              <a:t> </a:t>
            </a:r>
            <a:r>
              <a:rPr lang="it-IT" dirty="0" smtClean="0">
                <a:sym typeface="Wingdings" pitchFamily="2" charset="2"/>
              </a:rPr>
              <a:t></a:t>
            </a:r>
            <a:r>
              <a:rPr lang="it-IT" dirty="0" smtClean="0"/>
              <a:t>): </a:t>
            </a:r>
            <a:r>
              <a:rPr lang="it-IT" dirty="0" err="1" smtClean="0"/>
              <a:t>use</a:t>
            </a:r>
            <a:r>
              <a:rPr lang="it-IT" dirty="0" smtClean="0"/>
              <a:t> secret </a:t>
            </a:r>
            <a:r>
              <a:rPr lang="it-IT" dirty="0" err="1" smtClean="0"/>
              <a:t>sharing</a:t>
            </a:r>
            <a:r>
              <a:rPr lang="it-IT" dirty="0" smtClean="0"/>
              <a:t>!</a:t>
            </a:r>
          </a:p>
          <a:p>
            <a:pPr lvl="1"/>
            <a:endParaRPr lang="it-IT" dirty="0" smtClean="0"/>
          </a:p>
          <a:p>
            <a:r>
              <a:rPr lang="it-IT" dirty="0" err="1" smtClean="0"/>
              <a:t>Following</a:t>
            </a:r>
            <a:r>
              <a:rPr lang="it-IT" dirty="0" smtClean="0"/>
              <a:t> </a:t>
            </a:r>
            <a:r>
              <a:rPr lang="it-IT" dirty="0" err="1" smtClean="0"/>
              <a:t>example</a:t>
            </a:r>
            <a:r>
              <a:rPr lang="it-IT" dirty="0" smtClean="0"/>
              <a:t>: </a:t>
            </a:r>
          </a:p>
          <a:p>
            <a:pPr lvl="1"/>
            <a:r>
              <a:rPr lang="it-IT" dirty="0" smtClean="0"/>
              <a:t>RSA </a:t>
            </a:r>
            <a:r>
              <a:rPr lang="it-IT" dirty="0" err="1" smtClean="0"/>
              <a:t>signature</a:t>
            </a:r>
            <a:endParaRPr lang="it-IT" dirty="0" smtClean="0"/>
          </a:p>
          <a:p>
            <a:pPr lvl="1"/>
            <a:r>
              <a:rPr lang="it-IT" dirty="0" err="1" smtClean="0"/>
              <a:t>Analogous</a:t>
            </a:r>
            <a:r>
              <a:rPr lang="it-IT" dirty="0" smtClean="0"/>
              <a:t> </a:t>
            </a:r>
            <a:r>
              <a:rPr lang="it-IT" dirty="0" err="1" smtClean="0"/>
              <a:t>for</a:t>
            </a:r>
            <a:r>
              <a:rPr lang="it-IT" dirty="0" smtClean="0"/>
              <a:t> </a:t>
            </a:r>
            <a:r>
              <a:rPr lang="it-IT" dirty="0" err="1" smtClean="0"/>
              <a:t>encryption</a:t>
            </a:r>
            <a:endParaRPr lang="it-IT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Secret </a:t>
            </a:r>
            <a:r>
              <a:rPr lang="it-IT" dirty="0" err="1" smtClean="0"/>
              <a:t>sharing</a:t>
            </a:r>
            <a:r>
              <a:rPr lang="it-IT" dirty="0" smtClean="0"/>
              <a:t> (2,2) </a:t>
            </a:r>
            <a:r>
              <a:rPr lang="it-IT" dirty="0" err="1" smtClean="0"/>
              <a:t>for</a:t>
            </a:r>
            <a:r>
              <a:rPr lang="it-IT" dirty="0" smtClean="0"/>
              <a:t> RSA</a:t>
            </a:r>
            <a:endParaRPr lang="it-IT" dirty="0"/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190500" y="1125538"/>
          <a:ext cx="8559800" cy="336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9" name="Equazione" r:id="rId3" imgW="3517560" imgH="1346040" progId="Equation.3">
                  <p:embed/>
                </p:oleObj>
              </mc:Choice>
              <mc:Fallback>
                <p:oleObj name="Equazione" r:id="rId3" imgW="3517560" imgH="13460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" y="1125538"/>
                        <a:ext cx="8559800" cy="3362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asellaDiTesto 4"/>
          <p:cNvSpPr txBox="1"/>
          <p:nvPr/>
        </p:nvSpPr>
        <p:spPr>
          <a:xfrm>
            <a:off x="539552" y="5229200"/>
            <a:ext cx="74242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 smtClean="0">
                <a:solidFill>
                  <a:srgbClr val="FF0000"/>
                </a:solidFill>
              </a:rPr>
              <a:t>Case (2,2): </a:t>
            </a:r>
            <a:r>
              <a:rPr lang="it-IT" sz="2000" b="1" dirty="0" err="1" smtClean="0">
                <a:solidFill>
                  <a:srgbClr val="FF0000"/>
                </a:solidFill>
              </a:rPr>
              <a:t>use</a:t>
            </a:r>
            <a:r>
              <a:rPr lang="it-IT" sz="2000" b="1" dirty="0" smtClean="0">
                <a:solidFill>
                  <a:srgbClr val="FF0000"/>
                </a:solidFill>
              </a:rPr>
              <a:t> </a:t>
            </a:r>
            <a:r>
              <a:rPr lang="it-IT" sz="2000" b="1" dirty="0" err="1" smtClean="0">
                <a:solidFill>
                  <a:srgbClr val="FF0000"/>
                </a:solidFill>
              </a:rPr>
              <a:t>trivial</a:t>
            </a:r>
            <a:r>
              <a:rPr lang="it-IT" sz="2000" b="1" dirty="0" smtClean="0">
                <a:solidFill>
                  <a:srgbClr val="FF0000"/>
                </a:solidFill>
              </a:rPr>
              <a:t> secret share</a:t>
            </a:r>
          </a:p>
          <a:p>
            <a:r>
              <a:rPr lang="it-IT" sz="2000" b="1" dirty="0" smtClean="0">
                <a:solidFill>
                  <a:srgbClr val="FF0000"/>
                </a:solidFill>
              </a:rPr>
              <a:t>NO </a:t>
            </a:r>
            <a:r>
              <a:rPr lang="it-IT" sz="2000" b="1" dirty="0" err="1" smtClean="0">
                <a:solidFill>
                  <a:srgbClr val="FF0000"/>
                </a:solidFill>
              </a:rPr>
              <a:t>Shoup</a:t>
            </a:r>
            <a:r>
              <a:rPr lang="it-IT" sz="2000" b="1" dirty="0" smtClean="0">
                <a:solidFill>
                  <a:srgbClr val="FF0000"/>
                </a:solidFill>
              </a:rPr>
              <a:t>’s </a:t>
            </a:r>
            <a:r>
              <a:rPr lang="it-IT" sz="2000" b="1" dirty="0" err="1" smtClean="0">
                <a:solidFill>
                  <a:srgbClr val="FF0000"/>
                </a:solidFill>
              </a:rPr>
              <a:t>problem</a:t>
            </a:r>
            <a:r>
              <a:rPr lang="it-IT" sz="2000" b="1" dirty="0" smtClean="0">
                <a:solidFill>
                  <a:srgbClr val="FF0000"/>
                </a:solidFill>
              </a:rPr>
              <a:t> </a:t>
            </a:r>
            <a:r>
              <a:rPr lang="it-IT" sz="2000" b="1" dirty="0" err="1" smtClean="0">
                <a:solidFill>
                  <a:srgbClr val="FF0000"/>
                </a:solidFill>
              </a:rPr>
              <a:t>to</a:t>
            </a:r>
            <a:r>
              <a:rPr lang="it-IT" sz="2000" b="1" dirty="0" smtClean="0">
                <a:solidFill>
                  <a:srgbClr val="FF0000"/>
                </a:solidFill>
              </a:rPr>
              <a:t> </a:t>
            </a:r>
            <a:r>
              <a:rPr lang="it-IT" sz="2000" b="1" dirty="0" err="1" smtClean="0">
                <a:solidFill>
                  <a:srgbClr val="FF0000"/>
                </a:solidFill>
              </a:rPr>
              <a:t>overcome</a:t>
            </a:r>
            <a:r>
              <a:rPr lang="it-IT" sz="2000" b="1" dirty="0" smtClean="0">
                <a:solidFill>
                  <a:srgbClr val="FF0000"/>
                </a:solidFill>
              </a:rPr>
              <a:t> in </a:t>
            </a:r>
            <a:r>
              <a:rPr lang="it-IT" sz="2000" b="1" dirty="0" err="1" smtClean="0">
                <a:solidFill>
                  <a:srgbClr val="FF0000"/>
                </a:solidFill>
              </a:rPr>
              <a:t>reconstruction</a:t>
            </a:r>
            <a:r>
              <a:rPr lang="it-IT" sz="2000" b="1" dirty="0" smtClean="0">
                <a:solidFill>
                  <a:srgbClr val="FF0000"/>
                </a:solidFill>
              </a:rPr>
              <a:t> (no </a:t>
            </a:r>
            <a:r>
              <a:rPr lang="it-IT" sz="2000" b="1" dirty="0" err="1" smtClean="0">
                <a:solidFill>
                  <a:srgbClr val="FF0000"/>
                </a:solidFill>
              </a:rPr>
              <a:t>Lagrange</a:t>
            </a:r>
            <a:r>
              <a:rPr lang="it-IT" sz="2000" b="1" dirty="0">
                <a:solidFill>
                  <a:srgbClr val="FF0000"/>
                </a:solidFill>
              </a:rPr>
              <a:t> </a:t>
            </a:r>
            <a:r>
              <a:rPr lang="it-IT" sz="2000" b="1" dirty="0" err="1" smtClean="0">
                <a:solidFill>
                  <a:srgbClr val="FF0000"/>
                </a:solidFill>
              </a:rPr>
              <a:t>now</a:t>
            </a:r>
            <a:r>
              <a:rPr lang="it-IT" sz="2000" b="1" dirty="0" smtClean="0">
                <a:solidFill>
                  <a:srgbClr val="FF0000"/>
                </a:solidFill>
              </a:rPr>
              <a:t>!!)</a:t>
            </a:r>
            <a:endParaRPr lang="it-IT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smtClean="0"/>
              <a:t>Protocol2: </a:t>
            </a:r>
            <a:r>
              <a:rPr lang="it-IT" dirty="0" err="1" smtClean="0"/>
              <a:t>device</a:t>
            </a:r>
            <a:r>
              <a:rPr lang="it-IT" dirty="0" smtClean="0"/>
              <a:t> </a:t>
            </a:r>
            <a:r>
              <a:rPr lang="it-IT" dirty="0" err="1" smtClean="0"/>
              <a:t>initialization</a:t>
            </a:r>
            <a:endParaRPr lang="it-IT" dirty="0"/>
          </a:p>
        </p:txBody>
      </p:sp>
      <p:sp>
        <p:nvSpPr>
          <p:cNvPr id="4" name="Rettangolo 3"/>
          <p:cNvSpPr>
            <a:spLocks noChangeArrowheads="1"/>
          </p:cNvSpPr>
          <p:nvPr/>
        </p:nvSpPr>
        <p:spPr bwMode="auto">
          <a:xfrm>
            <a:off x="900113" y="1124744"/>
            <a:ext cx="5976143" cy="522058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r>
              <a:rPr lang="it-IT" sz="2400" dirty="0">
                <a:solidFill>
                  <a:srgbClr val="FF0000"/>
                </a:solidFill>
              </a:rPr>
              <a:t>Password		P</a:t>
            </a:r>
          </a:p>
          <a:p>
            <a:endParaRPr lang="it-IT" sz="2400" dirty="0"/>
          </a:p>
          <a:p>
            <a:r>
              <a:rPr lang="it-IT" sz="2400" b="1" dirty="0" err="1" smtClean="0"/>
              <a:t>Gen</a:t>
            </a:r>
            <a:r>
              <a:rPr lang="it-IT" sz="2400" b="1" dirty="0" smtClean="0"/>
              <a:t> </a:t>
            </a:r>
            <a:r>
              <a:rPr lang="it-IT" sz="2400" b="1" dirty="0" err="1"/>
              <a:t>random</a:t>
            </a:r>
            <a:r>
              <a:rPr lang="it-IT" sz="2400" b="1" dirty="0"/>
              <a:t> key	v</a:t>
            </a:r>
          </a:p>
          <a:p>
            <a:r>
              <a:rPr lang="it-IT" sz="2400" b="1" dirty="0" err="1"/>
              <a:t>Gen</a:t>
            </a:r>
            <a:r>
              <a:rPr lang="it-IT" sz="2400" b="1" dirty="0"/>
              <a:t> </a:t>
            </a:r>
            <a:r>
              <a:rPr lang="it-IT" sz="2400" b="1" dirty="0" err="1"/>
              <a:t>random</a:t>
            </a:r>
            <a:r>
              <a:rPr lang="it-IT" sz="2400" b="1" dirty="0"/>
              <a:t> key	</a:t>
            </a:r>
            <a:r>
              <a:rPr lang="it-IT" sz="2400" b="1" dirty="0" smtClean="0"/>
              <a:t>a</a:t>
            </a:r>
          </a:p>
          <a:p>
            <a:r>
              <a:rPr lang="it-IT" sz="2400" b="1" dirty="0" err="1" smtClean="0">
                <a:solidFill>
                  <a:srgbClr val="FFC000"/>
                </a:solidFill>
              </a:rPr>
              <a:t>Gen</a:t>
            </a:r>
            <a:r>
              <a:rPr lang="it-IT" sz="2400" b="1" dirty="0" smtClean="0">
                <a:solidFill>
                  <a:srgbClr val="FFC000"/>
                </a:solidFill>
              </a:rPr>
              <a:t> share 1		d</a:t>
            </a:r>
            <a:r>
              <a:rPr lang="it-IT" sz="2400" b="1" baseline="-25000" dirty="0" smtClean="0">
                <a:solidFill>
                  <a:srgbClr val="FFC000"/>
                </a:solidFill>
              </a:rPr>
              <a:t>1</a:t>
            </a:r>
            <a:r>
              <a:rPr lang="it-IT" sz="2400" dirty="0" smtClean="0">
                <a:solidFill>
                  <a:srgbClr val="FFC000"/>
                </a:solidFill>
              </a:rPr>
              <a:t>=PRF(v; P)</a:t>
            </a:r>
            <a:endParaRPr lang="it-IT" sz="2400" b="1" dirty="0" smtClean="0">
              <a:solidFill>
                <a:srgbClr val="FFC000"/>
              </a:solidFill>
            </a:endParaRPr>
          </a:p>
          <a:p>
            <a:r>
              <a:rPr lang="it-IT" sz="2400" b="1" dirty="0" err="1" smtClean="0">
                <a:solidFill>
                  <a:srgbClr val="FFC000"/>
                </a:solidFill>
              </a:rPr>
              <a:t>Gen</a:t>
            </a:r>
            <a:r>
              <a:rPr lang="it-IT" sz="2400" b="1" dirty="0" smtClean="0">
                <a:solidFill>
                  <a:srgbClr val="FFC000"/>
                </a:solidFill>
              </a:rPr>
              <a:t> share 2		d</a:t>
            </a:r>
            <a:r>
              <a:rPr lang="it-IT" sz="2400" b="1" baseline="-25000" dirty="0">
                <a:solidFill>
                  <a:srgbClr val="FFC000"/>
                </a:solidFill>
              </a:rPr>
              <a:t>2</a:t>
            </a:r>
            <a:r>
              <a:rPr lang="it-IT" sz="2400" b="1" dirty="0" smtClean="0">
                <a:solidFill>
                  <a:srgbClr val="FFC000"/>
                </a:solidFill>
              </a:rPr>
              <a:t>=d-d</a:t>
            </a:r>
            <a:r>
              <a:rPr lang="it-IT" sz="2400" b="1" baseline="-25000" dirty="0" smtClean="0">
                <a:solidFill>
                  <a:srgbClr val="FFC000"/>
                </a:solidFill>
              </a:rPr>
              <a:t>1</a:t>
            </a:r>
            <a:r>
              <a:rPr lang="it-IT" sz="2400" b="1" dirty="0" smtClean="0">
                <a:solidFill>
                  <a:srgbClr val="FFC000"/>
                </a:solidFill>
              </a:rPr>
              <a:t> </a:t>
            </a:r>
            <a:r>
              <a:rPr lang="it-IT" sz="2400" b="1" dirty="0" err="1" smtClean="0">
                <a:solidFill>
                  <a:srgbClr val="FFC000"/>
                </a:solidFill>
              </a:rPr>
              <a:t>mod</a:t>
            </a:r>
            <a:r>
              <a:rPr lang="it-IT" sz="2400" b="1" dirty="0" smtClean="0">
                <a:solidFill>
                  <a:srgbClr val="FFC000"/>
                </a:solidFill>
              </a:rPr>
              <a:t> </a:t>
            </a:r>
            <a:r>
              <a:rPr lang="it-IT" sz="2400" b="1" dirty="0" smtClean="0">
                <a:solidFill>
                  <a:srgbClr val="FFC000"/>
                </a:solidFill>
                <a:latin typeface="Symbol" pitchFamily="18" charset="2"/>
              </a:rPr>
              <a:t>f</a:t>
            </a:r>
            <a:r>
              <a:rPr lang="it-IT" sz="2400" b="1" dirty="0" smtClean="0">
                <a:solidFill>
                  <a:srgbClr val="FFC000"/>
                </a:solidFill>
              </a:rPr>
              <a:t>(n)</a:t>
            </a:r>
          </a:p>
          <a:p>
            <a:r>
              <a:rPr lang="it-IT" sz="2400" b="1" dirty="0" err="1" smtClean="0">
                <a:solidFill>
                  <a:srgbClr val="00B050"/>
                </a:solidFill>
              </a:rPr>
              <a:t>Gen</a:t>
            </a:r>
            <a:r>
              <a:rPr lang="it-IT" sz="2400" b="1" dirty="0" smtClean="0">
                <a:solidFill>
                  <a:srgbClr val="00B050"/>
                </a:solidFill>
              </a:rPr>
              <a:t> </a:t>
            </a:r>
            <a:r>
              <a:rPr lang="it-IT" sz="2400" b="1" dirty="0" err="1" smtClean="0">
                <a:solidFill>
                  <a:srgbClr val="00B050"/>
                </a:solidFill>
              </a:rPr>
              <a:t>disabling</a:t>
            </a:r>
            <a:r>
              <a:rPr lang="it-IT" sz="2400" b="1" dirty="0" smtClean="0">
                <a:solidFill>
                  <a:srgbClr val="00B050"/>
                </a:solidFill>
              </a:rPr>
              <a:t> key	t</a:t>
            </a:r>
          </a:p>
          <a:p>
            <a:r>
              <a:rPr lang="it-IT" sz="2400" b="1" dirty="0" err="1" smtClean="0">
                <a:solidFill>
                  <a:srgbClr val="FFC000"/>
                </a:solidFill>
              </a:rPr>
              <a:t>Gen</a:t>
            </a:r>
            <a:r>
              <a:rPr lang="it-IT" sz="2400" b="1" dirty="0" smtClean="0">
                <a:solidFill>
                  <a:srgbClr val="FFC000"/>
                </a:solidFill>
              </a:rPr>
              <a:t> </a:t>
            </a:r>
            <a:r>
              <a:rPr lang="it-IT" sz="2400" b="1" dirty="0" err="1" smtClean="0">
                <a:solidFill>
                  <a:srgbClr val="FFC000"/>
                </a:solidFill>
              </a:rPr>
              <a:t>disabling</a:t>
            </a:r>
            <a:r>
              <a:rPr lang="it-IT" sz="2400" b="1" dirty="0" smtClean="0">
                <a:solidFill>
                  <a:srgbClr val="FFC000"/>
                </a:solidFill>
              </a:rPr>
              <a:t> val	</a:t>
            </a:r>
            <a:r>
              <a:rPr lang="it-IT" sz="2400" b="1" dirty="0" err="1" smtClean="0">
                <a:solidFill>
                  <a:srgbClr val="FFC000"/>
                </a:solidFill>
              </a:rPr>
              <a:t>u=H</a:t>
            </a:r>
            <a:r>
              <a:rPr lang="it-IT" sz="2400" b="1" dirty="0" smtClean="0">
                <a:solidFill>
                  <a:srgbClr val="FFC000"/>
                </a:solidFill>
              </a:rPr>
              <a:t>(t)</a:t>
            </a:r>
            <a:r>
              <a:rPr lang="it-IT" sz="2400" b="1" baseline="-25000" dirty="0" smtClean="0">
                <a:solidFill>
                  <a:srgbClr val="00B050"/>
                </a:solidFill>
              </a:rPr>
              <a:t> </a:t>
            </a:r>
            <a:endParaRPr lang="it-IT" sz="2400" b="1" baseline="-25000" dirty="0">
              <a:solidFill>
                <a:srgbClr val="00B050"/>
              </a:solidFill>
            </a:endParaRPr>
          </a:p>
          <a:p>
            <a:r>
              <a:rPr lang="it-IT" sz="2400" dirty="0" err="1">
                <a:solidFill>
                  <a:srgbClr val="FF0000"/>
                </a:solidFill>
              </a:rPr>
              <a:t>Hash</a:t>
            </a:r>
            <a:r>
              <a:rPr lang="it-IT" sz="2400" dirty="0">
                <a:solidFill>
                  <a:srgbClr val="FF0000"/>
                </a:solidFill>
              </a:rPr>
              <a:t> password		b = H(P)</a:t>
            </a:r>
          </a:p>
          <a:p>
            <a:r>
              <a:rPr lang="it-IT" sz="2400" strike="sngStrike" dirty="0" err="1">
                <a:solidFill>
                  <a:srgbClr val="FF0000"/>
                </a:solidFill>
              </a:rPr>
              <a:t>Crypt</a:t>
            </a:r>
            <a:r>
              <a:rPr lang="it-IT" sz="2400" strike="sngStrike" dirty="0">
                <a:solidFill>
                  <a:srgbClr val="FF0000"/>
                </a:solidFill>
              </a:rPr>
              <a:t> Secret Key	c = </a:t>
            </a:r>
            <a:r>
              <a:rPr lang="it-IT" sz="2400" strike="sngStrike" dirty="0" err="1">
                <a:solidFill>
                  <a:srgbClr val="FF0000"/>
                </a:solidFill>
              </a:rPr>
              <a:t>Sk</a:t>
            </a:r>
            <a:r>
              <a:rPr lang="it-IT" sz="2400" strike="sngStrike" baseline="-25000" dirty="0" err="1">
                <a:solidFill>
                  <a:srgbClr val="FF0000"/>
                </a:solidFill>
              </a:rPr>
              <a:t>device</a:t>
            </a:r>
            <a:r>
              <a:rPr lang="it-IT" sz="2400" strike="sngStrike" dirty="0">
                <a:solidFill>
                  <a:srgbClr val="FF0000"/>
                </a:solidFill>
              </a:rPr>
              <a:t> </a:t>
            </a:r>
            <a:r>
              <a:rPr lang="it-IT" sz="2400" strike="sngStrike" dirty="0">
                <a:solidFill>
                  <a:srgbClr val="FF0000"/>
                </a:solidFill>
                <a:sym typeface="Symbol" pitchFamily="18" charset="2"/>
              </a:rPr>
              <a:t></a:t>
            </a:r>
            <a:r>
              <a:rPr lang="it-IT" sz="2400" strike="sngStrike" dirty="0">
                <a:solidFill>
                  <a:srgbClr val="FF0000"/>
                </a:solidFill>
              </a:rPr>
              <a:t> PRF(v; P)</a:t>
            </a:r>
          </a:p>
          <a:p>
            <a:r>
              <a:rPr lang="it-IT" sz="2400" b="1" dirty="0"/>
              <a:t>Create ticket		</a:t>
            </a:r>
            <a:r>
              <a:rPr lang="it-IT" sz="2400" b="1" dirty="0" err="1"/>
              <a:t>tkt</a:t>
            </a:r>
            <a:r>
              <a:rPr lang="it-IT" sz="2400" b="1" dirty="0"/>
              <a:t> = </a:t>
            </a:r>
            <a:r>
              <a:rPr lang="it-IT" sz="2400" b="1" dirty="0" err="1" smtClean="0"/>
              <a:t>E</a:t>
            </a:r>
            <a:r>
              <a:rPr lang="it-IT" sz="2400" b="1" baseline="-25000" dirty="0" err="1" smtClean="0"/>
              <a:t>pk-server</a:t>
            </a:r>
            <a:r>
              <a:rPr lang="it-IT" sz="2400" b="1" dirty="0" smtClean="0"/>
              <a:t>[a,b,</a:t>
            </a:r>
            <a:r>
              <a:rPr lang="it-IT" sz="2400" b="1" dirty="0" smtClean="0">
                <a:solidFill>
                  <a:srgbClr val="00B050"/>
                </a:solidFill>
              </a:rPr>
              <a:t>u,d</a:t>
            </a:r>
            <a:r>
              <a:rPr lang="it-IT" sz="2400" b="1" baseline="-25000" dirty="0" smtClean="0">
                <a:solidFill>
                  <a:srgbClr val="00B050"/>
                </a:solidFill>
              </a:rPr>
              <a:t>2</a:t>
            </a:r>
            <a:r>
              <a:rPr lang="it-IT" sz="2400" b="1" dirty="0" smtClean="0">
                <a:solidFill>
                  <a:srgbClr val="00B050"/>
                </a:solidFill>
              </a:rPr>
              <a:t>,N</a:t>
            </a:r>
            <a:r>
              <a:rPr lang="it-IT" sz="2400" b="1" dirty="0" smtClean="0"/>
              <a:t>] </a:t>
            </a:r>
            <a:endParaRPr lang="it-IT" sz="2400" b="1" dirty="0"/>
          </a:p>
          <a:p>
            <a:endParaRPr lang="it-IT" sz="2400" b="1" dirty="0"/>
          </a:p>
          <a:p>
            <a:r>
              <a:rPr lang="it-IT" sz="2400" b="1" dirty="0" err="1"/>
              <a:t>Device</a:t>
            </a:r>
            <a:r>
              <a:rPr lang="it-IT" sz="2400" b="1" dirty="0"/>
              <a:t> public </a:t>
            </a:r>
            <a:r>
              <a:rPr lang="it-IT" sz="2400" b="1" dirty="0" smtClean="0"/>
              <a:t>RSA key</a:t>
            </a:r>
            <a:r>
              <a:rPr lang="it-IT" sz="2400" b="1" dirty="0"/>
              <a:t>	</a:t>
            </a:r>
            <a:r>
              <a:rPr lang="it-IT" sz="2400" b="1" dirty="0" smtClean="0"/>
              <a:t>(N,e)</a:t>
            </a:r>
            <a:endParaRPr lang="it-IT" sz="2400" b="1" baseline="-25000" dirty="0"/>
          </a:p>
          <a:p>
            <a:r>
              <a:rPr lang="it-IT" sz="2400" b="1" dirty="0" err="1">
                <a:solidFill>
                  <a:srgbClr val="FF0000"/>
                </a:solidFill>
              </a:rPr>
              <a:t>Device</a:t>
            </a:r>
            <a:r>
              <a:rPr lang="it-IT" sz="2400" b="1" dirty="0">
                <a:solidFill>
                  <a:srgbClr val="FF0000"/>
                </a:solidFill>
              </a:rPr>
              <a:t> Secret </a:t>
            </a:r>
            <a:r>
              <a:rPr lang="it-IT" sz="2400" b="1" dirty="0" smtClean="0">
                <a:solidFill>
                  <a:srgbClr val="FF0000"/>
                </a:solidFill>
              </a:rPr>
              <a:t>RSA key</a:t>
            </a:r>
            <a:r>
              <a:rPr lang="it-IT" sz="2400" b="1" dirty="0">
                <a:solidFill>
                  <a:srgbClr val="FF0000"/>
                </a:solidFill>
              </a:rPr>
              <a:t>	</a:t>
            </a:r>
            <a:r>
              <a:rPr lang="it-IT" sz="2400" b="1" dirty="0" smtClean="0">
                <a:solidFill>
                  <a:srgbClr val="FF0000"/>
                </a:solidFill>
              </a:rPr>
              <a:t>d </a:t>
            </a:r>
            <a:r>
              <a:rPr lang="it-IT" sz="2400" b="1" dirty="0" smtClean="0">
                <a:solidFill>
                  <a:srgbClr val="FF0000"/>
                </a:solidFill>
                <a:sym typeface="Wingdings" pitchFamily="2" charset="2"/>
              </a:rPr>
              <a:t> 	[and </a:t>
            </a:r>
            <a:r>
              <a:rPr lang="it-IT" sz="2400" b="1" dirty="0" smtClean="0">
                <a:solidFill>
                  <a:srgbClr val="FF0000"/>
                </a:solidFill>
                <a:latin typeface="Symbol" pitchFamily="18" charset="2"/>
              </a:rPr>
              <a:t>f</a:t>
            </a:r>
            <a:r>
              <a:rPr lang="it-IT" sz="2400" b="1" dirty="0" smtClean="0">
                <a:solidFill>
                  <a:srgbClr val="FF0000"/>
                </a:solidFill>
              </a:rPr>
              <a:t>(N)]</a:t>
            </a:r>
            <a:endParaRPr lang="it-IT" sz="2400" b="1" baseline="-25000" dirty="0">
              <a:solidFill>
                <a:srgbClr val="FF0000"/>
              </a:solidFill>
              <a:latin typeface="Symbol" pitchFamily="18" charset="2"/>
            </a:endParaRPr>
          </a:p>
        </p:txBody>
      </p:sp>
      <p:sp>
        <p:nvSpPr>
          <p:cNvPr id="7" name="Freccia a destra 6"/>
          <p:cNvSpPr>
            <a:spLocks noChangeArrowheads="1"/>
          </p:cNvSpPr>
          <p:nvPr/>
        </p:nvSpPr>
        <p:spPr bwMode="auto">
          <a:xfrm flipH="1">
            <a:off x="6875463" y="1161257"/>
            <a:ext cx="973137" cy="755650"/>
          </a:xfrm>
          <a:prstGeom prst="rightArrow">
            <a:avLst>
              <a:gd name="adj1" fmla="val 50000"/>
              <a:gd name="adj2" fmla="val 50082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8" name="CasellaDiTesto 7"/>
          <p:cNvSpPr txBox="1">
            <a:spLocks noChangeArrowheads="1"/>
          </p:cNvSpPr>
          <p:nvPr/>
        </p:nvSpPr>
        <p:spPr bwMode="auto">
          <a:xfrm>
            <a:off x="8064500" y="1124744"/>
            <a:ext cx="795338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/>
              <a:t>Server </a:t>
            </a:r>
          </a:p>
          <a:p>
            <a:r>
              <a:rPr lang="it-IT"/>
              <a:t>Public</a:t>
            </a:r>
          </a:p>
          <a:p>
            <a:r>
              <a:rPr lang="it-IT"/>
              <a:t>Key</a:t>
            </a:r>
          </a:p>
        </p:txBody>
      </p:sp>
      <p:sp>
        <p:nvSpPr>
          <p:cNvPr id="10" name="CasellaDiTesto 9"/>
          <p:cNvSpPr txBox="1">
            <a:spLocks noChangeArrowheads="1"/>
          </p:cNvSpPr>
          <p:nvPr/>
        </p:nvSpPr>
        <p:spPr bwMode="auto">
          <a:xfrm>
            <a:off x="5616575" y="1224756"/>
            <a:ext cx="103822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400" b="1">
                <a:solidFill>
                  <a:srgbClr val="FF0000"/>
                </a:solidFill>
              </a:rPr>
              <a:t>PK</a:t>
            </a:r>
            <a:r>
              <a:rPr lang="it-IT" sz="2400" b="1" baseline="-25000">
                <a:solidFill>
                  <a:srgbClr val="FF0000"/>
                </a:solidFill>
              </a:rPr>
              <a:t>server</a:t>
            </a:r>
          </a:p>
        </p:txBody>
      </p:sp>
      <p:sp>
        <p:nvSpPr>
          <p:cNvPr id="11" name="CasellaDiTesto 10"/>
          <p:cNvSpPr txBox="1">
            <a:spLocks noChangeArrowheads="1"/>
          </p:cNvSpPr>
          <p:nvPr/>
        </p:nvSpPr>
        <p:spPr bwMode="auto">
          <a:xfrm>
            <a:off x="7019925" y="3824288"/>
            <a:ext cx="212590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Delete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all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 smtClean="0">
                <a:solidFill>
                  <a:srgbClr val="FF0000"/>
                </a:solidFill>
              </a:rPr>
              <a:t>red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rgbClr val="FFC000"/>
                </a:solidFill>
              </a:rPr>
              <a:t>&amp; </a:t>
            </a:r>
            <a:r>
              <a:rPr lang="it-IT" dirty="0" err="1" smtClean="0">
                <a:solidFill>
                  <a:srgbClr val="FFC000"/>
                </a:solidFill>
              </a:rPr>
              <a:t>orange</a:t>
            </a:r>
            <a:endParaRPr lang="it-IT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ttangolo 7"/>
          <p:cNvSpPr>
            <a:spLocks noChangeArrowheads="1"/>
          </p:cNvSpPr>
          <p:nvPr/>
        </p:nvSpPr>
        <p:spPr bwMode="auto">
          <a:xfrm>
            <a:off x="395288" y="836713"/>
            <a:ext cx="4284724" cy="18002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smtClean="0"/>
              <a:t>Protocol2: key </a:t>
            </a:r>
            <a:r>
              <a:rPr lang="it-IT" dirty="0" err="1" smtClean="0"/>
              <a:t>retrieval</a:t>
            </a:r>
            <a:endParaRPr lang="it-IT" dirty="0"/>
          </a:p>
        </p:txBody>
      </p:sp>
      <p:sp>
        <p:nvSpPr>
          <p:cNvPr id="55300" name="CasellaDiTesto 3"/>
          <p:cNvSpPr txBox="1">
            <a:spLocks noChangeArrowheads="1"/>
          </p:cNvSpPr>
          <p:nvPr/>
        </p:nvSpPr>
        <p:spPr bwMode="auto">
          <a:xfrm>
            <a:off x="395288" y="764701"/>
            <a:ext cx="4248720" cy="1908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it-IT" sz="2800" b="1" dirty="0" err="1" smtClean="0">
                <a:solidFill>
                  <a:srgbClr val="FF0000"/>
                </a:solidFill>
              </a:rPr>
              <a:t>Device</a:t>
            </a:r>
            <a:r>
              <a:rPr lang="it-IT" sz="2800" b="1" dirty="0" smtClean="0">
                <a:solidFill>
                  <a:srgbClr val="FF0000"/>
                </a:solidFill>
              </a:rPr>
              <a:t> – </a:t>
            </a:r>
            <a:r>
              <a:rPr lang="it-IT" sz="2800" b="1" dirty="0" err="1" smtClean="0">
                <a:solidFill>
                  <a:srgbClr val="FF0000"/>
                </a:solidFill>
              </a:rPr>
              <a:t>while</a:t>
            </a:r>
            <a:r>
              <a:rPr lang="it-IT" sz="2800" b="1" dirty="0" smtClean="0">
                <a:solidFill>
                  <a:srgbClr val="FF0000"/>
                </a:solidFill>
              </a:rPr>
              <a:t> </a:t>
            </a:r>
            <a:r>
              <a:rPr lang="it-IT" sz="2800" b="1" dirty="0" err="1" smtClean="0">
                <a:solidFill>
                  <a:srgbClr val="FF0000"/>
                </a:solidFill>
              </a:rPr>
              <a:t>signing</a:t>
            </a:r>
            <a:r>
              <a:rPr lang="it-IT" sz="2800" b="1" dirty="0" smtClean="0">
                <a:solidFill>
                  <a:srgbClr val="FF0000"/>
                </a:solidFill>
              </a:rPr>
              <a:t> </a:t>
            </a:r>
            <a:r>
              <a:rPr lang="it-IT" sz="2800" b="1" dirty="0" smtClean="0">
                <a:solidFill>
                  <a:srgbClr val="00B050"/>
                </a:solidFill>
              </a:rPr>
              <a:t>m</a:t>
            </a:r>
            <a:endParaRPr lang="it-IT" dirty="0">
              <a:solidFill>
                <a:srgbClr val="00B050"/>
              </a:solidFill>
            </a:endParaRPr>
          </a:p>
          <a:p>
            <a:r>
              <a:rPr lang="it-IT" b="1" dirty="0" err="1"/>
              <a:t>random</a:t>
            </a:r>
            <a:r>
              <a:rPr lang="it-IT" b="1" dirty="0"/>
              <a:t> key	v</a:t>
            </a:r>
          </a:p>
          <a:p>
            <a:r>
              <a:rPr lang="it-IT" b="1" dirty="0" err="1"/>
              <a:t>random</a:t>
            </a:r>
            <a:r>
              <a:rPr lang="it-IT" b="1" dirty="0"/>
              <a:t> key	</a:t>
            </a:r>
            <a:r>
              <a:rPr lang="it-IT" b="1" dirty="0" smtClean="0"/>
              <a:t>a</a:t>
            </a:r>
          </a:p>
          <a:p>
            <a:r>
              <a:rPr lang="it-IT" b="1" dirty="0" err="1" smtClean="0">
                <a:solidFill>
                  <a:srgbClr val="00B050"/>
                </a:solidFill>
              </a:rPr>
              <a:t>disabling</a:t>
            </a:r>
            <a:r>
              <a:rPr lang="it-IT" b="1" dirty="0" smtClean="0">
                <a:solidFill>
                  <a:srgbClr val="00B050"/>
                </a:solidFill>
              </a:rPr>
              <a:t> key	t</a:t>
            </a:r>
            <a:endParaRPr lang="it-IT" b="1" dirty="0"/>
          </a:p>
          <a:p>
            <a:r>
              <a:rPr lang="it-IT" b="1" dirty="0"/>
              <a:t>ticket		</a:t>
            </a:r>
            <a:r>
              <a:rPr lang="it-IT" b="1" dirty="0" err="1"/>
              <a:t>tkt</a:t>
            </a:r>
            <a:r>
              <a:rPr lang="it-IT" b="1" dirty="0"/>
              <a:t> = </a:t>
            </a:r>
            <a:r>
              <a:rPr lang="it-IT" b="1" dirty="0" err="1" smtClean="0"/>
              <a:t>E</a:t>
            </a:r>
            <a:r>
              <a:rPr lang="it-IT" b="1" baseline="-25000" dirty="0" err="1" smtClean="0"/>
              <a:t>pk-server</a:t>
            </a:r>
            <a:r>
              <a:rPr lang="it-IT" b="1" dirty="0" smtClean="0"/>
              <a:t>[a,b,</a:t>
            </a:r>
            <a:r>
              <a:rPr lang="it-IT" b="1" dirty="0" smtClean="0">
                <a:solidFill>
                  <a:srgbClr val="00B050"/>
                </a:solidFill>
              </a:rPr>
              <a:t>u,d</a:t>
            </a:r>
            <a:r>
              <a:rPr lang="it-IT" b="1" baseline="-25000" dirty="0" smtClean="0">
                <a:solidFill>
                  <a:srgbClr val="00B050"/>
                </a:solidFill>
              </a:rPr>
              <a:t>2</a:t>
            </a:r>
            <a:r>
              <a:rPr lang="it-IT" b="1" dirty="0" smtClean="0">
                <a:solidFill>
                  <a:srgbClr val="00B050"/>
                </a:solidFill>
              </a:rPr>
              <a:t>,N</a:t>
            </a:r>
            <a:r>
              <a:rPr lang="it-IT" b="1" dirty="0" smtClean="0"/>
              <a:t>] </a:t>
            </a:r>
            <a:endParaRPr lang="it-IT" b="1" dirty="0"/>
          </a:p>
          <a:p>
            <a:r>
              <a:rPr lang="it-IT" b="1" dirty="0" err="1"/>
              <a:t>Device</a:t>
            </a:r>
            <a:r>
              <a:rPr lang="it-IT" b="1" dirty="0"/>
              <a:t> public key	</a:t>
            </a:r>
            <a:r>
              <a:rPr lang="it-IT" b="1" dirty="0" smtClean="0"/>
              <a:t>(e,N)</a:t>
            </a: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5" name="CasellaDiTesto 4"/>
          <p:cNvSpPr txBox="1">
            <a:spLocks noChangeArrowheads="1"/>
          </p:cNvSpPr>
          <p:nvPr/>
        </p:nvSpPr>
        <p:spPr bwMode="auto">
          <a:xfrm>
            <a:off x="425450" y="2636838"/>
            <a:ext cx="2655888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b="1">
                <a:solidFill>
                  <a:srgbClr val="FF0000"/>
                </a:solidFill>
              </a:rPr>
              <a:t>User input password P</a:t>
            </a:r>
          </a:p>
          <a:p>
            <a:r>
              <a:rPr lang="it-IT" b="1"/>
              <a:t>Compute hash	</a:t>
            </a:r>
            <a:r>
              <a:rPr lang="it-IT" b="1">
                <a:latin typeface="Symbol" pitchFamily="18" charset="2"/>
              </a:rPr>
              <a:t>b</a:t>
            </a:r>
            <a:r>
              <a:rPr lang="it-IT" b="1"/>
              <a:t>=H(P)</a:t>
            </a:r>
          </a:p>
          <a:p>
            <a:r>
              <a:rPr lang="it-IT" b="1"/>
              <a:t>Gen random 	</a:t>
            </a:r>
            <a:r>
              <a:rPr lang="it-IT" b="1">
                <a:latin typeface="Symbol" pitchFamily="18" charset="2"/>
              </a:rPr>
              <a:t>r</a:t>
            </a:r>
          </a:p>
        </p:txBody>
      </p:sp>
      <p:sp>
        <p:nvSpPr>
          <p:cNvPr id="6" name="CasellaDiTesto 5"/>
          <p:cNvSpPr txBox="1">
            <a:spLocks noChangeArrowheads="1"/>
          </p:cNvSpPr>
          <p:nvPr/>
        </p:nvSpPr>
        <p:spPr bwMode="auto">
          <a:xfrm>
            <a:off x="1857375" y="3681413"/>
            <a:ext cx="627063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b="1">
                <a:solidFill>
                  <a:srgbClr val="FF0000"/>
                </a:solidFill>
              </a:rPr>
              <a:t>send</a:t>
            </a:r>
          </a:p>
        </p:txBody>
      </p:sp>
      <p:sp>
        <p:nvSpPr>
          <p:cNvPr id="7" name="Freccia a destra 6"/>
          <p:cNvSpPr>
            <a:spLocks noChangeArrowheads="1"/>
          </p:cNvSpPr>
          <p:nvPr/>
        </p:nvSpPr>
        <p:spPr bwMode="auto">
          <a:xfrm>
            <a:off x="2519363" y="3681413"/>
            <a:ext cx="3889375" cy="431800"/>
          </a:xfrm>
          <a:prstGeom prst="rightArrow">
            <a:avLst>
              <a:gd name="adj1" fmla="val 50000"/>
              <a:gd name="adj2" fmla="val 50041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9" name="CasellaDiTesto 8"/>
          <p:cNvSpPr txBox="1">
            <a:spLocks noChangeArrowheads="1"/>
          </p:cNvSpPr>
          <p:nvPr/>
        </p:nvSpPr>
        <p:spPr bwMode="auto">
          <a:xfrm>
            <a:off x="3224213" y="3392488"/>
            <a:ext cx="29290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b="1" dirty="0" err="1"/>
              <a:t>mac</a:t>
            </a:r>
            <a:r>
              <a:rPr lang="it-IT" b="1" baseline="-25000" dirty="0" err="1"/>
              <a:t>a</a:t>
            </a:r>
            <a:r>
              <a:rPr lang="it-IT" b="1" dirty="0"/>
              <a:t>[</a:t>
            </a:r>
            <a:r>
              <a:rPr lang="it-IT" b="1" dirty="0" err="1"/>
              <a:t>tkt</a:t>
            </a:r>
            <a:r>
              <a:rPr lang="it-IT" b="1" dirty="0"/>
              <a:t> , </a:t>
            </a:r>
            <a:r>
              <a:rPr lang="it-IT" b="1" dirty="0" err="1" smtClean="0"/>
              <a:t>E</a:t>
            </a:r>
            <a:r>
              <a:rPr lang="it-IT" b="1" baseline="-25000" dirty="0" err="1" smtClean="0"/>
              <a:t>pk-server</a:t>
            </a:r>
            <a:r>
              <a:rPr lang="it-IT" b="1" dirty="0" smtClean="0"/>
              <a:t>[</a:t>
            </a:r>
            <a:r>
              <a:rPr lang="it-IT" b="1" dirty="0" smtClean="0">
                <a:solidFill>
                  <a:srgbClr val="00B050"/>
                </a:solidFill>
              </a:rPr>
              <a:t>H[m]</a:t>
            </a:r>
            <a:r>
              <a:rPr lang="it-IT" b="1" dirty="0" smtClean="0"/>
              <a:t>, </a:t>
            </a:r>
            <a:r>
              <a:rPr lang="it-IT" b="1" dirty="0" smtClean="0">
                <a:latin typeface="Symbol" pitchFamily="18" charset="2"/>
              </a:rPr>
              <a:t>b</a:t>
            </a:r>
            <a:r>
              <a:rPr lang="it-IT" b="1" dirty="0">
                <a:latin typeface="Symbol" pitchFamily="18" charset="2"/>
              </a:rPr>
              <a:t>, r</a:t>
            </a:r>
            <a:r>
              <a:rPr lang="it-IT" b="1" dirty="0"/>
              <a:t>] ]</a:t>
            </a:r>
          </a:p>
        </p:txBody>
      </p:sp>
      <p:sp>
        <p:nvSpPr>
          <p:cNvPr id="10" name="CasellaDiTesto 9"/>
          <p:cNvSpPr txBox="1">
            <a:spLocks noChangeArrowheads="1"/>
          </p:cNvSpPr>
          <p:nvPr/>
        </p:nvSpPr>
        <p:spPr bwMode="auto">
          <a:xfrm>
            <a:off x="7200900" y="2654300"/>
            <a:ext cx="1100138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800" b="1">
                <a:solidFill>
                  <a:srgbClr val="FF0000"/>
                </a:solidFill>
              </a:rPr>
              <a:t>Server</a:t>
            </a:r>
            <a:endParaRPr lang="it-IT" sz="2800">
              <a:solidFill>
                <a:srgbClr val="FF0000"/>
              </a:solidFill>
            </a:endParaRPr>
          </a:p>
        </p:txBody>
      </p:sp>
      <p:sp>
        <p:nvSpPr>
          <p:cNvPr id="11" name="CasellaDiTesto 10"/>
          <p:cNvSpPr txBox="1">
            <a:spLocks noChangeArrowheads="1"/>
          </p:cNvSpPr>
          <p:nvPr/>
        </p:nvSpPr>
        <p:spPr bwMode="auto">
          <a:xfrm>
            <a:off x="6567488" y="3105150"/>
            <a:ext cx="2408237" cy="175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b="1" dirty="0" err="1"/>
              <a:t>tkt</a:t>
            </a:r>
            <a:r>
              <a:rPr lang="it-IT" b="1" dirty="0"/>
              <a:t> 	</a:t>
            </a:r>
            <a:r>
              <a:rPr lang="it-IT" b="1" dirty="0">
                <a:sym typeface="Wingdings" pitchFamily="2" charset="2"/>
              </a:rPr>
              <a:t> </a:t>
            </a:r>
            <a:r>
              <a:rPr lang="it-IT" b="1" dirty="0" smtClean="0">
                <a:sym typeface="Wingdings" pitchFamily="2" charset="2"/>
              </a:rPr>
              <a:t>a,b,</a:t>
            </a:r>
            <a:r>
              <a:rPr lang="it-IT" b="1" dirty="0" smtClean="0">
                <a:solidFill>
                  <a:srgbClr val="00B050"/>
                </a:solidFill>
                <a:sym typeface="Wingdings" pitchFamily="2" charset="2"/>
              </a:rPr>
              <a:t>d</a:t>
            </a:r>
            <a:r>
              <a:rPr lang="it-IT" b="1" baseline="-25000" dirty="0" smtClean="0">
                <a:solidFill>
                  <a:srgbClr val="00B050"/>
                </a:solidFill>
                <a:sym typeface="Wingdings" pitchFamily="2" charset="2"/>
              </a:rPr>
              <a:t>2</a:t>
            </a:r>
            <a:r>
              <a:rPr lang="it-IT" b="1" dirty="0" smtClean="0">
                <a:solidFill>
                  <a:srgbClr val="00B050"/>
                </a:solidFill>
                <a:sym typeface="Wingdings" pitchFamily="2" charset="2"/>
              </a:rPr>
              <a:t>,u,N</a:t>
            </a:r>
            <a:endParaRPr lang="it-IT" b="1" dirty="0">
              <a:solidFill>
                <a:srgbClr val="00B050"/>
              </a:solidFill>
              <a:sym typeface="Wingdings" pitchFamily="2" charset="2"/>
            </a:endParaRPr>
          </a:p>
          <a:p>
            <a:r>
              <a:rPr lang="it-IT" b="1" dirty="0">
                <a:sym typeface="Wingdings" pitchFamily="2" charset="2"/>
              </a:rPr>
              <a:t>a 	 </a:t>
            </a:r>
            <a:r>
              <a:rPr lang="it-IT" b="1" dirty="0" err="1">
                <a:sym typeface="Wingdings" pitchFamily="2" charset="2"/>
              </a:rPr>
              <a:t>check</a:t>
            </a:r>
            <a:r>
              <a:rPr lang="it-IT" b="1" dirty="0">
                <a:sym typeface="Wingdings" pitchFamily="2" charset="2"/>
              </a:rPr>
              <a:t> MAC</a:t>
            </a:r>
          </a:p>
          <a:p>
            <a:r>
              <a:rPr lang="it-IT" b="1" dirty="0">
                <a:solidFill>
                  <a:srgbClr val="FF0000"/>
                </a:solidFill>
                <a:sym typeface="Wingdings" pitchFamily="2" charset="2"/>
              </a:rPr>
              <a:t>	(</a:t>
            </a:r>
            <a:r>
              <a:rPr lang="it-IT" b="1" dirty="0" err="1">
                <a:solidFill>
                  <a:srgbClr val="FF0000"/>
                </a:solidFill>
                <a:sym typeface="Wingdings" pitchFamily="2" charset="2"/>
              </a:rPr>
              <a:t>auth</a:t>
            </a:r>
            <a:r>
              <a:rPr lang="it-IT" b="1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it-IT" b="1" dirty="0" err="1">
                <a:solidFill>
                  <a:srgbClr val="FF0000"/>
                </a:solidFill>
                <a:sym typeface="Wingdings" pitchFamily="2" charset="2"/>
              </a:rPr>
              <a:t>device</a:t>
            </a:r>
            <a:r>
              <a:rPr lang="it-IT" b="1" dirty="0">
                <a:solidFill>
                  <a:srgbClr val="FF0000"/>
                </a:solidFill>
                <a:sym typeface="Wingdings" pitchFamily="2" charset="2"/>
              </a:rPr>
              <a:t>!)</a:t>
            </a:r>
            <a:endParaRPr lang="it-IT" b="1" dirty="0">
              <a:sym typeface="Wingdings" pitchFamily="2" charset="2"/>
            </a:endParaRPr>
          </a:p>
          <a:p>
            <a:r>
              <a:rPr lang="it-IT" b="1" dirty="0" err="1">
                <a:sym typeface="Wingdings" pitchFamily="2" charset="2"/>
              </a:rPr>
              <a:t>decrypt</a:t>
            </a:r>
            <a:r>
              <a:rPr lang="it-IT" b="1" dirty="0">
                <a:sym typeface="Wingdings" pitchFamily="2" charset="2"/>
              </a:rPr>
              <a:t>	 </a:t>
            </a:r>
            <a:r>
              <a:rPr lang="it-IT" b="1" dirty="0" smtClean="0">
                <a:solidFill>
                  <a:srgbClr val="00B050"/>
                </a:solidFill>
                <a:sym typeface="Wingdings" pitchFamily="2" charset="2"/>
              </a:rPr>
              <a:t>H[m],</a:t>
            </a:r>
            <a:r>
              <a:rPr lang="it-IT" b="1" dirty="0" smtClean="0">
                <a:sym typeface="Wingdings" pitchFamily="2" charset="2"/>
              </a:rPr>
              <a:t> </a:t>
            </a:r>
            <a:r>
              <a:rPr lang="it-IT" b="1" dirty="0" smtClean="0">
                <a:latin typeface="Symbol" pitchFamily="18" charset="2"/>
              </a:rPr>
              <a:t>b</a:t>
            </a:r>
            <a:r>
              <a:rPr lang="it-IT" b="1" dirty="0">
                <a:latin typeface="Symbol" pitchFamily="18" charset="2"/>
              </a:rPr>
              <a:t>, r</a:t>
            </a:r>
          </a:p>
          <a:p>
            <a:r>
              <a:rPr lang="it-IT" b="1" dirty="0" err="1"/>
              <a:t>Check</a:t>
            </a:r>
            <a:r>
              <a:rPr lang="it-IT" b="1" dirty="0"/>
              <a:t>	</a:t>
            </a:r>
            <a:r>
              <a:rPr lang="it-IT" b="1" dirty="0">
                <a:sym typeface="Wingdings" pitchFamily="2" charset="2"/>
              </a:rPr>
              <a:t> b = </a:t>
            </a:r>
            <a:r>
              <a:rPr lang="it-IT" b="1" dirty="0" err="1">
                <a:latin typeface="Symbol" pitchFamily="18" charset="2"/>
              </a:rPr>
              <a:t>b</a:t>
            </a:r>
            <a:endParaRPr lang="it-IT" b="1" dirty="0">
              <a:latin typeface="Symbol" pitchFamily="18" charset="2"/>
            </a:endParaRPr>
          </a:p>
          <a:p>
            <a:r>
              <a:rPr lang="it-IT" b="1" dirty="0">
                <a:solidFill>
                  <a:srgbClr val="FF0000"/>
                </a:solidFill>
                <a:sym typeface="Wingdings" pitchFamily="2" charset="2"/>
              </a:rPr>
              <a:t>	(</a:t>
            </a:r>
            <a:r>
              <a:rPr lang="it-IT" b="1" dirty="0" err="1">
                <a:solidFill>
                  <a:srgbClr val="FF0000"/>
                </a:solidFill>
                <a:sym typeface="Wingdings" pitchFamily="2" charset="2"/>
              </a:rPr>
              <a:t>auth</a:t>
            </a:r>
            <a:r>
              <a:rPr lang="it-IT" b="1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it-IT" b="1" dirty="0" err="1">
                <a:solidFill>
                  <a:srgbClr val="FF0000"/>
                </a:solidFill>
                <a:sym typeface="Wingdings" pitchFamily="2" charset="2"/>
              </a:rPr>
              <a:t>user</a:t>
            </a:r>
            <a:r>
              <a:rPr lang="it-IT" b="1" dirty="0">
                <a:solidFill>
                  <a:srgbClr val="FF0000"/>
                </a:solidFill>
                <a:sym typeface="Wingdings" pitchFamily="2" charset="2"/>
              </a:rPr>
              <a:t>!)</a:t>
            </a:r>
            <a:endParaRPr lang="it-IT" b="1" dirty="0"/>
          </a:p>
        </p:txBody>
      </p:sp>
      <p:sp>
        <p:nvSpPr>
          <p:cNvPr id="12" name="Freccia a destra 11"/>
          <p:cNvSpPr>
            <a:spLocks noChangeArrowheads="1"/>
          </p:cNvSpPr>
          <p:nvPr/>
        </p:nvSpPr>
        <p:spPr bwMode="auto">
          <a:xfrm flipH="1">
            <a:off x="2519363" y="4905375"/>
            <a:ext cx="3889375" cy="431800"/>
          </a:xfrm>
          <a:prstGeom prst="rightArrow">
            <a:avLst>
              <a:gd name="adj1" fmla="val 50000"/>
              <a:gd name="adj2" fmla="val 50041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3" name="CasellaDiTesto 12"/>
          <p:cNvSpPr txBox="1">
            <a:spLocks noChangeArrowheads="1"/>
          </p:cNvSpPr>
          <p:nvPr/>
        </p:nvSpPr>
        <p:spPr bwMode="auto">
          <a:xfrm>
            <a:off x="6392863" y="4905375"/>
            <a:ext cx="73183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b="1">
                <a:solidFill>
                  <a:srgbClr val="FF0000"/>
                </a:solidFill>
              </a:rPr>
              <a:t>return</a:t>
            </a:r>
          </a:p>
        </p:txBody>
      </p:sp>
      <p:sp>
        <p:nvSpPr>
          <p:cNvPr id="14" name="CasellaDiTesto 13"/>
          <p:cNvSpPr txBox="1">
            <a:spLocks noChangeArrowheads="1"/>
          </p:cNvSpPr>
          <p:nvPr/>
        </p:nvSpPr>
        <p:spPr bwMode="auto">
          <a:xfrm>
            <a:off x="4427538" y="4679950"/>
            <a:ext cx="11817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b="1" dirty="0">
                <a:latin typeface="Symbol" pitchFamily="18" charset="2"/>
              </a:rPr>
              <a:t>r </a:t>
            </a:r>
            <a:r>
              <a:rPr lang="it-IT" b="1" dirty="0">
                <a:latin typeface="Symbol" pitchFamily="18" charset="2"/>
                <a:sym typeface="Symbol" pitchFamily="18" charset="2"/>
              </a:rPr>
              <a:t></a:t>
            </a:r>
            <a:r>
              <a:rPr lang="it-IT" b="1" dirty="0">
                <a:solidFill>
                  <a:srgbClr val="00B05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it-IT" b="1" dirty="0" smtClean="0">
                <a:solidFill>
                  <a:srgbClr val="00B050"/>
                </a:solidFill>
                <a:sym typeface="Wingdings" pitchFamily="2" charset="2"/>
              </a:rPr>
              <a:t>H[m]</a:t>
            </a:r>
            <a:r>
              <a:rPr lang="it-IT" b="1" baseline="30000" dirty="0" smtClean="0">
                <a:solidFill>
                  <a:srgbClr val="00B050"/>
                </a:solidFill>
                <a:sym typeface="Wingdings" pitchFamily="2" charset="2"/>
              </a:rPr>
              <a:t>d2</a:t>
            </a:r>
            <a:endParaRPr lang="it-IT" baseline="30000" dirty="0">
              <a:solidFill>
                <a:srgbClr val="00B050"/>
              </a:solidFill>
            </a:endParaRPr>
          </a:p>
        </p:txBody>
      </p:sp>
      <p:sp>
        <p:nvSpPr>
          <p:cNvPr id="15" name="CasellaDiTesto 14"/>
          <p:cNvSpPr txBox="1">
            <a:spLocks noChangeArrowheads="1"/>
          </p:cNvSpPr>
          <p:nvPr/>
        </p:nvSpPr>
        <p:spPr bwMode="auto">
          <a:xfrm>
            <a:off x="4824028" y="1748991"/>
            <a:ext cx="140775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b=H</a:t>
            </a:r>
            <a:r>
              <a:rPr lang="it-IT" dirty="0">
                <a:solidFill>
                  <a:srgbClr val="FF0000"/>
                </a:solidFill>
              </a:rPr>
              <a:t>(P)</a:t>
            </a:r>
          </a:p>
          <a:p>
            <a:r>
              <a:rPr lang="it-IT" dirty="0" smtClean="0">
                <a:solidFill>
                  <a:srgbClr val="00B050"/>
                </a:solidFill>
              </a:rPr>
              <a:t>d</a:t>
            </a:r>
            <a:r>
              <a:rPr lang="it-IT" baseline="-25000" dirty="0" smtClean="0">
                <a:solidFill>
                  <a:srgbClr val="00B050"/>
                </a:solidFill>
              </a:rPr>
              <a:t>1</a:t>
            </a:r>
            <a:r>
              <a:rPr lang="it-IT" dirty="0" smtClean="0">
                <a:solidFill>
                  <a:srgbClr val="00B050"/>
                </a:solidFill>
              </a:rPr>
              <a:t> </a:t>
            </a:r>
            <a:r>
              <a:rPr lang="it-IT" dirty="0">
                <a:solidFill>
                  <a:srgbClr val="00B050"/>
                </a:solidFill>
              </a:rPr>
              <a:t>= </a:t>
            </a:r>
            <a:r>
              <a:rPr lang="it-IT" dirty="0" smtClean="0">
                <a:solidFill>
                  <a:srgbClr val="00B050"/>
                </a:solidFill>
              </a:rPr>
              <a:t>PRF(v</a:t>
            </a:r>
            <a:r>
              <a:rPr lang="it-IT" dirty="0">
                <a:solidFill>
                  <a:srgbClr val="00B050"/>
                </a:solidFill>
              </a:rPr>
              <a:t>; P</a:t>
            </a:r>
            <a:r>
              <a:rPr lang="it-IT" dirty="0" smtClean="0">
                <a:solidFill>
                  <a:srgbClr val="00B050"/>
                </a:solidFill>
              </a:rPr>
              <a:t>)</a:t>
            </a:r>
            <a:endParaRPr lang="it-IT" dirty="0">
              <a:solidFill>
                <a:srgbClr val="00B050"/>
              </a:solidFill>
            </a:endParaRPr>
          </a:p>
        </p:txBody>
      </p:sp>
      <p:sp>
        <p:nvSpPr>
          <p:cNvPr id="16" name="CasellaDiTesto 15"/>
          <p:cNvSpPr txBox="1">
            <a:spLocks noChangeArrowheads="1"/>
          </p:cNvSpPr>
          <p:nvPr/>
        </p:nvSpPr>
        <p:spPr bwMode="auto">
          <a:xfrm>
            <a:off x="431800" y="4965700"/>
            <a:ext cx="2032929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b="1" dirty="0" err="1">
                <a:solidFill>
                  <a:srgbClr val="FF0000"/>
                </a:solidFill>
              </a:rPr>
              <a:t>Decrypt</a:t>
            </a:r>
            <a:r>
              <a:rPr lang="it-IT" b="1" dirty="0">
                <a:solidFill>
                  <a:srgbClr val="FF0000"/>
                </a:solidFill>
              </a:rPr>
              <a:t> key</a:t>
            </a:r>
          </a:p>
          <a:p>
            <a:r>
              <a:rPr lang="it-IT" b="1" dirty="0">
                <a:latin typeface="Symbol" pitchFamily="18" charset="2"/>
              </a:rPr>
              <a:t>(r </a:t>
            </a:r>
            <a:r>
              <a:rPr lang="it-IT" b="1" dirty="0">
                <a:latin typeface="Symbol" pitchFamily="18" charset="2"/>
                <a:sym typeface="Symbol" pitchFamily="18" charset="2"/>
              </a:rPr>
              <a:t> </a:t>
            </a:r>
            <a:r>
              <a:rPr lang="it-IT" b="1" dirty="0" smtClean="0">
                <a:solidFill>
                  <a:srgbClr val="00B05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it-IT" b="1" dirty="0" smtClean="0">
                <a:solidFill>
                  <a:srgbClr val="00B050"/>
                </a:solidFill>
                <a:sym typeface="Wingdings" pitchFamily="2" charset="2"/>
              </a:rPr>
              <a:t>H[m]</a:t>
            </a:r>
            <a:r>
              <a:rPr lang="it-IT" b="1" baseline="30000" dirty="0" smtClean="0">
                <a:solidFill>
                  <a:srgbClr val="00B050"/>
                </a:solidFill>
                <a:sym typeface="Wingdings" pitchFamily="2" charset="2"/>
              </a:rPr>
              <a:t>d2</a:t>
            </a:r>
            <a:r>
              <a:rPr lang="it-IT" b="1" dirty="0" smtClean="0">
                <a:sym typeface="Wingdings" pitchFamily="2" charset="2"/>
              </a:rPr>
              <a:t>) </a:t>
            </a:r>
            <a:r>
              <a:rPr lang="it-IT" b="1" dirty="0">
                <a:latin typeface="Symbol" pitchFamily="18" charset="2"/>
                <a:sym typeface="Symbol" pitchFamily="18" charset="2"/>
              </a:rPr>
              <a:t> </a:t>
            </a:r>
            <a:r>
              <a:rPr lang="it-IT" b="1" dirty="0" smtClean="0">
                <a:latin typeface="Symbol" pitchFamily="18" charset="2"/>
              </a:rPr>
              <a:t>r</a:t>
            </a:r>
          </a:p>
          <a:p>
            <a:r>
              <a:rPr lang="it-IT" b="1" dirty="0" smtClean="0">
                <a:solidFill>
                  <a:srgbClr val="FF0000"/>
                </a:solidFill>
              </a:rPr>
              <a:t>Complete </a:t>
            </a:r>
            <a:r>
              <a:rPr lang="it-IT" b="1" dirty="0" err="1" smtClean="0">
                <a:solidFill>
                  <a:srgbClr val="FF0000"/>
                </a:solidFill>
              </a:rPr>
              <a:t>signature</a:t>
            </a:r>
            <a:endParaRPr lang="it-IT" b="1" dirty="0" smtClean="0">
              <a:solidFill>
                <a:srgbClr val="FF0000"/>
              </a:solidFill>
            </a:endParaRPr>
          </a:p>
          <a:p>
            <a:r>
              <a:rPr lang="it-IT" b="1" dirty="0" smtClean="0">
                <a:solidFill>
                  <a:srgbClr val="00B050"/>
                </a:solidFill>
                <a:sym typeface="Wingdings" pitchFamily="2" charset="2"/>
              </a:rPr>
              <a:t>d</a:t>
            </a:r>
            <a:r>
              <a:rPr lang="it-IT" b="1" baseline="-25000" dirty="0" smtClean="0">
                <a:solidFill>
                  <a:srgbClr val="00B050"/>
                </a:solidFill>
                <a:sym typeface="Wingdings" pitchFamily="2" charset="2"/>
              </a:rPr>
              <a:t>1</a:t>
            </a:r>
            <a:r>
              <a:rPr lang="it-IT" b="1" dirty="0" smtClean="0">
                <a:solidFill>
                  <a:srgbClr val="00B050"/>
                </a:solidFill>
                <a:sym typeface="Wingdings" pitchFamily="2" charset="2"/>
              </a:rPr>
              <a:t> = PRF[v,P]</a:t>
            </a:r>
          </a:p>
          <a:p>
            <a:r>
              <a:rPr lang="it-IT" b="1" dirty="0" smtClean="0">
                <a:solidFill>
                  <a:srgbClr val="00B050"/>
                </a:solidFill>
                <a:sym typeface="Wingdings" pitchFamily="2" charset="2"/>
              </a:rPr>
              <a:t>H[m]</a:t>
            </a:r>
            <a:r>
              <a:rPr lang="it-IT" b="1" baseline="30000" dirty="0" smtClean="0">
                <a:solidFill>
                  <a:srgbClr val="00B050"/>
                </a:solidFill>
                <a:sym typeface="Wingdings" pitchFamily="2" charset="2"/>
              </a:rPr>
              <a:t>d2</a:t>
            </a:r>
            <a:r>
              <a:rPr lang="it-IT" b="1" dirty="0" smtClean="0">
                <a:sym typeface="Wingdings" pitchFamily="2" charset="2"/>
              </a:rPr>
              <a:t> </a:t>
            </a:r>
            <a:r>
              <a:rPr lang="it-IT" b="1" dirty="0" smtClean="0">
                <a:solidFill>
                  <a:srgbClr val="00B050"/>
                </a:solidFill>
                <a:sym typeface="Wingdings" pitchFamily="2" charset="2"/>
              </a:rPr>
              <a:t>H[m]</a:t>
            </a:r>
            <a:r>
              <a:rPr lang="it-IT" b="1" baseline="30000" dirty="0" smtClean="0">
                <a:solidFill>
                  <a:srgbClr val="00B050"/>
                </a:solidFill>
                <a:sym typeface="Wingdings" pitchFamily="2" charset="2"/>
              </a:rPr>
              <a:t>d1</a:t>
            </a:r>
            <a:r>
              <a:rPr lang="it-IT" b="1" dirty="0" smtClean="0">
                <a:solidFill>
                  <a:srgbClr val="00B050"/>
                </a:solidFill>
                <a:sym typeface="Wingdings" pitchFamily="2" charset="2"/>
              </a:rPr>
              <a:t> </a:t>
            </a:r>
            <a:r>
              <a:rPr lang="it-IT" b="1" dirty="0" err="1" smtClean="0">
                <a:solidFill>
                  <a:srgbClr val="00B050"/>
                </a:solidFill>
                <a:sym typeface="Wingdings" pitchFamily="2" charset="2"/>
              </a:rPr>
              <a:t>mod</a:t>
            </a:r>
            <a:r>
              <a:rPr lang="it-IT" b="1" dirty="0" smtClean="0">
                <a:solidFill>
                  <a:srgbClr val="00B050"/>
                </a:solidFill>
                <a:sym typeface="Wingdings" pitchFamily="2" charset="2"/>
              </a:rPr>
              <a:t> N</a:t>
            </a:r>
            <a:endParaRPr lang="it-IT" dirty="0" smtClean="0"/>
          </a:p>
        </p:txBody>
      </p:sp>
      <p:sp>
        <p:nvSpPr>
          <p:cNvPr id="17" name="CasellaDiTesto 16"/>
          <p:cNvSpPr txBox="1"/>
          <p:nvPr/>
        </p:nvSpPr>
        <p:spPr>
          <a:xfrm>
            <a:off x="3383868" y="5805264"/>
            <a:ext cx="49723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err="1" smtClean="0"/>
              <a:t>Signature</a:t>
            </a:r>
            <a:r>
              <a:rPr lang="it-IT" b="1" dirty="0" smtClean="0"/>
              <a:t> key d NEVER </a:t>
            </a:r>
            <a:r>
              <a:rPr lang="it-IT" b="1" dirty="0" err="1" smtClean="0"/>
              <a:t>retrieved</a:t>
            </a:r>
            <a:r>
              <a:rPr lang="it-IT" b="1" dirty="0" smtClean="0"/>
              <a:t> in </a:t>
            </a:r>
            <a:r>
              <a:rPr lang="it-IT" b="1" dirty="0" err="1" smtClean="0"/>
              <a:t>clear</a:t>
            </a:r>
            <a:r>
              <a:rPr lang="it-IT" b="1" dirty="0" smtClean="0"/>
              <a:t>! </a:t>
            </a:r>
          </a:p>
          <a:p>
            <a:r>
              <a:rPr lang="it-IT" b="1" dirty="0" err="1" smtClean="0"/>
              <a:t>If</a:t>
            </a:r>
            <a:r>
              <a:rPr lang="it-IT" b="1" dirty="0" smtClean="0"/>
              <a:t> </a:t>
            </a:r>
            <a:r>
              <a:rPr lang="it-IT" b="1" dirty="0" err="1" smtClean="0"/>
              <a:t>attacker</a:t>
            </a:r>
            <a:r>
              <a:rPr lang="it-IT" b="1" dirty="0" smtClean="0"/>
              <a:t> </a:t>
            </a:r>
            <a:r>
              <a:rPr lang="it-IT" b="1" dirty="0" err="1" smtClean="0"/>
              <a:t>gets</a:t>
            </a:r>
            <a:r>
              <a:rPr lang="it-IT" b="1" dirty="0" smtClean="0"/>
              <a:t> </a:t>
            </a:r>
            <a:r>
              <a:rPr lang="it-IT" b="1" dirty="0" err="1" smtClean="0"/>
              <a:t>passwd</a:t>
            </a:r>
            <a:r>
              <a:rPr lang="it-IT" b="1" dirty="0" smtClean="0"/>
              <a:t> AND </a:t>
            </a:r>
            <a:r>
              <a:rPr lang="it-IT" b="1" dirty="0" err="1" smtClean="0"/>
              <a:t>device</a:t>
            </a:r>
            <a:r>
              <a:rPr lang="it-IT" b="1" dirty="0" smtClean="0"/>
              <a:t>, </a:t>
            </a:r>
            <a:r>
              <a:rPr lang="it-IT" b="1" dirty="0" err="1" smtClean="0"/>
              <a:t>cannot</a:t>
            </a:r>
            <a:r>
              <a:rPr lang="it-IT" b="1" dirty="0" smtClean="0"/>
              <a:t> </a:t>
            </a:r>
            <a:r>
              <a:rPr lang="it-IT" b="1" dirty="0" err="1" smtClean="0"/>
              <a:t>get</a:t>
            </a:r>
            <a:r>
              <a:rPr lang="it-IT" b="1" dirty="0" smtClean="0"/>
              <a:t> key d</a:t>
            </a:r>
            <a:endParaRPr lang="it-IT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9" grpId="0"/>
      <p:bldP spid="10" grpId="0"/>
      <p:bldP spid="12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Protocol2: key </a:t>
            </a:r>
            <a:r>
              <a:rPr lang="it-IT" dirty="0" err="1" smtClean="0"/>
              <a:t>disabling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2555490"/>
          </a:xfrm>
        </p:spPr>
        <p:txBody>
          <a:bodyPr>
            <a:normAutofit fontScale="85000" lnSpcReduction="10000"/>
          </a:bodyPr>
          <a:lstStyle/>
          <a:p>
            <a:r>
              <a:rPr lang="it-IT" dirty="0" err="1" smtClean="0"/>
              <a:t>Suffices</a:t>
            </a:r>
            <a:r>
              <a:rPr lang="it-IT" dirty="0" smtClean="0"/>
              <a:t> </a:t>
            </a:r>
            <a:r>
              <a:rPr lang="it-IT" dirty="0" err="1" smtClean="0"/>
              <a:t>to</a:t>
            </a:r>
            <a:r>
              <a:rPr lang="it-IT" dirty="0" smtClean="0"/>
              <a:t> </a:t>
            </a:r>
            <a:r>
              <a:rPr lang="it-IT" dirty="0" err="1" smtClean="0"/>
              <a:t>keep</a:t>
            </a:r>
            <a:r>
              <a:rPr lang="it-IT" dirty="0" smtClean="0"/>
              <a:t> backup </a:t>
            </a:r>
            <a:r>
              <a:rPr lang="it-IT" dirty="0" err="1" smtClean="0"/>
              <a:t>of</a:t>
            </a:r>
            <a:r>
              <a:rPr lang="it-IT" dirty="0" smtClean="0"/>
              <a:t> </a:t>
            </a:r>
          </a:p>
          <a:p>
            <a:pPr lvl="1"/>
            <a:r>
              <a:rPr lang="it-IT" dirty="0" smtClean="0"/>
              <a:t>t</a:t>
            </a:r>
          </a:p>
          <a:p>
            <a:pPr lvl="1"/>
            <a:r>
              <a:rPr lang="it-IT" dirty="0" err="1" smtClean="0"/>
              <a:t>tkt</a:t>
            </a:r>
            <a:endParaRPr lang="it-IT" dirty="0" smtClean="0"/>
          </a:p>
          <a:p>
            <a:r>
              <a:rPr lang="it-IT" dirty="0" err="1" smtClean="0"/>
              <a:t>If</a:t>
            </a:r>
            <a:r>
              <a:rPr lang="it-IT" dirty="0" smtClean="0"/>
              <a:t> </a:t>
            </a:r>
            <a:r>
              <a:rPr lang="it-IT" dirty="0" err="1" smtClean="0"/>
              <a:t>device</a:t>
            </a:r>
            <a:r>
              <a:rPr lang="it-IT" dirty="0" smtClean="0"/>
              <a:t> </a:t>
            </a:r>
            <a:r>
              <a:rPr lang="it-IT" dirty="0" err="1" smtClean="0"/>
              <a:t>stolen</a:t>
            </a:r>
            <a:r>
              <a:rPr lang="it-IT" dirty="0" smtClean="0"/>
              <a:t>, </a:t>
            </a:r>
            <a:r>
              <a:rPr lang="it-IT" dirty="0" err="1" smtClean="0"/>
              <a:t>send</a:t>
            </a:r>
            <a:r>
              <a:rPr lang="it-IT" dirty="0" smtClean="0"/>
              <a:t> </a:t>
            </a:r>
            <a:r>
              <a:rPr lang="it-IT" dirty="0" err="1" smtClean="0"/>
              <a:t>them</a:t>
            </a:r>
            <a:r>
              <a:rPr lang="it-IT" dirty="0" smtClean="0"/>
              <a:t> </a:t>
            </a:r>
            <a:r>
              <a:rPr lang="it-IT" dirty="0" err="1" smtClean="0"/>
              <a:t>to</a:t>
            </a:r>
            <a:r>
              <a:rPr lang="it-IT" dirty="0" smtClean="0"/>
              <a:t> server</a:t>
            </a:r>
          </a:p>
          <a:p>
            <a:pPr lvl="1"/>
            <a:r>
              <a:rPr lang="it-IT" dirty="0" smtClean="0"/>
              <a:t>Server </a:t>
            </a:r>
            <a:r>
              <a:rPr lang="it-IT" dirty="0" err="1" smtClean="0"/>
              <a:t>keeps</a:t>
            </a:r>
            <a:r>
              <a:rPr lang="it-IT" dirty="0" smtClean="0"/>
              <a:t> blacklist</a:t>
            </a:r>
          </a:p>
          <a:p>
            <a:pPr>
              <a:buNone/>
            </a:pPr>
            <a:endParaRPr lang="it-IT" dirty="0"/>
          </a:p>
        </p:txBody>
      </p:sp>
      <p:sp>
        <p:nvSpPr>
          <p:cNvPr id="4" name="Freccia a destra 3"/>
          <p:cNvSpPr>
            <a:spLocks noChangeArrowheads="1"/>
          </p:cNvSpPr>
          <p:nvPr/>
        </p:nvSpPr>
        <p:spPr bwMode="auto">
          <a:xfrm>
            <a:off x="1511660" y="4364139"/>
            <a:ext cx="3889375" cy="431800"/>
          </a:xfrm>
          <a:prstGeom prst="rightArrow">
            <a:avLst>
              <a:gd name="adj1" fmla="val 50000"/>
              <a:gd name="adj2" fmla="val 50041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5" name="CasellaDiTesto 4"/>
          <p:cNvSpPr txBox="1">
            <a:spLocks noChangeArrowheads="1"/>
          </p:cNvSpPr>
          <p:nvPr/>
        </p:nvSpPr>
        <p:spPr bwMode="auto">
          <a:xfrm>
            <a:off x="2216510" y="4075214"/>
            <a:ext cx="29290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b="1" dirty="0" err="1"/>
              <a:t>mac</a:t>
            </a:r>
            <a:r>
              <a:rPr lang="it-IT" b="1" baseline="-25000" dirty="0" err="1"/>
              <a:t>a</a:t>
            </a:r>
            <a:r>
              <a:rPr lang="it-IT" b="1" dirty="0"/>
              <a:t>[</a:t>
            </a:r>
            <a:r>
              <a:rPr lang="it-IT" b="1" dirty="0" err="1"/>
              <a:t>tkt</a:t>
            </a:r>
            <a:r>
              <a:rPr lang="it-IT" b="1" dirty="0"/>
              <a:t> , </a:t>
            </a:r>
            <a:r>
              <a:rPr lang="it-IT" b="1" dirty="0" err="1" smtClean="0"/>
              <a:t>E</a:t>
            </a:r>
            <a:r>
              <a:rPr lang="it-IT" b="1" baseline="-25000" dirty="0" err="1" smtClean="0"/>
              <a:t>pk-server</a:t>
            </a:r>
            <a:r>
              <a:rPr lang="it-IT" b="1" dirty="0" smtClean="0"/>
              <a:t>[</a:t>
            </a:r>
            <a:r>
              <a:rPr lang="it-IT" b="1" dirty="0" smtClean="0">
                <a:solidFill>
                  <a:srgbClr val="00B050"/>
                </a:solidFill>
              </a:rPr>
              <a:t>H[m]</a:t>
            </a:r>
            <a:r>
              <a:rPr lang="it-IT" b="1" dirty="0" smtClean="0"/>
              <a:t>, </a:t>
            </a:r>
            <a:r>
              <a:rPr lang="it-IT" b="1" dirty="0" smtClean="0">
                <a:latin typeface="Symbol" pitchFamily="18" charset="2"/>
              </a:rPr>
              <a:t>b</a:t>
            </a:r>
            <a:r>
              <a:rPr lang="it-IT" b="1" dirty="0">
                <a:latin typeface="Symbol" pitchFamily="18" charset="2"/>
              </a:rPr>
              <a:t>, r</a:t>
            </a:r>
            <a:r>
              <a:rPr lang="it-IT" b="1" dirty="0"/>
              <a:t>] ]</a:t>
            </a:r>
          </a:p>
        </p:txBody>
      </p:sp>
      <p:sp>
        <p:nvSpPr>
          <p:cNvPr id="6" name="CasellaDiTesto 5"/>
          <p:cNvSpPr txBox="1">
            <a:spLocks noChangeArrowheads="1"/>
          </p:cNvSpPr>
          <p:nvPr/>
        </p:nvSpPr>
        <p:spPr bwMode="auto">
          <a:xfrm>
            <a:off x="6193197" y="3337026"/>
            <a:ext cx="1100138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800" b="1">
                <a:solidFill>
                  <a:srgbClr val="FF0000"/>
                </a:solidFill>
              </a:rPr>
              <a:t>Server</a:t>
            </a:r>
            <a:endParaRPr lang="it-IT" sz="2800">
              <a:solidFill>
                <a:srgbClr val="FF0000"/>
              </a:solidFill>
            </a:endParaRPr>
          </a:p>
        </p:txBody>
      </p:sp>
      <p:sp>
        <p:nvSpPr>
          <p:cNvPr id="7" name="CasellaDiTesto 6"/>
          <p:cNvSpPr txBox="1">
            <a:spLocks noChangeArrowheads="1"/>
          </p:cNvSpPr>
          <p:nvPr/>
        </p:nvSpPr>
        <p:spPr bwMode="auto">
          <a:xfrm>
            <a:off x="5559785" y="3787876"/>
            <a:ext cx="35654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b="1" dirty="0" err="1"/>
              <a:t>tkt</a:t>
            </a:r>
            <a:r>
              <a:rPr lang="it-IT" b="1" dirty="0"/>
              <a:t> 	</a:t>
            </a:r>
            <a:r>
              <a:rPr lang="it-IT" b="1" dirty="0">
                <a:sym typeface="Wingdings" pitchFamily="2" charset="2"/>
              </a:rPr>
              <a:t> </a:t>
            </a:r>
            <a:r>
              <a:rPr lang="it-IT" b="1" dirty="0" smtClean="0">
                <a:sym typeface="Wingdings" pitchFamily="2" charset="2"/>
              </a:rPr>
              <a:t>a,b,</a:t>
            </a:r>
            <a:r>
              <a:rPr lang="it-IT" b="1" dirty="0" smtClean="0">
                <a:solidFill>
                  <a:srgbClr val="00B050"/>
                </a:solidFill>
                <a:sym typeface="Wingdings" pitchFamily="2" charset="2"/>
              </a:rPr>
              <a:t>d</a:t>
            </a:r>
            <a:r>
              <a:rPr lang="it-IT" b="1" baseline="-25000" dirty="0" smtClean="0">
                <a:solidFill>
                  <a:srgbClr val="00B050"/>
                </a:solidFill>
                <a:sym typeface="Wingdings" pitchFamily="2" charset="2"/>
              </a:rPr>
              <a:t>2</a:t>
            </a:r>
            <a:r>
              <a:rPr lang="it-IT" b="1" dirty="0" smtClean="0">
                <a:solidFill>
                  <a:srgbClr val="00B050"/>
                </a:solidFill>
                <a:sym typeface="Wingdings" pitchFamily="2" charset="2"/>
              </a:rPr>
              <a:t>,u,N</a:t>
            </a:r>
            <a:endParaRPr lang="it-IT" b="1" dirty="0">
              <a:solidFill>
                <a:srgbClr val="00B050"/>
              </a:solidFill>
              <a:sym typeface="Wingdings" pitchFamily="2" charset="2"/>
            </a:endParaRPr>
          </a:p>
          <a:p>
            <a:r>
              <a:rPr lang="it-IT" b="1" dirty="0">
                <a:sym typeface="Wingdings" pitchFamily="2" charset="2"/>
              </a:rPr>
              <a:t>a 	 </a:t>
            </a:r>
            <a:r>
              <a:rPr lang="it-IT" b="1" dirty="0" err="1">
                <a:sym typeface="Wingdings" pitchFamily="2" charset="2"/>
              </a:rPr>
              <a:t>check</a:t>
            </a:r>
            <a:r>
              <a:rPr lang="it-IT" b="1" dirty="0">
                <a:sym typeface="Wingdings" pitchFamily="2" charset="2"/>
              </a:rPr>
              <a:t> MAC</a:t>
            </a:r>
          </a:p>
          <a:p>
            <a:r>
              <a:rPr lang="it-IT" b="1" dirty="0">
                <a:solidFill>
                  <a:srgbClr val="FF0000"/>
                </a:solidFill>
                <a:sym typeface="Wingdings" pitchFamily="2" charset="2"/>
              </a:rPr>
              <a:t>	(</a:t>
            </a:r>
            <a:r>
              <a:rPr lang="it-IT" b="1" dirty="0" err="1">
                <a:solidFill>
                  <a:srgbClr val="FF0000"/>
                </a:solidFill>
                <a:sym typeface="Wingdings" pitchFamily="2" charset="2"/>
              </a:rPr>
              <a:t>auth</a:t>
            </a:r>
            <a:r>
              <a:rPr lang="it-IT" b="1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it-IT" b="1" dirty="0" err="1">
                <a:solidFill>
                  <a:srgbClr val="FF0000"/>
                </a:solidFill>
                <a:sym typeface="Wingdings" pitchFamily="2" charset="2"/>
              </a:rPr>
              <a:t>device</a:t>
            </a:r>
            <a:r>
              <a:rPr lang="it-IT" b="1" dirty="0">
                <a:solidFill>
                  <a:srgbClr val="FF0000"/>
                </a:solidFill>
                <a:sym typeface="Wingdings" pitchFamily="2" charset="2"/>
              </a:rPr>
              <a:t>!)</a:t>
            </a:r>
            <a:endParaRPr lang="it-IT" b="1" dirty="0">
              <a:sym typeface="Wingdings" pitchFamily="2" charset="2"/>
            </a:endParaRPr>
          </a:p>
          <a:p>
            <a:r>
              <a:rPr lang="it-IT" b="1" dirty="0" err="1" smtClean="0">
                <a:solidFill>
                  <a:srgbClr val="00B050"/>
                </a:solidFill>
                <a:sym typeface="Wingdings" pitchFamily="2" charset="2"/>
              </a:rPr>
              <a:t>Search</a:t>
            </a:r>
            <a:r>
              <a:rPr lang="it-IT" b="1" dirty="0" smtClean="0">
                <a:solidFill>
                  <a:srgbClr val="00B050"/>
                </a:solidFill>
                <a:sym typeface="Wingdings" pitchFamily="2" charset="2"/>
              </a:rPr>
              <a:t> t </a:t>
            </a:r>
            <a:r>
              <a:rPr lang="it-IT" b="1" dirty="0" err="1" smtClean="0">
                <a:solidFill>
                  <a:srgbClr val="00B050"/>
                </a:solidFill>
                <a:sym typeface="Wingdings" pitchFamily="2" charset="2"/>
              </a:rPr>
              <a:t>for</a:t>
            </a:r>
            <a:r>
              <a:rPr lang="it-IT" b="1" dirty="0" smtClean="0">
                <a:solidFill>
                  <a:srgbClr val="00B050"/>
                </a:solidFill>
                <a:sym typeface="Wingdings" pitchFamily="2" charset="2"/>
              </a:rPr>
              <a:t> </a:t>
            </a:r>
            <a:r>
              <a:rPr lang="it-IT" b="1" dirty="0" err="1" smtClean="0">
                <a:solidFill>
                  <a:srgbClr val="00B050"/>
                </a:solidFill>
                <a:sym typeface="Wingdings" pitchFamily="2" charset="2"/>
              </a:rPr>
              <a:t>index</a:t>
            </a:r>
            <a:r>
              <a:rPr lang="it-IT" b="1" dirty="0" smtClean="0">
                <a:solidFill>
                  <a:srgbClr val="00B050"/>
                </a:solidFill>
                <a:sym typeface="Wingdings" pitchFamily="2" charset="2"/>
              </a:rPr>
              <a:t> </a:t>
            </a:r>
            <a:r>
              <a:rPr lang="it-IT" b="1" dirty="0" err="1" smtClean="0">
                <a:solidFill>
                  <a:srgbClr val="00B050"/>
                </a:solidFill>
                <a:sym typeface="Wingdings" pitchFamily="2" charset="2"/>
              </a:rPr>
              <a:t>tkt</a:t>
            </a:r>
            <a:r>
              <a:rPr lang="it-IT" b="1" dirty="0" smtClean="0">
                <a:solidFill>
                  <a:srgbClr val="00B050"/>
                </a:solidFill>
                <a:sym typeface="Wingdings" pitchFamily="2" charset="2"/>
              </a:rPr>
              <a:t> (e.g. </a:t>
            </a:r>
            <a:r>
              <a:rPr lang="it-IT" b="1" dirty="0" err="1" smtClean="0">
                <a:solidFill>
                  <a:srgbClr val="00B050"/>
                </a:solidFill>
                <a:sym typeface="Wingdings" pitchFamily="2" charset="2"/>
              </a:rPr>
              <a:t>hash</a:t>
            </a:r>
            <a:r>
              <a:rPr lang="it-IT" b="1" dirty="0" smtClean="0">
                <a:solidFill>
                  <a:srgbClr val="00B050"/>
                </a:solidFill>
                <a:sym typeface="Wingdings" pitchFamily="2" charset="2"/>
              </a:rPr>
              <a:t> </a:t>
            </a:r>
            <a:r>
              <a:rPr lang="it-IT" b="1" dirty="0" err="1" smtClean="0">
                <a:solidFill>
                  <a:srgbClr val="00B050"/>
                </a:solidFill>
                <a:sym typeface="Wingdings" pitchFamily="2" charset="2"/>
              </a:rPr>
              <a:t>table</a:t>
            </a:r>
            <a:r>
              <a:rPr lang="it-IT" b="1" dirty="0" smtClean="0">
                <a:solidFill>
                  <a:srgbClr val="00B050"/>
                </a:solidFill>
                <a:sym typeface="Wingdings" pitchFamily="2" charset="2"/>
              </a:rPr>
              <a:t>)</a:t>
            </a:r>
          </a:p>
          <a:p>
            <a:r>
              <a:rPr lang="it-IT" b="1" dirty="0" err="1" smtClean="0">
                <a:solidFill>
                  <a:srgbClr val="00B050"/>
                </a:solidFill>
                <a:sym typeface="Wingdings" pitchFamily="2" charset="2"/>
              </a:rPr>
              <a:t>check</a:t>
            </a:r>
            <a:r>
              <a:rPr lang="it-IT" b="1" dirty="0" smtClean="0">
                <a:solidFill>
                  <a:srgbClr val="00B050"/>
                </a:solidFill>
                <a:sym typeface="Wingdings" pitchFamily="2" charset="2"/>
              </a:rPr>
              <a:t> u ≠ H(t) </a:t>
            </a:r>
            <a:r>
              <a:rPr lang="it-IT" b="1" dirty="0" err="1" smtClean="0">
                <a:solidFill>
                  <a:srgbClr val="00B050"/>
                </a:solidFill>
                <a:sym typeface="Wingdings" pitchFamily="2" charset="2"/>
              </a:rPr>
              <a:t>for</a:t>
            </a:r>
            <a:r>
              <a:rPr lang="it-IT" b="1" dirty="0" smtClean="0">
                <a:solidFill>
                  <a:srgbClr val="00B050"/>
                </a:solidFill>
                <a:sym typeface="Wingdings" pitchFamily="2" charset="2"/>
              </a:rPr>
              <a:t> </a:t>
            </a:r>
            <a:r>
              <a:rPr lang="it-IT" b="1" dirty="0" err="1" smtClean="0">
                <a:solidFill>
                  <a:srgbClr val="00B050"/>
                </a:solidFill>
                <a:sym typeface="Wingdings" pitchFamily="2" charset="2"/>
              </a:rPr>
              <a:t>corresponding</a:t>
            </a:r>
            <a:r>
              <a:rPr lang="it-IT" b="1" dirty="0" smtClean="0">
                <a:solidFill>
                  <a:srgbClr val="00B050"/>
                </a:solidFill>
                <a:sym typeface="Wingdings" pitchFamily="2" charset="2"/>
              </a:rPr>
              <a:t> t</a:t>
            </a:r>
            <a:endParaRPr lang="it-IT" b="1" dirty="0">
              <a:solidFill>
                <a:srgbClr val="00B050"/>
              </a:solidFill>
              <a:latin typeface="Symbol" pitchFamily="18" charset="2"/>
            </a:endParaRPr>
          </a:p>
          <a:p>
            <a:r>
              <a:rPr lang="it-IT" b="1" dirty="0">
                <a:solidFill>
                  <a:srgbClr val="FF0000"/>
                </a:solidFill>
                <a:sym typeface="Wingdings" pitchFamily="2" charset="2"/>
              </a:rPr>
              <a:t>	</a:t>
            </a:r>
            <a:r>
              <a:rPr lang="it-IT" b="1" dirty="0" smtClean="0">
                <a:solidFill>
                  <a:srgbClr val="FF0000"/>
                </a:solidFill>
                <a:sym typeface="Wingdings" pitchFamily="2" charset="2"/>
              </a:rPr>
              <a:t>(</a:t>
            </a:r>
            <a:r>
              <a:rPr lang="it-IT" b="1" dirty="0" err="1" smtClean="0">
                <a:solidFill>
                  <a:srgbClr val="FF0000"/>
                </a:solidFill>
                <a:sym typeface="Wingdings" pitchFamily="2" charset="2"/>
              </a:rPr>
              <a:t>check</a:t>
            </a:r>
            <a:r>
              <a:rPr lang="it-IT" b="1" dirty="0" smtClean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it-IT" b="1" dirty="0" err="1" smtClean="0">
                <a:solidFill>
                  <a:srgbClr val="FF0000"/>
                </a:solidFill>
                <a:sym typeface="Wingdings" pitchFamily="2" charset="2"/>
              </a:rPr>
              <a:t>if</a:t>
            </a:r>
            <a:r>
              <a:rPr lang="it-IT" b="1" dirty="0" smtClean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it-IT" b="1" dirty="0" err="1" smtClean="0">
                <a:solidFill>
                  <a:srgbClr val="FF0000"/>
                </a:solidFill>
                <a:sym typeface="Wingdings" pitchFamily="2" charset="2"/>
              </a:rPr>
              <a:t>not</a:t>
            </a:r>
            <a:r>
              <a:rPr lang="it-IT" b="1" dirty="0" smtClean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it-IT" b="1" dirty="0" err="1" smtClean="0">
                <a:solidFill>
                  <a:srgbClr val="FF0000"/>
                </a:solidFill>
                <a:sym typeface="Wingdings" pitchFamily="2" charset="2"/>
              </a:rPr>
              <a:t>revoked</a:t>
            </a:r>
            <a:r>
              <a:rPr lang="it-IT" b="1" dirty="0" smtClean="0">
                <a:solidFill>
                  <a:srgbClr val="FF0000"/>
                </a:solidFill>
                <a:sym typeface="Wingdings" pitchFamily="2" charset="2"/>
              </a:rPr>
              <a:t>!)</a:t>
            </a:r>
            <a:endParaRPr lang="it-IT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</p:bldLst>
  </p:timing>
</p:sld>
</file>

<file path=ppt/theme/theme1.xml><?xml version="1.0" encoding="utf-8"?>
<a:theme xmlns:a="http://schemas.openxmlformats.org/drawingml/2006/main" name="214templ">
  <a:themeElements>
    <a:clrScheme name="">
      <a:dk1>
        <a:srgbClr val="000000"/>
      </a:dk1>
      <a:lt1>
        <a:srgbClr val="FFFFFF"/>
      </a:lt1>
      <a:dk2>
        <a:srgbClr val="000000"/>
      </a:dk2>
      <a:lt2>
        <a:srgbClr val="CECECE"/>
      </a:lt2>
      <a:accent1>
        <a:srgbClr val="474747"/>
      </a:accent1>
      <a:accent2>
        <a:srgbClr val="DADADA"/>
      </a:accent2>
      <a:accent3>
        <a:srgbClr val="FFFFFF"/>
      </a:accent3>
      <a:accent4>
        <a:srgbClr val="000000"/>
      </a:accent4>
      <a:accent5>
        <a:srgbClr val="B1B1B1"/>
      </a:accent5>
      <a:accent6>
        <a:srgbClr val="C5C5C5"/>
      </a:accent6>
      <a:hlink>
        <a:srgbClr val="000000"/>
      </a:hlink>
      <a:folHlink>
        <a:srgbClr val="919191"/>
      </a:folHlink>
    </a:clrScheme>
    <a:fontScheme name="214templ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214temp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4templ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3E8458D254D7543B8EE0336155E759B" ma:contentTypeVersion="6" ma:contentTypeDescription="Creare un nuovo documento." ma:contentTypeScope="" ma:versionID="634e05960707776122f6c34782d58d55">
  <xsd:schema xmlns:xsd="http://www.w3.org/2001/XMLSchema" xmlns:xs="http://www.w3.org/2001/XMLSchema" xmlns:p="http://schemas.microsoft.com/office/2006/metadata/properties" xmlns:ns2="2154ac9b-a8e0-4f77-b94d-78f05534efde" targetNamespace="http://schemas.microsoft.com/office/2006/metadata/properties" ma:root="true" ma:fieldsID="550181c30c827cd1adfb638e20e39b69" ns2:_="">
    <xsd:import namespace="2154ac9b-a8e0-4f77-b94d-78f05534ef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54ac9b-a8e0-4f77-b94d-78f05534ef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14BA70B-206C-4893-ADE0-F0CABCE68AE3}"/>
</file>

<file path=customXml/itemProps2.xml><?xml version="1.0" encoding="utf-8"?>
<ds:datastoreItem xmlns:ds="http://schemas.openxmlformats.org/officeDocument/2006/customXml" ds:itemID="{0591A7C1-D1EF-4C32-A0AA-27A13F8751AF}"/>
</file>

<file path=customXml/itemProps3.xml><?xml version="1.0" encoding="utf-8"?>
<ds:datastoreItem xmlns:ds="http://schemas.openxmlformats.org/officeDocument/2006/customXml" ds:itemID="{DE7B35A8-7E53-4550-BE80-47937E18423E}"/>
</file>

<file path=docProps/app.xml><?xml version="1.0" encoding="utf-8"?>
<Properties xmlns="http://schemas.openxmlformats.org/officeDocument/2006/extended-properties" xmlns:vt="http://schemas.openxmlformats.org/officeDocument/2006/docPropsVTypes">
  <Template>c:\214\214templ.ppt</Template>
  <TotalTime>0</TotalTime>
  <Pages>22</Pages>
  <Words>750</Words>
  <Application>Microsoft Office PowerPoint</Application>
  <PresentationFormat>Presentazione su schermo (4:3)</PresentationFormat>
  <Paragraphs>219</Paragraphs>
  <Slides>15</Slides>
  <Notes>0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4" baseType="lpstr">
      <vt:lpstr>Arial</vt:lpstr>
      <vt:lpstr>Arial Narrow</vt:lpstr>
      <vt:lpstr>Book Antiqua</vt:lpstr>
      <vt:lpstr>Bookman Old Style</vt:lpstr>
      <vt:lpstr>Symbol</vt:lpstr>
      <vt:lpstr>Times New Roman</vt:lpstr>
      <vt:lpstr>Wingdings</vt:lpstr>
      <vt:lpstr>214templ</vt:lpstr>
      <vt:lpstr>Equazione</vt:lpstr>
      <vt:lpstr>Mobile devices resilient to capture (MacKenzie &amp; Reiter 2003)</vt:lpstr>
      <vt:lpstr>Some statistics (@2010)</vt:lpstr>
      <vt:lpstr>Capture resilient device</vt:lpstr>
      <vt:lpstr>MacKenzie + Reiter, 2003</vt:lpstr>
      <vt:lpstr>Scenario (MacKenzie &amp; Reiter)</vt:lpstr>
      <vt:lpstr>Basic solution</vt:lpstr>
      <vt:lpstr>Idea: use “tickets”</vt:lpstr>
      <vt:lpstr>Protocol: device initialization</vt:lpstr>
      <vt:lpstr>Protocol: key retrieval</vt:lpstr>
      <vt:lpstr>Attacks</vt:lpstr>
      <vt:lpstr>Can we do better?</vt:lpstr>
      <vt:lpstr>Secret sharing (2,2) for RSA</vt:lpstr>
      <vt:lpstr>Protocol2: device initialization</vt:lpstr>
      <vt:lpstr>Protocol2: key retrieval</vt:lpstr>
      <vt:lpstr>Protocol2: key disabling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101</dc:title>
  <dc:subject>Lecture</dc:subject>
  <dc:creator>Giuseppe Bianchi</dc:creator>
  <cp:lastModifiedBy>Giuseppe Bianchi</cp:lastModifiedBy>
  <cp:revision>601</cp:revision>
  <cp:lastPrinted>1998-04-09T13:49:28Z</cp:lastPrinted>
  <dcterms:created xsi:type="dcterms:W3CDTF">1996-09-11T22:41:56Z</dcterms:created>
  <dcterms:modified xsi:type="dcterms:W3CDTF">2019-12-16T12:27:44Z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0x010100E3E8458D254D7543B8EE0336155E759B</vt:lpwstr>
  </property>
</Properties>
</file>