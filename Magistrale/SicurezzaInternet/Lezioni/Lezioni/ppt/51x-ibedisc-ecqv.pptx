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738" r:id="rId3"/>
    <p:sldId id="739" r:id="rId4"/>
    <p:sldId id="740" r:id="rId5"/>
    <p:sldId id="741" r:id="rId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CCFF"/>
    <a:srgbClr val="33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57" d="100"/>
          <a:sy n="57" d="100"/>
        </p:scale>
        <p:origin x="1839" y="27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708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227" tIns="46777" rIns="95227" bIns="46777">
            <a:spAutoFit/>
          </a:bodyPr>
          <a:lstStyle/>
          <a:p>
            <a:pPr defTabSz="963613" eaLnBrk="0" hangingPunct="0">
              <a:defRPr/>
            </a:pPr>
            <a:fld id="{1748623B-0616-4834-9F8E-5736999A7D95}" type="slidenum">
              <a:rPr lang="en-US" sz="2500">
                <a:latin typeface="Book Antiqua" pitchFamily="18" charset="0"/>
              </a:rPr>
              <a:pPr defTabSz="963613" eaLnBrk="0" hangingPunct="0">
                <a:defRPr/>
              </a:pPr>
              <a:t>‹N›</a:t>
            </a:fld>
            <a:endParaRPr lang="en-US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0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876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 anchorCtr="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Giuseppe Bianchi 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IBE;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IBE </a:t>
            </a:r>
            <a:r>
              <a:rPr lang="it-IT" dirty="0" err="1"/>
              <a:t>discussion</a:t>
            </a:r>
            <a:endParaRPr lang="it-IT" dirty="0"/>
          </a:p>
        </p:txBody>
      </p:sp>
      <p:sp>
        <p:nvSpPr>
          <p:cNvPr id="307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14777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How to impersonate?</a:t>
            </a:r>
          </a:p>
          <a:p>
            <a:pPr lvl="1">
              <a:defRPr/>
            </a:pPr>
            <a:r>
              <a:rPr lang="it-IT" dirty="0"/>
              <a:t>Same ID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sufficient</a:t>
            </a:r>
            <a:endParaRPr lang="it-IT" dirty="0"/>
          </a:p>
          <a:p>
            <a:pPr lvl="1">
              <a:defRPr/>
            </a:pPr>
            <a:r>
              <a:rPr lang="it-IT" dirty="0"/>
              <a:t>Must «</a:t>
            </a:r>
            <a:r>
              <a:rPr lang="it-IT" dirty="0" err="1"/>
              <a:t>register</a:t>
            </a:r>
            <a:r>
              <a:rPr lang="it-IT" dirty="0"/>
              <a:t>» to PKG to </a:t>
            </a:r>
            <a:r>
              <a:rPr lang="it-IT" dirty="0" err="1"/>
              <a:t>get</a:t>
            </a:r>
            <a:r>
              <a:rPr lang="it-IT" dirty="0"/>
              <a:t> private key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PKG: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powerful</a:t>
            </a:r>
            <a:r>
              <a:rPr lang="it-IT" dirty="0"/>
              <a:t> </a:t>
            </a:r>
            <a:r>
              <a:rPr lang="it-IT" dirty="0" err="1"/>
              <a:t>entity</a:t>
            </a:r>
            <a:endParaRPr lang="it-IT" dirty="0"/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Solution: Distributed PKG! </a:t>
            </a:r>
          </a:p>
          <a:p>
            <a:pPr lvl="2">
              <a:defRPr/>
            </a:pPr>
            <a:r>
              <a:rPr lang="it-IT" dirty="0">
                <a:sym typeface="Wingdings" panose="05000000000000000000" pitchFamily="2" charset="2"/>
              </a:rPr>
              <a:t>Use </a:t>
            </a:r>
            <a:r>
              <a:rPr lang="it-IT" dirty="0" err="1">
                <a:sym typeface="Wingdings" panose="05000000000000000000" pitchFamily="2" charset="2"/>
              </a:rPr>
              <a:t>pedersen’s</a:t>
            </a:r>
            <a:r>
              <a:rPr lang="it-IT" dirty="0">
                <a:sym typeface="Wingdings" panose="05000000000000000000" pitchFamily="2" charset="2"/>
              </a:rPr>
              <a:t> DKG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Intermediate </a:t>
            </a:r>
            <a:r>
              <a:rPr lang="it-IT" dirty="0" err="1">
                <a:sym typeface="Wingdings" panose="05000000000000000000" pitchFamily="2" charset="2"/>
              </a:rPr>
              <a:t>approaches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 err="1">
                <a:sym typeface="Wingdings" panose="05000000000000000000" pitchFamily="2" charset="2"/>
              </a:rPr>
              <a:t>certificateless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crypto</a:t>
            </a:r>
            <a:endParaRPr lang="it-IT" dirty="0">
              <a:sym typeface="Wingdings" panose="05000000000000000000" pitchFamily="2" charset="2"/>
            </a:endParaRPr>
          </a:p>
          <a:p>
            <a:pPr lvl="2">
              <a:defRPr/>
            </a:pPr>
            <a:r>
              <a:rPr lang="it-IT" dirty="0">
                <a:sym typeface="Wingdings" panose="05000000000000000000" pitchFamily="2" charset="2"/>
              </a:rPr>
              <a:t>See </a:t>
            </a:r>
            <a:r>
              <a:rPr lang="it-IT" dirty="0" err="1">
                <a:sym typeface="Wingdings" panose="05000000000000000000" pitchFamily="2" charset="2"/>
              </a:rPr>
              <a:t>next</a:t>
            </a:r>
            <a:r>
              <a:rPr lang="it-IT" dirty="0">
                <a:sym typeface="Wingdings" panose="05000000000000000000" pitchFamily="2" charset="2"/>
              </a:rPr>
              <a:t> slide</a:t>
            </a:r>
          </a:p>
          <a:p>
            <a:pPr lvl="2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>
                <a:sym typeface="Wingdings" panose="05000000000000000000" pitchFamily="2" charset="2"/>
              </a:rPr>
              <a:t>Multi-authority?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Yes, </a:t>
            </a:r>
            <a:r>
              <a:rPr lang="it-IT" dirty="0" err="1">
                <a:sym typeface="Wingdings" panose="05000000000000000000" pitchFamily="2" charset="2"/>
              </a:rPr>
              <a:t>several</a:t>
            </a:r>
            <a:r>
              <a:rPr lang="it-IT" dirty="0">
                <a:sym typeface="Wingdings" panose="05000000000000000000" pitchFamily="2" charset="2"/>
              </a:rPr>
              <a:t> extensions</a:t>
            </a:r>
          </a:p>
          <a:p>
            <a:pPr lvl="1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endParaRPr lang="it-IT" dirty="0">
              <a:sym typeface="Wingdings" pitchFamily="2" charset="2"/>
            </a:endParaRPr>
          </a:p>
          <a:p>
            <a:pPr lvl="1">
              <a:defRPr/>
            </a:pPr>
            <a:endParaRPr lang="it-IT" dirty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5ABEBF-F4D7-8ADA-1BC8-099CBB97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ECQV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A333C8-D766-1D04-4685-989DF643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err="1"/>
              <a:t>Elliptic</a:t>
            </a:r>
            <a:r>
              <a:rPr lang="it-IT" dirty="0"/>
              <a:t> Curve Qu-</a:t>
            </a:r>
            <a:r>
              <a:rPr lang="it-IT" dirty="0" err="1"/>
              <a:t>Vanstone</a:t>
            </a:r>
            <a:endParaRPr lang="it-IT" dirty="0"/>
          </a:p>
          <a:p>
            <a:pPr lvl="1"/>
            <a:r>
              <a:rPr lang="it-IT" dirty="0" err="1"/>
              <a:t>A.k.a</a:t>
            </a:r>
            <a:r>
              <a:rPr lang="it-IT" dirty="0"/>
              <a:t>. </a:t>
            </a:r>
            <a:r>
              <a:rPr lang="it-IT" dirty="0" err="1"/>
              <a:t>implicit</a:t>
            </a:r>
            <a:r>
              <a:rPr lang="it-IT" dirty="0"/>
              <a:t> certificates</a:t>
            </a:r>
          </a:p>
          <a:p>
            <a:pPr lvl="1"/>
            <a:r>
              <a:rPr lang="it-IT" dirty="0"/>
              <a:t>Identity-</a:t>
            </a:r>
            <a:r>
              <a:rPr lang="it-IT" dirty="0" err="1"/>
              <a:t>based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Idea: self-</a:t>
            </a:r>
            <a:r>
              <a:rPr lang="it-IT" dirty="0" err="1"/>
              <a:t>certifying</a:t>
            </a:r>
            <a:r>
              <a:rPr lang="it-IT" dirty="0"/>
              <a:t> EC point</a:t>
            </a:r>
          </a:p>
          <a:p>
            <a:pPr lvl="1"/>
            <a:r>
              <a:rPr lang="it-IT" dirty="0"/>
              <a:t>Do </a:t>
            </a:r>
            <a:r>
              <a:rPr lang="it-IT" dirty="0" err="1"/>
              <a:t>not</a:t>
            </a:r>
            <a:r>
              <a:rPr lang="it-IT" dirty="0"/>
              <a:t> use PKG </a:t>
            </a:r>
            <a:r>
              <a:rPr lang="it-IT" dirty="0" err="1"/>
              <a:t>but</a:t>
            </a:r>
            <a:r>
              <a:rPr lang="it-IT" dirty="0"/>
              <a:t> use a CA</a:t>
            </a:r>
          </a:p>
          <a:p>
            <a:pPr lvl="1"/>
            <a:r>
              <a:rPr lang="it-IT" dirty="0"/>
              <a:t>But CA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b="1" dirty="0" err="1"/>
              <a:t>not</a:t>
            </a:r>
            <a:r>
              <a:rPr lang="it-IT" dirty="0"/>
              <a:t> </a:t>
            </a:r>
            <a:r>
              <a:rPr lang="it-IT" dirty="0" err="1"/>
              <a:t>issue</a:t>
            </a:r>
            <a:r>
              <a:rPr lang="it-IT" dirty="0"/>
              <a:t> standard certificates</a:t>
            </a:r>
          </a:p>
          <a:p>
            <a:pPr lvl="1"/>
            <a:r>
              <a:rPr lang="it-IT" dirty="0" err="1"/>
              <a:t>it</a:t>
            </a:r>
            <a:r>
              <a:rPr lang="it-IT" dirty="0"/>
              <a:t> «helps» to </a:t>
            </a:r>
            <a:r>
              <a:rPr lang="it-IT" dirty="0" err="1"/>
              <a:t>extract</a:t>
            </a:r>
            <a:r>
              <a:rPr lang="it-IT" dirty="0"/>
              <a:t> the user public Key from an «</a:t>
            </a:r>
            <a:r>
              <a:rPr lang="it-IT" dirty="0" err="1"/>
              <a:t>implicit</a:t>
            </a:r>
            <a:r>
              <a:rPr lang="it-IT" dirty="0"/>
              <a:t>» </a:t>
            </a:r>
            <a:r>
              <a:rPr lang="it-IT" dirty="0" err="1"/>
              <a:t>identity-based</a:t>
            </a:r>
            <a:r>
              <a:rPr lang="it-IT" dirty="0"/>
              <a:t> certificate</a:t>
            </a:r>
          </a:p>
          <a:p>
            <a:pPr lvl="1"/>
            <a:endParaRPr lang="it-IT" dirty="0"/>
          </a:p>
          <a:p>
            <a:r>
              <a:rPr lang="it-IT" dirty="0" err="1"/>
              <a:t>Advantage</a:t>
            </a:r>
            <a:r>
              <a:rPr lang="it-IT" dirty="0"/>
              <a:t>: </a:t>
            </a:r>
            <a:r>
              <a:rPr lang="it-IT" dirty="0" err="1"/>
              <a:t>very</a:t>
            </a:r>
            <a:r>
              <a:rPr lang="it-IT" dirty="0"/>
              <a:t> small (</a:t>
            </a:r>
            <a:r>
              <a:rPr lang="it-IT" dirty="0" err="1"/>
              <a:t>implicit</a:t>
            </a:r>
            <a:r>
              <a:rPr lang="it-IT" dirty="0"/>
              <a:t>) certificates!!</a:t>
            </a:r>
          </a:p>
          <a:p>
            <a:pPr lvl="1"/>
            <a:r>
              <a:rPr lang="it-IT" dirty="0"/>
              <a:t>A single EC group point!</a:t>
            </a:r>
          </a:p>
        </p:txBody>
      </p:sp>
    </p:spTree>
    <p:extLst>
      <p:ext uri="{BB962C8B-B14F-4D97-AF65-F5344CB8AC3E}">
        <p14:creationId xmlns:p14="http://schemas.microsoft.com/office/powerpoint/2010/main" val="2721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0984E3-EA75-22C6-CE5E-1CE69C3D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777AE4-DA33-D7E1-A363-CA118E331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331354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CA: </a:t>
            </a:r>
          </a:p>
          <a:p>
            <a:pPr lvl="1"/>
            <a:r>
              <a:rPr lang="it-IT" dirty="0"/>
              <a:t>Private key </a:t>
            </a:r>
            <a:r>
              <a:rPr lang="it-IT" dirty="0">
                <a:sym typeface="Wingdings" panose="05000000000000000000" pitchFamily="2" charset="2"/>
              </a:rPr>
              <a:t> c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Public key  C = </a:t>
            </a:r>
            <a:r>
              <a:rPr lang="it-IT" dirty="0" err="1">
                <a:sym typeface="Wingdings" panose="05000000000000000000" pitchFamily="2" charset="2"/>
              </a:rPr>
              <a:t>cG</a:t>
            </a:r>
            <a:endParaRPr lang="it-IT" dirty="0">
              <a:sym typeface="Wingdings" panose="05000000000000000000" pitchFamily="2" charset="2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4A3054A-B91B-2030-E894-C78E7DC13759}"/>
              </a:ext>
            </a:extLst>
          </p:cNvPr>
          <p:cNvGrpSpPr/>
          <p:nvPr/>
        </p:nvGrpSpPr>
        <p:grpSpPr>
          <a:xfrm>
            <a:off x="2375756" y="2437593"/>
            <a:ext cx="6289202" cy="4322999"/>
            <a:chOff x="2375756" y="2437593"/>
            <a:chExt cx="6289202" cy="4322999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E46F6F88-48F2-F4FF-CA2C-29A1C6CD9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5756" y="2437593"/>
              <a:ext cx="6289202" cy="4322999"/>
            </a:xfrm>
            <a:prstGeom prst="rect">
              <a:avLst/>
            </a:prstGeom>
          </p:spPr>
        </p:pic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A53C9B40-5471-75E7-7E8C-C4C8124A8FB6}"/>
                </a:ext>
              </a:extLst>
            </p:cNvPr>
            <p:cNvSpPr/>
            <p:nvPr/>
          </p:nvSpPr>
          <p:spPr bwMode="auto">
            <a:xfrm>
              <a:off x="2375756" y="2437593"/>
              <a:ext cx="4176464" cy="27012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8" name="Rettangolo 7">
            <a:extLst>
              <a:ext uri="{FF2B5EF4-FFF2-40B4-BE49-F238E27FC236}">
                <a16:creationId xmlns:a16="http://schemas.microsoft.com/office/drawing/2014/main" id="{8D0D9450-EEA4-70F4-802D-255BB05AB436}"/>
              </a:ext>
            </a:extLst>
          </p:cNvPr>
          <p:cNvSpPr/>
          <p:nvPr/>
        </p:nvSpPr>
        <p:spPr bwMode="auto">
          <a:xfrm>
            <a:off x="2388444" y="5157192"/>
            <a:ext cx="6408712" cy="1603400"/>
          </a:xfrm>
          <a:prstGeom prst="rect">
            <a:avLst/>
          </a:prstGeom>
          <a:solidFill>
            <a:schemeClr val="bg1">
              <a:alpha val="79000"/>
            </a:scheme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86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862F1-2333-33DB-B251-8930E3F0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verification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BF3B29-FFC4-A86A-3E59-FE8AE5A0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30" y="1304764"/>
            <a:ext cx="7632340" cy="1877185"/>
          </a:xfrm>
          <a:prstGeom prst="rect">
            <a:avLst/>
          </a:prstGeom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79BE994-2DDF-F5B8-2915-FA5E30D0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3248980"/>
            <a:ext cx="8784976" cy="3240360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In </a:t>
            </a:r>
            <a:r>
              <a:rPr lang="it-IT" dirty="0" err="1"/>
              <a:t>conclusion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Unlike</a:t>
            </a:r>
            <a:r>
              <a:rPr lang="it-IT" dirty="0"/>
              <a:t> IBE PKG, no </a:t>
            </a:r>
            <a:r>
              <a:rPr lang="it-IT" dirty="0" err="1"/>
              <a:t>third</a:t>
            </a:r>
            <a:r>
              <a:rPr lang="it-IT" dirty="0"/>
              <a:t> party </a:t>
            </a:r>
            <a:r>
              <a:rPr lang="it-IT" dirty="0" err="1"/>
              <a:t>knows</a:t>
            </a:r>
            <a:r>
              <a:rPr lang="it-IT" dirty="0"/>
              <a:t> user private keys</a:t>
            </a:r>
          </a:p>
          <a:p>
            <a:pPr lvl="1"/>
            <a:endParaRPr lang="it-IT" dirty="0"/>
          </a:p>
          <a:p>
            <a:r>
              <a:rPr lang="it-IT" dirty="0"/>
              <a:t>Certificates: </a:t>
            </a:r>
            <a:r>
              <a:rPr lang="it-IT" dirty="0" err="1"/>
              <a:t>reduced</a:t>
            </a:r>
            <a:r>
              <a:rPr lang="it-IT" dirty="0"/>
              <a:t> to single (!) group point!!</a:t>
            </a:r>
          </a:p>
          <a:p>
            <a:pPr lvl="1"/>
            <a:r>
              <a:rPr lang="it-IT" dirty="0" err="1"/>
              <a:t>Very</a:t>
            </a:r>
            <a:r>
              <a:rPr lang="it-IT" dirty="0"/>
              <a:t> low </a:t>
            </a:r>
            <a:r>
              <a:rPr lang="it-IT" dirty="0" err="1"/>
              <a:t>transport</a:t>
            </a:r>
            <a:r>
              <a:rPr lang="it-IT" dirty="0"/>
              <a:t> overhead </a:t>
            </a:r>
            <a:r>
              <a:rPr lang="it-IT" dirty="0" err="1"/>
              <a:t>compared</a:t>
            </a:r>
            <a:r>
              <a:rPr lang="it-IT" dirty="0"/>
              <a:t> to </a:t>
            </a:r>
            <a:r>
              <a:rPr lang="it-IT" dirty="0" err="1"/>
              <a:t>traditional</a:t>
            </a:r>
            <a:r>
              <a:rPr lang="it-IT" dirty="0"/>
              <a:t> certificates</a:t>
            </a:r>
          </a:p>
          <a:p>
            <a:pPr lvl="2"/>
            <a:r>
              <a:rPr lang="it-IT" dirty="0"/>
              <a:t>O(40) bytes versus o(1000+) bytes</a:t>
            </a:r>
          </a:p>
          <a:p>
            <a:endParaRPr lang="it-IT" dirty="0"/>
          </a:p>
          <a:p>
            <a:r>
              <a:rPr lang="it-IT" dirty="0"/>
              <a:t>Application in low-</a:t>
            </a:r>
            <a:r>
              <a:rPr lang="it-IT" dirty="0" err="1"/>
              <a:t>resources</a:t>
            </a:r>
            <a:r>
              <a:rPr lang="it-IT" dirty="0"/>
              <a:t> IoT/wireless networks</a:t>
            </a:r>
          </a:p>
          <a:p>
            <a:pPr lvl="1"/>
            <a:r>
              <a:rPr lang="it-IT" dirty="0"/>
              <a:t>See e.g., </a:t>
            </a:r>
            <a:r>
              <a:rPr lang="en-US" dirty="0" err="1"/>
              <a:t>Sciancalepore</a:t>
            </a:r>
            <a:r>
              <a:rPr lang="en-US" dirty="0"/>
              <a:t>, </a:t>
            </a:r>
            <a:r>
              <a:rPr lang="en-US" dirty="0" err="1"/>
              <a:t>Capossele</a:t>
            </a:r>
            <a:r>
              <a:rPr lang="en-US" dirty="0"/>
              <a:t>, Piro, </a:t>
            </a:r>
            <a:r>
              <a:rPr lang="en-US" dirty="0" err="1"/>
              <a:t>Boggia</a:t>
            </a:r>
            <a:r>
              <a:rPr lang="en-US" dirty="0"/>
              <a:t>, Bianchi, </a:t>
            </a:r>
            <a:r>
              <a:rPr lang="en-US" b="1" i="1" dirty="0"/>
              <a:t>Key management protocol with implicit certificates for IoT systems</a:t>
            </a:r>
            <a:r>
              <a:rPr lang="en-US" dirty="0"/>
              <a:t>. 2015 Workshop on IoT challenges in Mobile and Industrial Systems (pp. 37-42).</a:t>
            </a:r>
          </a:p>
          <a:p>
            <a:pPr lvl="1"/>
            <a:r>
              <a:rPr lang="en-US" dirty="0"/>
              <a:t>Used (at that time) only in ZigBee:  </a:t>
            </a:r>
            <a:r>
              <a:rPr lang="en-US" b="1" dirty="0"/>
              <a:t>Certificate Based Key Establishment (CBKE) protocol</a:t>
            </a:r>
            <a:endParaRPr lang="it-IT" b="1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23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A5CFBB-A877-4D93-8491-A30764AFE39C}"/>
</file>

<file path=customXml/itemProps2.xml><?xml version="1.0" encoding="utf-8"?>
<ds:datastoreItem xmlns:ds="http://schemas.openxmlformats.org/officeDocument/2006/customXml" ds:itemID="{1D58FF0D-2B2E-49EA-A7EE-96A659D78CD8}"/>
</file>

<file path=customXml/itemProps3.xml><?xml version="1.0" encoding="utf-8"?>
<ds:datastoreItem xmlns:ds="http://schemas.openxmlformats.org/officeDocument/2006/customXml" ds:itemID="{7D5B1890-3FA3-402A-9616-7047E4D965A4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114</TotalTime>
  <Pages>22</Pages>
  <Words>238</Words>
  <Application>Microsoft Office PowerPoint</Application>
  <PresentationFormat>Presentazione su schermo (4:3)</PresentationFormat>
  <Paragraphs>42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3" baseType="lpstr">
      <vt:lpstr>Arial</vt:lpstr>
      <vt:lpstr>Arial Narrow</vt:lpstr>
      <vt:lpstr>Book Antiqua</vt:lpstr>
      <vt:lpstr>Bookman Old Style</vt:lpstr>
      <vt:lpstr>Comic Sans MS</vt:lpstr>
      <vt:lpstr>Times New Roman</vt:lpstr>
      <vt:lpstr>Wingdings</vt:lpstr>
      <vt:lpstr>214templ</vt:lpstr>
      <vt:lpstr>Presentazione standard di PowerPoint</vt:lpstr>
      <vt:lpstr>IBE discussion</vt:lpstr>
      <vt:lpstr>ECQV</vt:lpstr>
      <vt:lpstr>Initial registration</vt:lpstr>
      <vt:lpstr>verification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619</cp:revision>
  <cp:lastPrinted>1998-04-09T13:49:28Z</cp:lastPrinted>
  <dcterms:created xsi:type="dcterms:W3CDTF">1996-09-11T22:41:56Z</dcterms:created>
  <dcterms:modified xsi:type="dcterms:W3CDTF">2025-01-14T12:51:05Z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