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9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494" r:id="rId2"/>
    <p:sldId id="915" r:id="rId3"/>
    <p:sldId id="717" r:id="rId4"/>
    <p:sldId id="718" r:id="rId5"/>
    <p:sldId id="719" r:id="rId6"/>
    <p:sldId id="720" r:id="rId7"/>
    <p:sldId id="721" r:id="rId8"/>
    <p:sldId id="755" r:id="rId9"/>
    <p:sldId id="757" r:id="rId10"/>
    <p:sldId id="916" r:id="rId11"/>
    <p:sldId id="497" r:id="rId12"/>
    <p:sldId id="498" r:id="rId13"/>
    <p:sldId id="502" r:id="rId14"/>
    <p:sldId id="500" r:id="rId15"/>
    <p:sldId id="501" r:id="rId16"/>
    <p:sldId id="503" r:id="rId17"/>
    <p:sldId id="504" r:id="rId18"/>
    <p:sldId id="495" r:id="rId19"/>
    <p:sldId id="505" r:id="rId20"/>
    <p:sldId id="506" r:id="rId21"/>
    <p:sldId id="507" r:id="rId22"/>
    <p:sldId id="508" r:id="rId23"/>
    <p:sldId id="509" r:id="rId24"/>
    <p:sldId id="510" r:id="rId25"/>
  </p:sldIdLst>
  <p:sldSz cx="12192000" cy="6858000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 userDrawn="1">
          <p15:clr>
            <a:srgbClr val="A4A3A4"/>
          </p15:clr>
        </p15:guide>
        <p15:guide id="2" pos="20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2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bg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C6600"/>
    <a:srgbClr val="53D810"/>
    <a:srgbClr val="33840A"/>
    <a:srgbClr val="008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335" autoAdjust="0"/>
    <p:restoredTop sz="89122" autoAdjust="0"/>
  </p:normalViewPr>
  <p:slideViewPr>
    <p:cSldViewPr showGuides="1">
      <p:cViewPr varScale="1">
        <p:scale>
          <a:sx n="69" d="100"/>
          <a:sy n="69" d="100"/>
        </p:scale>
        <p:origin x="210" y="40"/>
      </p:cViewPr>
      <p:guideLst>
        <p:guide orient="horz" pos="3888"/>
        <p:guide pos="2048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342"/>
    </p:cViewPr>
  </p:sorterViewPr>
  <p:notesViewPr>
    <p:cSldViewPr showGuides="1">
      <p:cViewPr varScale="1">
        <p:scale>
          <a:sx n="38" d="100"/>
          <a:sy n="38" d="100"/>
        </p:scale>
        <p:origin x="-1446" y="-84"/>
      </p:cViewPr>
      <p:guideLst>
        <p:guide orient="horz" pos="3222"/>
        <p:guide pos="2236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12.xml"/><Relationship Id="rId1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>
            <a:extLst>
              <a:ext uri="{FF2B5EF4-FFF2-40B4-BE49-F238E27FC236}">
                <a16:creationId xmlns:a16="http://schemas.microsoft.com/office/drawing/2014/main" id="{EBEFF47E-FDE2-4F04-89C1-57D64932C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9380538"/>
            <a:ext cx="581025" cy="520700"/>
          </a:xfrm>
          <a:prstGeom prst="rect">
            <a:avLst/>
          </a:prstGeom>
          <a:noFill/>
          <a:ln>
            <a:noFill/>
          </a:ln>
        </p:spPr>
        <p:txBody>
          <a:bodyPr wrap="none" lIns="95227" tIns="46777" rIns="95227" bIns="46777">
            <a:spAutoFit/>
          </a:bodyPr>
          <a:lstStyle>
            <a:lvl1pPr defTabSz="963613" eaLnBrk="0" hangingPunct="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defTabSz="963613" eaLnBrk="0" hangingPunct="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defTabSz="963613" eaLnBrk="0" hangingPunct="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defTabSz="963613" eaLnBrk="0" hangingPunct="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defTabSz="963613" eaLnBrk="0" hangingPunct="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defRPr/>
            </a:pPr>
            <a:fld id="{F658F8C4-9DE5-4104-89ED-7B8EF3274CAD}" type="slidenum">
              <a:rPr lang="en-US" altLang="it-IT" sz="2500" smtClean="0">
                <a:latin typeface="Book Antiqua" panose="02040602050305030304" pitchFamily="18" charset="0"/>
              </a:rPr>
              <a:pPr>
                <a:defRPr/>
              </a:pPr>
              <a:t>‹N›</a:t>
            </a:fld>
            <a:endParaRPr lang="en-US" altLang="it-IT" sz="250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14T17:15:55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 1000,'37'-60'392,"-23"41"-328,-1 8-88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14T17:15:55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0 96,'-49'77'40,"47"-68"-40,2-1 0</inkml:trace>
  <inkml:trace contextRef="#ctx0" brushRef="#br0" timeOffset="1">0 94 544,'0'0'416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7B681838-32DA-4C7F-826E-0F1B0A129AF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50813" y="774700"/>
            <a:ext cx="6797675" cy="38242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CCE79C0F-F118-44BD-A043-316B4711039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8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27" tIns="46777" rIns="95227" bIns="467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egnaposto immagine diapositiva 1">
            <a:extLst>
              <a:ext uri="{FF2B5EF4-FFF2-40B4-BE49-F238E27FC236}">
                <a16:creationId xmlns:a16="http://schemas.microsoft.com/office/drawing/2014/main" id="{0E6B7FB0-DE53-4399-B1FD-1B96800526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50813" y="774700"/>
            <a:ext cx="6797675" cy="3824288"/>
          </a:xfrm>
          <a:ln/>
        </p:spPr>
      </p:sp>
      <p:sp>
        <p:nvSpPr>
          <p:cNvPr id="39939" name="Segnaposto note 2">
            <a:extLst>
              <a:ext uri="{FF2B5EF4-FFF2-40B4-BE49-F238E27FC236}">
                <a16:creationId xmlns:a16="http://schemas.microsoft.com/office/drawing/2014/main" id="{3BA19423-32D2-4AC5-AB5B-0841C0505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621261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egnaposto immagine diapositiva 1">
            <a:extLst>
              <a:ext uri="{FF2B5EF4-FFF2-40B4-BE49-F238E27FC236}">
                <a16:creationId xmlns:a16="http://schemas.microsoft.com/office/drawing/2014/main" id="{0E6B7FB0-DE53-4399-B1FD-1B96800526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50813" y="774700"/>
            <a:ext cx="6797675" cy="3824288"/>
          </a:xfrm>
          <a:ln/>
        </p:spPr>
      </p:sp>
      <p:sp>
        <p:nvSpPr>
          <p:cNvPr id="39939" name="Segnaposto note 2">
            <a:extLst>
              <a:ext uri="{FF2B5EF4-FFF2-40B4-BE49-F238E27FC236}">
                <a16:creationId xmlns:a16="http://schemas.microsoft.com/office/drawing/2014/main" id="{3BA19423-32D2-4AC5-AB5B-0841C0505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204563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egnaposto immagine diapositiva 1">
            <a:extLst>
              <a:ext uri="{FF2B5EF4-FFF2-40B4-BE49-F238E27FC236}">
                <a16:creationId xmlns:a16="http://schemas.microsoft.com/office/drawing/2014/main" id="{8CFEB6A2-5A5A-4ABD-924C-5BF2F76157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50813" y="774700"/>
            <a:ext cx="6797675" cy="3824288"/>
          </a:xfrm>
          <a:ln/>
        </p:spPr>
      </p:sp>
      <p:sp>
        <p:nvSpPr>
          <p:cNvPr id="43011" name="Segnaposto note 2">
            <a:extLst>
              <a:ext uri="{FF2B5EF4-FFF2-40B4-BE49-F238E27FC236}">
                <a16:creationId xmlns:a16="http://schemas.microsoft.com/office/drawing/2014/main" id="{2910C696-34FD-4D2D-B194-0E766AD78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egnaposto immagine diapositiva 1">
            <a:extLst>
              <a:ext uri="{FF2B5EF4-FFF2-40B4-BE49-F238E27FC236}">
                <a16:creationId xmlns:a16="http://schemas.microsoft.com/office/drawing/2014/main" id="{E7CCD311-DC5E-4B2E-9685-BB69B92003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50813" y="774700"/>
            <a:ext cx="6797675" cy="3824288"/>
          </a:xfrm>
          <a:ln/>
        </p:spPr>
      </p:sp>
      <p:sp>
        <p:nvSpPr>
          <p:cNvPr id="45059" name="Segnaposto note 2">
            <a:extLst>
              <a:ext uri="{FF2B5EF4-FFF2-40B4-BE49-F238E27FC236}">
                <a16:creationId xmlns:a16="http://schemas.microsoft.com/office/drawing/2014/main" id="{EB0C7B40-1E69-4EF4-B822-E25DCD4E1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egnaposto immagine diapositiva 1">
            <a:extLst>
              <a:ext uri="{FF2B5EF4-FFF2-40B4-BE49-F238E27FC236}">
                <a16:creationId xmlns:a16="http://schemas.microsoft.com/office/drawing/2014/main" id="{F576D2CB-8667-4AB3-B5A8-D20AF2505C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50813" y="774700"/>
            <a:ext cx="6797675" cy="3824288"/>
          </a:xfrm>
          <a:ln/>
        </p:spPr>
      </p:sp>
      <p:sp>
        <p:nvSpPr>
          <p:cNvPr id="47107" name="Segnaposto note 2">
            <a:extLst>
              <a:ext uri="{FF2B5EF4-FFF2-40B4-BE49-F238E27FC236}">
                <a16:creationId xmlns:a16="http://schemas.microsoft.com/office/drawing/2014/main" id="{DC2C4854-D80D-4C29-A8A9-04F2720D5E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egnaposto immagine diapositiva 1">
            <a:extLst>
              <a:ext uri="{FF2B5EF4-FFF2-40B4-BE49-F238E27FC236}">
                <a16:creationId xmlns:a16="http://schemas.microsoft.com/office/drawing/2014/main" id="{F2345B26-9588-49FD-8E60-6E50B5EAE8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50813" y="774700"/>
            <a:ext cx="6797675" cy="3824288"/>
          </a:xfrm>
          <a:ln/>
        </p:spPr>
      </p:sp>
      <p:sp>
        <p:nvSpPr>
          <p:cNvPr id="49155" name="Segnaposto note 2">
            <a:extLst>
              <a:ext uri="{FF2B5EF4-FFF2-40B4-BE49-F238E27FC236}">
                <a16:creationId xmlns:a16="http://schemas.microsoft.com/office/drawing/2014/main" id="{5B4A121C-4B13-4815-B595-8E1CA30D2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egnaposto immagine diapositiva 1">
            <a:extLst>
              <a:ext uri="{FF2B5EF4-FFF2-40B4-BE49-F238E27FC236}">
                <a16:creationId xmlns:a16="http://schemas.microsoft.com/office/drawing/2014/main" id="{3B5797F2-7AE2-4DDB-8DA4-F7D6EB997C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50813" y="774700"/>
            <a:ext cx="6797675" cy="3824288"/>
          </a:xfrm>
          <a:ln/>
        </p:spPr>
      </p:sp>
      <p:sp>
        <p:nvSpPr>
          <p:cNvPr id="51203" name="Segnaposto note 2">
            <a:extLst>
              <a:ext uri="{FF2B5EF4-FFF2-40B4-BE49-F238E27FC236}">
                <a16:creationId xmlns:a16="http://schemas.microsoft.com/office/drawing/2014/main" id="{1ABADE12-086E-46E7-975E-CD5BFC4C30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egnaposto immagine diapositiva 1">
            <a:extLst>
              <a:ext uri="{FF2B5EF4-FFF2-40B4-BE49-F238E27FC236}">
                <a16:creationId xmlns:a16="http://schemas.microsoft.com/office/drawing/2014/main" id="{1E7E36AB-0EDE-4C90-9E73-24E08138A1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50813" y="774700"/>
            <a:ext cx="6797675" cy="3824288"/>
          </a:xfrm>
          <a:ln/>
        </p:spPr>
      </p:sp>
      <p:sp>
        <p:nvSpPr>
          <p:cNvPr id="53251" name="Segnaposto note 2">
            <a:extLst>
              <a:ext uri="{FF2B5EF4-FFF2-40B4-BE49-F238E27FC236}">
                <a16:creationId xmlns:a16="http://schemas.microsoft.com/office/drawing/2014/main" id="{CEFE1ED1-ED3F-47CD-92AE-4642A1FD4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egnaposto immagine diapositiva 1">
            <a:extLst>
              <a:ext uri="{FF2B5EF4-FFF2-40B4-BE49-F238E27FC236}">
                <a16:creationId xmlns:a16="http://schemas.microsoft.com/office/drawing/2014/main" id="{4489044C-244A-40AE-A7B9-2F8750557D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50813" y="774700"/>
            <a:ext cx="6797675" cy="3824288"/>
          </a:xfrm>
          <a:ln/>
        </p:spPr>
      </p:sp>
      <p:sp>
        <p:nvSpPr>
          <p:cNvPr id="55299" name="Segnaposto note 2">
            <a:extLst>
              <a:ext uri="{FF2B5EF4-FFF2-40B4-BE49-F238E27FC236}">
                <a16:creationId xmlns:a16="http://schemas.microsoft.com/office/drawing/2014/main" id="{5EF9090E-DFB4-4D53-A059-576414AC2B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egnaposto immagine diapositiva 1">
            <a:extLst>
              <a:ext uri="{FF2B5EF4-FFF2-40B4-BE49-F238E27FC236}">
                <a16:creationId xmlns:a16="http://schemas.microsoft.com/office/drawing/2014/main" id="{4BF6A705-F063-4775-992B-CC630305D6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50813" y="774700"/>
            <a:ext cx="6797675" cy="3824288"/>
          </a:xfrm>
          <a:ln/>
        </p:spPr>
      </p:sp>
      <p:sp>
        <p:nvSpPr>
          <p:cNvPr id="57347" name="Segnaposto note 2">
            <a:extLst>
              <a:ext uri="{FF2B5EF4-FFF2-40B4-BE49-F238E27FC236}">
                <a16:creationId xmlns:a16="http://schemas.microsoft.com/office/drawing/2014/main" id="{88B5C9E9-57A6-4CBA-B2D9-39E18231A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egnaposto immagine diapositiva 1">
            <a:extLst>
              <a:ext uri="{FF2B5EF4-FFF2-40B4-BE49-F238E27FC236}">
                <a16:creationId xmlns:a16="http://schemas.microsoft.com/office/drawing/2014/main" id="{3647C026-2246-4AFC-B9A8-AB321CC20F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50813" y="774700"/>
            <a:ext cx="6797675" cy="3824288"/>
          </a:xfrm>
          <a:ln/>
        </p:spPr>
      </p:sp>
      <p:sp>
        <p:nvSpPr>
          <p:cNvPr id="59395" name="Segnaposto note 2">
            <a:extLst>
              <a:ext uri="{FF2B5EF4-FFF2-40B4-BE49-F238E27FC236}">
                <a16:creationId xmlns:a16="http://schemas.microsoft.com/office/drawing/2014/main" id="{29A807CA-69BE-4D4C-8CB9-6C5D61B02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egnaposto immagine diapositiva 1">
            <a:extLst>
              <a:ext uri="{FF2B5EF4-FFF2-40B4-BE49-F238E27FC236}">
                <a16:creationId xmlns:a16="http://schemas.microsoft.com/office/drawing/2014/main" id="{6B92D3C6-F4AA-484B-978E-1B8925BF30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50813" y="774700"/>
            <a:ext cx="6797675" cy="3824288"/>
          </a:xfrm>
          <a:ln/>
        </p:spPr>
      </p:sp>
      <p:sp>
        <p:nvSpPr>
          <p:cNvPr id="61443" name="Segnaposto note 2">
            <a:extLst>
              <a:ext uri="{FF2B5EF4-FFF2-40B4-BE49-F238E27FC236}">
                <a16:creationId xmlns:a16="http://schemas.microsoft.com/office/drawing/2014/main" id="{D8B7368B-933D-429B-BD07-A5407BA0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egnaposto immagine diapositiva 1">
            <a:extLst>
              <a:ext uri="{FF2B5EF4-FFF2-40B4-BE49-F238E27FC236}">
                <a16:creationId xmlns:a16="http://schemas.microsoft.com/office/drawing/2014/main" id="{7ABFBD51-8177-43ED-9347-B39D04F8DD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50813" y="774700"/>
            <a:ext cx="6797675" cy="3824288"/>
          </a:xfrm>
          <a:ln/>
        </p:spPr>
      </p:sp>
      <p:sp>
        <p:nvSpPr>
          <p:cNvPr id="63491" name="Segnaposto note 2">
            <a:extLst>
              <a:ext uri="{FF2B5EF4-FFF2-40B4-BE49-F238E27FC236}">
                <a16:creationId xmlns:a16="http://schemas.microsoft.com/office/drawing/2014/main" id="{DF218105-5D76-4341-B605-CD645BDBF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egnaposto immagine diapositiva 1">
            <a:extLst>
              <a:ext uri="{FF2B5EF4-FFF2-40B4-BE49-F238E27FC236}">
                <a16:creationId xmlns:a16="http://schemas.microsoft.com/office/drawing/2014/main" id="{5FA956F7-FB36-4315-9EBF-EC1FAA3103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50813" y="774700"/>
            <a:ext cx="6797675" cy="3824288"/>
          </a:xfrm>
          <a:ln/>
        </p:spPr>
      </p:sp>
      <p:sp>
        <p:nvSpPr>
          <p:cNvPr id="65539" name="Segnaposto note 2">
            <a:extLst>
              <a:ext uri="{FF2B5EF4-FFF2-40B4-BE49-F238E27FC236}">
                <a16:creationId xmlns:a16="http://schemas.microsoft.com/office/drawing/2014/main" id="{528430D5-1C50-4D2F-AFA3-7BBD613C2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egnaposto immagine diapositiva 1">
            <a:extLst>
              <a:ext uri="{FF2B5EF4-FFF2-40B4-BE49-F238E27FC236}">
                <a16:creationId xmlns:a16="http://schemas.microsoft.com/office/drawing/2014/main" id="{8D26FDA1-2BE4-4891-8D8F-6082763640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50813" y="774700"/>
            <a:ext cx="6797675" cy="3824288"/>
          </a:xfrm>
          <a:ln/>
        </p:spPr>
      </p:sp>
      <p:sp>
        <p:nvSpPr>
          <p:cNvPr id="67587" name="Segnaposto note 2">
            <a:extLst>
              <a:ext uri="{FF2B5EF4-FFF2-40B4-BE49-F238E27FC236}">
                <a16:creationId xmlns:a16="http://schemas.microsoft.com/office/drawing/2014/main" id="{95F86C72-3566-4381-8925-A19DDDB09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egnaposto immagine diapositiva 1">
            <a:extLst>
              <a:ext uri="{FF2B5EF4-FFF2-40B4-BE49-F238E27FC236}">
                <a16:creationId xmlns:a16="http://schemas.microsoft.com/office/drawing/2014/main" id="{AAA17589-72EA-49D4-A0F5-D654F6CE00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50813" y="774700"/>
            <a:ext cx="6797675" cy="3824288"/>
          </a:xfrm>
          <a:ln/>
        </p:spPr>
      </p:sp>
      <p:sp>
        <p:nvSpPr>
          <p:cNvPr id="69635" name="Segnaposto note 2">
            <a:extLst>
              <a:ext uri="{FF2B5EF4-FFF2-40B4-BE49-F238E27FC236}">
                <a16:creationId xmlns:a16="http://schemas.microsoft.com/office/drawing/2014/main" id="{911FD567-54A4-465E-AB56-277387B422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689193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639333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569608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914400" y="1125538"/>
            <a:ext cx="5029200" cy="4970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46800" y="1125538"/>
            <a:ext cx="5029200" cy="4970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538631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4274736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3074344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2276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804162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859311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733269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610600" y="225426"/>
            <a:ext cx="2565400" cy="587057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914400" y="225426"/>
            <a:ext cx="7493000" cy="587057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90409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>
            <a:extLst>
              <a:ext uri="{FF2B5EF4-FFF2-40B4-BE49-F238E27FC236}">
                <a16:creationId xmlns:a16="http://schemas.microsoft.com/office/drawing/2014/main" id="{8840DEB6-3DD0-4B33-8EBC-91982F4C6B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125538"/>
            <a:ext cx="10261600" cy="497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text styles</a:t>
            </a:r>
          </a:p>
          <a:p>
            <a:pPr lvl="1"/>
            <a:r>
              <a:rPr lang="en-US" altLang="it-IT"/>
              <a:t>Second Level</a:t>
            </a:r>
          </a:p>
          <a:p>
            <a:pPr lvl="2"/>
            <a:r>
              <a:rPr lang="en-US" altLang="it-IT"/>
              <a:t>Third Level</a:t>
            </a:r>
          </a:p>
          <a:p>
            <a:pPr lvl="3"/>
            <a:r>
              <a:rPr lang="en-US" altLang="it-IT"/>
              <a:t>Fourth Level</a:t>
            </a:r>
          </a:p>
          <a:p>
            <a:pPr lvl="4"/>
            <a:r>
              <a:rPr lang="en-US" altLang="it-IT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B5E92C7-0712-4AEC-B758-C005CBBDF0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225425"/>
            <a:ext cx="10261600" cy="64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5FF28DD7-8000-4B7A-B866-E2BF0500BC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6324600"/>
            <a:ext cx="2641600" cy="3635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lIns="90488" tIns="44450" rIns="90488" bIns="44450" anchor="ctr" anchorCtr="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it-IT">
                <a:latin typeface="Arial" pitchFamily="34" charset="0"/>
              </a:rPr>
              <a:t>Giuseppe Bianchi </a:t>
            </a:r>
          </a:p>
        </p:txBody>
      </p:sp>
      <p:sp>
        <p:nvSpPr>
          <p:cNvPr id="1029" name="Line 6">
            <a:extLst>
              <a:ext uri="{FF2B5EF4-FFF2-40B4-BE49-F238E27FC236}">
                <a16:creationId xmlns:a16="http://schemas.microsoft.com/office/drawing/2014/main" id="{795C90EE-DB68-493F-AD4B-A5FF48C97818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6477000"/>
            <a:ext cx="91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0" name="Line 7">
            <a:extLst>
              <a:ext uri="{FF2B5EF4-FFF2-40B4-BE49-F238E27FC236}">
                <a16:creationId xmlns:a16="http://schemas.microsoft.com/office/drawing/2014/main" id="{03D8B44C-D87E-4101-9F5D-B609E5C4361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6477000"/>
            <a:ext cx="7010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1" name="Line 8">
            <a:extLst>
              <a:ext uri="{FF2B5EF4-FFF2-40B4-BE49-F238E27FC236}">
                <a16:creationId xmlns:a16="http://schemas.microsoft.com/office/drawing/2014/main" id="{89288298-64D7-41BF-B2C0-C32C1C753608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6553200"/>
            <a:ext cx="91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2" name="Line 9">
            <a:extLst>
              <a:ext uri="{FF2B5EF4-FFF2-40B4-BE49-F238E27FC236}">
                <a16:creationId xmlns:a16="http://schemas.microsoft.com/office/drawing/2014/main" id="{97B1BD83-745E-411B-A61D-5A790C891A1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6553200"/>
            <a:ext cx="7010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è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ð"/>
        <a:defRPr sz="3200">
          <a:solidFill>
            <a:schemeClr val="tx1"/>
          </a:solidFill>
          <a:latin typeface="Arial Narrow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à"/>
        <a:defRPr sz="2800">
          <a:solidFill>
            <a:schemeClr val="tx1"/>
          </a:solidFill>
          <a:latin typeface="Times New Roman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wmf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customXml" Target="../ink/ink1.xml"/><Relationship Id="rId7" Type="http://schemas.openxmlformats.org/officeDocument/2006/relationships/image" Target="../media/image13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1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saac.cs.berkeley.edu/isaac/gsm-faq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informatik.uni-trier.de/~ley/db/indices/a-tree/t/Tinguely:Stephane.html" TargetMode="External"/><Relationship Id="rId5" Type="http://schemas.openxmlformats.org/officeDocument/2006/relationships/hyperlink" Target="http://www.informatik.uni-trier.de/~ley/db/indices/a-tree/s/Scherzer:Helmut.html" TargetMode="External"/><Relationship Id="rId4" Type="http://schemas.openxmlformats.org/officeDocument/2006/relationships/hyperlink" Target="http://www.informatik.uni-trier.de/~ley/db/indices/a-tree/r/Rohatgi:Pankaj.html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586" name="Rectangle 2">
            <a:extLst>
              <a:ext uri="{FF2B5EF4-FFF2-40B4-BE49-F238E27FC236}">
                <a16:creationId xmlns:a16="http://schemas.microsoft.com/office/drawing/2014/main" id="{071757FB-8B4B-4032-8BBE-6C7951EFA28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sz="4000" dirty="0"/>
              <a:t>Security in Wireless Cellular systems</a:t>
            </a:r>
            <a:br>
              <a:rPr lang="it-IT" sz="4000" dirty="0"/>
            </a:br>
            <a:br>
              <a:rPr lang="it-IT" sz="3200" dirty="0"/>
            </a:br>
            <a:r>
              <a:rPr lang="it-IT" sz="3200" dirty="0"/>
              <a:t>(focus limited to authentication, </a:t>
            </a:r>
            <a:r>
              <a:rPr lang="it-IT" sz="3200" dirty="0" err="1"/>
              <a:t>at</a:t>
            </a:r>
            <a:r>
              <a:rPr lang="it-IT" sz="3200" dirty="0"/>
              <a:t> </a:t>
            </a:r>
            <a:r>
              <a:rPr lang="it-IT" sz="3200" dirty="0" err="1"/>
              <a:t>this</a:t>
            </a:r>
            <a:r>
              <a:rPr lang="it-IT" sz="3200" dirty="0"/>
              <a:t> stage)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B77F15C-178C-4C2B-9449-0E3AACF1F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75456"/>
            <a:ext cx="10261600" cy="649288"/>
          </a:xfrm>
        </p:spPr>
        <p:txBody>
          <a:bodyPr/>
          <a:lstStyle/>
          <a:p>
            <a:pPr>
              <a:defRPr/>
            </a:pPr>
            <a:r>
              <a:rPr lang="it-IT" dirty="0"/>
              <a:t>Architecture of wireless </a:t>
            </a:r>
            <a:r>
              <a:rPr lang="it-IT" dirty="0" err="1"/>
              <a:t>cellular</a:t>
            </a:r>
            <a:r>
              <a:rPr lang="it-IT" dirty="0"/>
              <a:t> systems (</a:t>
            </a:r>
            <a:r>
              <a:rPr lang="it-IT" dirty="0" err="1"/>
              <a:t>abstracted</a:t>
            </a:r>
            <a:r>
              <a:rPr lang="it-IT" dirty="0"/>
              <a:t>)</a:t>
            </a:r>
          </a:p>
        </p:txBody>
      </p:sp>
      <p:pic>
        <p:nvPicPr>
          <p:cNvPr id="40963" name="Immagine 4" descr="Immagine che contiene testo&#10;&#10;Descrizione generata automaticamente">
            <a:extLst>
              <a:ext uri="{FF2B5EF4-FFF2-40B4-BE49-F238E27FC236}">
                <a16:creationId xmlns:a16="http://schemas.microsoft.com/office/drawing/2014/main" id="{9575A50E-E4C5-47F7-AE72-3C8A8714E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288" y="1791531"/>
            <a:ext cx="8458200" cy="124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4" name="Oval 186">
            <a:extLst>
              <a:ext uri="{FF2B5EF4-FFF2-40B4-BE49-F238E27FC236}">
                <a16:creationId xmlns:a16="http://schemas.microsoft.com/office/drawing/2014/main" id="{2F5387A3-00AE-4CA0-944C-0ACBDB74D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9350" y="3519489"/>
            <a:ext cx="1981200" cy="1951037"/>
          </a:xfrm>
          <a:prstGeom prst="ellipse">
            <a:avLst/>
          </a:prstGeom>
          <a:solidFill>
            <a:srgbClr val="99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40965" name="Line 187">
            <a:extLst>
              <a:ext uri="{FF2B5EF4-FFF2-40B4-BE49-F238E27FC236}">
                <a16:creationId xmlns:a16="http://schemas.microsoft.com/office/drawing/2014/main" id="{DAD7FCB8-9EE4-46F1-A54E-A65784AB4DC1}"/>
              </a:ext>
            </a:extLst>
          </p:cNvPr>
          <p:cNvSpPr>
            <a:spLocks noChangeShapeType="1"/>
          </p:cNvSpPr>
          <p:nvPr/>
        </p:nvSpPr>
        <p:spPr bwMode="auto">
          <a:xfrm>
            <a:off x="5673726" y="4386263"/>
            <a:ext cx="1368425" cy="1508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grpSp>
        <p:nvGrpSpPr>
          <p:cNvPr id="40966" name="Group 190">
            <a:extLst>
              <a:ext uri="{FF2B5EF4-FFF2-40B4-BE49-F238E27FC236}">
                <a16:creationId xmlns:a16="http://schemas.microsoft.com/office/drawing/2014/main" id="{FC324710-3350-4958-8ADA-15DCCAFECDC2}"/>
              </a:ext>
            </a:extLst>
          </p:cNvPr>
          <p:cNvGrpSpPr>
            <a:grpSpLocks/>
          </p:cNvGrpSpPr>
          <p:nvPr/>
        </p:nvGrpSpPr>
        <p:grpSpPr bwMode="auto">
          <a:xfrm>
            <a:off x="1835150" y="4200525"/>
            <a:ext cx="534988" cy="393700"/>
            <a:chOff x="1091" y="504"/>
            <a:chExt cx="337" cy="288"/>
          </a:xfrm>
        </p:grpSpPr>
        <p:sp>
          <p:nvSpPr>
            <p:cNvPr id="41165" name="Freeform 191">
              <a:extLst>
                <a:ext uri="{FF2B5EF4-FFF2-40B4-BE49-F238E27FC236}">
                  <a16:creationId xmlns:a16="http://schemas.microsoft.com/office/drawing/2014/main" id="{883A62D3-07C7-4403-94CA-7F55E9D21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1" y="776"/>
              <a:ext cx="236" cy="16"/>
            </a:xfrm>
            <a:custGeom>
              <a:avLst/>
              <a:gdLst>
                <a:gd name="T0" fmla="*/ 0 w 236"/>
                <a:gd name="T1" fmla="*/ 16 h 16"/>
                <a:gd name="T2" fmla="*/ 236 w 236"/>
                <a:gd name="T3" fmla="*/ 16 h 16"/>
                <a:gd name="T4" fmla="*/ 236 w 236"/>
                <a:gd name="T5" fmla="*/ 0 h 16"/>
                <a:gd name="T6" fmla="*/ 0 w 236"/>
                <a:gd name="T7" fmla="*/ 0 h 16"/>
                <a:gd name="T8" fmla="*/ 0 w 236"/>
                <a:gd name="T9" fmla="*/ 16 h 16"/>
                <a:gd name="T10" fmla="*/ 0 w 236"/>
                <a:gd name="T11" fmla="*/ 16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36"/>
                <a:gd name="T19" fmla="*/ 0 h 16"/>
                <a:gd name="T20" fmla="*/ 236 w 236"/>
                <a:gd name="T21" fmla="*/ 16 h 1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36" h="16">
                  <a:moveTo>
                    <a:pt x="0" y="16"/>
                  </a:moveTo>
                  <a:lnTo>
                    <a:pt x="236" y="16"/>
                  </a:lnTo>
                  <a:lnTo>
                    <a:pt x="236" y="0"/>
                  </a:lnTo>
                  <a:lnTo>
                    <a:pt x="0" y="0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AAD8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166" name="Freeform 192">
              <a:extLst>
                <a:ext uri="{FF2B5EF4-FFF2-40B4-BE49-F238E27FC236}">
                  <a16:creationId xmlns:a16="http://schemas.microsoft.com/office/drawing/2014/main" id="{3F674B55-01AA-42D3-A21F-2E41A149BB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1" y="714"/>
              <a:ext cx="326" cy="62"/>
            </a:xfrm>
            <a:custGeom>
              <a:avLst/>
              <a:gdLst>
                <a:gd name="T0" fmla="*/ 236 w 326"/>
                <a:gd name="T1" fmla="*/ 62 h 62"/>
                <a:gd name="T2" fmla="*/ 326 w 326"/>
                <a:gd name="T3" fmla="*/ 0 h 62"/>
                <a:gd name="T4" fmla="*/ 89 w 326"/>
                <a:gd name="T5" fmla="*/ 0 h 62"/>
                <a:gd name="T6" fmla="*/ 0 w 326"/>
                <a:gd name="T7" fmla="*/ 62 h 62"/>
                <a:gd name="T8" fmla="*/ 236 w 326"/>
                <a:gd name="T9" fmla="*/ 62 h 62"/>
                <a:gd name="T10" fmla="*/ 236 w 326"/>
                <a:gd name="T11" fmla="*/ 62 h 6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26"/>
                <a:gd name="T19" fmla="*/ 0 h 62"/>
                <a:gd name="T20" fmla="*/ 326 w 326"/>
                <a:gd name="T21" fmla="*/ 62 h 6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26" h="62">
                  <a:moveTo>
                    <a:pt x="236" y="62"/>
                  </a:moveTo>
                  <a:lnTo>
                    <a:pt x="326" y="0"/>
                  </a:lnTo>
                  <a:lnTo>
                    <a:pt x="89" y="0"/>
                  </a:lnTo>
                  <a:lnTo>
                    <a:pt x="0" y="62"/>
                  </a:lnTo>
                  <a:lnTo>
                    <a:pt x="236" y="62"/>
                  </a:lnTo>
                  <a:close/>
                </a:path>
              </a:pathLst>
            </a:custGeom>
            <a:solidFill>
              <a:srgbClr val="D3E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167" name="Freeform 193">
              <a:extLst>
                <a:ext uri="{FF2B5EF4-FFF2-40B4-BE49-F238E27FC236}">
                  <a16:creationId xmlns:a16="http://schemas.microsoft.com/office/drawing/2014/main" id="{2202364D-323E-4997-A01B-EFC5BA1951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0" y="511"/>
              <a:ext cx="237" cy="203"/>
            </a:xfrm>
            <a:custGeom>
              <a:avLst/>
              <a:gdLst>
                <a:gd name="T0" fmla="*/ 0 w 237"/>
                <a:gd name="T1" fmla="*/ 0 h 203"/>
                <a:gd name="T2" fmla="*/ 237 w 237"/>
                <a:gd name="T3" fmla="*/ 0 h 203"/>
                <a:gd name="T4" fmla="*/ 237 w 237"/>
                <a:gd name="T5" fmla="*/ 203 h 203"/>
                <a:gd name="T6" fmla="*/ 0 w 237"/>
                <a:gd name="T7" fmla="*/ 203 h 203"/>
                <a:gd name="T8" fmla="*/ 0 w 237"/>
                <a:gd name="T9" fmla="*/ 0 h 203"/>
                <a:gd name="T10" fmla="*/ 0 w 237"/>
                <a:gd name="T11" fmla="*/ 0 h 20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37"/>
                <a:gd name="T19" fmla="*/ 0 h 203"/>
                <a:gd name="T20" fmla="*/ 237 w 237"/>
                <a:gd name="T21" fmla="*/ 203 h 20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37" h="203">
                  <a:moveTo>
                    <a:pt x="0" y="0"/>
                  </a:moveTo>
                  <a:lnTo>
                    <a:pt x="237" y="0"/>
                  </a:lnTo>
                  <a:lnTo>
                    <a:pt x="237" y="203"/>
                  </a:lnTo>
                  <a:lnTo>
                    <a:pt x="0" y="2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AD8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168" name="Freeform 194">
              <a:extLst>
                <a:ext uri="{FF2B5EF4-FFF2-40B4-BE49-F238E27FC236}">
                  <a16:creationId xmlns:a16="http://schemas.microsoft.com/office/drawing/2014/main" id="{2E7F5660-03F3-40E0-88D9-808A20427D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2" y="535"/>
              <a:ext cx="191" cy="158"/>
            </a:xfrm>
            <a:custGeom>
              <a:avLst/>
              <a:gdLst>
                <a:gd name="T0" fmla="*/ 0 w 191"/>
                <a:gd name="T1" fmla="*/ 0 h 158"/>
                <a:gd name="T2" fmla="*/ 191 w 191"/>
                <a:gd name="T3" fmla="*/ 0 h 158"/>
                <a:gd name="T4" fmla="*/ 191 w 191"/>
                <a:gd name="T5" fmla="*/ 158 h 158"/>
                <a:gd name="T6" fmla="*/ 0 w 191"/>
                <a:gd name="T7" fmla="*/ 158 h 158"/>
                <a:gd name="T8" fmla="*/ 0 w 191"/>
                <a:gd name="T9" fmla="*/ 0 h 158"/>
                <a:gd name="T10" fmla="*/ 0 w 191"/>
                <a:gd name="T11" fmla="*/ 0 h 15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91"/>
                <a:gd name="T19" fmla="*/ 0 h 158"/>
                <a:gd name="T20" fmla="*/ 191 w 191"/>
                <a:gd name="T21" fmla="*/ 158 h 15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91" h="158">
                  <a:moveTo>
                    <a:pt x="0" y="0"/>
                  </a:moveTo>
                  <a:lnTo>
                    <a:pt x="191" y="0"/>
                  </a:lnTo>
                  <a:lnTo>
                    <a:pt x="191" y="158"/>
                  </a:lnTo>
                  <a:lnTo>
                    <a:pt x="0" y="1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2C5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169" name="Freeform 195">
              <a:extLst>
                <a:ext uri="{FF2B5EF4-FFF2-40B4-BE49-F238E27FC236}">
                  <a16:creationId xmlns:a16="http://schemas.microsoft.com/office/drawing/2014/main" id="{FCC0DDFD-4419-4F13-9F50-A2D31468E6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2" y="535"/>
              <a:ext cx="14" cy="158"/>
            </a:xfrm>
            <a:custGeom>
              <a:avLst/>
              <a:gdLst>
                <a:gd name="T0" fmla="*/ 0 w 14"/>
                <a:gd name="T1" fmla="*/ 0 h 158"/>
                <a:gd name="T2" fmla="*/ 0 w 14"/>
                <a:gd name="T3" fmla="*/ 158 h 158"/>
                <a:gd name="T4" fmla="*/ 14 w 14"/>
                <a:gd name="T5" fmla="*/ 144 h 158"/>
                <a:gd name="T6" fmla="*/ 14 w 14"/>
                <a:gd name="T7" fmla="*/ 0 h 158"/>
                <a:gd name="T8" fmla="*/ 0 w 14"/>
                <a:gd name="T9" fmla="*/ 0 h 158"/>
                <a:gd name="T10" fmla="*/ 0 w 14"/>
                <a:gd name="T11" fmla="*/ 0 h 15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4"/>
                <a:gd name="T19" fmla="*/ 0 h 158"/>
                <a:gd name="T20" fmla="*/ 14 w 14"/>
                <a:gd name="T21" fmla="*/ 158 h 15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4" h="158">
                  <a:moveTo>
                    <a:pt x="0" y="0"/>
                  </a:moveTo>
                  <a:lnTo>
                    <a:pt x="0" y="158"/>
                  </a:lnTo>
                  <a:lnTo>
                    <a:pt x="14" y="144"/>
                  </a:lnTo>
                  <a:lnTo>
                    <a:pt x="1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2C5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170" name="Freeform 196">
              <a:extLst>
                <a:ext uri="{FF2B5EF4-FFF2-40B4-BE49-F238E27FC236}">
                  <a16:creationId xmlns:a16="http://schemas.microsoft.com/office/drawing/2014/main" id="{45997E61-7D07-49E6-B589-8D73852C12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2" y="679"/>
              <a:ext cx="191" cy="14"/>
            </a:xfrm>
            <a:custGeom>
              <a:avLst/>
              <a:gdLst>
                <a:gd name="T0" fmla="*/ 191 w 191"/>
                <a:gd name="T1" fmla="*/ 0 h 14"/>
                <a:gd name="T2" fmla="*/ 14 w 191"/>
                <a:gd name="T3" fmla="*/ 0 h 14"/>
                <a:gd name="T4" fmla="*/ 0 w 191"/>
                <a:gd name="T5" fmla="*/ 14 h 14"/>
                <a:gd name="T6" fmla="*/ 191 w 191"/>
                <a:gd name="T7" fmla="*/ 14 h 14"/>
                <a:gd name="T8" fmla="*/ 191 w 191"/>
                <a:gd name="T9" fmla="*/ 0 h 14"/>
                <a:gd name="T10" fmla="*/ 191 w 191"/>
                <a:gd name="T11" fmla="*/ 0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91"/>
                <a:gd name="T19" fmla="*/ 0 h 14"/>
                <a:gd name="T20" fmla="*/ 191 w 191"/>
                <a:gd name="T21" fmla="*/ 14 h 1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91" h="14">
                  <a:moveTo>
                    <a:pt x="191" y="0"/>
                  </a:moveTo>
                  <a:lnTo>
                    <a:pt x="14" y="0"/>
                  </a:lnTo>
                  <a:lnTo>
                    <a:pt x="0" y="14"/>
                  </a:lnTo>
                  <a:lnTo>
                    <a:pt x="191" y="14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D3E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171" name="Freeform 197">
              <a:extLst>
                <a:ext uri="{FF2B5EF4-FFF2-40B4-BE49-F238E27FC236}">
                  <a16:creationId xmlns:a16="http://schemas.microsoft.com/office/drawing/2014/main" id="{C80FD028-12E0-40D7-A2DF-AFAE52FFBA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0" y="504"/>
              <a:ext cx="248" cy="7"/>
            </a:xfrm>
            <a:custGeom>
              <a:avLst/>
              <a:gdLst>
                <a:gd name="T0" fmla="*/ 237 w 248"/>
                <a:gd name="T1" fmla="*/ 7 h 7"/>
                <a:gd name="T2" fmla="*/ 248 w 248"/>
                <a:gd name="T3" fmla="*/ 0 h 7"/>
                <a:gd name="T4" fmla="*/ 12 w 248"/>
                <a:gd name="T5" fmla="*/ 0 h 7"/>
                <a:gd name="T6" fmla="*/ 0 w 248"/>
                <a:gd name="T7" fmla="*/ 7 h 7"/>
                <a:gd name="T8" fmla="*/ 237 w 248"/>
                <a:gd name="T9" fmla="*/ 7 h 7"/>
                <a:gd name="T10" fmla="*/ 237 w 248"/>
                <a:gd name="T11" fmla="*/ 7 h 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48"/>
                <a:gd name="T19" fmla="*/ 0 h 7"/>
                <a:gd name="T20" fmla="*/ 248 w 248"/>
                <a:gd name="T21" fmla="*/ 7 h 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48" h="7">
                  <a:moveTo>
                    <a:pt x="237" y="7"/>
                  </a:moveTo>
                  <a:lnTo>
                    <a:pt x="248" y="0"/>
                  </a:lnTo>
                  <a:lnTo>
                    <a:pt x="12" y="0"/>
                  </a:lnTo>
                  <a:lnTo>
                    <a:pt x="0" y="7"/>
                  </a:lnTo>
                  <a:lnTo>
                    <a:pt x="237" y="7"/>
                  </a:lnTo>
                  <a:close/>
                </a:path>
              </a:pathLst>
            </a:custGeom>
            <a:solidFill>
              <a:srgbClr val="D3E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172" name="Freeform 198">
              <a:extLst>
                <a:ext uri="{FF2B5EF4-FFF2-40B4-BE49-F238E27FC236}">
                  <a16:creationId xmlns:a16="http://schemas.microsoft.com/office/drawing/2014/main" id="{A2A8FD0A-43EB-49CC-8F44-9092EC38E8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7" y="504"/>
              <a:ext cx="11" cy="210"/>
            </a:xfrm>
            <a:custGeom>
              <a:avLst/>
              <a:gdLst>
                <a:gd name="T0" fmla="*/ 0 w 11"/>
                <a:gd name="T1" fmla="*/ 210 h 210"/>
                <a:gd name="T2" fmla="*/ 11 w 11"/>
                <a:gd name="T3" fmla="*/ 203 h 210"/>
                <a:gd name="T4" fmla="*/ 11 w 11"/>
                <a:gd name="T5" fmla="*/ 0 h 210"/>
                <a:gd name="T6" fmla="*/ 0 w 11"/>
                <a:gd name="T7" fmla="*/ 7 h 210"/>
                <a:gd name="T8" fmla="*/ 0 w 11"/>
                <a:gd name="T9" fmla="*/ 210 h 210"/>
                <a:gd name="T10" fmla="*/ 0 w 11"/>
                <a:gd name="T11" fmla="*/ 210 h 2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1"/>
                <a:gd name="T19" fmla="*/ 0 h 210"/>
                <a:gd name="T20" fmla="*/ 11 w 11"/>
                <a:gd name="T21" fmla="*/ 210 h 21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1" h="210">
                  <a:moveTo>
                    <a:pt x="0" y="210"/>
                  </a:moveTo>
                  <a:lnTo>
                    <a:pt x="11" y="203"/>
                  </a:lnTo>
                  <a:lnTo>
                    <a:pt x="11" y="0"/>
                  </a:lnTo>
                  <a:lnTo>
                    <a:pt x="0" y="7"/>
                  </a:lnTo>
                  <a:lnTo>
                    <a:pt x="0" y="210"/>
                  </a:lnTo>
                  <a:close/>
                </a:path>
              </a:pathLst>
            </a:custGeom>
            <a:solidFill>
              <a:srgbClr val="82C5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173" name="Freeform 199">
              <a:extLst>
                <a:ext uri="{FF2B5EF4-FFF2-40B4-BE49-F238E27FC236}">
                  <a16:creationId xmlns:a16="http://schemas.microsoft.com/office/drawing/2014/main" id="{BA4E7717-13E2-4EB4-B284-C579EDB551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9" y="535"/>
              <a:ext cx="184" cy="151"/>
            </a:xfrm>
            <a:custGeom>
              <a:avLst/>
              <a:gdLst>
                <a:gd name="T0" fmla="*/ 0 w 184"/>
                <a:gd name="T1" fmla="*/ 0 h 151"/>
                <a:gd name="T2" fmla="*/ 184 w 184"/>
                <a:gd name="T3" fmla="*/ 0 h 151"/>
                <a:gd name="T4" fmla="*/ 184 w 184"/>
                <a:gd name="T5" fmla="*/ 151 h 151"/>
                <a:gd name="T6" fmla="*/ 0 w 184"/>
                <a:gd name="T7" fmla="*/ 151 h 151"/>
                <a:gd name="T8" fmla="*/ 0 w 184"/>
                <a:gd name="T9" fmla="*/ 0 h 151"/>
                <a:gd name="T10" fmla="*/ 0 w 184"/>
                <a:gd name="T11" fmla="*/ 0 h 15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84"/>
                <a:gd name="T19" fmla="*/ 0 h 151"/>
                <a:gd name="T20" fmla="*/ 184 w 184"/>
                <a:gd name="T21" fmla="*/ 151 h 15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84" h="151">
                  <a:moveTo>
                    <a:pt x="0" y="0"/>
                  </a:moveTo>
                  <a:lnTo>
                    <a:pt x="184" y="0"/>
                  </a:lnTo>
                  <a:lnTo>
                    <a:pt x="184" y="151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B3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174" name="Freeform 200">
              <a:extLst>
                <a:ext uri="{FF2B5EF4-FFF2-40B4-BE49-F238E27FC236}">
                  <a16:creationId xmlns:a16="http://schemas.microsoft.com/office/drawing/2014/main" id="{DFE7CE46-0A3C-4D55-B52F-AD3BDA8F4E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7" y="714"/>
              <a:ext cx="90" cy="78"/>
            </a:xfrm>
            <a:custGeom>
              <a:avLst/>
              <a:gdLst>
                <a:gd name="T0" fmla="*/ 0 w 90"/>
                <a:gd name="T1" fmla="*/ 78 h 78"/>
                <a:gd name="T2" fmla="*/ 90 w 90"/>
                <a:gd name="T3" fmla="*/ 17 h 78"/>
                <a:gd name="T4" fmla="*/ 90 w 90"/>
                <a:gd name="T5" fmla="*/ 0 h 78"/>
                <a:gd name="T6" fmla="*/ 0 w 90"/>
                <a:gd name="T7" fmla="*/ 62 h 78"/>
                <a:gd name="T8" fmla="*/ 0 w 90"/>
                <a:gd name="T9" fmla="*/ 78 h 78"/>
                <a:gd name="T10" fmla="*/ 0 w 90"/>
                <a:gd name="T11" fmla="*/ 78 h 7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0"/>
                <a:gd name="T19" fmla="*/ 0 h 78"/>
                <a:gd name="T20" fmla="*/ 90 w 90"/>
                <a:gd name="T21" fmla="*/ 78 h 7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0" h="78">
                  <a:moveTo>
                    <a:pt x="0" y="78"/>
                  </a:moveTo>
                  <a:lnTo>
                    <a:pt x="90" y="17"/>
                  </a:lnTo>
                  <a:lnTo>
                    <a:pt x="90" y="0"/>
                  </a:lnTo>
                  <a:lnTo>
                    <a:pt x="0" y="62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rgbClr val="82C5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175" name="Freeform 201">
              <a:extLst>
                <a:ext uri="{FF2B5EF4-FFF2-40B4-BE49-F238E27FC236}">
                  <a16:creationId xmlns:a16="http://schemas.microsoft.com/office/drawing/2014/main" id="{3C0967E2-3B08-427D-A20B-5F8643639C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6" y="757"/>
              <a:ext cx="206" cy="5"/>
            </a:xfrm>
            <a:custGeom>
              <a:avLst/>
              <a:gdLst>
                <a:gd name="T0" fmla="*/ 201 w 206"/>
                <a:gd name="T1" fmla="*/ 5 h 5"/>
                <a:gd name="T2" fmla="*/ 206 w 206"/>
                <a:gd name="T3" fmla="*/ 0 h 5"/>
                <a:gd name="T4" fmla="*/ 7 w 206"/>
                <a:gd name="T5" fmla="*/ 0 h 5"/>
                <a:gd name="T6" fmla="*/ 0 w 206"/>
                <a:gd name="T7" fmla="*/ 5 h 5"/>
                <a:gd name="T8" fmla="*/ 201 w 206"/>
                <a:gd name="T9" fmla="*/ 5 h 5"/>
                <a:gd name="T10" fmla="*/ 201 w 206"/>
                <a:gd name="T11" fmla="*/ 5 h 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06"/>
                <a:gd name="T19" fmla="*/ 0 h 5"/>
                <a:gd name="T20" fmla="*/ 206 w 206"/>
                <a:gd name="T21" fmla="*/ 5 h 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06" h="5">
                  <a:moveTo>
                    <a:pt x="201" y="5"/>
                  </a:moveTo>
                  <a:lnTo>
                    <a:pt x="206" y="0"/>
                  </a:lnTo>
                  <a:lnTo>
                    <a:pt x="7" y="0"/>
                  </a:lnTo>
                  <a:lnTo>
                    <a:pt x="0" y="5"/>
                  </a:lnTo>
                  <a:lnTo>
                    <a:pt x="201" y="5"/>
                  </a:lnTo>
                  <a:close/>
                </a:path>
              </a:pathLst>
            </a:custGeom>
            <a:solidFill>
              <a:srgbClr val="AAD8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176" name="Freeform 202">
              <a:extLst>
                <a:ext uri="{FF2B5EF4-FFF2-40B4-BE49-F238E27FC236}">
                  <a16:creationId xmlns:a16="http://schemas.microsoft.com/office/drawing/2014/main" id="{A38A4074-2E43-4D37-8F1E-FEF755D237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6" y="762"/>
              <a:ext cx="201" cy="4"/>
            </a:xfrm>
            <a:custGeom>
              <a:avLst/>
              <a:gdLst>
                <a:gd name="T0" fmla="*/ 0 w 201"/>
                <a:gd name="T1" fmla="*/ 4 h 4"/>
                <a:gd name="T2" fmla="*/ 201 w 201"/>
                <a:gd name="T3" fmla="*/ 4 h 4"/>
                <a:gd name="T4" fmla="*/ 201 w 201"/>
                <a:gd name="T5" fmla="*/ 0 h 4"/>
                <a:gd name="T6" fmla="*/ 0 w 201"/>
                <a:gd name="T7" fmla="*/ 0 h 4"/>
                <a:gd name="T8" fmla="*/ 0 w 201"/>
                <a:gd name="T9" fmla="*/ 4 h 4"/>
                <a:gd name="T10" fmla="*/ 0 w 201"/>
                <a:gd name="T11" fmla="*/ 4 h 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01"/>
                <a:gd name="T19" fmla="*/ 0 h 4"/>
                <a:gd name="T20" fmla="*/ 201 w 201"/>
                <a:gd name="T21" fmla="*/ 4 h 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01" h="4">
                  <a:moveTo>
                    <a:pt x="0" y="4"/>
                  </a:moveTo>
                  <a:lnTo>
                    <a:pt x="201" y="4"/>
                  </a:lnTo>
                  <a:lnTo>
                    <a:pt x="201" y="0"/>
                  </a:lnTo>
                  <a:lnTo>
                    <a:pt x="0" y="0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82C5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177" name="Freeform 203">
              <a:extLst>
                <a:ext uri="{FF2B5EF4-FFF2-40B4-BE49-F238E27FC236}">
                  <a16:creationId xmlns:a16="http://schemas.microsoft.com/office/drawing/2014/main" id="{BEF18244-20F8-452E-A89A-CD691160F8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7" y="757"/>
              <a:ext cx="5" cy="9"/>
            </a:xfrm>
            <a:custGeom>
              <a:avLst/>
              <a:gdLst>
                <a:gd name="T0" fmla="*/ 0 w 5"/>
                <a:gd name="T1" fmla="*/ 9 h 9"/>
                <a:gd name="T2" fmla="*/ 5 w 5"/>
                <a:gd name="T3" fmla="*/ 5 h 9"/>
                <a:gd name="T4" fmla="*/ 5 w 5"/>
                <a:gd name="T5" fmla="*/ 0 h 9"/>
                <a:gd name="T6" fmla="*/ 0 w 5"/>
                <a:gd name="T7" fmla="*/ 5 h 9"/>
                <a:gd name="T8" fmla="*/ 0 w 5"/>
                <a:gd name="T9" fmla="*/ 9 h 9"/>
                <a:gd name="T10" fmla="*/ 0 w 5"/>
                <a:gd name="T11" fmla="*/ 9 h 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"/>
                <a:gd name="T19" fmla="*/ 0 h 9"/>
                <a:gd name="T20" fmla="*/ 5 w 5"/>
                <a:gd name="T21" fmla="*/ 9 h 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" h="9">
                  <a:moveTo>
                    <a:pt x="0" y="9"/>
                  </a:moveTo>
                  <a:lnTo>
                    <a:pt x="5" y="5"/>
                  </a:lnTo>
                  <a:lnTo>
                    <a:pt x="5" y="0"/>
                  </a:lnTo>
                  <a:lnTo>
                    <a:pt x="0" y="5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5CB3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178" name="Freeform 204">
              <a:extLst>
                <a:ext uri="{FF2B5EF4-FFF2-40B4-BE49-F238E27FC236}">
                  <a16:creationId xmlns:a16="http://schemas.microsoft.com/office/drawing/2014/main" id="{5DAE7F8C-0201-4CF0-9168-EEAD6DA52C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8" y="750"/>
              <a:ext cx="205" cy="2"/>
            </a:xfrm>
            <a:custGeom>
              <a:avLst/>
              <a:gdLst>
                <a:gd name="T0" fmla="*/ 201 w 205"/>
                <a:gd name="T1" fmla="*/ 2 h 2"/>
                <a:gd name="T2" fmla="*/ 205 w 205"/>
                <a:gd name="T3" fmla="*/ 0 h 2"/>
                <a:gd name="T4" fmla="*/ 7 w 205"/>
                <a:gd name="T5" fmla="*/ 0 h 2"/>
                <a:gd name="T6" fmla="*/ 0 w 205"/>
                <a:gd name="T7" fmla="*/ 2 h 2"/>
                <a:gd name="T8" fmla="*/ 201 w 205"/>
                <a:gd name="T9" fmla="*/ 2 h 2"/>
                <a:gd name="T10" fmla="*/ 201 w 205"/>
                <a:gd name="T11" fmla="*/ 2 h 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05"/>
                <a:gd name="T19" fmla="*/ 0 h 2"/>
                <a:gd name="T20" fmla="*/ 205 w 205"/>
                <a:gd name="T21" fmla="*/ 2 h 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05" h="2">
                  <a:moveTo>
                    <a:pt x="201" y="2"/>
                  </a:moveTo>
                  <a:lnTo>
                    <a:pt x="205" y="0"/>
                  </a:lnTo>
                  <a:lnTo>
                    <a:pt x="7" y="0"/>
                  </a:lnTo>
                  <a:lnTo>
                    <a:pt x="0" y="2"/>
                  </a:lnTo>
                  <a:lnTo>
                    <a:pt x="201" y="2"/>
                  </a:lnTo>
                  <a:close/>
                </a:path>
              </a:pathLst>
            </a:custGeom>
            <a:solidFill>
              <a:srgbClr val="AAD8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179" name="Freeform 205">
              <a:extLst>
                <a:ext uri="{FF2B5EF4-FFF2-40B4-BE49-F238E27FC236}">
                  <a16:creationId xmlns:a16="http://schemas.microsoft.com/office/drawing/2014/main" id="{7685ADE1-8379-4982-A4F8-461C3B00D3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8" y="752"/>
              <a:ext cx="201" cy="5"/>
            </a:xfrm>
            <a:custGeom>
              <a:avLst/>
              <a:gdLst>
                <a:gd name="T0" fmla="*/ 0 w 201"/>
                <a:gd name="T1" fmla="*/ 5 h 5"/>
                <a:gd name="T2" fmla="*/ 201 w 201"/>
                <a:gd name="T3" fmla="*/ 5 h 5"/>
                <a:gd name="T4" fmla="*/ 201 w 201"/>
                <a:gd name="T5" fmla="*/ 0 h 5"/>
                <a:gd name="T6" fmla="*/ 0 w 201"/>
                <a:gd name="T7" fmla="*/ 0 h 5"/>
                <a:gd name="T8" fmla="*/ 0 w 201"/>
                <a:gd name="T9" fmla="*/ 5 h 5"/>
                <a:gd name="T10" fmla="*/ 0 w 201"/>
                <a:gd name="T11" fmla="*/ 5 h 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01"/>
                <a:gd name="T19" fmla="*/ 0 h 5"/>
                <a:gd name="T20" fmla="*/ 201 w 201"/>
                <a:gd name="T21" fmla="*/ 5 h 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01" h="5">
                  <a:moveTo>
                    <a:pt x="0" y="5"/>
                  </a:moveTo>
                  <a:lnTo>
                    <a:pt x="201" y="5"/>
                  </a:lnTo>
                  <a:lnTo>
                    <a:pt x="201" y="0"/>
                  </a:lnTo>
                  <a:lnTo>
                    <a:pt x="0" y="0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82C5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180" name="Freeform 206">
              <a:extLst>
                <a:ext uri="{FF2B5EF4-FFF2-40B4-BE49-F238E27FC236}">
                  <a16:creationId xmlns:a16="http://schemas.microsoft.com/office/drawing/2014/main" id="{A7EE7DEA-8F2C-4D39-876A-9DCA1882EE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9" y="750"/>
              <a:ext cx="4" cy="7"/>
            </a:xfrm>
            <a:custGeom>
              <a:avLst/>
              <a:gdLst>
                <a:gd name="T0" fmla="*/ 0 w 4"/>
                <a:gd name="T1" fmla="*/ 7 h 7"/>
                <a:gd name="T2" fmla="*/ 4 w 4"/>
                <a:gd name="T3" fmla="*/ 4 h 7"/>
                <a:gd name="T4" fmla="*/ 4 w 4"/>
                <a:gd name="T5" fmla="*/ 0 h 7"/>
                <a:gd name="T6" fmla="*/ 0 w 4"/>
                <a:gd name="T7" fmla="*/ 2 h 7"/>
                <a:gd name="T8" fmla="*/ 0 w 4"/>
                <a:gd name="T9" fmla="*/ 7 h 7"/>
                <a:gd name="T10" fmla="*/ 0 w 4"/>
                <a:gd name="T11" fmla="*/ 7 h 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"/>
                <a:gd name="T19" fmla="*/ 0 h 7"/>
                <a:gd name="T20" fmla="*/ 4 w 4"/>
                <a:gd name="T21" fmla="*/ 7 h 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" h="7">
                  <a:moveTo>
                    <a:pt x="0" y="7"/>
                  </a:moveTo>
                  <a:lnTo>
                    <a:pt x="4" y="4"/>
                  </a:lnTo>
                  <a:lnTo>
                    <a:pt x="4" y="0"/>
                  </a:lnTo>
                  <a:lnTo>
                    <a:pt x="0" y="2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5CB3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181" name="Freeform 207">
              <a:extLst>
                <a:ext uri="{FF2B5EF4-FFF2-40B4-BE49-F238E27FC236}">
                  <a16:creationId xmlns:a16="http://schemas.microsoft.com/office/drawing/2014/main" id="{A5C2758A-FA11-4528-8F3D-9C11270F8A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2" y="740"/>
              <a:ext cx="203" cy="5"/>
            </a:xfrm>
            <a:custGeom>
              <a:avLst/>
              <a:gdLst>
                <a:gd name="T0" fmla="*/ 199 w 203"/>
                <a:gd name="T1" fmla="*/ 5 h 5"/>
                <a:gd name="T2" fmla="*/ 203 w 203"/>
                <a:gd name="T3" fmla="*/ 0 h 5"/>
                <a:gd name="T4" fmla="*/ 5 w 203"/>
                <a:gd name="T5" fmla="*/ 0 h 5"/>
                <a:gd name="T6" fmla="*/ 0 w 203"/>
                <a:gd name="T7" fmla="*/ 5 h 5"/>
                <a:gd name="T8" fmla="*/ 199 w 203"/>
                <a:gd name="T9" fmla="*/ 5 h 5"/>
                <a:gd name="T10" fmla="*/ 199 w 203"/>
                <a:gd name="T11" fmla="*/ 5 h 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03"/>
                <a:gd name="T19" fmla="*/ 0 h 5"/>
                <a:gd name="T20" fmla="*/ 203 w 203"/>
                <a:gd name="T21" fmla="*/ 5 h 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03" h="5">
                  <a:moveTo>
                    <a:pt x="199" y="5"/>
                  </a:moveTo>
                  <a:lnTo>
                    <a:pt x="203" y="0"/>
                  </a:lnTo>
                  <a:lnTo>
                    <a:pt x="5" y="0"/>
                  </a:lnTo>
                  <a:lnTo>
                    <a:pt x="0" y="5"/>
                  </a:lnTo>
                  <a:lnTo>
                    <a:pt x="199" y="5"/>
                  </a:lnTo>
                  <a:close/>
                </a:path>
              </a:pathLst>
            </a:custGeom>
            <a:solidFill>
              <a:srgbClr val="AAD8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182" name="Freeform 208">
              <a:extLst>
                <a:ext uri="{FF2B5EF4-FFF2-40B4-BE49-F238E27FC236}">
                  <a16:creationId xmlns:a16="http://schemas.microsoft.com/office/drawing/2014/main" id="{894FFD74-59F5-4A44-874B-5E18FDA179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2" y="745"/>
              <a:ext cx="199" cy="5"/>
            </a:xfrm>
            <a:custGeom>
              <a:avLst/>
              <a:gdLst>
                <a:gd name="T0" fmla="*/ 0 w 199"/>
                <a:gd name="T1" fmla="*/ 5 h 5"/>
                <a:gd name="T2" fmla="*/ 199 w 199"/>
                <a:gd name="T3" fmla="*/ 5 h 5"/>
                <a:gd name="T4" fmla="*/ 199 w 199"/>
                <a:gd name="T5" fmla="*/ 0 h 5"/>
                <a:gd name="T6" fmla="*/ 0 w 199"/>
                <a:gd name="T7" fmla="*/ 0 h 5"/>
                <a:gd name="T8" fmla="*/ 0 w 199"/>
                <a:gd name="T9" fmla="*/ 5 h 5"/>
                <a:gd name="T10" fmla="*/ 0 w 199"/>
                <a:gd name="T11" fmla="*/ 5 h 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99"/>
                <a:gd name="T19" fmla="*/ 0 h 5"/>
                <a:gd name="T20" fmla="*/ 199 w 199"/>
                <a:gd name="T21" fmla="*/ 5 h 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99" h="5">
                  <a:moveTo>
                    <a:pt x="0" y="5"/>
                  </a:moveTo>
                  <a:lnTo>
                    <a:pt x="199" y="5"/>
                  </a:lnTo>
                  <a:lnTo>
                    <a:pt x="199" y="0"/>
                  </a:lnTo>
                  <a:lnTo>
                    <a:pt x="0" y="0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82C5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183" name="Freeform 209">
              <a:extLst>
                <a:ext uri="{FF2B5EF4-FFF2-40B4-BE49-F238E27FC236}">
                  <a16:creationId xmlns:a16="http://schemas.microsoft.com/office/drawing/2014/main" id="{EAECF36A-D15D-4C01-BC7B-CEDC30377E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1" y="740"/>
              <a:ext cx="4" cy="10"/>
            </a:xfrm>
            <a:custGeom>
              <a:avLst/>
              <a:gdLst>
                <a:gd name="T0" fmla="*/ 0 w 4"/>
                <a:gd name="T1" fmla="*/ 10 h 10"/>
                <a:gd name="T2" fmla="*/ 4 w 4"/>
                <a:gd name="T3" fmla="*/ 5 h 10"/>
                <a:gd name="T4" fmla="*/ 4 w 4"/>
                <a:gd name="T5" fmla="*/ 0 h 10"/>
                <a:gd name="T6" fmla="*/ 0 w 4"/>
                <a:gd name="T7" fmla="*/ 5 h 10"/>
                <a:gd name="T8" fmla="*/ 0 w 4"/>
                <a:gd name="T9" fmla="*/ 10 h 10"/>
                <a:gd name="T10" fmla="*/ 0 w 4"/>
                <a:gd name="T11" fmla="*/ 10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"/>
                <a:gd name="T19" fmla="*/ 0 h 10"/>
                <a:gd name="T20" fmla="*/ 4 w 4"/>
                <a:gd name="T21" fmla="*/ 10 h 1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" h="10">
                  <a:moveTo>
                    <a:pt x="0" y="10"/>
                  </a:moveTo>
                  <a:lnTo>
                    <a:pt x="4" y="5"/>
                  </a:lnTo>
                  <a:lnTo>
                    <a:pt x="4" y="0"/>
                  </a:lnTo>
                  <a:lnTo>
                    <a:pt x="0" y="5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5CB3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184" name="Freeform 210">
              <a:extLst>
                <a:ext uri="{FF2B5EF4-FFF2-40B4-BE49-F238E27FC236}">
                  <a16:creationId xmlns:a16="http://schemas.microsoft.com/office/drawing/2014/main" id="{32C9E05E-C524-4A8A-8C03-7B6B741339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" y="733"/>
              <a:ext cx="205" cy="2"/>
            </a:xfrm>
            <a:custGeom>
              <a:avLst/>
              <a:gdLst>
                <a:gd name="T0" fmla="*/ 198 w 205"/>
                <a:gd name="T1" fmla="*/ 2 h 2"/>
                <a:gd name="T2" fmla="*/ 205 w 205"/>
                <a:gd name="T3" fmla="*/ 0 h 2"/>
                <a:gd name="T4" fmla="*/ 5 w 205"/>
                <a:gd name="T5" fmla="*/ 0 h 2"/>
                <a:gd name="T6" fmla="*/ 0 w 205"/>
                <a:gd name="T7" fmla="*/ 2 h 2"/>
                <a:gd name="T8" fmla="*/ 198 w 205"/>
                <a:gd name="T9" fmla="*/ 2 h 2"/>
                <a:gd name="T10" fmla="*/ 198 w 205"/>
                <a:gd name="T11" fmla="*/ 2 h 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05"/>
                <a:gd name="T19" fmla="*/ 0 h 2"/>
                <a:gd name="T20" fmla="*/ 205 w 205"/>
                <a:gd name="T21" fmla="*/ 2 h 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05" h="2">
                  <a:moveTo>
                    <a:pt x="198" y="2"/>
                  </a:moveTo>
                  <a:lnTo>
                    <a:pt x="205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198" y="2"/>
                  </a:lnTo>
                  <a:close/>
                </a:path>
              </a:pathLst>
            </a:custGeom>
            <a:solidFill>
              <a:srgbClr val="AAD8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185" name="Freeform 211">
              <a:extLst>
                <a:ext uri="{FF2B5EF4-FFF2-40B4-BE49-F238E27FC236}">
                  <a16:creationId xmlns:a16="http://schemas.microsoft.com/office/drawing/2014/main" id="{3D7FAB56-AC66-4510-BBD6-B6448DF24E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" y="735"/>
              <a:ext cx="198" cy="5"/>
            </a:xfrm>
            <a:custGeom>
              <a:avLst/>
              <a:gdLst>
                <a:gd name="T0" fmla="*/ 0 w 198"/>
                <a:gd name="T1" fmla="*/ 5 h 5"/>
                <a:gd name="T2" fmla="*/ 198 w 198"/>
                <a:gd name="T3" fmla="*/ 5 h 5"/>
                <a:gd name="T4" fmla="*/ 198 w 198"/>
                <a:gd name="T5" fmla="*/ 0 h 5"/>
                <a:gd name="T6" fmla="*/ 0 w 198"/>
                <a:gd name="T7" fmla="*/ 0 h 5"/>
                <a:gd name="T8" fmla="*/ 0 w 198"/>
                <a:gd name="T9" fmla="*/ 5 h 5"/>
                <a:gd name="T10" fmla="*/ 0 w 198"/>
                <a:gd name="T11" fmla="*/ 5 h 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98"/>
                <a:gd name="T19" fmla="*/ 0 h 5"/>
                <a:gd name="T20" fmla="*/ 198 w 198"/>
                <a:gd name="T21" fmla="*/ 5 h 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98" h="5">
                  <a:moveTo>
                    <a:pt x="0" y="5"/>
                  </a:moveTo>
                  <a:lnTo>
                    <a:pt x="198" y="5"/>
                  </a:lnTo>
                  <a:lnTo>
                    <a:pt x="198" y="0"/>
                  </a:lnTo>
                  <a:lnTo>
                    <a:pt x="0" y="0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82C5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186" name="Freeform 212">
              <a:extLst>
                <a:ext uri="{FF2B5EF4-FFF2-40B4-BE49-F238E27FC236}">
                  <a16:creationId xmlns:a16="http://schemas.microsoft.com/office/drawing/2014/main" id="{905FA5D7-3905-4B0E-9BFD-EDC3359333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" y="733"/>
              <a:ext cx="7" cy="7"/>
            </a:xfrm>
            <a:custGeom>
              <a:avLst/>
              <a:gdLst>
                <a:gd name="T0" fmla="*/ 0 w 7"/>
                <a:gd name="T1" fmla="*/ 7 h 7"/>
                <a:gd name="T2" fmla="*/ 7 w 7"/>
                <a:gd name="T3" fmla="*/ 5 h 7"/>
                <a:gd name="T4" fmla="*/ 7 w 7"/>
                <a:gd name="T5" fmla="*/ 0 h 7"/>
                <a:gd name="T6" fmla="*/ 0 w 7"/>
                <a:gd name="T7" fmla="*/ 2 h 7"/>
                <a:gd name="T8" fmla="*/ 0 w 7"/>
                <a:gd name="T9" fmla="*/ 7 h 7"/>
                <a:gd name="T10" fmla="*/ 0 w 7"/>
                <a:gd name="T11" fmla="*/ 7 h 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"/>
                <a:gd name="T19" fmla="*/ 0 h 7"/>
                <a:gd name="T20" fmla="*/ 7 w 7"/>
                <a:gd name="T21" fmla="*/ 7 h 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" h="7">
                  <a:moveTo>
                    <a:pt x="0" y="7"/>
                  </a:moveTo>
                  <a:lnTo>
                    <a:pt x="7" y="5"/>
                  </a:lnTo>
                  <a:lnTo>
                    <a:pt x="7" y="0"/>
                  </a:lnTo>
                  <a:lnTo>
                    <a:pt x="0" y="2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5CB3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187" name="Freeform 213">
              <a:extLst>
                <a:ext uri="{FF2B5EF4-FFF2-40B4-BE49-F238E27FC236}">
                  <a16:creationId xmlns:a16="http://schemas.microsoft.com/office/drawing/2014/main" id="{A7EDCC79-41C3-4587-A79C-C1D8D0ACF4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6" y="724"/>
              <a:ext cx="205" cy="4"/>
            </a:xfrm>
            <a:custGeom>
              <a:avLst/>
              <a:gdLst>
                <a:gd name="T0" fmla="*/ 198 w 205"/>
                <a:gd name="T1" fmla="*/ 4 h 4"/>
                <a:gd name="T2" fmla="*/ 205 w 205"/>
                <a:gd name="T3" fmla="*/ 0 h 4"/>
                <a:gd name="T4" fmla="*/ 7 w 205"/>
                <a:gd name="T5" fmla="*/ 0 h 4"/>
                <a:gd name="T6" fmla="*/ 0 w 205"/>
                <a:gd name="T7" fmla="*/ 4 h 4"/>
                <a:gd name="T8" fmla="*/ 198 w 205"/>
                <a:gd name="T9" fmla="*/ 4 h 4"/>
                <a:gd name="T10" fmla="*/ 198 w 205"/>
                <a:gd name="T11" fmla="*/ 4 h 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05"/>
                <a:gd name="T19" fmla="*/ 0 h 4"/>
                <a:gd name="T20" fmla="*/ 205 w 205"/>
                <a:gd name="T21" fmla="*/ 4 h 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05" h="4">
                  <a:moveTo>
                    <a:pt x="198" y="4"/>
                  </a:moveTo>
                  <a:lnTo>
                    <a:pt x="205" y="0"/>
                  </a:lnTo>
                  <a:lnTo>
                    <a:pt x="7" y="0"/>
                  </a:lnTo>
                  <a:lnTo>
                    <a:pt x="0" y="4"/>
                  </a:lnTo>
                  <a:lnTo>
                    <a:pt x="198" y="4"/>
                  </a:lnTo>
                  <a:close/>
                </a:path>
              </a:pathLst>
            </a:custGeom>
            <a:solidFill>
              <a:srgbClr val="AAD8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188" name="Freeform 214">
              <a:extLst>
                <a:ext uri="{FF2B5EF4-FFF2-40B4-BE49-F238E27FC236}">
                  <a16:creationId xmlns:a16="http://schemas.microsoft.com/office/drawing/2014/main" id="{52D8B87D-E193-4C18-B3D3-C59D0E35C0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6" y="728"/>
              <a:ext cx="198" cy="5"/>
            </a:xfrm>
            <a:custGeom>
              <a:avLst/>
              <a:gdLst>
                <a:gd name="T0" fmla="*/ 0 w 198"/>
                <a:gd name="T1" fmla="*/ 5 h 5"/>
                <a:gd name="T2" fmla="*/ 198 w 198"/>
                <a:gd name="T3" fmla="*/ 5 h 5"/>
                <a:gd name="T4" fmla="*/ 198 w 198"/>
                <a:gd name="T5" fmla="*/ 0 h 5"/>
                <a:gd name="T6" fmla="*/ 0 w 198"/>
                <a:gd name="T7" fmla="*/ 0 h 5"/>
                <a:gd name="T8" fmla="*/ 0 w 198"/>
                <a:gd name="T9" fmla="*/ 5 h 5"/>
                <a:gd name="T10" fmla="*/ 0 w 198"/>
                <a:gd name="T11" fmla="*/ 5 h 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98"/>
                <a:gd name="T19" fmla="*/ 0 h 5"/>
                <a:gd name="T20" fmla="*/ 198 w 198"/>
                <a:gd name="T21" fmla="*/ 5 h 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98" h="5">
                  <a:moveTo>
                    <a:pt x="0" y="5"/>
                  </a:moveTo>
                  <a:lnTo>
                    <a:pt x="198" y="5"/>
                  </a:lnTo>
                  <a:lnTo>
                    <a:pt x="198" y="0"/>
                  </a:lnTo>
                  <a:lnTo>
                    <a:pt x="0" y="0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82C5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189" name="Freeform 215">
              <a:extLst>
                <a:ext uri="{FF2B5EF4-FFF2-40B4-BE49-F238E27FC236}">
                  <a16:creationId xmlns:a16="http://schemas.microsoft.com/office/drawing/2014/main" id="{D68B91B8-D235-4CBF-8E8C-C9E7281253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4" y="724"/>
              <a:ext cx="7" cy="9"/>
            </a:xfrm>
            <a:custGeom>
              <a:avLst/>
              <a:gdLst>
                <a:gd name="T0" fmla="*/ 0 w 7"/>
                <a:gd name="T1" fmla="*/ 9 h 9"/>
                <a:gd name="T2" fmla="*/ 7 w 7"/>
                <a:gd name="T3" fmla="*/ 4 h 9"/>
                <a:gd name="T4" fmla="*/ 7 w 7"/>
                <a:gd name="T5" fmla="*/ 0 h 9"/>
                <a:gd name="T6" fmla="*/ 0 w 7"/>
                <a:gd name="T7" fmla="*/ 4 h 9"/>
                <a:gd name="T8" fmla="*/ 0 w 7"/>
                <a:gd name="T9" fmla="*/ 9 h 9"/>
                <a:gd name="T10" fmla="*/ 0 w 7"/>
                <a:gd name="T11" fmla="*/ 9 h 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"/>
                <a:gd name="T19" fmla="*/ 0 h 9"/>
                <a:gd name="T20" fmla="*/ 7 w 7"/>
                <a:gd name="T21" fmla="*/ 9 h 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" h="9">
                  <a:moveTo>
                    <a:pt x="0" y="9"/>
                  </a:moveTo>
                  <a:lnTo>
                    <a:pt x="7" y="4"/>
                  </a:lnTo>
                  <a:lnTo>
                    <a:pt x="7" y="0"/>
                  </a:lnTo>
                  <a:lnTo>
                    <a:pt x="0" y="4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5CB3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40967" name="Oval 216">
            <a:extLst>
              <a:ext uri="{FF2B5EF4-FFF2-40B4-BE49-F238E27FC236}">
                <a16:creationId xmlns:a16="http://schemas.microsoft.com/office/drawing/2014/main" id="{8A842276-9279-47AB-8A38-5E25305EA5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0" y="3400426"/>
            <a:ext cx="2490788" cy="2081213"/>
          </a:xfrm>
          <a:prstGeom prst="ellipse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40968" name="Rectangle 217">
            <a:extLst>
              <a:ext uri="{FF2B5EF4-FFF2-40B4-BE49-F238E27FC236}">
                <a16:creationId xmlns:a16="http://schemas.microsoft.com/office/drawing/2014/main" id="{AF9530DF-A23E-4A4C-8C63-6E4E51FEE5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3050" y="4044951"/>
            <a:ext cx="73025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endParaRPr lang="en-US" altLang="it-IT" sz="1000" b="0">
              <a:latin typeface="Trebuchet MS" panose="020B0603020202020204" pitchFamily="34" charset="0"/>
            </a:endParaRPr>
          </a:p>
        </p:txBody>
      </p:sp>
      <p:sp>
        <p:nvSpPr>
          <p:cNvPr id="40969" name="Oval 218">
            <a:extLst>
              <a:ext uri="{FF2B5EF4-FFF2-40B4-BE49-F238E27FC236}">
                <a16:creationId xmlns:a16="http://schemas.microsoft.com/office/drawing/2014/main" id="{44046CA3-478A-4D90-9767-46E1B4975C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0650" y="3729038"/>
            <a:ext cx="1219200" cy="525462"/>
          </a:xfrm>
          <a:prstGeom prst="ellips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pic>
        <p:nvPicPr>
          <p:cNvPr id="40970" name="Picture 219" descr="towerorigtrans">
            <a:extLst>
              <a:ext uri="{FF2B5EF4-FFF2-40B4-BE49-F238E27FC236}">
                <a16:creationId xmlns:a16="http://schemas.microsoft.com/office/drawing/2014/main" id="{C1E83CF8-5566-42A5-8804-2C7187B036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9251" y="3597276"/>
            <a:ext cx="328613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71" name="Oval 221">
            <a:extLst>
              <a:ext uri="{FF2B5EF4-FFF2-40B4-BE49-F238E27FC236}">
                <a16:creationId xmlns:a16="http://schemas.microsoft.com/office/drawing/2014/main" id="{74652581-6EDB-4BF6-B11B-784EC27633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0650" y="4649788"/>
            <a:ext cx="1219200" cy="525462"/>
          </a:xfrm>
          <a:prstGeom prst="ellips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pic>
        <p:nvPicPr>
          <p:cNvPr id="40972" name="Picture 222" descr="towerorigtrans">
            <a:extLst>
              <a:ext uri="{FF2B5EF4-FFF2-40B4-BE49-F238E27FC236}">
                <a16:creationId xmlns:a16="http://schemas.microsoft.com/office/drawing/2014/main" id="{E4539509-153E-472C-B46E-EDA03EA125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9251" y="4518026"/>
            <a:ext cx="328613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73" name="Text Box 223">
            <a:extLst>
              <a:ext uri="{FF2B5EF4-FFF2-40B4-BE49-F238E27FC236}">
                <a16:creationId xmlns:a16="http://schemas.microsoft.com/office/drawing/2014/main" id="{94CB87FA-C1F6-4994-B624-6580ED254F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6589" y="4535488"/>
            <a:ext cx="185737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it-IT" sz="1200">
              <a:latin typeface="Trebuchet MS" panose="020B0603020202020204" pitchFamily="34" charset="0"/>
            </a:endParaRPr>
          </a:p>
        </p:txBody>
      </p:sp>
      <p:sp>
        <p:nvSpPr>
          <p:cNvPr id="40974" name="Line 224">
            <a:extLst>
              <a:ext uri="{FF2B5EF4-FFF2-40B4-BE49-F238E27FC236}">
                <a16:creationId xmlns:a16="http://schemas.microsoft.com/office/drawing/2014/main" id="{05CA2914-804B-48BB-91BC-333F2F870CFD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0250" y="3925889"/>
            <a:ext cx="1066800" cy="3952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0975" name="Line 225">
            <a:extLst>
              <a:ext uri="{FF2B5EF4-FFF2-40B4-BE49-F238E27FC236}">
                <a16:creationId xmlns:a16="http://schemas.microsoft.com/office/drawing/2014/main" id="{940614D0-C7C6-46E1-AEBF-3185339FEA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46450" y="4452938"/>
            <a:ext cx="990600" cy="393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grpSp>
        <p:nvGrpSpPr>
          <p:cNvPr id="40976" name="Group 226">
            <a:extLst>
              <a:ext uri="{FF2B5EF4-FFF2-40B4-BE49-F238E27FC236}">
                <a16:creationId xmlns:a16="http://schemas.microsoft.com/office/drawing/2014/main" id="{BE58FE97-E074-4971-89C0-4A2571CB9762}"/>
              </a:ext>
            </a:extLst>
          </p:cNvPr>
          <p:cNvGrpSpPr>
            <a:grpSpLocks/>
          </p:cNvGrpSpPr>
          <p:nvPr/>
        </p:nvGrpSpPr>
        <p:grpSpPr bwMode="auto">
          <a:xfrm>
            <a:off x="3117851" y="3860800"/>
            <a:ext cx="352425" cy="203200"/>
            <a:chOff x="4506" y="3107"/>
            <a:chExt cx="300" cy="241"/>
          </a:xfrm>
        </p:grpSpPr>
        <p:sp>
          <p:nvSpPr>
            <p:cNvPr id="41156" name="Freeform 227">
              <a:extLst>
                <a:ext uri="{FF2B5EF4-FFF2-40B4-BE49-F238E27FC236}">
                  <a16:creationId xmlns:a16="http://schemas.microsoft.com/office/drawing/2014/main" id="{CA84580C-8BD4-4B4F-B7E0-332AE066F6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4" y="3317"/>
              <a:ext cx="32" cy="31"/>
            </a:xfrm>
            <a:custGeom>
              <a:avLst/>
              <a:gdLst>
                <a:gd name="T0" fmla="*/ 0 w 32"/>
                <a:gd name="T1" fmla="*/ 15 h 31"/>
                <a:gd name="T2" fmla="*/ 31 w 32"/>
                <a:gd name="T3" fmla="*/ 0 h 31"/>
                <a:gd name="T4" fmla="*/ 31 w 32"/>
                <a:gd name="T5" fmla="*/ 15 h 31"/>
                <a:gd name="T6" fmla="*/ 0 w 32"/>
                <a:gd name="T7" fmla="*/ 30 h 31"/>
                <a:gd name="T8" fmla="*/ 0 w 32"/>
                <a:gd name="T9" fmla="*/ 15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31"/>
                <a:gd name="T17" fmla="*/ 32 w 32"/>
                <a:gd name="T18" fmla="*/ 31 h 3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31">
                  <a:moveTo>
                    <a:pt x="0" y="15"/>
                  </a:moveTo>
                  <a:lnTo>
                    <a:pt x="31" y="0"/>
                  </a:lnTo>
                  <a:lnTo>
                    <a:pt x="31" y="15"/>
                  </a:lnTo>
                  <a:lnTo>
                    <a:pt x="0" y="30"/>
                  </a:lnTo>
                  <a:lnTo>
                    <a:pt x="0" y="15"/>
                  </a:lnTo>
                </a:path>
              </a:pathLst>
            </a:custGeom>
            <a:solidFill>
              <a:schemeClr val="accent2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157" name="Rectangle 228">
              <a:extLst>
                <a:ext uri="{FF2B5EF4-FFF2-40B4-BE49-F238E27FC236}">
                  <a16:creationId xmlns:a16="http://schemas.microsoft.com/office/drawing/2014/main" id="{011CC270-572A-4FE9-A5F1-7FEA2B22E2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9" y="3123"/>
              <a:ext cx="263" cy="20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800" b="0">
                <a:latin typeface="Arial Narrow" panose="020B0606020202030204" pitchFamily="34" charset="0"/>
              </a:endParaRPr>
            </a:p>
          </p:txBody>
        </p:sp>
        <p:sp>
          <p:nvSpPr>
            <p:cNvPr id="41158" name="Line 229">
              <a:extLst>
                <a:ext uri="{FF2B5EF4-FFF2-40B4-BE49-F238E27FC236}">
                  <a16:creationId xmlns:a16="http://schemas.microsoft.com/office/drawing/2014/main" id="{90E18F7C-96B6-444D-AB4E-7298DDD2A5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5" y="3125"/>
              <a:ext cx="0" cy="20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1159" name="Line 230">
              <a:extLst>
                <a:ext uri="{FF2B5EF4-FFF2-40B4-BE49-F238E27FC236}">
                  <a16:creationId xmlns:a16="http://schemas.microsoft.com/office/drawing/2014/main" id="{05830FC2-1644-4FED-82CD-C88CB1E1B8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6" y="3125"/>
              <a:ext cx="0" cy="20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1160" name="Line 231">
              <a:extLst>
                <a:ext uri="{FF2B5EF4-FFF2-40B4-BE49-F238E27FC236}">
                  <a16:creationId xmlns:a16="http://schemas.microsoft.com/office/drawing/2014/main" id="{7F34EC67-2E43-49D1-9B37-460060A72E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1" y="3125"/>
              <a:ext cx="0" cy="20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1161" name="Rectangle 232">
              <a:extLst>
                <a:ext uri="{FF2B5EF4-FFF2-40B4-BE49-F238E27FC236}">
                  <a16:creationId xmlns:a16="http://schemas.microsoft.com/office/drawing/2014/main" id="{1BBDEDAC-5E8E-44D8-8957-EB13774695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8" y="3123"/>
              <a:ext cx="24" cy="2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800" b="0">
                <a:latin typeface="Arial Narrow" panose="020B0606020202030204" pitchFamily="34" charset="0"/>
              </a:endParaRPr>
            </a:p>
          </p:txBody>
        </p:sp>
        <p:sp>
          <p:nvSpPr>
            <p:cNvPr id="41162" name="Freeform 233">
              <a:extLst>
                <a:ext uri="{FF2B5EF4-FFF2-40B4-BE49-F238E27FC236}">
                  <a16:creationId xmlns:a16="http://schemas.microsoft.com/office/drawing/2014/main" id="{99E2C327-8BA3-46DB-AD1D-888D9A42B5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6" y="3107"/>
              <a:ext cx="30" cy="226"/>
            </a:xfrm>
            <a:custGeom>
              <a:avLst/>
              <a:gdLst>
                <a:gd name="T0" fmla="*/ 0 w 30"/>
                <a:gd name="T1" fmla="*/ 15 h 226"/>
                <a:gd name="T2" fmla="*/ 29 w 30"/>
                <a:gd name="T3" fmla="*/ 0 h 226"/>
                <a:gd name="T4" fmla="*/ 29 w 30"/>
                <a:gd name="T5" fmla="*/ 209 h 226"/>
                <a:gd name="T6" fmla="*/ 0 w 30"/>
                <a:gd name="T7" fmla="*/ 225 h 226"/>
                <a:gd name="T8" fmla="*/ 0 w 30"/>
                <a:gd name="T9" fmla="*/ 15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"/>
                <a:gd name="T16" fmla="*/ 0 h 226"/>
                <a:gd name="T17" fmla="*/ 30 w 30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" h="226">
                  <a:moveTo>
                    <a:pt x="0" y="15"/>
                  </a:moveTo>
                  <a:lnTo>
                    <a:pt x="29" y="0"/>
                  </a:lnTo>
                  <a:lnTo>
                    <a:pt x="29" y="209"/>
                  </a:lnTo>
                  <a:lnTo>
                    <a:pt x="0" y="225"/>
                  </a:lnTo>
                  <a:lnTo>
                    <a:pt x="0" y="15"/>
                  </a:lnTo>
                </a:path>
              </a:pathLst>
            </a:custGeom>
            <a:solidFill>
              <a:schemeClr val="accent2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163" name="Freeform 234">
              <a:extLst>
                <a:ext uri="{FF2B5EF4-FFF2-40B4-BE49-F238E27FC236}">
                  <a16:creationId xmlns:a16="http://schemas.microsoft.com/office/drawing/2014/main" id="{D3FDA89F-6212-48E8-9AB9-61C82CD208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107"/>
              <a:ext cx="300" cy="16"/>
            </a:xfrm>
            <a:custGeom>
              <a:avLst/>
              <a:gdLst>
                <a:gd name="T0" fmla="*/ 269 w 300"/>
                <a:gd name="T1" fmla="*/ 15 h 16"/>
                <a:gd name="T2" fmla="*/ 299 w 300"/>
                <a:gd name="T3" fmla="*/ 0 h 16"/>
                <a:gd name="T4" fmla="*/ 30 w 300"/>
                <a:gd name="T5" fmla="*/ 0 h 16"/>
                <a:gd name="T6" fmla="*/ 0 w 300"/>
                <a:gd name="T7" fmla="*/ 15 h 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0"/>
                <a:gd name="T13" fmla="*/ 0 h 16"/>
                <a:gd name="T14" fmla="*/ 300 w 300"/>
                <a:gd name="T15" fmla="*/ 16 h 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0" h="16">
                  <a:moveTo>
                    <a:pt x="269" y="15"/>
                  </a:moveTo>
                  <a:lnTo>
                    <a:pt x="299" y="0"/>
                  </a:lnTo>
                  <a:lnTo>
                    <a:pt x="30" y="0"/>
                  </a:lnTo>
                  <a:lnTo>
                    <a:pt x="0" y="15"/>
                  </a:lnTo>
                </a:path>
              </a:pathLst>
            </a:custGeom>
            <a:solidFill>
              <a:schemeClr val="accent2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164" name="Rectangle 235">
              <a:extLst>
                <a:ext uri="{FF2B5EF4-FFF2-40B4-BE49-F238E27FC236}">
                  <a16:creationId xmlns:a16="http://schemas.microsoft.com/office/drawing/2014/main" id="{4C3A5118-CE0B-4933-AE34-5A5E9D2FE8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9" y="3333"/>
              <a:ext cx="203" cy="12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800" b="0">
                <a:latin typeface="Arial Narrow" panose="020B0606020202030204" pitchFamily="34" charset="0"/>
              </a:endParaRPr>
            </a:p>
          </p:txBody>
        </p:sp>
      </p:grpSp>
      <p:grpSp>
        <p:nvGrpSpPr>
          <p:cNvPr id="40977" name="Group 236">
            <a:extLst>
              <a:ext uri="{FF2B5EF4-FFF2-40B4-BE49-F238E27FC236}">
                <a16:creationId xmlns:a16="http://schemas.microsoft.com/office/drawing/2014/main" id="{C81CF02F-D46F-4413-9498-A384B2656160}"/>
              </a:ext>
            </a:extLst>
          </p:cNvPr>
          <p:cNvGrpSpPr>
            <a:grpSpLocks/>
          </p:cNvGrpSpPr>
          <p:nvPr/>
        </p:nvGrpSpPr>
        <p:grpSpPr bwMode="auto">
          <a:xfrm>
            <a:off x="3117851" y="4781550"/>
            <a:ext cx="352425" cy="203200"/>
            <a:chOff x="4506" y="3107"/>
            <a:chExt cx="300" cy="241"/>
          </a:xfrm>
        </p:grpSpPr>
        <p:sp>
          <p:nvSpPr>
            <p:cNvPr id="41147" name="Freeform 237">
              <a:extLst>
                <a:ext uri="{FF2B5EF4-FFF2-40B4-BE49-F238E27FC236}">
                  <a16:creationId xmlns:a16="http://schemas.microsoft.com/office/drawing/2014/main" id="{8DCB47C5-8D56-4DFF-963A-5F95CDCF9A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4" y="3317"/>
              <a:ext cx="32" cy="31"/>
            </a:xfrm>
            <a:custGeom>
              <a:avLst/>
              <a:gdLst>
                <a:gd name="T0" fmla="*/ 0 w 32"/>
                <a:gd name="T1" fmla="*/ 15 h 31"/>
                <a:gd name="T2" fmla="*/ 31 w 32"/>
                <a:gd name="T3" fmla="*/ 0 h 31"/>
                <a:gd name="T4" fmla="*/ 31 w 32"/>
                <a:gd name="T5" fmla="*/ 15 h 31"/>
                <a:gd name="T6" fmla="*/ 0 w 32"/>
                <a:gd name="T7" fmla="*/ 30 h 31"/>
                <a:gd name="T8" fmla="*/ 0 w 32"/>
                <a:gd name="T9" fmla="*/ 15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31"/>
                <a:gd name="T17" fmla="*/ 32 w 32"/>
                <a:gd name="T18" fmla="*/ 31 h 3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31">
                  <a:moveTo>
                    <a:pt x="0" y="15"/>
                  </a:moveTo>
                  <a:lnTo>
                    <a:pt x="31" y="0"/>
                  </a:lnTo>
                  <a:lnTo>
                    <a:pt x="31" y="15"/>
                  </a:lnTo>
                  <a:lnTo>
                    <a:pt x="0" y="30"/>
                  </a:lnTo>
                  <a:lnTo>
                    <a:pt x="0" y="15"/>
                  </a:lnTo>
                </a:path>
              </a:pathLst>
            </a:custGeom>
            <a:solidFill>
              <a:schemeClr val="accent2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148" name="Rectangle 238">
              <a:extLst>
                <a:ext uri="{FF2B5EF4-FFF2-40B4-BE49-F238E27FC236}">
                  <a16:creationId xmlns:a16="http://schemas.microsoft.com/office/drawing/2014/main" id="{1ED32D6B-9EC2-4F45-9A8F-24CAD65730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9" y="3123"/>
              <a:ext cx="263" cy="20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800" b="0">
                <a:latin typeface="Arial Narrow" panose="020B0606020202030204" pitchFamily="34" charset="0"/>
              </a:endParaRPr>
            </a:p>
          </p:txBody>
        </p:sp>
        <p:sp>
          <p:nvSpPr>
            <p:cNvPr id="41149" name="Line 239">
              <a:extLst>
                <a:ext uri="{FF2B5EF4-FFF2-40B4-BE49-F238E27FC236}">
                  <a16:creationId xmlns:a16="http://schemas.microsoft.com/office/drawing/2014/main" id="{703DBA52-60BC-4CB1-ACF0-14100BB791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5" y="3125"/>
              <a:ext cx="0" cy="20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1150" name="Line 240">
              <a:extLst>
                <a:ext uri="{FF2B5EF4-FFF2-40B4-BE49-F238E27FC236}">
                  <a16:creationId xmlns:a16="http://schemas.microsoft.com/office/drawing/2014/main" id="{22D0E6AD-9D28-4AC2-A85E-A803E60C8B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6" y="3125"/>
              <a:ext cx="0" cy="20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1151" name="Line 241">
              <a:extLst>
                <a:ext uri="{FF2B5EF4-FFF2-40B4-BE49-F238E27FC236}">
                  <a16:creationId xmlns:a16="http://schemas.microsoft.com/office/drawing/2014/main" id="{A5E7D8D9-9DDD-46C9-84D9-CFDC81D5CA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1" y="3125"/>
              <a:ext cx="0" cy="20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1152" name="Rectangle 242">
              <a:extLst>
                <a:ext uri="{FF2B5EF4-FFF2-40B4-BE49-F238E27FC236}">
                  <a16:creationId xmlns:a16="http://schemas.microsoft.com/office/drawing/2014/main" id="{D32089FB-1843-4347-8CE2-926D1E3A02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8" y="3123"/>
              <a:ext cx="24" cy="2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800" b="0">
                <a:latin typeface="Arial Narrow" panose="020B0606020202030204" pitchFamily="34" charset="0"/>
              </a:endParaRPr>
            </a:p>
          </p:txBody>
        </p:sp>
        <p:sp>
          <p:nvSpPr>
            <p:cNvPr id="41153" name="Freeform 243">
              <a:extLst>
                <a:ext uri="{FF2B5EF4-FFF2-40B4-BE49-F238E27FC236}">
                  <a16:creationId xmlns:a16="http://schemas.microsoft.com/office/drawing/2014/main" id="{7413D588-0937-4B72-A025-0FEA60B027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6" y="3107"/>
              <a:ext cx="30" cy="226"/>
            </a:xfrm>
            <a:custGeom>
              <a:avLst/>
              <a:gdLst>
                <a:gd name="T0" fmla="*/ 0 w 30"/>
                <a:gd name="T1" fmla="*/ 15 h 226"/>
                <a:gd name="T2" fmla="*/ 29 w 30"/>
                <a:gd name="T3" fmla="*/ 0 h 226"/>
                <a:gd name="T4" fmla="*/ 29 w 30"/>
                <a:gd name="T5" fmla="*/ 209 h 226"/>
                <a:gd name="T6" fmla="*/ 0 w 30"/>
                <a:gd name="T7" fmla="*/ 225 h 226"/>
                <a:gd name="T8" fmla="*/ 0 w 30"/>
                <a:gd name="T9" fmla="*/ 15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"/>
                <a:gd name="T16" fmla="*/ 0 h 226"/>
                <a:gd name="T17" fmla="*/ 30 w 30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" h="226">
                  <a:moveTo>
                    <a:pt x="0" y="15"/>
                  </a:moveTo>
                  <a:lnTo>
                    <a:pt x="29" y="0"/>
                  </a:lnTo>
                  <a:lnTo>
                    <a:pt x="29" y="209"/>
                  </a:lnTo>
                  <a:lnTo>
                    <a:pt x="0" y="225"/>
                  </a:lnTo>
                  <a:lnTo>
                    <a:pt x="0" y="15"/>
                  </a:lnTo>
                </a:path>
              </a:pathLst>
            </a:custGeom>
            <a:solidFill>
              <a:schemeClr val="accent2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154" name="Freeform 244">
              <a:extLst>
                <a:ext uri="{FF2B5EF4-FFF2-40B4-BE49-F238E27FC236}">
                  <a16:creationId xmlns:a16="http://schemas.microsoft.com/office/drawing/2014/main" id="{B45A57F5-0DA8-4EE9-B870-E69C2964B0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107"/>
              <a:ext cx="300" cy="16"/>
            </a:xfrm>
            <a:custGeom>
              <a:avLst/>
              <a:gdLst>
                <a:gd name="T0" fmla="*/ 269 w 300"/>
                <a:gd name="T1" fmla="*/ 15 h 16"/>
                <a:gd name="T2" fmla="*/ 299 w 300"/>
                <a:gd name="T3" fmla="*/ 0 h 16"/>
                <a:gd name="T4" fmla="*/ 30 w 300"/>
                <a:gd name="T5" fmla="*/ 0 h 16"/>
                <a:gd name="T6" fmla="*/ 0 w 300"/>
                <a:gd name="T7" fmla="*/ 15 h 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0"/>
                <a:gd name="T13" fmla="*/ 0 h 16"/>
                <a:gd name="T14" fmla="*/ 300 w 300"/>
                <a:gd name="T15" fmla="*/ 16 h 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0" h="16">
                  <a:moveTo>
                    <a:pt x="269" y="15"/>
                  </a:moveTo>
                  <a:lnTo>
                    <a:pt x="299" y="0"/>
                  </a:lnTo>
                  <a:lnTo>
                    <a:pt x="30" y="0"/>
                  </a:lnTo>
                  <a:lnTo>
                    <a:pt x="0" y="15"/>
                  </a:lnTo>
                </a:path>
              </a:pathLst>
            </a:custGeom>
            <a:solidFill>
              <a:schemeClr val="accent2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155" name="Rectangle 245">
              <a:extLst>
                <a:ext uri="{FF2B5EF4-FFF2-40B4-BE49-F238E27FC236}">
                  <a16:creationId xmlns:a16="http://schemas.microsoft.com/office/drawing/2014/main" id="{65C9E962-225D-49FD-86C4-514F317D2B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9" y="3333"/>
              <a:ext cx="203" cy="12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800" b="0">
                <a:latin typeface="Arial Narrow" panose="020B0606020202030204" pitchFamily="34" charset="0"/>
              </a:endParaRPr>
            </a:p>
          </p:txBody>
        </p:sp>
      </p:grpSp>
      <p:grpSp>
        <p:nvGrpSpPr>
          <p:cNvPr id="40978" name="Group 246">
            <a:extLst>
              <a:ext uri="{FF2B5EF4-FFF2-40B4-BE49-F238E27FC236}">
                <a16:creationId xmlns:a16="http://schemas.microsoft.com/office/drawing/2014/main" id="{71D61ED6-7C86-4379-8D60-61EC2D40EDF8}"/>
              </a:ext>
            </a:extLst>
          </p:cNvPr>
          <p:cNvGrpSpPr>
            <a:grpSpLocks/>
          </p:cNvGrpSpPr>
          <p:nvPr/>
        </p:nvGrpSpPr>
        <p:grpSpPr bwMode="auto">
          <a:xfrm>
            <a:off x="2305051" y="4398964"/>
            <a:ext cx="349250" cy="338137"/>
            <a:chOff x="2121" y="1553"/>
            <a:chExt cx="220" cy="247"/>
          </a:xfrm>
        </p:grpSpPr>
        <p:sp>
          <p:nvSpPr>
            <p:cNvPr id="41145" name="Line 247">
              <a:extLst>
                <a:ext uri="{FF2B5EF4-FFF2-40B4-BE49-F238E27FC236}">
                  <a16:creationId xmlns:a16="http://schemas.microsoft.com/office/drawing/2014/main" id="{D9073EE9-0230-43E9-8039-6BB29DD4CB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1704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146" name="Text Box 248">
              <a:extLst>
                <a:ext uri="{FF2B5EF4-FFF2-40B4-BE49-F238E27FC236}">
                  <a16:creationId xmlns:a16="http://schemas.microsoft.com/office/drawing/2014/main" id="{76F43130-7D0F-49D8-8D9C-959EE70FBF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1" y="1553"/>
              <a:ext cx="220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it-IT" sz="1200">
                  <a:latin typeface="Trebuchet MS" panose="020B0603020202020204" pitchFamily="34" charset="0"/>
                </a:rPr>
                <a:t>U</a:t>
              </a:r>
              <a:r>
                <a:rPr lang="en-US" altLang="it-IT" sz="1200" baseline="-25000">
                  <a:latin typeface="Trebuchet MS" panose="020B0603020202020204" pitchFamily="34" charset="0"/>
                </a:rPr>
                <a:t>u</a:t>
              </a:r>
              <a:endParaRPr lang="en-US" altLang="it-IT" sz="1200">
                <a:latin typeface="Trebuchet MS" panose="020B0603020202020204" pitchFamily="34" charset="0"/>
              </a:endParaRPr>
            </a:p>
          </p:txBody>
        </p:sp>
      </p:grpSp>
      <p:grpSp>
        <p:nvGrpSpPr>
          <p:cNvPr id="40979" name="Group 249">
            <a:extLst>
              <a:ext uri="{FF2B5EF4-FFF2-40B4-BE49-F238E27FC236}">
                <a16:creationId xmlns:a16="http://schemas.microsoft.com/office/drawing/2014/main" id="{6003EEF8-B00F-4C29-A34F-E4526602E66E}"/>
              </a:ext>
            </a:extLst>
          </p:cNvPr>
          <p:cNvGrpSpPr>
            <a:grpSpLocks/>
          </p:cNvGrpSpPr>
          <p:nvPr/>
        </p:nvGrpSpPr>
        <p:grpSpPr bwMode="auto">
          <a:xfrm>
            <a:off x="2071689" y="3916363"/>
            <a:ext cx="288925" cy="876300"/>
            <a:chOff x="197" y="1394"/>
            <a:chExt cx="182" cy="639"/>
          </a:xfrm>
        </p:grpSpPr>
        <p:pic>
          <p:nvPicPr>
            <p:cNvPr id="41143" name="Picture 250" descr="cdmaphone">
              <a:extLst>
                <a:ext uri="{FF2B5EF4-FFF2-40B4-BE49-F238E27FC236}">
                  <a16:creationId xmlns:a16="http://schemas.microsoft.com/office/drawing/2014/main" id="{45D36E8C-71CA-4CE0-BF1B-CA7E3EFE3D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" y="1649"/>
              <a:ext cx="139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144" name="Text Box 251">
              <a:extLst>
                <a:ext uri="{FF2B5EF4-FFF2-40B4-BE49-F238E27FC236}">
                  <a16:creationId xmlns:a16="http://schemas.microsoft.com/office/drawing/2014/main" id="{F72E8AC0-E474-40CC-9930-3C8B32B233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" y="1394"/>
              <a:ext cx="11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it-IT" sz="1200">
                <a:latin typeface="Trebuchet MS" panose="020B0603020202020204" pitchFamily="34" charset="0"/>
              </a:endParaRPr>
            </a:p>
          </p:txBody>
        </p:sp>
      </p:grpSp>
      <p:sp>
        <p:nvSpPr>
          <p:cNvPr id="40980" name="Freeform 252">
            <a:extLst>
              <a:ext uri="{FF2B5EF4-FFF2-40B4-BE49-F238E27FC236}">
                <a16:creationId xmlns:a16="http://schemas.microsoft.com/office/drawing/2014/main" id="{5AA31C97-CB38-4413-B9EA-E80626B8C05B}"/>
              </a:ext>
            </a:extLst>
          </p:cNvPr>
          <p:cNvSpPr>
            <a:spLocks/>
          </p:cNvSpPr>
          <p:nvPr/>
        </p:nvSpPr>
        <p:spPr bwMode="auto">
          <a:xfrm rot="13244183" flipV="1">
            <a:off x="2292350" y="4660900"/>
            <a:ext cx="508000" cy="115888"/>
          </a:xfrm>
          <a:custGeom>
            <a:avLst/>
            <a:gdLst>
              <a:gd name="T0" fmla="*/ 0 w 211"/>
              <a:gd name="T1" fmla="*/ 0 h 177"/>
              <a:gd name="T2" fmla="*/ 2147483646 w 211"/>
              <a:gd name="T3" fmla="*/ 2147483646 h 177"/>
              <a:gd name="T4" fmla="*/ 2147483646 w 211"/>
              <a:gd name="T5" fmla="*/ 2147483646 h 177"/>
              <a:gd name="T6" fmla="*/ 2147483646 w 211"/>
              <a:gd name="T7" fmla="*/ 2147483646 h 177"/>
              <a:gd name="T8" fmla="*/ 2147483646 w 211"/>
              <a:gd name="T9" fmla="*/ 2147483646 h 177"/>
              <a:gd name="T10" fmla="*/ 2147483646 w 211"/>
              <a:gd name="T11" fmla="*/ 2147483646 h 177"/>
              <a:gd name="T12" fmla="*/ 0 w 211"/>
              <a:gd name="T13" fmla="*/ 0 h 17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1"/>
              <a:gd name="T22" fmla="*/ 0 h 177"/>
              <a:gd name="T23" fmla="*/ 211 w 211"/>
              <a:gd name="T24" fmla="*/ 177 h 17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1" h="177">
                <a:moveTo>
                  <a:pt x="0" y="0"/>
                </a:moveTo>
                <a:lnTo>
                  <a:pt x="119" y="156"/>
                </a:lnTo>
                <a:lnTo>
                  <a:pt x="109" y="67"/>
                </a:lnTo>
                <a:lnTo>
                  <a:pt x="210" y="176"/>
                </a:lnTo>
                <a:lnTo>
                  <a:pt x="91" y="17"/>
                </a:lnTo>
                <a:lnTo>
                  <a:pt x="102" y="107"/>
                </a:lnTo>
                <a:lnTo>
                  <a:pt x="0" y="0"/>
                </a:lnTo>
              </a:path>
            </a:pathLst>
          </a:cu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rnd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0981" name="Oval 253">
            <a:extLst>
              <a:ext uri="{FF2B5EF4-FFF2-40B4-BE49-F238E27FC236}">
                <a16:creationId xmlns:a16="http://schemas.microsoft.com/office/drawing/2014/main" id="{0BA4DE8F-A7A7-4066-95C3-D4E1B63F58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6950" y="3543301"/>
            <a:ext cx="1981200" cy="1895475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40982" name="Line 255">
            <a:extLst>
              <a:ext uri="{FF2B5EF4-FFF2-40B4-BE49-F238E27FC236}">
                <a16:creationId xmlns:a16="http://schemas.microsoft.com/office/drawing/2014/main" id="{36571EF5-46AD-4AF7-8E5C-549CBF48159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6950" y="4397375"/>
            <a:ext cx="762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0983" name="Text Box 259">
            <a:extLst>
              <a:ext uri="{FF2B5EF4-FFF2-40B4-BE49-F238E27FC236}">
                <a16:creationId xmlns:a16="http://schemas.microsoft.com/office/drawing/2014/main" id="{A180B876-7EC5-445F-9569-4ED9D464C0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6664" y="4649788"/>
            <a:ext cx="12906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it-IT" sz="1200">
                <a:latin typeface="Trebuchet MS" panose="020B0603020202020204" pitchFamily="34" charset="0"/>
              </a:rPr>
              <a:t>2/3G: MSC/VLR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it-IT" sz="1200">
                <a:latin typeface="Trebuchet MS" panose="020B0603020202020204" pitchFamily="34" charset="0"/>
              </a:rPr>
              <a:t>4/5G: eNB/MME</a:t>
            </a:r>
          </a:p>
        </p:txBody>
      </p:sp>
      <p:pic>
        <p:nvPicPr>
          <p:cNvPr id="40984" name="Picture 261" descr="j0249811">
            <a:extLst>
              <a:ext uri="{FF2B5EF4-FFF2-40B4-BE49-F238E27FC236}">
                <a16:creationId xmlns:a16="http://schemas.microsoft.com/office/drawing/2014/main" id="{718228C1-B3BC-477A-B4FB-DC93A20C7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2588" y="4124325"/>
            <a:ext cx="379412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0985" name="Group 285">
            <a:extLst>
              <a:ext uri="{FF2B5EF4-FFF2-40B4-BE49-F238E27FC236}">
                <a16:creationId xmlns:a16="http://schemas.microsoft.com/office/drawing/2014/main" id="{C0ACC528-E7D3-4601-BC06-C0417CE80DE8}"/>
              </a:ext>
            </a:extLst>
          </p:cNvPr>
          <p:cNvGrpSpPr>
            <a:grpSpLocks/>
          </p:cNvGrpSpPr>
          <p:nvPr/>
        </p:nvGrpSpPr>
        <p:grpSpPr bwMode="auto">
          <a:xfrm>
            <a:off x="4337051" y="4254500"/>
            <a:ext cx="606425" cy="300038"/>
            <a:chOff x="2017" y="2448"/>
            <a:chExt cx="620" cy="314"/>
          </a:xfrm>
        </p:grpSpPr>
        <p:sp>
          <p:nvSpPr>
            <p:cNvPr id="41006" name="Freeform 286">
              <a:extLst>
                <a:ext uri="{FF2B5EF4-FFF2-40B4-BE49-F238E27FC236}">
                  <a16:creationId xmlns:a16="http://schemas.microsoft.com/office/drawing/2014/main" id="{2711429B-8AAA-4752-B41A-EA97F0FD89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" y="2453"/>
              <a:ext cx="329" cy="298"/>
            </a:xfrm>
            <a:custGeom>
              <a:avLst/>
              <a:gdLst>
                <a:gd name="T0" fmla="*/ 1 w 657"/>
                <a:gd name="T1" fmla="*/ 0 h 893"/>
                <a:gd name="T2" fmla="*/ 0 w 657"/>
                <a:gd name="T3" fmla="*/ 0 h 893"/>
                <a:gd name="T4" fmla="*/ 0 w 657"/>
                <a:gd name="T5" fmla="*/ 0 h 893"/>
                <a:gd name="T6" fmla="*/ 1 w 657"/>
                <a:gd name="T7" fmla="*/ 0 h 893"/>
                <a:gd name="T8" fmla="*/ 1 w 657"/>
                <a:gd name="T9" fmla="*/ 0 h 893"/>
                <a:gd name="T10" fmla="*/ 1 w 657"/>
                <a:gd name="T11" fmla="*/ 0 h 89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57"/>
                <a:gd name="T19" fmla="*/ 0 h 893"/>
                <a:gd name="T20" fmla="*/ 657 w 657"/>
                <a:gd name="T21" fmla="*/ 893 h 89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57" h="893">
                  <a:moveTo>
                    <a:pt x="657" y="0"/>
                  </a:moveTo>
                  <a:lnTo>
                    <a:pt x="0" y="36"/>
                  </a:lnTo>
                  <a:lnTo>
                    <a:pt x="0" y="847"/>
                  </a:lnTo>
                  <a:lnTo>
                    <a:pt x="49" y="850"/>
                  </a:lnTo>
                  <a:lnTo>
                    <a:pt x="657" y="893"/>
                  </a:lnTo>
                  <a:lnTo>
                    <a:pt x="657" y="0"/>
                  </a:lnTo>
                  <a:close/>
                </a:path>
              </a:pathLst>
            </a:custGeom>
            <a:solidFill>
              <a:srgbClr val="FFCC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007" name="Freeform 287">
              <a:extLst>
                <a:ext uri="{FF2B5EF4-FFF2-40B4-BE49-F238E27FC236}">
                  <a16:creationId xmlns:a16="http://schemas.microsoft.com/office/drawing/2014/main" id="{9D5201D5-CBEC-4B06-8FC4-DDA501E82B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6" y="2453"/>
              <a:ext cx="15" cy="298"/>
            </a:xfrm>
            <a:custGeom>
              <a:avLst/>
              <a:gdLst>
                <a:gd name="T0" fmla="*/ 0 w 31"/>
                <a:gd name="T1" fmla="*/ 0 h 893"/>
                <a:gd name="T2" fmla="*/ 0 w 31"/>
                <a:gd name="T3" fmla="*/ 0 h 893"/>
                <a:gd name="T4" fmla="*/ 0 w 31"/>
                <a:gd name="T5" fmla="*/ 0 h 893"/>
                <a:gd name="T6" fmla="*/ 0 w 31"/>
                <a:gd name="T7" fmla="*/ 0 h 893"/>
                <a:gd name="T8" fmla="*/ 0 w 31"/>
                <a:gd name="T9" fmla="*/ 0 h 893"/>
                <a:gd name="T10" fmla="*/ 0 w 31"/>
                <a:gd name="T11" fmla="*/ 0 h 89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893"/>
                <a:gd name="T20" fmla="*/ 31 w 31"/>
                <a:gd name="T21" fmla="*/ 893 h 89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893">
                  <a:moveTo>
                    <a:pt x="22" y="887"/>
                  </a:moveTo>
                  <a:lnTo>
                    <a:pt x="31" y="885"/>
                  </a:lnTo>
                  <a:lnTo>
                    <a:pt x="31" y="7"/>
                  </a:lnTo>
                  <a:lnTo>
                    <a:pt x="0" y="0"/>
                  </a:lnTo>
                  <a:lnTo>
                    <a:pt x="0" y="893"/>
                  </a:lnTo>
                  <a:lnTo>
                    <a:pt x="22" y="887"/>
                  </a:lnTo>
                  <a:close/>
                </a:path>
              </a:pathLst>
            </a:custGeom>
            <a:solidFill>
              <a:srgbClr val="E0E0E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008" name="Freeform 288">
              <a:extLst>
                <a:ext uri="{FF2B5EF4-FFF2-40B4-BE49-F238E27FC236}">
                  <a16:creationId xmlns:a16="http://schemas.microsoft.com/office/drawing/2014/main" id="{6F2D0D88-B258-4765-9144-B4C83C7293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1" y="2467"/>
              <a:ext cx="247" cy="281"/>
            </a:xfrm>
            <a:custGeom>
              <a:avLst/>
              <a:gdLst>
                <a:gd name="T0" fmla="*/ 0 w 495"/>
                <a:gd name="T1" fmla="*/ 0 h 844"/>
                <a:gd name="T2" fmla="*/ 0 w 495"/>
                <a:gd name="T3" fmla="*/ 0 h 844"/>
                <a:gd name="T4" fmla="*/ 0 w 495"/>
                <a:gd name="T5" fmla="*/ 0 h 844"/>
                <a:gd name="T6" fmla="*/ 0 w 495"/>
                <a:gd name="T7" fmla="*/ 0 h 844"/>
                <a:gd name="T8" fmla="*/ 0 w 495"/>
                <a:gd name="T9" fmla="*/ 0 h 844"/>
                <a:gd name="T10" fmla="*/ 0 w 495"/>
                <a:gd name="T11" fmla="*/ 0 h 844"/>
                <a:gd name="T12" fmla="*/ 0 w 495"/>
                <a:gd name="T13" fmla="*/ 0 h 8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95"/>
                <a:gd name="T22" fmla="*/ 0 h 844"/>
                <a:gd name="T23" fmla="*/ 495 w 495"/>
                <a:gd name="T24" fmla="*/ 844 h 84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95" h="844">
                  <a:moveTo>
                    <a:pt x="447" y="745"/>
                  </a:moveTo>
                  <a:lnTo>
                    <a:pt x="467" y="741"/>
                  </a:lnTo>
                  <a:lnTo>
                    <a:pt x="495" y="735"/>
                  </a:lnTo>
                  <a:lnTo>
                    <a:pt x="495" y="92"/>
                  </a:lnTo>
                  <a:lnTo>
                    <a:pt x="0" y="0"/>
                  </a:lnTo>
                  <a:lnTo>
                    <a:pt x="0" y="844"/>
                  </a:lnTo>
                  <a:lnTo>
                    <a:pt x="447" y="745"/>
                  </a:lnTo>
                  <a:close/>
                </a:path>
              </a:pathLst>
            </a:custGeom>
            <a:solidFill>
              <a:srgbClr val="FF66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009" name="Freeform 289">
              <a:extLst>
                <a:ext uri="{FF2B5EF4-FFF2-40B4-BE49-F238E27FC236}">
                  <a16:creationId xmlns:a16="http://schemas.microsoft.com/office/drawing/2014/main" id="{8ABF9B7C-A7D8-41EB-BF57-6C051CA697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1" y="2470"/>
              <a:ext cx="15" cy="248"/>
            </a:xfrm>
            <a:custGeom>
              <a:avLst/>
              <a:gdLst>
                <a:gd name="T0" fmla="*/ 0 w 30"/>
                <a:gd name="T1" fmla="*/ 0 h 744"/>
                <a:gd name="T2" fmla="*/ 1 w 30"/>
                <a:gd name="T3" fmla="*/ 0 h 744"/>
                <a:gd name="T4" fmla="*/ 1 w 30"/>
                <a:gd name="T5" fmla="*/ 0 h 744"/>
                <a:gd name="T6" fmla="*/ 1 w 30"/>
                <a:gd name="T7" fmla="*/ 0 h 744"/>
                <a:gd name="T8" fmla="*/ 1 w 30"/>
                <a:gd name="T9" fmla="*/ 0 h 744"/>
                <a:gd name="T10" fmla="*/ 1 w 30"/>
                <a:gd name="T11" fmla="*/ 0 h 744"/>
                <a:gd name="T12" fmla="*/ 1 w 30"/>
                <a:gd name="T13" fmla="*/ 0 h 744"/>
                <a:gd name="T14" fmla="*/ 1 w 30"/>
                <a:gd name="T15" fmla="*/ 0 h 744"/>
                <a:gd name="T16" fmla="*/ 1 w 30"/>
                <a:gd name="T17" fmla="*/ 0 h 744"/>
                <a:gd name="T18" fmla="*/ 0 w 30"/>
                <a:gd name="T19" fmla="*/ 0 h 744"/>
                <a:gd name="T20" fmla="*/ 0 w 30"/>
                <a:gd name="T21" fmla="*/ 0 h 74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0"/>
                <a:gd name="T34" fmla="*/ 0 h 744"/>
                <a:gd name="T35" fmla="*/ 30 w 30"/>
                <a:gd name="T36" fmla="*/ 744 h 74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0" h="744">
                  <a:moveTo>
                    <a:pt x="0" y="744"/>
                  </a:moveTo>
                  <a:lnTo>
                    <a:pt x="22" y="691"/>
                  </a:lnTo>
                  <a:lnTo>
                    <a:pt x="22" y="402"/>
                  </a:lnTo>
                  <a:lnTo>
                    <a:pt x="14" y="402"/>
                  </a:lnTo>
                  <a:lnTo>
                    <a:pt x="28" y="352"/>
                  </a:lnTo>
                  <a:lnTo>
                    <a:pt x="28" y="315"/>
                  </a:lnTo>
                  <a:lnTo>
                    <a:pt x="14" y="315"/>
                  </a:lnTo>
                  <a:lnTo>
                    <a:pt x="30" y="268"/>
                  </a:lnTo>
                  <a:lnTo>
                    <a:pt x="30" y="8"/>
                  </a:lnTo>
                  <a:lnTo>
                    <a:pt x="0" y="0"/>
                  </a:lnTo>
                  <a:lnTo>
                    <a:pt x="0" y="744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010" name="Freeform 290">
              <a:extLst>
                <a:ext uri="{FF2B5EF4-FFF2-40B4-BE49-F238E27FC236}">
                  <a16:creationId xmlns:a16="http://schemas.microsoft.com/office/drawing/2014/main" id="{642A3C21-B3FA-49D9-B0CE-2ABB1D2120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8" y="2488"/>
              <a:ext cx="10" cy="224"/>
            </a:xfrm>
            <a:custGeom>
              <a:avLst/>
              <a:gdLst>
                <a:gd name="T0" fmla="*/ 0 w 18"/>
                <a:gd name="T1" fmla="*/ 0 h 672"/>
                <a:gd name="T2" fmla="*/ 0 w 18"/>
                <a:gd name="T3" fmla="*/ 0 h 672"/>
                <a:gd name="T4" fmla="*/ 1 w 18"/>
                <a:gd name="T5" fmla="*/ 0 h 672"/>
                <a:gd name="T6" fmla="*/ 1 w 18"/>
                <a:gd name="T7" fmla="*/ 0 h 672"/>
                <a:gd name="T8" fmla="*/ 0 w 18"/>
                <a:gd name="T9" fmla="*/ 0 h 6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"/>
                <a:gd name="T16" fmla="*/ 0 h 672"/>
                <a:gd name="T17" fmla="*/ 18 w 18"/>
                <a:gd name="T18" fmla="*/ 672 h 67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" h="672">
                  <a:moveTo>
                    <a:pt x="0" y="0"/>
                  </a:moveTo>
                  <a:lnTo>
                    <a:pt x="0" y="672"/>
                  </a:lnTo>
                  <a:lnTo>
                    <a:pt x="18" y="669"/>
                  </a:lnTo>
                  <a:lnTo>
                    <a:pt x="18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E0E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011" name="Freeform 291">
              <a:extLst>
                <a:ext uri="{FF2B5EF4-FFF2-40B4-BE49-F238E27FC236}">
                  <a16:creationId xmlns:a16="http://schemas.microsoft.com/office/drawing/2014/main" id="{26FF8F29-D88F-43E0-86CE-D17F72FA29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0" y="2511"/>
              <a:ext cx="14" cy="190"/>
            </a:xfrm>
            <a:custGeom>
              <a:avLst/>
              <a:gdLst>
                <a:gd name="T0" fmla="*/ 0 w 26"/>
                <a:gd name="T1" fmla="*/ 0 h 569"/>
                <a:gd name="T2" fmla="*/ 0 w 26"/>
                <a:gd name="T3" fmla="*/ 0 h 569"/>
                <a:gd name="T4" fmla="*/ 1 w 26"/>
                <a:gd name="T5" fmla="*/ 0 h 569"/>
                <a:gd name="T6" fmla="*/ 1 w 26"/>
                <a:gd name="T7" fmla="*/ 0 h 569"/>
                <a:gd name="T8" fmla="*/ 0 w 26"/>
                <a:gd name="T9" fmla="*/ 0 h 5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569"/>
                <a:gd name="T17" fmla="*/ 26 w 26"/>
                <a:gd name="T18" fmla="*/ 569 h 56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569">
                  <a:moveTo>
                    <a:pt x="0" y="0"/>
                  </a:moveTo>
                  <a:lnTo>
                    <a:pt x="0" y="569"/>
                  </a:lnTo>
                  <a:lnTo>
                    <a:pt x="26" y="565"/>
                  </a:lnTo>
                  <a:lnTo>
                    <a:pt x="26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E0E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012" name="Freeform 292">
              <a:extLst>
                <a:ext uri="{FF2B5EF4-FFF2-40B4-BE49-F238E27FC236}">
                  <a16:creationId xmlns:a16="http://schemas.microsoft.com/office/drawing/2014/main" id="{549DCAD7-8043-41A8-BB2A-B9C90116D95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2" y="2736"/>
              <a:ext cx="314" cy="21"/>
            </a:xfrm>
            <a:custGeom>
              <a:avLst/>
              <a:gdLst>
                <a:gd name="T0" fmla="*/ 0 w 630"/>
                <a:gd name="T1" fmla="*/ 0 h 63"/>
                <a:gd name="T2" fmla="*/ 0 w 630"/>
                <a:gd name="T3" fmla="*/ 0 h 63"/>
                <a:gd name="T4" fmla="*/ 0 w 630"/>
                <a:gd name="T5" fmla="*/ 0 h 63"/>
                <a:gd name="T6" fmla="*/ 0 w 630"/>
                <a:gd name="T7" fmla="*/ 0 h 63"/>
                <a:gd name="T8" fmla="*/ 0 w 630"/>
                <a:gd name="T9" fmla="*/ 0 h 63"/>
                <a:gd name="T10" fmla="*/ 0 w 630"/>
                <a:gd name="T11" fmla="*/ 0 h 63"/>
                <a:gd name="T12" fmla="*/ 0 w 630"/>
                <a:gd name="T13" fmla="*/ 0 h 6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30"/>
                <a:gd name="T22" fmla="*/ 0 h 63"/>
                <a:gd name="T23" fmla="*/ 630 w 630"/>
                <a:gd name="T24" fmla="*/ 63 h 6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30" h="63">
                  <a:moveTo>
                    <a:pt x="630" y="37"/>
                  </a:moveTo>
                  <a:lnTo>
                    <a:pt x="608" y="43"/>
                  </a:lnTo>
                  <a:lnTo>
                    <a:pt x="0" y="0"/>
                  </a:lnTo>
                  <a:lnTo>
                    <a:pt x="0" y="19"/>
                  </a:lnTo>
                  <a:lnTo>
                    <a:pt x="610" y="63"/>
                  </a:lnTo>
                  <a:lnTo>
                    <a:pt x="630" y="58"/>
                  </a:lnTo>
                  <a:lnTo>
                    <a:pt x="630" y="37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013" name="Freeform 293">
              <a:extLst>
                <a:ext uri="{FF2B5EF4-FFF2-40B4-BE49-F238E27FC236}">
                  <a16:creationId xmlns:a16="http://schemas.microsoft.com/office/drawing/2014/main" id="{9E3D9DAF-B463-421B-A6EC-C77028F9CB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1" y="2455"/>
              <a:ext cx="247" cy="42"/>
            </a:xfrm>
            <a:custGeom>
              <a:avLst/>
              <a:gdLst>
                <a:gd name="T0" fmla="*/ 0 w 495"/>
                <a:gd name="T1" fmla="*/ 0 h 126"/>
                <a:gd name="T2" fmla="*/ 0 w 495"/>
                <a:gd name="T3" fmla="*/ 0 h 126"/>
                <a:gd name="T4" fmla="*/ 0 w 495"/>
                <a:gd name="T5" fmla="*/ 0 h 126"/>
                <a:gd name="T6" fmla="*/ 0 w 495"/>
                <a:gd name="T7" fmla="*/ 0 h 126"/>
                <a:gd name="T8" fmla="*/ 0 w 495"/>
                <a:gd name="T9" fmla="*/ 0 h 1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5"/>
                <a:gd name="T16" fmla="*/ 0 h 126"/>
                <a:gd name="T17" fmla="*/ 495 w 495"/>
                <a:gd name="T18" fmla="*/ 126 h 1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5" h="126">
                  <a:moveTo>
                    <a:pt x="495" y="97"/>
                  </a:moveTo>
                  <a:lnTo>
                    <a:pt x="0" y="0"/>
                  </a:lnTo>
                  <a:lnTo>
                    <a:pt x="0" y="34"/>
                  </a:lnTo>
                  <a:lnTo>
                    <a:pt x="495" y="126"/>
                  </a:lnTo>
                  <a:lnTo>
                    <a:pt x="495" y="97"/>
                  </a:lnTo>
                  <a:close/>
                </a:path>
              </a:pathLst>
            </a:custGeom>
            <a:solidFill>
              <a:srgbClr val="E0E0E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014" name="Freeform 294">
              <a:extLst>
                <a:ext uri="{FF2B5EF4-FFF2-40B4-BE49-F238E27FC236}">
                  <a16:creationId xmlns:a16="http://schemas.microsoft.com/office/drawing/2014/main" id="{A3D69BA2-0F09-4D38-A031-9CA755C01D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6" y="2715"/>
              <a:ext cx="228" cy="41"/>
            </a:xfrm>
            <a:custGeom>
              <a:avLst/>
              <a:gdLst>
                <a:gd name="T0" fmla="*/ 0 w 456"/>
                <a:gd name="T1" fmla="*/ 0 h 122"/>
                <a:gd name="T2" fmla="*/ 0 w 456"/>
                <a:gd name="T3" fmla="*/ 0 h 122"/>
                <a:gd name="T4" fmla="*/ 1 w 456"/>
                <a:gd name="T5" fmla="*/ 0 h 122"/>
                <a:gd name="T6" fmla="*/ 1 w 456"/>
                <a:gd name="T7" fmla="*/ 0 h 122"/>
                <a:gd name="T8" fmla="*/ 1 w 456"/>
                <a:gd name="T9" fmla="*/ 0 h 122"/>
                <a:gd name="T10" fmla="*/ 1 w 456"/>
                <a:gd name="T11" fmla="*/ 0 h 122"/>
                <a:gd name="T12" fmla="*/ 1 w 456"/>
                <a:gd name="T13" fmla="*/ 0 h 122"/>
                <a:gd name="T14" fmla="*/ 1 w 456"/>
                <a:gd name="T15" fmla="*/ 0 h 122"/>
                <a:gd name="T16" fmla="*/ 1 w 456"/>
                <a:gd name="T17" fmla="*/ 0 h 122"/>
                <a:gd name="T18" fmla="*/ 0 w 456"/>
                <a:gd name="T19" fmla="*/ 0 h 12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56"/>
                <a:gd name="T31" fmla="*/ 0 h 122"/>
                <a:gd name="T32" fmla="*/ 456 w 456"/>
                <a:gd name="T33" fmla="*/ 122 h 12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56" h="122">
                  <a:moveTo>
                    <a:pt x="0" y="101"/>
                  </a:moveTo>
                  <a:lnTo>
                    <a:pt x="0" y="122"/>
                  </a:lnTo>
                  <a:lnTo>
                    <a:pt x="434" y="23"/>
                  </a:lnTo>
                  <a:lnTo>
                    <a:pt x="443" y="20"/>
                  </a:lnTo>
                  <a:lnTo>
                    <a:pt x="449" y="16"/>
                  </a:lnTo>
                  <a:lnTo>
                    <a:pt x="454" y="11"/>
                  </a:lnTo>
                  <a:lnTo>
                    <a:pt x="456" y="6"/>
                  </a:lnTo>
                  <a:lnTo>
                    <a:pt x="456" y="0"/>
                  </a:lnTo>
                  <a:lnTo>
                    <a:pt x="9" y="99"/>
                  </a:lnTo>
                  <a:lnTo>
                    <a:pt x="0" y="101"/>
                  </a:lnTo>
                  <a:close/>
                </a:path>
              </a:pathLst>
            </a:custGeom>
            <a:solidFill>
              <a:srgbClr val="E0E0E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015" name="Freeform 295">
              <a:extLst>
                <a:ext uri="{FF2B5EF4-FFF2-40B4-BE49-F238E27FC236}">
                  <a16:creationId xmlns:a16="http://schemas.microsoft.com/office/drawing/2014/main" id="{F511DE0A-9E7F-40E0-B220-3ADECFD1DA0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2" y="2616"/>
              <a:ext cx="143" cy="89"/>
            </a:xfrm>
            <a:custGeom>
              <a:avLst/>
              <a:gdLst>
                <a:gd name="T0" fmla="*/ 0 w 285"/>
                <a:gd name="T1" fmla="*/ 0 h 266"/>
                <a:gd name="T2" fmla="*/ 1 w 285"/>
                <a:gd name="T3" fmla="*/ 0 h 266"/>
                <a:gd name="T4" fmla="*/ 1 w 285"/>
                <a:gd name="T5" fmla="*/ 0 h 266"/>
                <a:gd name="T6" fmla="*/ 0 w 285"/>
                <a:gd name="T7" fmla="*/ 0 h 266"/>
                <a:gd name="T8" fmla="*/ 0 w 285"/>
                <a:gd name="T9" fmla="*/ 0 h 2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85"/>
                <a:gd name="T16" fmla="*/ 0 h 266"/>
                <a:gd name="T17" fmla="*/ 285 w 285"/>
                <a:gd name="T18" fmla="*/ 266 h 2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85" h="266">
                  <a:moveTo>
                    <a:pt x="0" y="253"/>
                  </a:moveTo>
                  <a:lnTo>
                    <a:pt x="285" y="266"/>
                  </a:lnTo>
                  <a:lnTo>
                    <a:pt x="285" y="3"/>
                  </a:lnTo>
                  <a:lnTo>
                    <a:pt x="0" y="0"/>
                  </a:lnTo>
                  <a:lnTo>
                    <a:pt x="0" y="253"/>
                  </a:lnTo>
                  <a:close/>
                </a:path>
              </a:pathLst>
            </a:custGeom>
            <a:solidFill>
              <a:schemeClr val="accent2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016" name="Freeform 296">
              <a:extLst>
                <a:ext uri="{FF2B5EF4-FFF2-40B4-BE49-F238E27FC236}">
                  <a16:creationId xmlns:a16="http://schemas.microsoft.com/office/drawing/2014/main" id="{EF87A97E-4945-4646-B405-01E1F2BBA0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4" y="2686"/>
              <a:ext cx="176" cy="39"/>
            </a:xfrm>
            <a:custGeom>
              <a:avLst/>
              <a:gdLst>
                <a:gd name="T0" fmla="*/ 0 w 352"/>
                <a:gd name="T1" fmla="*/ 0 h 116"/>
                <a:gd name="T2" fmla="*/ 1 w 352"/>
                <a:gd name="T3" fmla="*/ 0 h 116"/>
                <a:gd name="T4" fmla="*/ 1 w 352"/>
                <a:gd name="T5" fmla="*/ 0 h 116"/>
                <a:gd name="T6" fmla="*/ 0 w 352"/>
                <a:gd name="T7" fmla="*/ 0 h 116"/>
                <a:gd name="T8" fmla="*/ 0 w 352"/>
                <a:gd name="T9" fmla="*/ 0 h 1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2"/>
                <a:gd name="T16" fmla="*/ 0 h 116"/>
                <a:gd name="T17" fmla="*/ 352 w 352"/>
                <a:gd name="T18" fmla="*/ 116 h 1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2" h="116">
                  <a:moveTo>
                    <a:pt x="0" y="116"/>
                  </a:moveTo>
                  <a:lnTo>
                    <a:pt x="352" y="51"/>
                  </a:lnTo>
                  <a:lnTo>
                    <a:pt x="352" y="0"/>
                  </a:lnTo>
                  <a:lnTo>
                    <a:pt x="0" y="57"/>
                  </a:lnTo>
                  <a:lnTo>
                    <a:pt x="0" y="116"/>
                  </a:lnTo>
                  <a:close/>
                </a:path>
              </a:pathLst>
            </a:custGeom>
            <a:solidFill>
              <a:srgbClr val="E0E0E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017" name="Freeform 297">
              <a:extLst>
                <a:ext uri="{FF2B5EF4-FFF2-40B4-BE49-F238E27FC236}">
                  <a16:creationId xmlns:a16="http://schemas.microsoft.com/office/drawing/2014/main" id="{2B8397F4-EF05-4856-82AB-087A68EA03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1" y="2700"/>
              <a:ext cx="154" cy="23"/>
            </a:xfrm>
            <a:custGeom>
              <a:avLst/>
              <a:gdLst>
                <a:gd name="T0" fmla="*/ 0 w 307"/>
                <a:gd name="T1" fmla="*/ 0 h 69"/>
                <a:gd name="T2" fmla="*/ 1 w 307"/>
                <a:gd name="T3" fmla="*/ 0 h 69"/>
                <a:gd name="T4" fmla="*/ 1 w 307"/>
                <a:gd name="T5" fmla="*/ 0 h 69"/>
                <a:gd name="T6" fmla="*/ 1 w 307"/>
                <a:gd name="T7" fmla="*/ 0 h 69"/>
                <a:gd name="T8" fmla="*/ 0 w 307"/>
                <a:gd name="T9" fmla="*/ 0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7"/>
                <a:gd name="T16" fmla="*/ 0 h 69"/>
                <a:gd name="T17" fmla="*/ 307 w 307"/>
                <a:gd name="T18" fmla="*/ 69 h 6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7" h="69">
                  <a:moveTo>
                    <a:pt x="0" y="53"/>
                  </a:moveTo>
                  <a:lnTo>
                    <a:pt x="307" y="69"/>
                  </a:lnTo>
                  <a:lnTo>
                    <a:pt x="307" y="13"/>
                  </a:lnTo>
                  <a:lnTo>
                    <a:pt x="22" y="0"/>
                  </a:lnTo>
                  <a:lnTo>
                    <a:pt x="0" y="53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018" name="Freeform 298">
              <a:extLst>
                <a:ext uri="{FF2B5EF4-FFF2-40B4-BE49-F238E27FC236}">
                  <a16:creationId xmlns:a16="http://schemas.microsoft.com/office/drawing/2014/main" id="{AC2ADA4F-7215-4686-BABB-C1581D3343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1" y="2465"/>
              <a:ext cx="154" cy="8"/>
            </a:xfrm>
            <a:custGeom>
              <a:avLst/>
              <a:gdLst>
                <a:gd name="T0" fmla="*/ 0 w 307"/>
                <a:gd name="T1" fmla="*/ 0 h 23"/>
                <a:gd name="T2" fmla="*/ 1 w 307"/>
                <a:gd name="T3" fmla="*/ 0 h 23"/>
                <a:gd name="T4" fmla="*/ 1 w 307"/>
                <a:gd name="T5" fmla="*/ 0 h 23"/>
                <a:gd name="T6" fmla="*/ 1 w 307"/>
                <a:gd name="T7" fmla="*/ 0 h 23"/>
                <a:gd name="T8" fmla="*/ 0 w 307"/>
                <a:gd name="T9" fmla="*/ 0 h 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7"/>
                <a:gd name="T16" fmla="*/ 0 h 23"/>
                <a:gd name="T17" fmla="*/ 307 w 307"/>
                <a:gd name="T18" fmla="*/ 23 h 2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7" h="23">
                  <a:moveTo>
                    <a:pt x="0" y="15"/>
                  </a:moveTo>
                  <a:lnTo>
                    <a:pt x="30" y="23"/>
                  </a:lnTo>
                  <a:lnTo>
                    <a:pt x="307" y="10"/>
                  </a:lnTo>
                  <a:lnTo>
                    <a:pt x="307" y="0"/>
                  </a:lnTo>
                  <a:lnTo>
                    <a:pt x="0" y="15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019" name="Freeform 299">
              <a:extLst>
                <a:ext uri="{FF2B5EF4-FFF2-40B4-BE49-F238E27FC236}">
                  <a16:creationId xmlns:a16="http://schemas.microsoft.com/office/drawing/2014/main" id="{5ADF7814-CCC8-48D6-BB56-7CB353F381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8" y="2587"/>
              <a:ext cx="147" cy="18"/>
            </a:xfrm>
            <a:custGeom>
              <a:avLst/>
              <a:gdLst>
                <a:gd name="T0" fmla="*/ 1 w 293"/>
                <a:gd name="T1" fmla="*/ 0 h 53"/>
                <a:gd name="T2" fmla="*/ 1 w 293"/>
                <a:gd name="T3" fmla="*/ 0 h 53"/>
                <a:gd name="T4" fmla="*/ 1 w 293"/>
                <a:gd name="T5" fmla="*/ 0 h 53"/>
                <a:gd name="T6" fmla="*/ 0 w 293"/>
                <a:gd name="T7" fmla="*/ 0 h 53"/>
                <a:gd name="T8" fmla="*/ 1 w 293"/>
                <a:gd name="T9" fmla="*/ 0 h 53"/>
                <a:gd name="T10" fmla="*/ 1 w 293"/>
                <a:gd name="T11" fmla="*/ 0 h 53"/>
                <a:gd name="T12" fmla="*/ 1 w 293"/>
                <a:gd name="T13" fmla="*/ 0 h 53"/>
                <a:gd name="T14" fmla="*/ 1 w 293"/>
                <a:gd name="T15" fmla="*/ 0 h 53"/>
                <a:gd name="T16" fmla="*/ 1 w 293"/>
                <a:gd name="T17" fmla="*/ 0 h 53"/>
                <a:gd name="T18" fmla="*/ 1 w 293"/>
                <a:gd name="T19" fmla="*/ 0 h 53"/>
                <a:gd name="T20" fmla="*/ 1 w 293"/>
                <a:gd name="T21" fmla="*/ 0 h 53"/>
                <a:gd name="T22" fmla="*/ 1 w 293"/>
                <a:gd name="T23" fmla="*/ 0 h 53"/>
                <a:gd name="T24" fmla="*/ 1 w 293"/>
                <a:gd name="T25" fmla="*/ 0 h 53"/>
                <a:gd name="T26" fmla="*/ 1 w 293"/>
                <a:gd name="T27" fmla="*/ 0 h 53"/>
                <a:gd name="T28" fmla="*/ 1 w 293"/>
                <a:gd name="T29" fmla="*/ 0 h 53"/>
                <a:gd name="T30" fmla="*/ 1 w 293"/>
                <a:gd name="T31" fmla="*/ 0 h 53"/>
                <a:gd name="T32" fmla="*/ 1 w 293"/>
                <a:gd name="T33" fmla="*/ 0 h 53"/>
                <a:gd name="T34" fmla="*/ 1 w 293"/>
                <a:gd name="T35" fmla="*/ 0 h 5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293"/>
                <a:gd name="T55" fmla="*/ 0 h 53"/>
                <a:gd name="T56" fmla="*/ 293 w 293"/>
                <a:gd name="T57" fmla="*/ 53 h 53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293" h="53">
                  <a:moveTo>
                    <a:pt x="293" y="2"/>
                  </a:moveTo>
                  <a:lnTo>
                    <a:pt x="158" y="1"/>
                  </a:lnTo>
                  <a:lnTo>
                    <a:pt x="14" y="0"/>
                  </a:lnTo>
                  <a:lnTo>
                    <a:pt x="0" y="50"/>
                  </a:lnTo>
                  <a:lnTo>
                    <a:pt x="53" y="50"/>
                  </a:lnTo>
                  <a:lnTo>
                    <a:pt x="56" y="35"/>
                  </a:lnTo>
                  <a:lnTo>
                    <a:pt x="61" y="29"/>
                  </a:lnTo>
                  <a:lnTo>
                    <a:pt x="65" y="23"/>
                  </a:lnTo>
                  <a:lnTo>
                    <a:pt x="73" y="20"/>
                  </a:lnTo>
                  <a:lnTo>
                    <a:pt x="81" y="19"/>
                  </a:lnTo>
                  <a:lnTo>
                    <a:pt x="90" y="19"/>
                  </a:lnTo>
                  <a:lnTo>
                    <a:pt x="99" y="22"/>
                  </a:lnTo>
                  <a:lnTo>
                    <a:pt x="106" y="26"/>
                  </a:lnTo>
                  <a:lnTo>
                    <a:pt x="110" y="31"/>
                  </a:lnTo>
                  <a:lnTo>
                    <a:pt x="110" y="36"/>
                  </a:lnTo>
                  <a:lnTo>
                    <a:pt x="107" y="51"/>
                  </a:lnTo>
                  <a:lnTo>
                    <a:pt x="285" y="53"/>
                  </a:lnTo>
                  <a:lnTo>
                    <a:pt x="293" y="2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020" name="Freeform 300">
              <a:extLst>
                <a:ext uri="{FF2B5EF4-FFF2-40B4-BE49-F238E27FC236}">
                  <a16:creationId xmlns:a16="http://schemas.microsoft.com/office/drawing/2014/main" id="{F14A21DB-8161-4460-A37D-150E23E3E8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2" y="2594"/>
              <a:ext cx="143" cy="23"/>
            </a:xfrm>
            <a:custGeom>
              <a:avLst/>
              <a:gdLst>
                <a:gd name="T0" fmla="*/ 0 w 285"/>
                <a:gd name="T1" fmla="*/ 0 h 68"/>
                <a:gd name="T2" fmla="*/ 1 w 285"/>
                <a:gd name="T3" fmla="*/ 0 h 68"/>
                <a:gd name="T4" fmla="*/ 1 w 285"/>
                <a:gd name="T5" fmla="*/ 0 h 68"/>
                <a:gd name="T6" fmla="*/ 1 w 285"/>
                <a:gd name="T7" fmla="*/ 0 h 68"/>
                <a:gd name="T8" fmla="*/ 1 w 285"/>
                <a:gd name="T9" fmla="*/ 0 h 68"/>
                <a:gd name="T10" fmla="*/ 1 w 285"/>
                <a:gd name="T11" fmla="*/ 0 h 68"/>
                <a:gd name="T12" fmla="*/ 1 w 285"/>
                <a:gd name="T13" fmla="*/ 0 h 68"/>
                <a:gd name="T14" fmla="*/ 1 w 285"/>
                <a:gd name="T15" fmla="*/ 0 h 68"/>
                <a:gd name="T16" fmla="*/ 1 w 285"/>
                <a:gd name="T17" fmla="*/ 0 h 68"/>
                <a:gd name="T18" fmla="*/ 1 w 285"/>
                <a:gd name="T19" fmla="*/ 0 h 68"/>
                <a:gd name="T20" fmla="*/ 1 w 285"/>
                <a:gd name="T21" fmla="*/ 0 h 68"/>
                <a:gd name="T22" fmla="*/ 1 w 285"/>
                <a:gd name="T23" fmla="*/ 0 h 68"/>
                <a:gd name="T24" fmla="*/ 1 w 285"/>
                <a:gd name="T25" fmla="*/ 0 h 68"/>
                <a:gd name="T26" fmla="*/ 1 w 285"/>
                <a:gd name="T27" fmla="*/ 0 h 68"/>
                <a:gd name="T28" fmla="*/ 1 w 285"/>
                <a:gd name="T29" fmla="*/ 0 h 68"/>
                <a:gd name="T30" fmla="*/ 1 w 285"/>
                <a:gd name="T31" fmla="*/ 0 h 68"/>
                <a:gd name="T32" fmla="*/ 1 w 285"/>
                <a:gd name="T33" fmla="*/ 0 h 68"/>
                <a:gd name="T34" fmla="*/ 1 w 285"/>
                <a:gd name="T35" fmla="*/ 0 h 68"/>
                <a:gd name="T36" fmla="*/ 1 w 285"/>
                <a:gd name="T37" fmla="*/ 0 h 68"/>
                <a:gd name="T38" fmla="*/ 1 w 285"/>
                <a:gd name="T39" fmla="*/ 0 h 68"/>
                <a:gd name="T40" fmla="*/ 1 w 285"/>
                <a:gd name="T41" fmla="*/ 0 h 68"/>
                <a:gd name="T42" fmla="*/ 1 w 285"/>
                <a:gd name="T43" fmla="*/ 0 h 68"/>
                <a:gd name="T44" fmla="*/ 1 w 285"/>
                <a:gd name="T45" fmla="*/ 0 h 68"/>
                <a:gd name="T46" fmla="*/ 1 w 285"/>
                <a:gd name="T47" fmla="*/ 0 h 68"/>
                <a:gd name="T48" fmla="*/ 1 w 285"/>
                <a:gd name="T49" fmla="*/ 0 h 68"/>
                <a:gd name="T50" fmla="*/ 1 w 285"/>
                <a:gd name="T51" fmla="*/ 0 h 68"/>
                <a:gd name="T52" fmla="*/ 1 w 285"/>
                <a:gd name="T53" fmla="*/ 0 h 68"/>
                <a:gd name="T54" fmla="*/ 1 w 285"/>
                <a:gd name="T55" fmla="*/ 0 h 68"/>
                <a:gd name="T56" fmla="*/ 1 w 285"/>
                <a:gd name="T57" fmla="*/ 0 h 68"/>
                <a:gd name="T58" fmla="*/ 1 w 285"/>
                <a:gd name="T59" fmla="*/ 0 h 68"/>
                <a:gd name="T60" fmla="*/ 0 w 285"/>
                <a:gd name="T61" fmla="*/ 0 h 68"/>
                <a:gd name="T62" fmla="*/ 0 w 285"/>
                <a:gd name="T63" fmla="*/ 0 h 68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285"/>
                <a:gd name="T97" fmla="*/ 0 h 68"/>
                <a:gd name="T98" fmla="*/ 285 w 285"/>
                <a:gd name="T99" fmla="*/ 68 h 68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285" h="68">
                  <a:moveTo>
                    <a:pt x="0" y="65"/>
                  </a:moveTo>
                  <a:lnTo>
                    <a:pt x="285" y="68"/>
                  </a:lnTo>
                  <a:lnTo>
                    <a:pt x="285" y="32"/>
                  </a:lnTo>
                  <a:lnTo>
                    <a:pt x="277" y="32"/>
                  </a:lnTo>
                  <a:lnTo>
                    <a:pt x="99" y="30"/>
                  </a:lnTo>
                  <a:lnTo>
                    <a:pt x="102" y="15"/>
                  </a:lnTo>
                  <a:lnTo>
                    <a:pt x="102" y="10"/>
                  </a:lnTo>
                  <a:lnTo>
                    <a:pt x="98" y="5"/>
                  </a:lnTo>
                  <a:lnTo>
                    <a:pt x="91" y="1"/>
                  </a:lnTo>
                  <a:lnTo>
                    <a:pt x="82" y="0"/>
                  </a:lnTo>
                  <a:lnTo>
                    <a:pt x="79" y="0"/>
                  </a:lnTo>
                  <a:lnTo>
                    <a:pt x="73" y="1"/>
                  </a:lnTo>
                  <a:lnTo>
                    <a:pt x="68" y="2"/>
                  </a:lnTo>
                  <a:lnTo>
                    <a:pt x="63" y="5"/>
                  </a:lnTo>
                  <a:lnTo>
                    <a:pt x="71" y="3"/>
                  </a:lnTo>
                  <a:lnTo>
                    <a:pt x="76" y="3"/>
                  </a:lnTo>
                  <a:lnTo>
                    <a:pt x="82" y="4"/>
                  </a:lnTo>
                  <a:lnTo>
                    <a:pt x="87" y="6"/>
                  </a:lnTo>
                  <a:lnTo>
                    <a:pt x="91" y="8"/>
                  </a:lnTo>
                  <a:lnTo>
                    <a:pt x="94" y="12"/>
                  </a:lnTo>
                  <a:lnTo>
                    <a:pt x="94" y="20"/>
                  </a:lnTo>
                  <a:lnTo>
                    <a:pt x="91" y="23"/>
                  </a:lnTo>
                  <a:lnTo>
                    <a:pt x="87" y="26"/>
                  </a:lnTo>
                  <a:lnTo>
                    <a:pt x="82" y="28"/>
                  </a:lnTo>
                  <a:lnTo>
                    <a:pt x="70" y="28"/>
                  </a:lnTo>
                  <a:lnTo>
                    <a:pt x="65" y="27"/>
                  </a:lnTo>
                  <a:lnTo>
                    <a:pt x="62" y="25"/>
                  </a:lnTo>
                  <a:lnTo>
                    <a:pt x="59" y="22"/>
                  </a:lnTo>
                  <a:lnTo>
                    <a:pt x="56" y="30"/>
                  </a:lnTo>
                  <a:lnTo>
                    <a:pt x="45" y="29"/>
                  </a:lnTo>
                  <a:lnTo>
                    <a:pt x="0" y="29"/>
                  </a:lnTo>
                  <a:lnTo>
                    <a:pt x="0" y="65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021" name="Freeform 301">
              <a:extLst>
                <a:ext uri="{FF2B5EF4-FFF2-40B4-BE49-F238E27FC236}">
                  <a16:creationId xmlns:a16="http://schemas.microsoft.com/office/drawing/2014/main" id="{B4971B81-F3E6-4B2B-90BE-6E77C3D8C2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6" y="2491"/>
              <a:ext cx="139" cy="24"/>
            </a:xfrm>
            <a:custGeom>
              <a:avLst/>
              <a:gdLst>
                <a:gd name="T0" fmla="*/ 0 w 277"/>
                <a:gd name="T1" fmla="*/ 0 h 74"/>
                <a:gd name="T2" fmla="*/ 1 w 277"/>
                <a:gd name="T3" fmla="*/ 0 h 74"/>
                <a:gd name="T4" fmla="*/ 1 w 277"/>
                <a:gd name="T5" fmla="*/ 0 h 74"/>
                <a:gd name="T6" fmla="*/ 0 w 277"/>
                <a:gd name="T7" fmla="*/ 0 h 74"/>
                <a:gd name="T8" fmla="*/ 0 w 277"/>
                <a:gd name="T9" fmla="*/ 0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"/>
                <a:gd name="T16" fmla="*/ 0 h 74"/>
                <a:gd name="T17" fmla="*/ 277 w 277"/>
                <a:gd name="T18" fmla="*/ 74 h 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" h="74">
                  <a:moveTo>
                    <a:pt x="0" y="74"/>
                  </a:moveTo>
                  <a:lnTo>
                    <a:pt x="277" y="66"/>
                  </a:lnTo>
                  <a:lnTo>
                    <a:pt x="277" y="0"/>
                  </a:lnTo>
                  <a:lnTo>
                    <a:pt x="0" y="10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022" name="Freeform 302">
              <a:extLst>
                <a:ext uri="{FF2B5EF4-FFF2-40B4-BE49-F238E27FC236}">
                  <a16:creationId xmlns:a16="http://schemas.microsoft.com/office/drawing/2014/main" id="{87AC8F70-95CB-4374-83E2-7A3794D563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6" y="2535"/>
              <a:ext cx="139" cy="24"/>
            </a:xfrm>
            <a:custGeom>
              <a:avLst/>
              <a:gdLst>
                <a:gd name="T0" fmla="*/ 1 w 277"/>
                <a:gd name="T1" fmla="*/ 0 h 74"/>
                <a:gd name="T2" fmla="*/ 1 w 277"/>
                <a:gd name="T3" fmla="*/ 0 h 74"/>
                <a:gd name="T4" fmla="*/ 1 w 277"/>
                <a:gd name="T5" fmla="*/ 0 h 74"/>
                <a:gd name="T6" fmla="*/ 0 w 277"/>
                <a:gd name="T7" fmla="*/ 0 h 74"/>
                <a:gd name="T8" fmla="*/ 0 w 277"/>
                <a:gd name="T9" fmla="*/ 0 h 74"/>
                <a:gd name="T10" fmla="*/ 1 w 277"/>
                <a:gd name="T11" fmla="*/ 0 h 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77"/>
                <a:gd name="T19" fmla="*/ 0 h 74"/>
                <a:gd name="T20" fmla="*/ 277 w 277"/>
                <a:gd name="T21" fmla="*/ 74 h 7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77" h="74">
                  <a:moveTo>
                    <a:pt x="144" y="73"/>
                  </a:moveTo>
                  <a:lnTo>
                    <a:pt x="277" y="72"/>
                  </a:lnTo>
                  <a:lnTo>
                    <a:pt x="277" y="0"/>
                  </a:lnTo>
                  <a:lnTo>
                    <a:pt x="0" y="5"/>
                  </a:lnTo>
                  <a:lnTo>
                    <a:pt x="0" y="74"/>
                  </a:lnTo>
                  <a:lnTo>
                    <a:pt x="144" y="73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023" name="Freeform 303">
              <a:extLst>
                <a:ext uri="{FF2B5EF4-FFF2-40B4-BE49-F238E27FC236}">
                  <a16:creationId xmlns:a16="http://schemas.microsoft.com/office/drawing/2014/main" id="{941D030E-07E5-4EA1-80FF-0B41BD6D4A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6" y="2513"/>
              <a:ext cx="139" cy="23"/>
            </a:xfrm>
            <a:custGeom>
              <a:avLst/>
              <a:gdLst>
                <a:gd name="T0" fmla="*/ 0 w 277"/>
                <a:gd name="T1" fmla="*/ 0 h 71"/>
                <a:gd name="T2" fmla="*/ 0 w 277"/>
                <a:gd name="T3" fmla="*/ 0 h 71"/>
                <a:gd name="T4" fmla="*/ 1 w 277"/>
                <a:gd name="T5" fmla="*/ 0 h 71"/>
                <a:gd name="T6" fmla="*/ 1 w 277"/>
                <a:gd name="T7" fmla="*/ 0 h 71"/>
                <a:gd name="T8" fmla="*/ 0 w 277"/>
                <a:gd name="T9" fmla="*/ 0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"/>
                <a:gd name="T16" fmla="*/ 0 h 71"/>
                <a:gd name="T17" fmla="*/ 277 w 277"/>
                <a:gd name="T18" fmla="*/ 71 h 7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" h="71">
                  <a:moveTo>
                    <a:pt x="0" y="8"/>
                  </a:moveTo>
                  <a:lnTo>
                    <a:pt x="0" y="71"/>
                  </a:lnTo>
                  <a:lnTo>
                    <a:pt x="277" y="66"/>
                  </a:lnTo>
                  <a:lnTo>
                    <a:pt x="277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024" name="Freeform 304">
              <a:extLst>
                <a:ext uri="{FF2B5EF4-FFF2-40B4-BE49-F238E27FC236}">
                  <a16:creationId xmlns:a16="http://schemas.microsoft.com/office/drawing/2014/main" id="{BB7BF301-EB5A-455C-90B0-A83593A868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6" y="2468"/>
              <a:ext cx="139" cy="26"/>
            </a:xfrm>
            <a:custGeom>
              <a:avLst/>
              <a:gdLst>
                <a:gd name="T0" fmla="*/ 0 w 277"/>
                <a:gd name="T1" fmla="*/ 0 h 77"/>
                <a:gd name="T2" fmla="*/ 0 w 277"/>
                <a:gd name="T3" fmla="*/ 0 h 77"/>
                <a:gd name="T4" fmla="*/ 1 w 277"/>
                <a:gd name="T5" fmla="*/ 0 h 77"/>
                <a:gd name="T6" fmla="*/ 1 w 277"/>
                <a:gd name="T7" fmla="*/ 0 h 77"/>
                <a:gd name="T8" fmla="*/ 0 w 277"/>
                <a:gd name="T9" fmla="*/ 0 h 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"/>
                <a:gd name="T16" fmla="*/ 0 h 77"/>
                <a:gd name="T17" fmla="*/ 277 w 277"/>
                <a:gd name="T18" fmla="*/ 77 h 7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" h="77">
                  <a:moveTo>
                    <a:pt x="0" y="13"/>
                  </a:moveTo>
                  <a:lnTo>
                    <a:pt x="0" y="77"/>
                  </a:lnTo>
                  <a:lnTo>
                    <a:pt x="277" y="67"/>
                  </a:lnTo>
                  <a:lnTo>
                    <a:pt x="277" y="0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025" name="Freeform 305">
              <a:extLst>
                <a:ext uri="{FF2B5EF4-FFF2-40B4-BE49-F238E27FC236}">
                  <a16:creationId xmlns:a16="http://schemas.microsoft.com/office/drawing/2014/main" id="{898E6331-DBE8-47C4-AFB5-9C1F57C65B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8" y="2559"/>
              <a:ext cx="80" cy="16"/>
            </a:xfrm>
            <a:custGeom>
              <a:avLst/>
              <a:gdLst>
                <a:gd name="T0" fmla="*/ 1 w 160"/>
                <a:gd name="T1" fmla="*/ 0 h 49"/>
                <a:gd name="T2" fmla="*/ 1 w 160"/>
                <a:gd name="T3" fmla="*/ 0 h 49"/>
                <a:gd name="T4" fmla="*/ 1 w 160"/>
                <a:gd name="T5" fmla="*/ 0 h 49"/>
                <a:gd name="T6" fmla="*/ 0 w 160"/>
                <a:gd name="T7" fmla="*/ 0 h 49"/>
                <a:gd name="T8" fmla="*/ 1 w 160"/>
                <a:gd name="T9" fmla="*/ 0 h 49"/>
                <a:gd name="T10" fmla="*/ 1 w 160"/>
                <a:gd name="T11" fmla="*/ 0 h 49"/>
                <a:gd name="T12" fmla="*/ 1 w 160"/>
                <a:gd name="T13" fmla="*/ 0 h 49"/>
                <a:gd name="T14" fmla="*/ 1 w 160"/>
                <a:gd name="T15" fmla="*/ 0 h 49"/>
                <a:gd name="T16" fmla="*/ 1 w 160"/>
                <a:gd name="T17" fmla="*/ 0 h 49"/>
                <a:gd name="T18" fmla="*/ 1 w 160"/>
                <a:gd name="T19" fmla="*/ 0 h 49"/>
                <a:gd name="T20" fmla="*/ 1 w 160"/>
                <a:gd name="T21" fmla="*/ 0 h 49"/>
                <a:gd name="T22" fmla="*/ 1 w 160"/>
                <a:gd name="T23" fmla="*/ 0 h 49"/>
                <a:gd name="T24" fmla="*/ 1 w 160"/>
                <a:gd name="T25" fmla="*/ 0 h 49"/>
                <a:gd name="T26" fmla="*/ 1 w 160"/>
                <a:gd name="T27" fmla="*/ 0 h 49"/>
                <a:gd name="T28" fmla="*/ 1 w 160"/>
                <a:gd name="T29" fmla="*/ 0 h 49"/>
                <a:gd name="T30" fmla="*/ 1 w 160"/>
                <a:gd name="T31" fmla="*/ 0 h 49"/>
                <a:gd name="T32" fmla="*/ 1 w 160"/>
                <a:gd name="T33" fmla="*/ 0 h 49"/>
                <a:gd name="T34" fmla="*/ 1 w 160"/>
                <a:gd name="T35" fmla="*/ 0 h 49"/>
                <a:gd name="T36" fmla="*/ 1 w 160"/>
                <a:gd name="T37" fmla="*/ 0 h 49"/>
                <a:gd name="T38" fmla="*/ 1 w 160"/>
                <a:gd name="T39" fmla="*/ 0 h 49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160"/>
                <a:gd name="T61" fmla="*/ 0 h 49"/>
                <a:gd name="T62" fmla="*/ 160 w 160"/>
                <a:gd name="T63" fmla="*/ 49 h 49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160" h="49">
                  <a:moveTo>
                    <a:pt x="146" y="49"/>
                  </a:moveTo>
                  <a:lnTo>
                    <a:pt x="160" y="0"/>
                  </a:lnTo>
                  <a:lnTo>
                    <a:pt x="16" y="1"/>
                  </a:lnTo>
                  <a:lnTo>
                    <a:pt x="0" y="48"/>
                  </a:lnTo>
                  <a:lnTo>
                    <a:pt x="14" y="48"/>
                  </a:lnTo>
                  <a:lnTo>
                    <a:pt x="44" y="49"/>
                  </a:lnTo>
                  <a:lnTo>
                    <a:pt x="50" y="29"/>
                  </a:lnTo>
                  <a:lnTo>
                    <a:pt x="56" y="23"/>
                  </a:lnTo>
                  <a:lnTo>
                    <a:pt x="62" y="18"/>
                  </a:lnTo>
                  <a:lnTo>
                    <a:pt x="70" y="15"/>
                  </a:lnTo>
                  <a:lnTo>
                    <a:pt x="81" y="14"/>
                  </a:lnTo>
                  <a:lnTo>
                    <a:pt x="90" y="14"/>
                  </a:lnTo>
                  <a:lnTo>
                    <a:pt x="101" y="15"/>
                  </a:lnTo>
                  <a:lnTo>
                    <a:pt x="110" y="19"/>
                  </a:lnTo>
                  <a:lnTo>
                    <a:pt x="116" y="24"/>
                  </a:lnTo>
                  <a:lnTo>
                    <a:pt x="120" y="30"/>
                  </a:lnTo>
                  <a:lnTo>
                    <a:pt x="123" y="37"/>
                  </a:lnTo>
                  <a:lnTo>
                    <a:pt x="121" y="43"/>
                  </a:lnTo>
                  <a:lnTo>
                    <a:pt x="118" y="49"/>
                  </a:lnTo>
                  <a:lnTo>
                    <a:pt x="146" y="49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026" name="Freeform 306">
              <a:extLst>
                <a:ext uri="{FF2B5EF4-FFF2-40B4-BE49-F238E27FC236}">
                  <a16:creationId xmlns:a16="http://schemas.microsoft.com/office/drawing/2014/main" id="{7027BF03-90C9-4417-9E7E-2F638454C1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1" y="2559"/>
              <a:ext cx="74" cy="16"/>
            </a:xfrm>
            <a:custGeom>
              <a:avLst/>
              <a:gdLst>
                <a:gd name="T0" fmla="*/ 1 w 147"/>
                <a:gd name="T1" fmla="*/ 0 h 50"/>
                <a:gd name="T2" fmla="*/ 1 w 147"/>
                <a:gd name="T3" fmla="*/ 0 h 50"/>
                <a:gd name="T4" fmla="*/ 1 w 147"/>
                <a:gd name="T5" fmla="*/ 0 h 50"/>
                <a:gd name="T6" fmla="*/ 1 w 147"/>
                <a:gd name="T7" fmla="*/ 0 h 50"/>
                <a:gd name="T8" fmla="*/ 1 w 147"/>
                <a:gd name="T9" fmla="*/ 0 h 50"/>
                <a:gd name="T10" fmla="*/ 1 w 147"/>
                <a:gd name="T11" fmla="*/ 0 h 50"/>
                <a:gd name="T12" fmla="*/ 1 w 147"/>
                <a:gd name="T13" fmla="*/ 0 h 50"/>
                <a:gd name="T14" fmla="*/ 1 w 147"/>
                <a:gd name="T15" fmla="*/ 0 h 50"/>
                <a:gd name="T16" fmla="*/ 1 w 147"/>
                <a:gd name="T17" fmla="*/ 0 h 50"/>
                <a:gd name="T18" fmla="*/ 0 w 147"/>
                <a:gd name="T19" fmla="*/ 0 h 50"/>
                <a:gd name="T20" fmla="*/ 1 w 147"/>
                <a:gd name="T21" fmla="*/ 0 h 50"/>
                <a:gd name="T22" fmla="*/ 1 w 147"/>
                <a:gd name="T23" fmla="*/ 0 h 5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47"/>
                <a:gd name="T37" fmla="*/ 0 h 50"/>
                <a:gd name="T38" fmla="*/ 147 w 147"/>
                <a:gd name="T39" fmla="*/ 50 h 5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47" h="50">
                  <a:moveTo>
                    <a:pt x="68" y="21"/>
                  </a:moveTo>
                  <a:lnTo>
                    <a:pt x="73" y="10"/>
                  </a:lnTo>
                  <a:lnTo>
                    <a:pt x="104" y="10"/>
                  </a:lnTo>
                  <a:lnTo>
                    <a:pt x="101" y="29"/>
                  </a:lnTo>
                  <a:lnTo>
                    <a:pt x="99" y="35"/>
                  </a:lnTo>
                  <a:lnTo>
                    <a:pt x="96" y="50"/>
                  </a:lnTo>
                  <a:lnTo>
                    <a:pt x="136" y="50"/>
                  </a:lnTo>
                  <a:lnTo>
                    <a:pt x="147" y="0"/>
                  </a:lnTo>
                  <a:lnTo>
                    <a:pt x="14" y="1"/>
                  </a:lnTo>
                  <a:lnTo>
                    <a:pt x="0" y="50"/>
                  </a:lnTo>
                  <a:lnTo>
                    <a:pt x="60" y="50"/>
                  </a:lnTo>
                  <a:lnTo>
                    <a:pt x="68" y="21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027" name="Freeform 307">
              <a:extLst>
                <a:ext uri="{FF2B5EF4-FFF2-40B4-BE49-F238E27FC236}">
                  <a16:creationId xmlns:a16="http://schemas.microsoft.com/office/drawing/2014/main" id="{CE956CAE-23B5-4573-9639-B96E108ED6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5" y="2564"/>
              <a:ext cx="72" cy="24"/>
            </a:xfrm>
            <a:custGeom>
              <a:avLst/>
              <a:gdLst>
                <a:gd name="T0" fmla="*/ 1 w 144"/>
                <a:gd name="T1" fmla="*/ 0 h 71"/>
                <a:gd name="T2" fmla="*/ 1 w 144"/>
                <a:gd name="T3" fmla="*/ 0 h 71"/>
                <a:gd name="T4" fmla="*/ 1 w 144"/>
                <a:gd name="T5" fmla="*/ 0 h 71"/>
                <a:gd name="T6" fmla="*/ 1 w 144"/>
                <a:gd name="T7" fmla="*/ 0 h 71"/>
                <a:gd name="T8" fmla="*/ 1 w 144"/>
                <a:gd name="T9" fmla="*/ 0 h 71"/>
                <a:gd name="T10" fmla="*/ 1 w 144"/>
                <a:gd name="T11" fmla="*/ 0 h 71"/>
                <a:gd name="T12" fmla="*/ 1 w 144"/>
                <a:gd name="T13" fmla="*/ 0 h 71"/>
                <a:gd name="T14" fmla="*/ 1 w 144"/>
                <a:gd name="T15" fmla="*/ 0 h 71"/>
                <a:gd name="T16" fmla="*/ 1 w 144"/>
                <a:gd name="T17" fmla="*/ 0 h 71"/>
                <a:gd name="T18" fmla="*/ 1 w 144"/>
                <a:gd name="T19" fmla="*/ 0 h 71"/>
                <a:gd name="T20" fmla="*/ 1 w 144"/>
                <a:gd name="T21" fmla="*/ 0 h 71"/>
                <a:gd name="T22" fmla="*/ 1 w 144"/>
                <a:gd name="T23" fmla="*/ 0 h 71"/>
                <a:gd name="T24" fmla="*/ 1 w 144"/>
                <a:gd name="T25" fmla="*/ 0 h 71"/>
                <a:gd name="T26" fmla="*/ 1 w 144"/>
                <a:gd name="T27" fmla="*/ 0 h 71"/>
                <a:gd name="T28" fmla="*/ 1 w 144"/>
                <a:gd name="T29" fmla="*/ 0 h 71"/>
                <a:gd name="T30" fmla="*/ 1 w 144"/>
                <a:gd name="T31" fmla="*/ 0 h 71"/>
                <a:gd name="T32" fmla="*/ 1 w 144"/>
                <a:gd name="T33" fmla="*/ 0 h 71"/>
                <a:gd name="T34" fmla="*/ 1 w 144"/>
                <a:gd name="T35" fmla="*/ 0 h 71"/>
                <a:gd name="T36" fmla="*/ 1 w 144"/>
                <a:gd name="T37" fmla="*/ 0 h 71"/>
                <a:gd name="T38" fmla="*/ 1 w 144"/>
                <a:gd name="T39" fmla="*/ 0 h 71"/>
                <a:gd name="T40" fmla="*/ 1 w 144"/>
                <a:gd name="T41" fmla="*/ 0 h 71"/>
                <a:gd name="T42" fmla="*/ 1 w 144"/>
                <a:gd name="T43" fmla="*/ 0 h 71"/>
                <a:gd name="T44" fmla="*/ 1 w 144"/>
                <a:gd name="T45" fmla="*/ 0 h 71"/>
                <a:gd name="T46" fmla="*/ 1 w 144"/>
                <a:gd name="T47" fmla="*/ 0 h 71"/>
                <a:gd name="T48" fmla="*/ 1 w 144"/>
                <a:gd name="T49" fmla="*/ 0 h 71"/>
                <a:gd name="T50" fmla="*/ 1 w 144"/>
                <a:gd name="T51" fmla="*/ 0 h 71"/>
                <a:gd name="T52" fmla="*/ 1 w 144"/>
                <a:gd name="T53" fmla="*/ 0 h 71"/>
                <a:gd name="T54" fmla="*/ 1 w 144"/>
                <a:gd name="T55" fmla="*/ 0 h 71"/>
                <a:gd name="T56" fmla="*/ 1 w 144"/>
                <a:gd name="T57" fmla="*/ 0 h 71"/>
                <a:gd name="T58" fmla="*/ 1 w 144"/>
                <a:gd name="T59" fmla="*/ 0 h 71"/>
                <a:gd name="T60" fmla="*/ 0 w 144"/>
                <a:gd name="T61" fmla="*/ 0 h 71"/>
                <a:gd name="T62" fmla="*/ 0 w 144"/>
                <a:gd name="T63" fmla="*/ 0 h 71"/>
                <a:gd name="T64" fmla="*/ 1 w 144"/>
                <a:gd name="T65" fmla="*/ 0 h 71"/>
                <a:gd name="T66" fmla="*/ 1 w 144"/>
                <a:gd name="T67" fmla="*/ 0 h 71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44"/>
                <a:gd name="T103" fmla="*/ 0 h 71"/>
                <a:gd name="T104" fmla="*/ 144 w 144"/>
                <a:gd name="T105" fmla="*/ 71 h 71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44" h="71">
                  <a:moveTo>
                    <a:pt x="144" y="34"/>
                  </a:moveTo>
                  <a:lnTo>
                    <a:pt x="104" y="34"/>
                  </a:lnTo>
                  <a:lnTo>
                    <a:pt x="107" y="28"/>
                  </a:lnTo>
                  <a:lnTo>
                    <a:pt x="109" y="22"/>
                  </a:lnTo>
                  <a:lnTo>
                    <a:pt x="106" y="15"/>
                  </a:lnTo>
                  <a:lnTo>
                    <a:pt x="102" y="9"/>
                  </a:lnTo>
                  <a:lnTo>
                    <a:pt x="96" y="4"/>
                  </a:lnTo>
                  <a:lnTo>
                    <a:pt x="87" y="0"/>
                  </a:lnTo>
                  <a:lnTo>
                    <a:pt x="76" y="1"/>
                  </a:lnTo>
                  <a:lnTo>
                    <a:pt x="68" y="2"/>
                  </a:lnTo>
                  <a:lnTo>
                    <a:pt x="62" y="4"/>
                  </a:lnTo>
                  <a:lnTo>
                    <a:pt x="54" y="8"/>
                  </a:lnTo>
                  <a:lnTo>
                    <a:pt x="51" y="13"/>
                  </a:lnTo>
                  <a:lnTo>
                    <a:pt x="56" y="10"/>
                  </a:lnTo>
                  <a:lnTo>
                    <a:pt x="65" y="7"/>
                  </a:lnTo>
                  <a:lnTo>
                    <a:pt x="75" y="5"/>
                  </a:lnTo>
                  <a:lnTo>
                    <a:pt x="85" y="8"/>
                  </a:lnTo>
                  <a:lnTo>
                    <a:pt x="95" y="12"/>
                  </a:lnTo>
                  <a:lnTo>
                    <a:pt x="99" y="18"/>
                  </a:lnTo>
                  <a:lnTo>
                    <a:pt x="101" y="25"/>
                  </a:lnTo>
                  <a:lnTo>
                    <a:pt x="98" y="32"/>
                  </a:lnTo>
                  <a:lnTo>
                    <a:pt x="90" y="37"/>
                  </a:lnTo>
                  <a:lnTo>
                    <a:pt x="81" y="40"/>
                  </a:lnTo>
                  <a:lnTo>
                    <a:pt x="70" y="40"/>
                  </a:lnTo>
                  <a:lnTo>
                    <a:pt x="59" y="38"/>
                  </a:lnTo>
                  <a:lnTo>
                    <a:pt x="51" y="33"/>
                  </a:lnTo>
                  <a:lnTo>
                    <a:pt x="48" y="28"/>
                  </a:lnTo>
                  <a:lnTo>
                    <a:pt x="47" y="23"/>
                  </a:lnTo>
                  <a:lnTo>
                    <a:pt x="44" y="34"/>
                  </a:lnTo>
                  <a:lnTo>
                    <a:pt x="30" y="34"/>
                  </a:lnTo>
                  <a:lnTo>
                    <a:pt x="0" y="33"/>
                  </a:lnTo>
                  <a:lnTo>
                    <a:pt x="0" y="70"/>
                  </a:lnTo>
                  <a:lnTo>
                    <a:pt x="144" y="71"/>
                  </a:lnTo>
                  <a:lnTo>
                    <a:pt x="144" y="34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028" name="Freeform 308">
              <a:extLst>
                <a:ext uri="{FF2B5EF4-FFF2-40B4-BE49-F238E27FC236}">
                  <a16:creationId xmlns:a16="http://schemas.microsoft.com/office/drawing/2014/main" id="{92450F7D-71C6-48F9-A46A-B194B0626F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7" y="2575"/>
              <a:ext cx="68" cy="13"/>
            </a:xfrm>
            <a:custGeom>
              <a:avLst/>
              <a:gdLst>
                <a:gd name="T0" fmla="*/ 1 w 135"/>
                <a:gd name="T1" fmla="*/ 0 h 38"/>
                <a:gd name="T2" fmla="*/ 1 w 135"/>
                <a:gd name="T3" fmla="*/ 0 h 38"/>
                <a:gd name="T4" fmla="*/ 0 w 135"/>
                <a:gd name="T5" fmla="*/ 0 h 38"/>
                <a:gd name="T6" fmla="*/ 0 w 135"/>
                <a:gd name="T7" fmla="*/ 0 h 38"/>
                <a:gd name="T8" fmla="*/ 1 w 135"/>
                <a:gd name="T9" fmla="*/ 0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5"/>
                <a:gd name="T16" fmla="*/ 0 h 38"/>
                <a:gd name="T17" fmla="*/ 135 w 135"/>
                <a:gd name="T18" fmla="*/ 38 h 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5" h="38">
                  <a:moveTo>
                    <a:pt x="135" y="38"/>
                  </a:moveTo>
                  <a:lnTo>
                    <a:pt x="135" y="0"/>
                  </a:lnTo>
                  <a:lnTo>
                    <a:pt x="0" y="0"/>
                  </a:lnTo>
                  <a:lnTo>
                    <a:pt x="0" y="37"/>
                  </a:lnTo>
                  <a:lnTo>
                    <a:pt x="135" y="38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029" name="Freeform 309">
              <a:extLst>
                <a:ext uri="{FF2B5EF4-FFF2-40B4-BE49-F238E27FC236}">
                  <a16:creationId xmlns:a16="http://schemas.microsoft.com/office/drawing/2014/main" id="{5B7E0D36-0F65-4FB1-A99B-6C37C0FF8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0" y="2608"/>
              <a:ext cx="35" cy="4"/>
            </a:xfrm>
            <a:custGeom>
              <a:avLst/>
              <a:gdLst>
                <a:gd name="T0" fmla="*/ 0 w 70"/>
                <a:gd name="T1" fmla="*/ 0 h 10"/>
                <a:gd name="T2" fmla="*/ 0 w 70"/>
                <a:gd name="T3" fmla="*/ 0 h 10"/>
                <a:gd name="T4" fmla="*/ 1 w 70"/>
                <a:gd name="T5" fmla="*/ 0 h 10"/>
                <a:gd name="T6" fmla="*/ 1 w 70"/>
                <a:gd name="T7" fmla="*/ 0 h 10"/>
                <a:gd name="T8" fmla="*/ 0 w 70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"/>
                <a:gd name="T16" fmla="*/ 0 h 10"/>
                <a:gd name="T17" fmla="*/ 70 w 70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" h="10">
                  <a:moveTo>
                    <a:pt x="0" y="0"/>
                  </a:moveTo>
                  <a:lnTo>
                    <a:pt x="0" y="9"/>
                  </a:lnTo>
                  <a:lnTo>
                    <a:pt x="70" y="10"/>
                  </a:lnTo>
                  <a:lnTo>
                    <a:pt x="70" y="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0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030" name="Freeform 310">
              <a:extLst>
                <a:ext uri="{FF2B5EF4-FFF2-40B4-BE49-F238E27FC236}">
                  <a16:creationId xmlns:a16="http://schemas.microsoft.com/office/drawing/2014/main" id="{3FB8D33F-DBEC-4A67-BA07-CA3D66637E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2" y="2546"/>
              <a:ext cx="34" cy="1"/>
            </a:xfrm>
            <a:custGeom>
              <a:avLst/>
              <a:gdLst>
                <a:gd name="T0" fmla="*/ 0 w 67"/>
                <a:gd name="T1" fmla="*/ 0 h 4"/>
                <a:gd name="T2" fmla="*/ 0 w 67"/>
                <a:gd name="T3" fmla="*/ 0 h 4"/>
                <a:gd name="T4" fmla="*/ 1 w 67"/>
                <a:gd name="T5" fmla="*/ 0 h 4"/>
                <a:gd name="T6" fmla="*/ 1 w 67"/>
                <a:gd name="T7" fmla="*/ 0 h 4"/>
                <a:gd name="T8" fmla="*/ 0 w 67"/>
                <a:gd name="T9" fmla="*/ 0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7"/>
                <a:gd name="T16" fmla="*/ 0 h 4"/>
                <a:gd name="T17" fmla="*/ 67 w 67"/>
                <a:gd name="T18" fmla="*/ 4 h 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7" h="4">
                  <a:moveTo>
                    <a:pt x="0" y="2"/>
                  </a:moveTo>
                  <a:lnTo>
                    <a:pt x="0" y="4"/>
                  </a:lnTo>
                  <a:lnTo>
                    <a:pt x="67" y="3"/>
                  </a:lnTo>
                  <a:lnTo>
                    <a:pt x="67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031" name="Freeform 311">
              <a:extLst>
                <a:ext uri="{FF2B5EF4-FFF2-40B4-BE49-F238E27FC236}">
                  <a16:creationId xmlns:a16="http://schemas.microsoft.com/office/drawing/2014/main" id="{D71D6712-4A20-4355-9E6F-7D2B8733FF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8" y="2567"/>
              <a:ext cx="24" cy="10"/>
            </a:xfrm>
            <a:custGeom>
              <a:avLst/>
              <a:gdLst>
                <a:gd name="T0" fmla="*/ 1 w 46"/>
                <a:gd name="T1" fmla="*/ 0 h 30"/>
                <a:gd name="T2" fmla="*/ 1 w 46"/>
                <a:gd name="T3" fmla="*/ 0 h 30"/>
                <a:gd name="T4" fmla="*/ 1 w 46"/>
                <a:gd name="T5" fmla="*/ 0 h 30"/>
                <a:gd name="T6" fmla="*/ 1 w 46"/>
                <a:gd name="T7" fmla="*/ 0 h 30"/>
                <a:gd name="T8" fmla="*/ 1 w 46"/>
                <a:gd name="T9" fmla="*/ 0 h 30"/>
                <a:gd name="T10" fmla="*/ 1 w 46"/>
                <a:gd name="T11" fmla="*/ 0 h 30"/>
                <a:gd name="T12" fmla="*/ 1 w 46"/>
                <a:gd name="T13" fmla="*/ 0 h 30"/>
                <a:gd name="T14" fmla="*/ 1 w 46"/>
                <a:gd name="T15" fmla="*/ 0 h 30"/>
                <a:gd name="T16" fmla="*/ 1 w 46"/>
                <a:gd name="T17" fmla="*/ 0 h 30"/>
                <a:gd name="T18" fmla="*/ 1 w 46"/>
                <a:gd name="T19" fmla="*/ 0 h 30"/>
                <a:gd name="T20" fmla="*/ 1 w 46"/>
                <a:gd name="T21" fmla="*/ 0 h 30"/>
                <a:gd name="T22" fmla="*/ 1 w 46"/>
                <a:gd name="T23" fmla="*/ 0 h 30"/>
                <a:gd name="T24" fmla="*/ 1 w 46"/>
                <a:gd name="T25" fmla="*/ 0 h 30"/>
                <a:gd name="T26" fmla="*/ 1 w 46"/>
                <a:gd name="T27" fmla="*/ 0 h 30"/>
                <a:gd name="T28" fmla="*/ 1 w 46"/>
                <a:gd name="T29" fmla="*/ 0 h 30"/>
                <a:gd name="T30" fmla="*/ 1 w 46"/>
                <a:gd name="T31" fmla="*/ 0 h 30"/>
                <a:gd name="T32" fmla="*/ 0 w 46"/>
                <a:gd name="T33" fmla="*/ 0 h 30"/>
                <a:gd name="T34" fmla="*/ 1 w 46"/>
                <a:gd name="T35" fmla="*/ 0 h 30"/>
                <a:gd name="T36" fmla="*/ 1 w 46"/>
                <a:gd name="T37" fmla="*/ 0 h 3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46"/>
                <a:gd name="T58" fmla="*/ 0 h 30"/>
                <a:gd name="T59" fmla="*/ 46 w 46"/>
                <a:gd name="T60" fmla="*/ 30 h 30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46" h="30">
                  <a:moveTo>
                    <a:pt x="4" y="25"/>
                  </a:moveTo>
                  <a:lnTo>
                    <a:pt x="12" y="28"/>
                  </a:lnTo>
                  <a:lnTo>
                    <a:pt x="20" y="30"/>
                  </a:lnTo>
                  <a:lnTo>
                    <a:pt x="28" y="29"/>
                  </a:lnTo>
                  <a:lnTo>
                    <a:pt x="35" y="27"/>
                  </a:lnTo>
                  <a:lnTo>
                    <a:pt x="41" y="24"/>
                  </a:lnTo>
                  <a:lnTo>
                    <a:pt x="45" y="19"/>
                  </a:lnTo>
                  <a:lnTo>
                    <a:pt x="46" y="14"/>
                  </a:lnTo>
                  <a:lnTo>
                    <a:pt x="45" y="8"/>
                  </a:lnTo>
                  <a:lnTo>
                    <a:pt x="40" y="4"/>
                  </a:lnTo>
                  <a:lnTo>
                    <a:pt x="34" y="1"/>
                  </a:lnTo>
                  <a:lnTo>
                    <a:pt x="26" y="0"/>
                  </a:lnTo>
                  <a:lnTo>
                    <a:pt x="17" y="0"/>
                  </a:lnTo>
                  <a:lnTo>
                    <a:pt x="9" y="2"/>
                  </a:lnTo>
                  <a:lnTo>
                    <a:pt x="4" y="5"/>
                  </a:lnTo>
                  <a:lnTo>
                    <a:pt x="1" y="10"/>
                  </a:lnTo>
                  <a:lnTo>
                    <a:pt x="0" y="15"/>
                  </a:lnTo>
                  <a:lnTo>
                    <a:pt x="1" y="20"/>
                  </a:lnTo>
                  <a:lnTo>
                    <a:pt x="4" y="25"/>
                  </a:lnTo>
                  <a:close/>
                </a:path>
              </a:pathLst>
            </a:custGeom>
            <a:solidFill>
              <a:srgbClr val="80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032" name="Freeform 312">
              <a:extLst>
                <a:ext uri="{FF2B5EF4-FFF2-40B4-BE49-F238E27FC236}">
                  <a16:creationId xmlns:a16="http://schemas.microsoft.com/office/drawing/2014/main" id="{8B9604A8-42F4-422A-8FEE-565300C673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0" y="2595"/>
              <a:ext cx="17" cy="8"/>
            </a:xfrm>
            <a:custGeom>
              <a:avLst/>
              <a:gdLst>
                <a:gd name="T0" fmla="*/ 1 w 34"/>
                <a:gd name="T1" fmla="*/ 0 h 23"/>
                <a:gd name="T2" fmla="*/ 1 w 34"/>
                <a:gd name="T3" fmla="*/ 0 h 23"/>
                <a:gd name="T4" fmla="*/ 0 w 34"/>
                <a:gd name="T5" fmla="*/ 0 h 23"/>
                <a:gd name="T6" fmla="*/ 0 w 34"/>
                <a:gd name="T7" fmla="*/ 0 h 23"/>
                <a:gd name="T8" fmla="*/ 1 w 34"/>
                <a:gd name="T9" fmla="*/ 0 h 23"/>
                <a:gd name="T10" fmla="*/ 1 w 34"/>
                <a:gd name="T11" fmla="*/ 0 h 23"/>
                <a:gd name="T12" fmla="*/ 1 w 34"/>
                <a:gd name="T13" fmla="*/ 0 h 23"/>
                <a:gd name="T14" fmla="*/ 1 w 34"/>
                <a:gd name="T15" fmla="*/ 0 h 23"/>
                <a:gd name="T16" fmla="*/ 1 w 34"/>
                <a:gd name="T17" fmla="*/ 0 h 23"/>
                <a:gd name="T18" fmla="*/ 1 w 34"/>
                <a:gd name="T19" fmla="*/ 0 h 23"/>
                <a:gd name="T20" fmla="*/ 1 w 34"/>
                <a:gd name="T21" fmla="*/ 0 h 23"/>
                <a:gd name="T22" fmla="*/ 1 w 34"/>
                <a:gd name="T23" fmla="*/ 0 h 23"/>
                <a:gd name="T24" fmla="*/ 1 w 34"/>
                <a:gd name="T25" fmla="*/ 0 h 23"/>
                <a:gd name="T26" fmla="*/ 1 w 34"/>
                <a:gd name="T27" fmla="*/ 0 h 23"/>
                <a:gd name="T28" fmla="*/ 1 w 34"/>
                <a:gd name="T29" fmla="*/ 0 h 23"/>
                <a:gd name="T30" fmla="*/ 1 w 34"/>
                <a:gd name="T31" fmla="*/ 0 h 23"/>
                <a:gd name="T32" fmla="*/ 1 w 34"/>
                <a:gd name="T33" fmla="*/ 0 h 23"/>
                <a:gd name="T34" fmla="*/ 1 w 34"/>
                <a:gd name="T35" fmla="*/ 0 h 23"/>
                <a:gd name="T36" fmla="*/ 1 w 34"/>
                <a:gd name="T37" fmla="*/ 0 h 23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34"/>
                <a:gd name="T58" fmla="*/ 0 h 23"/>
                <a:gd name="T59" fmla="*/ 34 w 34"/>
                <a:gd name="T60" fmla="*/ 23 h 23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34" h="23">
                  <a:moveTo>
                    <a:pt x="7" y="2"/>
                  </a:moveTo>
                  <a:lnTo>
                    <a:pt x="4" y="4"/>
                  </a:lnTo>
                  <a:lnTo>
                    <a:pt x="0" y="8"/>
                  </a:lnTo>
                  <a:lnTo>
                    <a:pt x="0" y="16"/>
                  </a:lnTo>
                  <a:lnTo>
                    <a:pt x="3" y="19"/>
                  </a:lnTo>
                  <a:lnTo>
                    <a:pt x="6" y="22"/>
                  </a:lnTo>
                  <a:lnTo>
                    <a:pt x="9" y="23"/>
                  </a:lnTo>
                  <a:lnTo>
                    <a:pt x="15" y="23"/>
                  </a:lnTo>
                  <a:lnTo>
                    <a:pt x="20" y="22"/>
                  </a:lnTo>
                  <a:lnTo>
                    <a:pt x="26" y="21"/>
                  </a:lnTo>
                  <a:lnTo>
                    <a:pt x="31" y="19"/>
                  </a:lnTo>
                  <a:lnTo>
                    <a:pt x="32" y="15"/>
                  </a:lnTo>
                  <a:lnTo>
                    <a:pt x="34" y="11"/>
                  </a:lnTo>
                  <a:lnTo>
                    <a:pt x="32" y="7"/>
                  </a:lnTo>
                  <a:lnTo>
                    <a:pt x="29" y="4"/>
                  </a:lnTo>
                  <a:lnTo>
                    <a:pt x="25" y="2"/>
                  </a:lnTo>
                  <a:lnTo>
                    <a:pt x="20" y="0"/>
                  </a:lnTo>
                  <a:lnTo>
                    <a:pt x="15" y="0"/>
                  </a:lnTo>
                  <a:lnTo>
                    <a:pt x="7" y="2"/>
                  </a:lnTo>
                  <a:close/>
                </a:path>
              </a:pathLst>
            </a:custGeom>
            <a:solidFill>
              <a:srgbClr val="80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033" name="Freeform 313">
              <a:extLst>
                <a:ext uri="{FF2B5EF4-FFF2-40B4-BE49-F238E27FC236}">
                  <a16:creationId xmlns:a16="http://schemas.microsoft.com/office/drawing/2014/main" id="{17B9A841-7F86-4E8A-A128-ADDCBF8D45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5" y="2566"/>
              <a:ext cx="16" cy="4"/>
            </a:xfrm>
            <a:custGeom>
              <a:avLst/>
              <a:gdLst>
                <a:gd name="T0" fmla="*/ 0 w 33"/>
                <a:gd name="T1" fmla="*/ 0 h 14"/>
                <a:gd name="T2" fmla="*/ 0 w 33"/>
                <a:gd name="T3" fmla="*/ 0 h 14"/>
                <a:gd name="T4" fmla="*/ 0 w 33"/>
                <a:gd name="T5" fmla="*/ 0 h 14"/>
                <a:gd name="T6" fmla="*/ 0 w 33"/>
                <a:gd name="T7" fmla="*/ 0 h 14"/>
                <a:gd name="T8" fmla="*/ 0 w 33"/>
                <a:gd name="T9" fmla="*/ 0 h 14"/>
                <a:gd name="T10" fmla="*/ 0 w 33"/>
                <a:gd name="T11" fmla="*/ 0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3"/>
                <a:gd name="T19" fmla="*/ 0 h 14"/>
                <a:gd name="T20" fmla="*/ 33 w 33"/>
                <a:gd name="T21" fmla="*/ 14 h 1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3" h="14">
                  <a:moveTo>
                    <a:pt x="17" y="14"/>
                  </a:moveTo>
                  <a:lnTo>
                    <a:pt x="31" y="14"/>
                  </a:lnTo>
                  <a:lnTo>
                    <a:pt x="33" y="8"/>
                  </a:lnTo>
                  <a:lnTo>
                    <a:pt x="23" y="0"/>
                  </a:lnTo>
                  <a:lnTo>
                    <a:pt x="0" y="0"/>
                  </a:lnTo>
                  <a:lnTo>
                    <a:pt x="17" y="14"/>
                  </a:lnTo>
                  <a:close/>
                </a:path>
              </a:pathLst>
            </a:custGeom>
            <a:solidFill>
              <a:srgbClr val="FF707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034" name="Freeform 314">
              <a:extLst>
                <a:ext uri="{FF2B5EF4-FFF2-40B4-BE49-F238E27FC236}">
                  <a16:creationId xmlns:a16="http://schemas.microsoft.com/office/drawing/2014/main" id="{20F47DFC-F846-4223-9AFB-BA33321BCB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4" y="2570"/>
              <a:ext cx="7" cy="5"/>
            </a:xfrm>
            <a:custGeom>
              <a:avLst/>
              <a:gdLst>
                <a:gd name="T0" fmla="*/ 0 w 14"/>
                <a:gd name="T1" fmla="*/ 0 h 15"/>
                <a:gd name="T2" fmla="*/ 1 w 14"/>
                <a:gd name="T3" fmla="*/ 0 h 15"/>
                <a:gd name="T4" fmla="*/ 1 w 14"/>
                <a:gd name="T5" fmla="*/ 0 h 15"/>
                <a:gd name="T6" fmla="*/ 0 w 14"/>
                <a:gd name="T7" fmla="*/ 0 h 15"/>
                <a:gd name="T8" fmla="*/ 0 w 14"/>
                <a:gd name="T9" fmla="*/ 0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"/>
                <a:gd name="T16" fmla="*/ 0 h 15"/>
                <a:gd name="T17" fmla="*/ 14 w 14"/>
                <a:gd name="T18" fmla="*/ 15 h 1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" h="15">
                  <a:moveTo>
                    <a:pt x="0" y="15"/>
                  </a:moveTo>
                  <a:lnTo>
                    <a:pt x="11" y="15"/>
                  </a:lnTo>
                  <a:lnTo>
                    <a:pt x="14" y="0"/>
                  </a:lnTo>
                  <a:lnTo>
                    <a:pt x="0" y="0"/>
                  </a:lnTo>
                  <a:lnTo>
                    <a:pt x="0" y="15"/>
                  </a:lnTo>
                  <a:close/>
                </a:path>
              </a:pathLst>
            </a:custGeom>
            <a:solidFill>
              <a:srgbClr val="FF707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035" name="Line 315">
              <a:extLst>
                <a:ext uri="{FF2B5EF4-FFF2-40B4-BE49-F238E27FC236}">
                  <a16:creationId xmlns:a16="http://schemas.microsoft.com/office/drawing/2014/main" id="{5C319479-614F-44D1-A31C-CFA0FD33AB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0" y="2515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36" name="Line 316">
              <a:extLst>
                <a:ext uri="{FF2B5EF4-FFF2-40B4-BE49-F238E27FC236}">
                  <a16:creationId xmlns:a16="http://schemas.microsoft.com/office/drawing/2014/main" id="{C7DD15C5-7FDC-4A78-94A3-DA6CCD8091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9" y="2560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37" name="Line 317">
              <a:extLst>
                <a:ext uri="{FF2B5EF4-FFF2-40B4-BE49-F238E27FC236}">
                  <a16:creationId xmlns:a16="http://schemas.microsoft.com/office/drawing/2014/main" id="{9AB5063A-4BB5-479F-A141-651C6680F4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3" y="2560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38" name="Line 318">
              <a:extLst>
                <a:ext uri="{FF2B5EF4-FFF2-40B4-BE49-F238E27FC236}">
                  <a16:creationId xmlns:a16="http://schemas.microsoft.com/office/drawing/2014/main" id="{6172399A-0978-4EBA-929F-8BF597996F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4" y="2561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39" name="Line 319">
              <a:extLst>
                <a:ext uri="{FF2B5EF4-FFF2-40B4-BE49-F238E27FC236}">
                  <a16:creationId xmlns:a16="http://schemas.microsoft.com/office/drawing/2014/main" id="{77E22AEF-4256-4F71-A428-466B47CDBD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8" y="2560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40" name="Line 320">
              <a:extLst>
                <a:ext uri="{FF2B5EF4-FFF2-40B4-BE49-F238E27FC236}">
                  <a16:creationId xmlns:a16="http://schemas.microsoft.com/office/drawing/2014/main" id="{7E3B680A-92B4-46A9-AF24-20B0A363CB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4" y="2560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41" name="Line 321">
              <a:extLst>
                <a:ext uri="{FF2B5EF4-FFF2-40B4-BE49-F238E27FC236}">
                  <a16:creationId xmlns:a16="http://schemas.microsoft.com/office/drawing/2014/main" id="{2BE926B5-6338-441D-8A11-159ECEA8DE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9" y="2561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42" name="Line 322">
              <a:extLst>
                <a:ext uri="{FF2B5EF4-FFF2-40B4-BE49-F238E27FC236}">
                  <a16:creationId xmlns:a16="http://schemas.microsoft.com/office/drawing/2014/main" id="{1092F636-B417-403A-BE9B-429E285206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9" y="2561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43" name="Line 323">
              <a:extLst>
                <a:ext uri="{FF2B5EF4-FFF2-40B4-BE49-F238E27FC236}">
                  <a16:creationId xmlns:a16="http://schemas.microsoft.com/office/drawing/2014/main" id="{1EF4C209-D125-468A-A51B-650377C155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0" y="2561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44" name="Line 324">
              <a:extLst>
                <a:ext uri="{FF2B5EF4-FFF2-40B4-BE49-F238E27FC236}">
                  <a16:creationId xmlns:a16="http://schemas.microsoft.com/office/drawing/2014/main" id="{BD5E018D-3604-4C51-B732-3002D49562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5" y="2561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45" name="Line 325">
              <a:extLst>
                <a:ext uri="{FF2B5EF4-FFF2-40B4-BE49-F238E27FC236}">
                  <a16:creationId xmlns:a16="http://schemas.microsoft.com/office/drawing/2014/main" id="{40572605-E17B-4894-9814-7FEA828441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5" y="2561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46" name="Line 326">
              <a:extLst>
                <a:ext uri="{FF2B5EF4-FFF2-40B4-BE49-F238E27FC236}">
                  <a16:creationId xmlns:a16="http://schemas.microsoft.com/office/drawing/2014/main" id="{6B7B4B3C-728B-44CF-AA90-2A40C204C5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4" y="2537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47" name="Line 327">
              <a:extLst>
                <a:ext uri="{FF2B5EF4-FFF2-40B4-BE49-F238E27FC236}">
                  <a16:creationId xmlns:a16="http://schemas.microsoft.com/office/drawing/2014/main" id="{310A837B-773E-4EA5-BB9B-A4EE1E8184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3" y="2560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48" name="Line 328">
              <a:extLst>
                <a:ext uri="{FF2B5EF4-FFF2-40B4-BE49-F238E27FC236}">
                  <a16:creationId xmlns:a16="http://schemas.microsoft.com/office/drawing/2014/main" id="{53CA11AA-5C73-4225-8332-41715063C2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6" y="2492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49" name="Line 329">
              <a:extLst>
                <a:ext uri="{FF2B5EF4-FFF2-40B4-BE49-F238E27FC236}">
                  <a16:creationId xmlns:a16="http://schemas.microsoft.com/office/drawing/2014/main" id="{173A890D-2E53-473E-A6FE-E26BAF070F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2" y="2492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50" name="Line 330">
              <a:extLst>
                <a:ext uri="{FF2B5EF4-FFF2-40B4-BE49-F238E27FC236}">
                  <a16:creationId xmlns:a16="http://schemas.microsoft.com/office/drawing/2014/main" id="{DA21C2E3-C7FA-4107-A086-A61F1B7DED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0" y="2561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51" name="Line 331">
              <a:extLst>
                <a:ext uri="{FF2B5EF4-FFF2-40B4-BE49-F238E27FC236}">
                  <a16:creationId xmlns:a16="http://schemas.microsoft.com/office/drawing/2014/main" id="{8B2FD25B-B2BF-4F21-8565-321B8332B0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1" y="2491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52" name="Line 332">
              <a:extLst>
                <a:ext uri="{FF2B5EF4-FFF2-40B4-BE49-F238E27FC236}">
                  <a16:creationId xmlns:a16="http://schemas.microsoft.com/office/drawing/2014/main" id="{F69EB0E5-77D3-48CC-982C-5AC359E234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6" y="2491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53" name="Line 333">
              <a:extLst>
                <a:ext uri="{FF2B5EF4-FFF2-40B4-BE49-F238E27FC236}">
                  <a16:creationId xmlns:a16="http://schemas.microsoft.com/office/drawing/2014/main" id="{4D6E021A-9CD4-426B-95AD-D1742F16AF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1" y="2491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54" name="Line 334">
              <a:extLst>
                <a:ext uri="{FF2B5EF4-FFF2-40B4-BE49-F238E27FC236}">
                  <a16:creationId xmlns:a16="http://schemas.microsoft.com/office/drawing/2014/main" id="{7E90DD89-A620-4770-AD5F-ED3B7B05A7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6" y="2561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55" name="Line 335">
              <a:extLst>
                <a:ext uri="{FF2B5EF4-FFF2-40B4-BE49-F238E27FC236}">
                  <a16:creationId xmlns:a16="http://schemas.microsoft.com/office/drawing/2014/main" id="{45EDB57F-F2DB-4D11-9FB6-7173DD8D58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0" y="2491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56" name="Line 336">
              <a:extLst>
                <a:ext uri="{FF2B5EF4-FFF2-40B4-BE49-F238E27FC236}">
                  <a16:creationId xmlns:a16="http://schemas.microsoft.com/office/drawing/2014/main" id="{CE382F3F-7C76-4989-9992-E31DAB12D7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5" y="2491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57" name="Line 337">
              <a:extLst>
                <a:ext uri="{FF2B5EF4-FFF2-40B4-BE49-F238E27FC236}">
                  <a16:creationId xmlns:a16="http://schemas.microsoft.com/office/drawing/2014/main" id="{AF262D79-27F1-4896-A891-6E88717B0F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1" y="2562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58" name="Line 338">
              <a:extLst>
                <a:ext uri="{FF2B5EF4-FFF2-40B4-BE49-F238E27FC236}">
                  <a16:creationId xmlns:a16="http://schemas.microsoft.com/office/drawing/2014/main" id="{AF172CCB-35BD-4426-974A-D1CEFDBAC0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6" y="2562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59" name="Line 339">
              <a:extLst>
                <a:ext uri="{FF2B5EF4-FFF2-40B4-BE49-F238E27FC236}">
                  <a16:creationId xmlns:a16="http://schemas.microsoft.com/office/drawing/2014/main" id="{CB7201EC-0A5A-4C60-980D-78AD2F0F64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9" y="2491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60" name="Line 340">
              <a:extLst>
                <a:ext uri="{FF2B5EF4-FFF2-40B4-BE49-F238E27FC236}">
                  <a16:creationId xmlns:a16="http://schemas.microsoft.com/office/drawing/2014/main" id="{B99CE52B-01BB-46E5-80D8-3B320A3D37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4" y="2491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61" name="Line 341">
              <a:extLst>
                <a:ext uri="{FF2B5EF4-FFF2-40B4-BE49-F238E27FC236}">
                  <a16:creationId xmlns:a16="http://schemas.microsoft.com/office/drawing/2014/main" id="{6BDC4753-81B4-476B-BC5F-606521C982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6" y="2562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62" name="Line 342">
              <a:extLst>
                <a:ext uri="{FF2B5EF4-FFF2-40B4-BE49-F238E27FC236}">
                  <a16:creationId xmlns:a16="http://schemas.microsoft.com/office/drawing/2014/main" id="{9FBECC7B-1140-4B31-9850-7981A850E5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5" y="2490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63" name="Line 343">
              <a:extLst>
                <a:ext uri="{FF2B5EF4-FFF2-40B4-BE49-F238E27FC236}">
                  <a16:creationId xmlns:a16="http://schemas.microsoft.com/office/drawing/2014/main" id="{7D47E69E-DCA3-4920-9669-3247EA6108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9" y="2490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64" name="Line 344">
              <a:extLst>
                <a:ext uri="{FF2B5EF4-FFF2-40B4-BE49-F238E27FC236}">
                  <a16:creationId xmlns:a16="http://schemas.microsoft.com/office/drawing/2014/main" id="{A7F0E019-9621-49EA-AF25-85610AA40F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4" y="2490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65" name="Line 345">
              <a:extLst>
                <a:ext uri="{FF2B5EF4-FFF2-40B4-BE49-F238E27FC236}">
                  <a16:creationId xmlns:a16="http://schemas.microsoft.com/office/drawing/2014/main" id="{91AE5ED1-01E8-4168-8CCF-D5FCFD8CE1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2" y="2562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66" name="Line 346">
              <a:extLst>
                <a:ext uri="{FF2B5EF4-FFF2-40B4-BE49-F238E27FC236}">
                  <a16:creationId xmlns:a16="http://schemas.microsoft.com/office/drawing/2014/main" id="{9891040F-BCEE-4195-9025-B8C79E9594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3" y="2490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67" name="Line 347">
              <a:extLst>
                <a:ext uri="{FF2B5EF4-FFF2-40B4-BE49-F238E27FC236}">
                  <a16:creationId xmlns:a16="http://schemas.microsoft.com/office/drawing/2014/main" id="{842BF678-BF5D-4DD5-B36D-BB17A88FBC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9" y="2490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68" name="Line 348">
              <a:extLst>
                <a:ext uri="{FF2B5EF4-FFF2-40B4-BE49-F238E27FC236}">
                  <a16:creationId xmlns:a16="http://schemas.microsoft.com/office/drawing/2014/main" id="{9F305336-EED0-411B-8C18-07FCC49CFE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6" y="2562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69" name="Line 349">
              <a:extLst>
                <a:ext uri="{FF2B5EF4-FFF2-40B4-BE49-F238E27FC236}">
                  <a16:creationId xmlns:a16="http://schemas.microsoft.com/office/drawing/2014/main" id="{30CF2044-9D3B-4F5C-B1CC-00C318949F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6" y="2515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70" name="Line 350">
              <a:extLst>
                <a:ext uri="{FF2B5EF4-FFF2-40B4-BE49-F238E27FC236}">
                  <a16:creationId xmlns:a16="http://schemas.microsoft.com/office/drawing/2014/main" id="{14089734-9E72-4688-8706-4A80193301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2" y="2515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71" name="Line 351">
              <a:extLst>
                <a:ext uri="{FF2B5EF4-FFF2-40B4-BE49-F238E27FC236}">
                  <a16:creationId xmlns:a16="http://schemas.microsoft.com/office/drawing/2014/main" id="{18C2AEE7-8CDF-41C6-9CAC-FD0D542B44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6" y="2515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72" name="Line 352">
              <a:extLst>
                <a:ext uri="{FF2B5EF4-FFF2-40B4-BE49-F238E27FC236}">
                  <a16:creationId xmlns:a16="http://schemas.microsoft.com/office/drawing/2014/main" id="{A72CB177-D894-4CC3-8326-945A55F484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1" y="2515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73" name="Line 353">
              <a:extLst>
                <a:ext uri="{FF2B5EF4-FFF2-40B4-BE49-F238E27FC236}">
                  <a16:creationId xmlns:a16="http://schemas.microsoft.com/office/drawing/2014/main" id="{25F079B9-9F9F-4407-9E7C-46ABC43A01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6" y="2515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74" name="Line 354">
              <a:extLst>
                <a:ext uri="{FF2B5EF4-FFF2-40B4-BE49-F238E27FC236}">
                  <a16:creationId xmlns:a16="http://schemas.microsoft.com/office/drawing/2014/main" id="{75135581-1E6C-4261-A09F-213B8CF067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1" y="2515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75" name="Line 355">
              <a:extLst>
                <a:ext uri="{FF2B5EF4-FFF2-40B4-BE49-F238E27FC236}">
                  <a16:creationId xmlns:a16="http://schemas.microsoft.com/office/drawing/2014/main" id="{6DDE16DF-C0C7-42E4-851C-6E50EFE993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6" y="2515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76" name="Line 356">
              <a:extLst>
                <a:ext uri="{FF2B5EF4-FFF2-40B4-BE49-F238E27FC236}">
                  <a16:creationId xmlns:a16="http://schemas.microsoft.com/office/drawing/2014/main" id="{3920BDA7-F42E-4127-8ABA-D1340017ED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0" y="2561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77" name="Line 357">
              <a:extLst>
                <a:ext uri="{FF2B5EF4-FFF2-40B4-BE49-F238E27FC236}">
                  <a16:creationId xmlns:a16="http://schemas.microsoft.com/office/drawing/2014/main" id="{0422F139-60C5-46F2-A7C6-C0AA0565E7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5" y="2515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78" name="Line 358">
              <a:extLst>
                <a:ext uri="{FF2B5EF4-FFF2-40B4-BE49-F238E27FC236}">
                  <a16:creationId xmlns:a16="http://schemas.microsoft.com/office/drawing/2014/main" id="{23FB0C14-67B6-4D22-8344-AD34BF32E8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0" y="2514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79" name="Line 359">
              <a:extLst>
                <a:ext uri="{FF2B5EF4-FFF2-40B4-BE49-F238E27FC236}">
                  <a16:creationId xmlns:a16="http://schemas.microsoft.com/office/drawing/2014/main" id="{DE0AA776-000B-42A7-8777-9E41135149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5" y="2514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80" name="Line 360">
              <a:extLst>
                <a:ext uri="{FF2B5EF4-FFF2-40B4-BE49-F238E27FC236}">
                  <a16:creationId xmlns:a16="http://schemas.microsoft.com/office/drawing/2014/main" id="{531A8D39-82BB-43F5-B6EC-07D0739307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9" y="2514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81" name="Line 361">
              <a:extLst>
                <a:ext uri="{FF2B5EF4-FFF2-40B4-BE49-F238E27FC236}">
                  <a16:creationId xmlns:a16="http://schemas.microsoft.com/office/drawing/2014/main" id="{3053D43A-8D8E-4568-85F5-4E8251FA20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4" y="2514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82" name="Line 362">
              <a:extLst>
                <a:ext uri="{FF2B5EF4-FFF2-40B4-BE49-F238E27FC236}">
                  <a16:creationId xmlns:a16="http://schemas.microsoft.com/office/drawing/2014/main" id="{D6380B8D-FB4B-4C37-B45D-506AB9EE78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0" y="2514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83" name="Line 363">
              <a:extLst>
                <a:ext uri="{FF2B5EF4-FFF2-40B4-BE49-F238E27FC236}">
                  <a16:creationId xmlns:a16="http://schemas.microsoft.com/office/drawing/2014/main" id="{9727B778-4CA3-41A1-8C57-A5DAE71B91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5" y="2514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84" name="Line 364">
              <a:extLst>
                <a:ext uri="{FF2B5EF4-FFF2-40B4-BE49-F238E27FC236}">
                  <a16:creationId xmlns:a16="http://schemas.microsoft.com/office/drawing/2014/main" id="{4E44B80D-CF0B-4B96-9871-B8C0825C72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9" y="2514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85" name="Line 365">
              <a:extLst>
                <a:ext uri="{FF2B5EF4-FFF2-40B4-BE49-F238E27FC236}">
                  <a16:creationId xmlns:a16="http://schemas.microsoft.com/office/drawing/2014/main" id="{93FFE7D3-1A76-4975-84AE-89558E31C5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4" y="2513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86" name="Line 366">
              <a:extLst>
                <a:ext uri="{FF2B5EF4-FFF2-40B4-BE49-F238E27FC236}">
                  <a16:creationId xmlns:a16="http://schemas.microsoft.com/office/drawing/2014/main" id="{E5CD9A5C-3703-4C1C-971D-F45CCB6521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8" y="2513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87" name="Line 367">
              <a:extLst>
                <a:ext uri="{FF2B5EF4-FFF2-40B4-BE49-F238E27FC236}">
                  <a16:creationId xmlns:a16="http://schemas.microsoft.com/office/drawing/2014/main" id="{7F669E94-2932-47DF-A763-1F5529B3FD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3" y="2513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88" name="Line 368">
              <a:extLst>
                <a:ext uri="{FF2B5EF4-FFF2-40B4-BE49-F238E27FC236}">
                  <a16:creationId xmlns:a16="http://schemas.microsoft.com/office/drawing/2014/main" id="{D2320EBA-584E-4250-81AC-5D0741CD78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9" y="2513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89" name="Line 369">
              <a:extLst>
                <a:ext uri="{FF2B5EF4-FFF2-40B4-BE49-F238E27FC236}">
                  <a16:creationId xmlns:a16="http://schemas.microsoft.com/office/drawing/2014/main" id="{000044FE-04F8-4B56-A355-1E430FCE63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3" y="2513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90" name="Line 370">
              <a:extLst>
                <a:ext uri="{FF2B5EF4-FFF2-40B4-BE49-F238E27FC236}">
                  <a16:creationId xmlns:a16="http://schemas.microsoft.com/office/drawing/2014/main" id="{61D1B0E4-87F4-452C-9F85-FFD65D717D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3" y="2537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91" name="Line 371">
              <a:extLst>
                <a:ext uri="{FF2B5EF4-FFF2-40B4-BE49-F238E27FC236}">
                  <a16:creationId xmlns:a16="http://schemas.microsoft.com/office/drawing/2014/main" id="{01E74907-B324-41E5-9E4E-BD97954202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2" y="2538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92" name="Line 372">
              <a:extLst>
                <a:ext uri="{FF2B5EF4-FFF2-40B4-BE49-F238E27FC236}">
                  <a16:creationId xmlns:a16="http://schemas.microsoft.com/office/drawing/2014/main" id="{567045A8-3842-4BE2-8F3D-7C99E64B09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6" y="2538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93" name="Line 373">
              <a:extLst>
                <a:ext uri="{FF2B5EF4-FFF2-40B4-BE49-F238E27FC236}">
                  <a16:creationId xmlns:a16="http://schemas.microsoft.com/office/drawing/2014/main" id="{2BC15187-93EA-4434-A43D-B7B072E054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1" y="2538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94" name="Line 374">
              <a:extLst>
                <a:ext uri="{FF2B5EF4-FFF2-40B4-BE49-F238E27FC236}">
                  <a16:creationId xmlns:a16="http://schemas.microsoft.com/office/drawing/2014/main" id="{BFD8AE72-202D-4F22-A0EE-C475796B71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8" y="2537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95" name="Line 375">
              <a:extLst>
                <a:ext uri="{FF2B5EF4-FFF2-40B4-BE49-F238E27FC236}">
                  <a16:creationId xmlns:a16="http://schemas.microsoft.com/office/drawing/2014/main" id="{253FD036-AEB5-48E9-8932-02A877D5CD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1" y="2538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96" name="Line 376">
              <a:extLst>
                <a:ext uri="{FF2B5EF4-FFF2-40B4-BE49-F238E27FC236}">
                  <a16:creationId xmlns:a16="http://schemas.microsoft.com/office/drawing/2014/main" id="{C80239C9-658E-46E3-A343-A4D63ACA7B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6" y="2538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97" name="Line 377">
              <a:extLst>
                <a:ext uri="{FF2B5EF4-FFF2-40B4-BE49-F238E27FC236}">
                  <a16:creationId xmlns:a16="http://schemas.microsoft.com/office/drawing/2014/main" id="{76F55CB4-2D67-4A33-90B9-EF669F5FA3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4" y="2537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98" name="Line 378">
              <a:extLst>
                <a:ext uri="{FF2B5EF4-FFF2-40B4-BE49-F238E27FC236}">
                  <a16:creationId xmlns:a16="http://schemas.microsoft.com/office/drawing/2014/main" id="{A5E0D431-76DD-4773-9472-8400599BBD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5" y="2537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099" name="Line 379">
              <a:extLst>
                <a:ext uri="{FF2B5EF4-FFF2-40B4-BE49-F238E27FC236}">
                  <a16:creationId xmlns:a16="http://schemas.microsoft.com/office/drawing/2014/main" id="{289DF80E-83C3-4477-A98E-45912405FD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5" y="2538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100" name="Line 380">
              <a:extLst>
                <a:ext uri="{FF2B5EF4-FFF2-40B4-BE49-F238E27FC236}">
                  <a16:creationId xmlns:a16="http://schemas.microsoft.com/office/drawing/2014/main" id="{4121443E-9575-49EE-93BB-600B5C4CA9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0" y="2538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101" name="Line 381">
              <a:extLst>
                <a:ext uri="{FF2B5EF4-FFF2-40B4-BE49-F238E27FC236}">
                  <a16:creationId xmlns:a16="http://schemas.microsoft.com/office/drawing/2014/main" id="{BE2E37BC-7BF6-4F7F-A7DE-74F1CEBC2B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0" y="2537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102" name="Line 382">
              <a:extLst>
                <a:ext uri="{FF2B5EF4-FFF2-40B4-BE49-F238E27FC236}">
                  <a16:creationId xmlns:a16="http://schemas.microsoft.com/office/drawing/2014/main" id="{31E8AA5F-EE58-4AF2-886D-AC44B46D19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5" y="2561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103" name="Line 383">
              <a:extLst>
                <a:ext uri="{FF2B5EF4-FFF2-40B4-BE49-F238E27FC236}">
                  <a16:creationId xmlns:a16="http://schemas.microsoft.com/office/drawing/2014/main" id="{517081A7-57CB-4747-86CA-A6AC55C424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9" y="2538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104" name="Line 384">
              <a:extLst>
                <a:ext uri="{FF2B5EF4-FFF2-40B4-BE49-F238E27FC236}">
                  <a16:creationId xmlns:a16="http://schemas.microsoft.com/office/drawing/2014/main" id="{5482E9E0-2702-4989-AD15-B09E1301E3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5" y="2538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105" name="Line 385">
              <a:extLst>
                <a:ext uri="{FF2B5EF4-FFF2-40B4-BE49-F238E27FC236}">
                  <a16:creationId xmlns:a16="http://schemas.microsoft.com/office/drawing/2014/main" id="{FAB651BA-01F9-4462-A30A-176540C288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9" y="2537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106" name="Line 386">
              <a:extLst>
                <a:ext uri="{FF2B5EF4-FFF2-40B4-BE49-F238E27FC236}">
                  <a16:creationId xmlns:a16="http://schemas.microsoft.com/office/drawing/2014/main" id="{25758EEB-CFD1-4C41-93DD-DBC66F0379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0" y="2538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107" name="Line 387">
              <a:extLst>
                <a:ext uri="{FF2B5EF4-FFF2-40B4-BE49-F238E27FC236}">
                  <a16:creationId xmlns:a16="http://schemas.microsoft.com/office/drawing/2014/main" id="{06021DD2-49C5-4F59-B8A4-B32E91BC14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6" y="2538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108" name="Line 388">
              <a:extLst>
                <a:ext uri="{FF2B5EF4-FFF2-40B4-BE49-F238E27FC236}">
                  <a16:creationId xmlns:a16="http://schemas.microsoft.com/office/drawing/2014/main" id="{8BD5A42E-7495-4655-BBDE-F3F1993516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3" y="2537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109" name="Line 389">
              <a:extLst>
                <a:ext uri="{FF2B5EF4-FFF2-40B4-BE49-F238E27FC236}">
                  <a16:creationId xmlns:a16="http://schemas.microsoft.com/office/drawing/2014/main" id="{61CA15B3-38CB-4875-89F3-B0593954B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9" y="2537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110" name="Line 390">
              <a:extLst>
                <a:ext uri="{FF2B5EF4-FFF2-40B4-BE49-F238E27FC236}">
                  <a16:creationId xmlns:a16="http://schemas.microsoft.com/office/drawing/2014/main" id="{BBB52392-445A-40B8-ADC9-67181B612C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6" y="2538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111" name="Line 391">
              <a:extLst>
                <a:ext uri="{FF2B5EF4-FFF2-40B4-BE49-F238E27FC236}">
                  <a16:creationId xmlns:a16="http://schemas.microsoft.com/office/drawing/2014/main" id="{63A4F6D3-698D-467A-8030-C379F082DA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3" y="2490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112" name="Line 392">
              <a:extLst>
                <a:ext uri="{FF2B5EF4-FFF2-40B4-BE49-F238E27FC236}">
                  <a16:creationId xmlns:a16="http://schemas.microsoft.com/office/drawing/2014/main" id="{E47B2C60-EDC4-4F9B-9D2D-72C13CD23F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8" y="2490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113" name="Line 393">
              <a:extLst>
                <a:ext uri="{FF2B5EF4-FFF2-40B4-BE49-F238E27FC236}">
                  <a16:creationId xmlns:a16="http://schemas.microsoft.com/office/drawing/2014/main" id="{A7BB87E1-A207-4875-AAEC-28895C69B8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0" y="2491"/>
              <a:ext cx="1" cy="1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114" name="Line 394">
              <a:extLst>
                <a:ext uri="{FF2B5EF4-FFF2-40B4-BE49-F238E27FC236}">
                  <a16:creationId xmlns:a16="http://schemas.microsoft.com/office/drawing/2014/main" id="{39DF458A-EEC7-4445-977A-10B14D37EB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1" y="2562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115" name="Line 395">
              <a:extLst>
                <a:ext uri="{FF2B5EF4-FFF2-40B4-BE49-F238E27FC236}">
                  <a16:creationId xmlns:a16="http://schemas.microsoft.com/office/drawing/2014/main" id="{DA176044-5DF5-4C5F-8530-2C9FE2A445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5" y="2491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116" name="Line 396">
              <a:extLst>
                <a:ext uri="{FF2B5EF4-FFF2-40B4-BE49-F238E27FC236}">
                  <a16:creationId xmlns:a16="http://schemas.microsoft.com/office/drawing/2014/main" id="{79C53050-2DDB-4B0E-95C8-1D408D5C9F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0" y="2491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117" name="Line 397">
              <a:extLst>
                <a:ext uri="{FF2B5EF4-FFF2-40B4-BE49-F238E27FC236}">
                  <a16:creationId xmlns:a16="http://schemas.microsoft.com/office/drawing/2014/main" id="{F32114B0-5930-454A-9349-45058C91E0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6" y="2492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118" name="Line 398">
              <a:extLst>
                <a:ext uri="{FF2B5EF4-FFF2-40B4-BE49-F238E27FC236}">
                  <a16:creationId xmlns:a16="http://schemas.microsoft.com/office/drawing/2014/main" id="{ECB35BC0-F33A-45D4-952F-2C24AFCE65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6" y="2491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119" name="Line 399">
              <a:extLst>
                <a:ext uri="{FF2B5EF4-FFF2-40B4-BE49-F238E27FC236}">
                  <a16:creationId xmlns:a16="http://schemas.microsoft.com/office/drawing/2014/main" id="{E9F48E51-B14B-47DD-A7A9-066633B73A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27" y="2562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120" name="Line 400">
              <a:extLst>
                <a:ext uri="{FF2B5EF4-FFF2-40B4-BE49-F238E27FC236}">
                  <a16:creationId xmlns:a16="http://schemas.microsoft.com/office/drawing/2014/main" id="{DADCE5D6-CB6A-4F19-B27E-86504C3157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5" y="2562"/>
              <a:ext cx="1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121" name="Line 401">
              <a:extLst>
                <a:ext uri="{FF2B5EF4-FFF2-40B4-BE49-F238E27FC236}">
                  <a16:creationId xmlns:a16="http://schemas.microsoft.com/office/drawing/2014/main" id="{FCDD8E24-05F3-4AA3-8D6A-5A161B58AF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6" y="2562"/>
              <a:ext cx="1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122" name="Line 402">
              <a:extLst>
                <a:ext uri="{FF2B5EF4-FFF2-40B4-BE49-F238E27FC236}">
                  <a16:creationId xmlns:a16="http://schemas.microsoft.com/office/drawing/2014/main" id="{AA494CEE-0B0F-4560-8095-DA6264C580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7" y="2561"/>
              <a:ext cx="1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123" name="Line 403">
              <a:extLst>
                <a:ext uri="{FF2B5EF4-FFF2-40B4-BE49-F238E27FC236}">
                  <a16:creationId xmlns:a16="http://schemas.microsoft.com/office/drawing/2014/main" id="{5A1EB929-6221-4A4F-B774-3070D7A1F7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6" y="2561"/>
              <a:ext cx="1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124" name="Line 404">
              <a:extLst>
                <a:ext uri="{FF2B5EF4-FFF2-40B4-BE49-F238E27FC236}">
                  <a16:creationId xmlns:a16="http://schemas.microsoft.com/office/drawing/2014/main" id="{69FCFA76-860D-40AB-8B7F-B113235426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5" y="2561"/>
              <a:ext cx="1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125" name="Line 405">
              <a:extLst>
                <a:ext uri="{FF2B5EF4-FFF2-40B4-BE49-F238E27FC236}">
                  <a16:creationId xmlns:a16="http://schemas.microsoft.com/office/drawing/2014/main" id="{322CB9B5-199A-479F-85DD-02993A565C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9" y="2565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126" name="Line 406">
              <a:extLst>
                <a:ext uri="{FF2B5EF4-FFF2-40B4-BE49-F238E27FC236}">
                  <a16:creationId xmlns:a16="http://schemas.microsoft.com/office/drawing/2014/main" id="{86A6F6C9-B516-4219-ACB9-8A583DDE3F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9" y="2565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127" name="Line 407">
              <a:extLst>
                <a:ext uri="{FF2B5EF4-FFF2-40B4-BE49-F238E27FC236}">
                  <a16:creationId xmlns:a16="http://schemas.microsoft.com/office/drawing/2014/main" id="{BFCBD6FF-5BDF-45C3-8994-398CFB4D11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86" y="2608"/>
              <a:ext cx="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128" name="Line 408">
              <a:extLst>
                <a:ext uri="{FF2B5EF4-FFF2-40B4-BE49-F238E27FC236}">
                  <a16:creationId xmlns:a16="http://schemas.microsoft.com/office/drawing/2014/main" id="{FCED3F12-2127-4270-AE71-34306F8E43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86" y="2611"/>
              <a:ext cx="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129" name="Freeform 409">
              <a:extLst>
                <a:ext uri="{FF2B5EF4-FFF2-40B4-BE49-F238E27FC236}">
                  <a16:creationId xmlns:a16="http://schemas.microsoft.com/office/drawing/2014/main" id="{683CED03-3032-4BAC-98BB-09FE8BFE1C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8" y="2461"/>
              <a:ext cx="587" cy="301"/>
            </a:xfrm>
            <a:custGeom>
              <a:avLst/>
              <a:gdLst>
                <a:gd name="T0" fmla="*/ 0 w 1175"/>
                <a:gd name="T1" fmla="*/ 0 h 903"/>
                <a:gd name="T2" fmla="*/ 0 w 1175"/>
                <a:gd name="T3" fmla="*/ 0 h 903"/>
                <a:gd name="T4" fmla="*/ 0 w 1175"/>
                <a:gd name="T5" fmla="*/ 0 h 903"/>
                <a:gd name="T6" fmla="*/ 0 w 1175"/>
                <a:gd name="T7" fmla="*/ 0 h 903"/>
                <a:gd name="T8" fmla="*/ 0 w 1175"/>
                <a:gd name="T9" fmla="*/ 0 h 903"/>
                <a:gd name="T10" fmla="*/ 0 w 1175"/>
                <a:gd name="T11" fmla="*/ 0 h 903"/>
                <a:gd name="T12" fmla="*/ 0 w 1175"/>
                <a:gd name="T13" fmla="*/ 0 h 903"/>
                <a:gd name="T14" fmla="*/ 0 w 1175"/>
                <a:gd name="T15" fmla="*/ 0 h 903"/>
                <a:gd name="T16" fmla="*/ 0 w 1175"/>
                <a:gd name="T17" fmla="*/ 0 h 903"/>
                <a:gd name="T18" fmla="*/ 0 w 1175"/>
                <a:gd name="T19" fmla="*/ 0 h 903"/>
                <a:gd name="T20" fmla="*/ 0 w 1175"/>
                <a:gd name="T21" fmla="*/ 0 h 903"/>
                <a:gd name="T22" fmla="*/ 0 w 1175"/>
                <a:gd name="T23" fmla="*/ 0 h 903"/>
                <a:gd name="T24" fmla="*/ 0 w 1175"/>
                <a:gd name="T25" fmla="*/ 0 h 903"/>
                <a:gd name="T26" fmla="*/ 0 w 1175"/>
                <a:gd name="T27" fmla="*/ 0 h 903"/>
                <a:gd name="T28" fmla="*/ 0 w 1175"/>
                <a:gd name="T29" fmla="*/ 0 h 903"/>
                <a:gd name="T30" fmla="*/ 0 w 1175"/>
                <a:gd name="T31" fmla="*/ 0 h 903"/>
                <a:gd name="T32" fmla="*/ 0 w 1175"/>
                <a:gd name="T33" fmla="*/ 0 h 903"/>
                <a:gd name="T34" fmla="*/ 0 w 1175"/>
                <a:gd name="T35" fmla="*/ 0 h 903"/>
                <a:gd name="T36" fmla="*/ 0 w 1175"/>
                <a:gd name="T37" fmla="*/ 0 h 903"/>
                <a:gd name="T38" fmla="*/ 0 w 1175"/>
                <a:gd name="T39" fmla="*/ 0 h 903"/>
                <a:gd name="T40" fmla="*/ 0 w 1175"/>
                <a:gd name="T41" fmla="*/ 0 h 903"/>
                <a:gd name="T42" fmla="*/ 0 w 1175"/>
                <a:gd name="T43" fmla="*/ 0 h 903"/>
                <a:gd name="T44" fmla="*/ 0 w 1175"/>
                <a:gd name="T45" fmla="*/ 0 h 903"/>
                <a:gd name="T46" fmla="*/ 0 w 1175"/>
                <a:gd name="T47" fmla="*/ 0 h 903"/>
                <a:gd name="T48" fmla="*/ 0 w 1175"/>
                <a:gd name="T49" fmla="*/ 0 h 90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175"/>
                <a:gd name="T76" fmla="*/ 0 h 903"/>
                <a:gd name="T77" fmla="*/ 1175 w 1175"/>
                <a:gd name="T78" fmla="*/ 903 h 903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175" h="903">
                  <a:moveTo>
                    <a:pt x="1174" y="775"/>
                  </a:moveTo>
                  <a:lnTo>
                    <a:pt x="1175" y="768"/>
                  </a:lnTo>
                  <a:lnTo>
                    <a:pt x="1175" y="759"/>
                  </a:lnTo>
                  <a:lnTo>
                    <a:pt x="1155" y="763"/>
                  </a:lnTo>
                  <a:lnTo>
                    <a:pt x="1154" y="769"/>
                  </a:lnTo>
                  <a:lnTo>
                    <a:pt x="1154" y="774"/>
                  </a:lnTo>
                  <a:lnTo>
                    <a:pt x="1149" y="779"/>
                  </a:lnTo>
                  <a:lnTo>
                    <a:pt x="1143" y="783"/>
                  </a:lnTo>
                  <a:lnTo>
                    <a:pt x="1133" y="786"/>
                  </a:lnTo>
                  <a:lnTo>
                    <a:pt x="699" y="885"/>
                  </a:lnTo>
                  <a:lnTo>
                    <a:pt x="679" y="890"/>
                  </a:lnTo>
                  <a:lnTo>
                    <a:pt x="70" y="846"/>
                  </a:lnTo>
                  <a:lnTo>
                    <a:pt x="70" y="827"/>
                  </a:lnTo>
                  <a:lnTo>
                    <a:pt x="20" y="824"/>
                  </a:lnTo>
                  <a:lnTo>
                    <a:pt x="20" y="13"/>
                  </a:lnTo>
                  <a:lnTo>
                    <a:pt x="0" y="0"/>
                  </a:lnTo>
                  <a:lnTo>
                    <a:pt x="0" y="835"/>
                  </a:lnTo>
                  <a:lnTo>
                    <a:pt x="48" y="839"/>
                  </a:lnTo>
                  <a:lnTo>
                    <a:pt x="48" y="858"/>
                  </a:lnTo>
                  <a:lnTo>
                    <a:pt x="679" y="903"/>
                  </a:lnTo>
                  <a:lnTo>
                    <a:pt x="1130" y="801"/>
                  </a:lnTo>
                  <a:lnTo>
                    <a:pt x="1149" y="797"/>
                  </a:lnTo>
                  <a:lnTo>
                    <a:pt x="1161" y="791"/>
                  </a:lnTo>
                  <a:lnTo>
                    <a:pt x="1169" y="783"/>
                  </a:lnTo>
                  <a:lnTo>
                    <a:pt x="1174" y="77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130" name="Freeform 410">
              <a:extLst>
                <a:ext uri="{FF2B5EF4-FFF2-40B4-BE49-F238E27FC236}">
                  <a16:creationId xmlns:a16="http://schemas.microsoft.com/office/drawing/2014/main" id="{14492B5D-4C5B-4997-9B72-4444CE23C8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7" y="2448"/>
              <a:ext cx="620" cy="271"/>
            </a:xfrm>
            <a:custGeom>
              <a:avLst/>
              <a:gdLst>
                <a:gd name="T0" fmla="*/ 1 w 1240"/>
                <a:gd name="T1" fmla="*/ 0 h 812"/>
                <a:gd name="T2" fmla="*/ 1 w 1240"/>
                <a:gd name="T3" fmla="*/ 0 h 812"/>
                <a:gd name="T4" fmla="*/ 1 w 1240"/>
                <a:gd name="T5" fmla="*/ 0 h 812"/>
                <a:gd name="T6" fmla="*/ 1 w 1240"/>
                <a:gd name="T7" fmla="*/ 0 h 812"/>
                <a:gd name="T8" fmla="*/ 0 w 1240"/>
                <a:gd name="T9" fmla="*/ 0 h 812"/>
                <a:gd name="T10" fmla="*/ 1 w 1240"/>
                <a:gd name="T11" fmla="*/ 0 h 812"/>
                <a:gd name="T12" fmla="*/ 1 w 1240"/>
                <a:gd name="T13" fmla="*/ 0 h 812"/>
                <a:gd name="T14" fmla="*/ 1 w 1240"/>
                <a:gd name="T15" fmla="*/ 0 h 812"/>
                <a:gd name="T16" fmla="*/ 1 w 1240"/>
                <a:gd name="T17" fmla="*/ 0 h 812"/>
                <a:gd name="T18" fmla="*/ 1 w 1240"/>
                <a:gd name="T19" fmla="*/ 0 h 812"/>
                <a:gd name="T20" fmla="*/ 1 w 1240"/>
                <a:gd name="T21" fmla="*/ 0 h 812"/>
                <a:gd name="T22" fmla="*/ 1 w 1240"/>
                <a:gd name="T23" fmla="*/ 0 h 812"/>
                <a:gd name="T24" fmla="*/ 1 w 1240"/>
                <a:gd name="T25" fmla="*/ 0 h 812"/>
                <a:gd name="T26" fmla="*/ 1 w 1240"/>
                <a:gd name="T27" fmla="*/ 0 h 8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240"/>
                <a:gd name="T43" fmla="*/ 0 h 812"/>
                <a:gd name="T44" fmla="*/ 1240 w 1240"/>
                <a:gd name="T45" fmla="*/ 812 h 812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240" h="812">
                  <a:moveTo>
                    <a:pt x="1175" y="812"/>
                  </a:moveTo>
                  <a:lnTo>
                    <a:pt x="1240" y="797"/>
                  </a:lnTo>
                  <a:lnTo>
                    <a:pt x="1240" y="109"/>
                  </a:lnTo>
                  <a:lnTo>
                    <a:pt x="682" y="0"/>
                  </a:lnTo>
                  <a:lnTo>
                    <a:pt x="0" y="37"/>
                  </a:lnTo>
                  <a:lnTo>
                    <a:pt x="20" y="50"/>
                  </a:lnTo>
                  <a:lnTo>
                    <a:pt x="677" y="14"/>
                  </a:lnTo>
                  <a:lnTo>
                    <a:pt x="708" y="21"/>
                  </a:lnTo>
                  <a:lnTo>
                    <a:pt x="1203" y="118"/>
                  </a:lnTo>
                  <a:lnTo>
                    <a:pt x="1221" y="121"/>
                  </a:lnTo>
                  <a:lnTo>
                    <a:pt x="1221" y="787"/>
                  </a:lnTo>
                  <a:lnTo>
                    <a:pt x="1203" y="790"/>
                  </a:lnTo>
                  <a:lnTo>
                    <a:pt x="1175" y="796"/>
                  </a:lnTo>
                  <a:lnTo>
                    <a:pt x="1175" y="81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131" name="Freeform 411">
              <a:extLst>
                <a:ext uri="{FF2B5EF4-FFF2-40B4-BE49-F238E27FC236}">
                  <a16:creationId xmlns:a16="http://schemas.microsoft.com/office/drawing/2014/main" id="{C3179673-2AA0-4CED-A486-C45C54033A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7" y="2541"/>
              <a:ext cx="87" cy="5"/>
            </a:xfrm>
            <a:custGeom>
              <a:avLst/>
              <a:gdLst>
                <a:gd name="T0" fmla="*/ 0 w 175"/>
                <a:gd name="T1" fmla="*/ 0 h 15"/>
                <a:gd name="T2" fmla="*/ 0 w 175"/>
                <a:gd name="T3" fmla="*/ 0 h 15"/>
                <a:gd name="T4" fmla="*/ 0 w 175"/>
                <a:gd name="T5" fmla="*/ 0 h 15"/>
                <a:gd name="T6" fmla="*/ 0 w 175"/>
                <a:gd name="T7" fmla="*/ 0 h 15"/>
                <a:gd name="T8" fmla="*/ 0 w 175"/>
                <a:gd name="T9" fmla="*/ 0 h 15"/>
                <a:gd name="T10" fmla="*/ 0 w 175"/>
                <a:gd name="T11" fmla="*/ 0 h 15"/>
                <a:gd name="T12" fmla="*/ 0 w 175"/>
                <a:gd name="T13" fmla="*/ 0 h 15"/>
                <a:gd name="T14" fmla="*/ 0 w 175"/>
                <a:gd name="T15" fmla="*/ 0 h 15"/>
                <a:gd name="T16" fmla="*/ 0 w 175"/>
                <a:gd name="T17" fmla="*/ 0 h 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75"/>
                <a:gd name="T28" fmla="*/ 0 h 15"/>
                <a:gd name="T29" fmla="*/ 175 w 175"/>
                <a:gd name="T30" fmla="*/ 15 h 1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75" h="15">
                  <a:moveTo>
                    <a:pt x="51" y="15"/>
                  </a:moveTo>
                  <a:lnTo>
                    <a:pt x="118" y="13"/>
                  </a:lnTo>
                  <a:lnTo>
                    <a:pt x="118" y="12"/>
                  </a:lnTo>
                  <a:lnTo>
                    <a:pt x="175" y="12"/>
                  </a:lnTo>
                  <a:lnTo>
                    <a:pt x="175" y="0"/>
                  </a:lnTo>
                  <a:lnTo>
                    <a:pt x="0" y="3"/>
                  </a:lnTo>
                  <a:lnTo>
                    <a:pt x="0" y="13"/>
                  </a:lnTo>
                  <a:lnTo>
                    <a:pt x="51" y="13"/>
                  </a:lnTo>
                  <a:lnTo>
                    <a:pt x="51" y="1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132" name="Freeform 412">
              <a:extLst>
                <a:ext uri="{FF2B5EF4-FFF2-40B4-BE49-F238E27FC236}">
                  <a16:creationId xmlns:a16="http://schemas.microsoft.com/office/drawing/2014/main" id="{94917D18-C5DC-41AA-8EE5-52A0CB1201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1" y="2588"/>
              <a:ext cx="4" cy="17"/>
            </a:xfrm>
            <a:custGeom>
              <a:avLst/>
              <a:gdLst>
                <a:gd name="T0" fmla="*/ 1 w 8"/>
                <a:gd name="T1" fmla="*/ 0 h 51"/>
                <a:gd name="T2" fmla="*/ 0 w 8"/>
                <a:gd name="T3" fmla="*/ 0 h 51"/>
                <a:gd name="T4" fmla="*/ 1 w 8"/>
                <a:gd name="T5" fmla="*/ 0 h 51"/>
                <a:gd name="T6" fmla="*/ 1 w 8"/>
                <a:gd name="T7" fmla="*/ 0 h 5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"/>
                <a:gd name="T13" fmla="*/ 0 h 51"/>
                <a:gd name="T14" fmla="*/ 8 w 8"/>
                <a:gd name="T15" fmla="*/ 51 h 5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" h="51">
                  <a:moveTo>
                    <a:pt x="8" y="0"/>
                  </a:moveTo>
                  <a:lnTo>
                    <a:pt x="0" y="51"/>
                  </a:lnTo>
                  <a:lnTo>
                    <a:pt x="8" y="51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133" name="Freeform 413">
              <a:extLst>
                <a:ext uri="{FF2B5EF4-FFF2-40B4-BE49-F238E27FC236}">
                  <a16:creationId xmlns:a16="http://schemas.microsoft.com/office/drawing/2014/main" id="{2FA3E6EF-4352-4B2E-86F0-D1A3E6841B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9" y="2559"/>
              <a:ext cx="6" cy="16"/>
            </a:xfrm>
            <a:custGeom>
              <a:avLst/>
              <a:gdLst>
                <a:gd name="T0" fmla="*/ 0 w 11"/>
                <a:gd name="T1" fmla="*/ 0 h 50"/>
                <a:gd name="T2" fmla="*/ 1 w 11"/>
                <a:gd name="T3" fmla="*/ 0 h 50"/>
                <a:gd name="T4" fmla="*/ 1 w 11"/>
                <a:gd name="T5" fmla="*/ 0 h 50"/>
                <a:gd name="T6" fmla="*/ 0 w 11"/>
                <a:gd name="T7" fmla="*/ 0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"/>
                <a:gd name="T13" fmla="*/ 0 h 50"/>
                <a:gd name="T14" fmla="*/ 11 w 11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" h="50">
                  <a:moveTo>
                    <a:pt x="0" y="50"/>
                  </a:moveTo>
                  <a:lnTo>
                    <a:pt x="11" y="50"/>
                  </a:lnTo>
                  <a:lnTo>
                    <a:pt x="11" y="0"/>
                  </a:lnTo>
                  <a:lnTo>
                    <a:pt x="0" y="5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134" name="Freeform 414">
              <a:extLst>
                <a:ext uri="{FF2B5EF4-FFF2-40B4-BE49-F238E27FC236}">
                  <a16:creationId xmlns:a16="http://schemas.microsoft.com/office/drawing/2014/main" id="{F54C23E4-FD2E-4997-B2AA-AD332F0943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6" y="2593"/>
              <a:ext cx="29" cy="8"/>
            </a:xfrm>
            <a:custGeom>
              <a:avLst/>
              <a:gdLst>
                <a:gd name="T0" fmla="*/ 0 w 58"/>
                <a:gd name="T1" fmla="*/ 0 h 25"/>
                <a:gd name="T2" fmla="*/ 1 w 58"/>
                <a:gd name="T3" fmla="*/ 0 h 25"/>
                <a:gd name="T4" fmla="*/ 1 w 58"/>
                <a:gd name="T5" fmla="*/ 0 h 25"/>
                <a:gd name="T6" fmla="*/ 1 w 58"/>
                <a:gd name="T7" fmla="*/ 0 h 25"/>
                <a:gd name="T8" fmla="*/ 0 w 58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8"/>
                <a:gd name="T16" fmla="*/ 0 h 25"/>
                <a:gd name="T17" fmla="*/ 58 w 58"/>
                <a:gd name="T18" fmla="*/ 25 h 2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8" h="25">
                  <a:moveTo>
                    <a:pt x="0" y="24"/>
                  </a:moveTo>
                  <a:lnTo>
                    <a:pt x="7" y="0"/>
                  </a:lnTo>
                  <a:lnTo>
                    <a:pt x="58" y="1"/>
                  </a:lnTo>
                  <a:lnTo>
                    <a:pt x="52" y="25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135" name="Freeform 415">
              <a:extLst>
                <a:ext uri="{FF2B5EF4-FFF2-40B4-BE49-F238E27FC236}">
                  <a16:creationId xmlns:a16="http://schemas.microsoft.com/office/drawing/2014/main" id="{4E2CB5C9-A48B-4606-A659-1268FFCCBE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0" y="2564"/>
              <a:ext cx="28" cy="11"/>
            </a:xfrm>
            <a:custGeom>
              <a:avLst/>
              <a:gdLst>
                <a:gd name="T0" fmla="*/ 0 w 57"/>
                <a:gd name="T1" fmla="*/ 0 h 35"/>
                <a:gd name="T2" fmla="*/ 0 w 57"/>
                <a:gd name="T3" fmla="*/ 0 h 35"/>
                <a:gd name="T4" fmla="*/ 0 w 57"/>
                <a:gd name="T5" fmla="*/ 0 h 35"/>
                <a:gd name="T6" fmla="*/ 0 w 57"/>
                <a:gd name="T7" fmla="*/ 0 h 35"/>
                <a:gd name="T8" fmla="*/ 0 w 57"/>
                <a:gd name="T9" fmla="*/ 0 h 35"/>
                <a:gd name="T10" fmla="*/ 0 w 57"/>
                <a:gd name="T11" fmla="*/ 0 h 35"/>
                <a:gd name="T12" fmla="*/ 0 w 57"/>
                <a:gd name="T13" fmla="*/ 0 h 35"/>
                <a:gd name="T14" fmla="*/ 0 w 57"/>
                <a:gd name="T15" fmla="*/ 0 h 35"/>
                <a:gd name="T16" fmla="*/ 0 w 57"/>
                <a:gd name="T17" fmla="*/ 0 h 35"/>
                <a:gd name="T18" fmla="*/ 0 w 57"/>
                <a:gd name="T19" fmla="*/ 0 h 35"/>
                <a:gd name="T20" fmla="*/ 0 w 57"/>
                <a:gd name="T21" fmla="*/ 0 h 35"/>
                <a:gd name="T22" fmla="*/ 0 w 57"/>
                <a:gd name="T23" fmla="*/ 0 h 35"/>
                <a:gd name="T24" fmla="*/ 0 w 57"/>
                <a:gd name="T25" fmla="*/ 0 h 35"/>
                <a:gd name="T26" fmla="*/ 0 w 57"/>
                <a:gd name="T27" fmla="*/ 0 h 35"/>
                <a:gd name="T28" fmla="*/ 0 w 57"/>
                <a:gd name="T29" fmla="*/ 0 h 35"/>
                <a:gd name="T30" fmla="*/ 0 w 57"/>
                <a:gd name="T31" fmla="*/ 0 h 35"/>
                <a:gd name="T32" fmla="*/ 0 w 57"/>
                <a:gd name="T33" fmla="*/ 0 h 3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7"/>
                <a:gd name="T52" fmla="*/ 0 h 35"/>
                <a:gd name="T53" fmla="*/ 57 w 57"/>
                <a:gd name="T54" fmla="*/ 35 h 3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7" h="35">
                  <a:moveTo>
                    <a:pt x="17" y="24"/>
                  </a:moveTo>
                  <a:lnTo>
                    <a:pt x="18" y="19"/>
                  </a:lnTo>
                  <a:lnTo>
                    <a:pt x="21" y="14"/>
                  </a:lnTo>
                  <a:lnTo>
                    <a:pt x="24" y="9"/>
                  </a:lnTo>
                  <a:lnTo>
                    <a:pt x="32" y="5"/>
                  </a:lnTo>
                  <a:lnTo>
                    <a:pt x="38" y="3"/>
                  </a:lnTo>
                  <a:lnTo>
                    <a:pt x="46" y="2"/>
                  </a:lnTo>
                  <a:lnTo>
                    <a:pt x="57" y="1"/>
                  </a:lnTo>
                  <a:lnTo>
                    <a:pt x="46" y="0"/>
                  </a:lnTo>
                  <a:lnTo>
                    <a:pt x="37" y="0"/>
                  </a:lnTo>
                  <a:lnTo>
                    <a:pt x="26" y="1"/>
                  </a:lnTo>
                  <a:lnTo>
                    <a:pt x="18" y="4"/>
                  </a:lnTo>
                  <a:lnTo>
                    <a:pt x="12" y="9"/>
                  </a:lnTo>
                  <a:lnTo>
                    <a:pt x="6" y="15"/>
                  </a:lnTo>
                  <a:lnTo>
                    <a:pt x="0" y="35"/>
                  </a:lnTo>
                  <a:lnTo>
                    <a:pt x="14" y="35"/>
                  </a:lnTo>
                  <a:lnTo>
                    <a:pt x="17" y="2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136" name="Freeform 416">
              <a:extLst>
                <a:ext uri="{FF2B5EF4-FFF2-40B4-BE49-F238E27FC236}">
                  <a16:creationId xmlns:a16="http://schemas.microsoft.com/office/drawing/2014/main" id="{B835332A-A8CC-4C0B-ACB7-8783E109B6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1" y="2566"/>
              <a:ext cx="24" cy="11"/>
            </a:xfrm>
            <a:custGeom>
              <a:avLst/>
              <a:gdLst>
                <a:gd name="T0" fmla="*/ 0 w 50"/>
                <a:gd name="T1" fmla="*/ 0 h 35"/>
                <a:gd name="T2" fmla="*/ 0 w 50"/>
                <a:gd name="T3" fmla="*/ 0 h 35"/>
                <a:gd name="T4" fmla="*/ 0 w 50"/>
                <a:gd name="T5" fmla="*/ 0 h 35"/>
                <a:gd name="T6" fmla="*/ 0 w 50"/>
                <a:gd name="T7" fmla="*/ 0 h 35"/>
                <a:gd name="T8" fmla="*/ 0 w 50"/>
                <a:gd name="T9" fmla="*/ 0 h 35"/>
                <a:gd name="T10" fmla="*/ 0 w 50"/>
                <a:gd name="T11" fmla="*/ 0 h 35"/>
                <a:gd name="T12" fmla="*/ 0 w 50"/>
                <a:gd name="T13" fmla="*/ 0 h 35"/>
                <a:gd name="T14" fmla="*/ 0 w 50"/>
                <a:gd name="T15" fmla="*/ 0 h 35"/>
                <a:gd name="T16" fmla="*/ 0 w 50"/>
                <a:gd name="T17" fmla="*/ 0 h 35"/>
                <a:gd name="T18" fmla="*/ 0 w 50"/>
                <a:gd name="T19" fmla="*/ 0 h 35"/>
                <a:gd name="T20" fmla="*/ 0 w 50"/>
                <a:gd name="T21" fmla="*/ 0 h 35"/>
                <a:gd name="T22" fmla="*/ 0 w 50"/>
                <a:gd name="T23" fmla="*/ 0 h 35"/>
                <a:gd name="T24" fmla="*/ 0 w 50"/>
                <a:gd name="T25" fmla="*/ 0 h 35"/>
                <a:gd name="T26" fmla="*/ 0 w 50"/>
                <a:gd name="T27" fmla="*/ 0 h 35"/>
                <a:gd name="T28" fmla="*/ 0 w 50"/>
                <a:gd name="T29" fmla="*/ 0 h 35"/>
                <a:gd name="T30" fmla="*/ 0 w 50"/>
                <a:gd name="T31" fmla="*/ 0 h 35"/>
                <a:gd name="T32" fmla="*/ 0 w 50"/>
                <a:gd name="T33" fmla="*/ 0 h 35"/>
                <a:gd name="T34" fmla="*/ 0 w 50"/>
                <a:gd name="T35" fmla="*/ 0 h 35"/>
                <a:gd name="T36" fmla="*/ 0 w 50"/>
                <a:gd name="T37" fmla="*/ 0 h 35"/>
                <a:gd name="T38" fmla="*/ 0 w 50"/>
                <a:gd name="T39" fmla="*/ 0 h 35"/>
                <a:gd name="T40" fmla="*/ 0 w 50"/>
                <a:gd name="T41" fmla="*/ 0 h 35"/>
                <a:gd name="T42" fmla="*/ 0 w 50"/>
                <a:gd name="T43" fmla="*/ 0 h 35"/>
                <a:gd name="T44" fmla="*/ 0 w 50"/>
                <a:gd name="T45" fmla="*/ 0 h 35"/>
                <a:gd name="T46" fmla="*/ 0 w 50"/>
                <a:gd name="T47" fmla="*/ 0 h 35"/>
                <a:gd name="T48" fmla="*/ 0 w 50"/>
                <a:gd name="T49" fmla="*/ 0 h 35"/>
                <a:gd name="T50" fmla="*/ 0 w 50"/>
                <a:gd name="T51" fmla="*/ 0 h 35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50"/>
                <a:gd name="T79" fmla="*/ 0 h 35"/>
                <a:gd name="T80" fmla="*/ 50 w 50"/>
                <a:gd name="T81" fmla="*/ 35 h 35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50" h="35">
                  <a:moveTo>
                    <a:pt x="0" y="28"/>
                  </a:moveTo>
                  <a:lnTo>
                    <a:pt x="8" y="33"/>
                  </a:lnTo>
                  <a:lnTo>
                    <a:pt x="19" y="35"/>
                  </a:lnTo>
                  <a:lnTo>
                    <a:pt x="30" y="35"/>
                  </a:lnTo>
                  <a:lnTo>
                    <a:pt x="39" y="32"/>
                  </a:lnTo>
                  <a:lnTo>
                    <a:pt x="47" y="27"/>
                  </a:lnTo>
                  <a:lnTo>
                    <a:pt x="50" y="20"/>
                  </a:lnTo>
                  <a:lnTo>
                    <a:pt x="48" y="13"/>
                  </a:lnTo>
                  <a:lnTo>
                    <a:pt x="44" y="7"/>
                  </a:lnTo>
                  <a:lnTo>
                    <a:pt x="34" y="3"/>
                  </a:lnTo>
                  <a:lnTo>
                    <a:pt x="24" y="0"/>
                  </a:lnTo>
                  <a:lnTo>
                    <a:pt x="14" y="2"/>
                  </a:lnTo>
                  <a:lnTo>
                    <a:pt x="5" y="5"/>
                  </a:lnTo>
                  <a:lnTo>
                    <a:pt x="13" y="3"/>
                  </a:lnTo>
                  <a:lnTo>
                    <a:pt x="22" y="3"/>
                  </a:lnTo>
                  <a:lnTo>
                    <a:pt x="30" y="4"/>
                  </a:lnTo>
                  <a:lnTo>
                    <a:pt x="36" y="7"/>
                  </a:lnTo>
                  <a:lnTo>
                    <a:pt x="41" y="11"/>
                  </a:lnTo>
                  <a:lnTo>
                    <a:pt x="42" y="17"/>
                  </a:lnTo>
                  <a:lnTo>
                    <a:pt x="41" y="22"/>
                  </a:lnTo>
                  <a:lnTo>
                    <a:pt x="37" y="27"/>
                  </a:lnTo>
                  <a:lnTo>
                    <a:pt x="31" y="30"/>
                  </a:lnTo>
                  <a:lnTo>
                    <a:pt x="24" y="32"/>
                  </a:lnTo>
                  <a:lnTo>
                    <a:pt x="16" y="33"/>
                  </a:lnTo>
                  <a:lnTo>
                    <a:pt x="8" y="31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137" name="Freeform 417">
              <a:extLst>
                <a:ext uri="{FF2B5EF4-FFF2-40B4-BE49-F238E27FC236}">
                  <a16:creationId xmlns:a16="http://schemas.microsoft.com/office/drawing/2014/main" id="{73F9587B-B5C6-4C80-9DEB-F0EDF473A1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4" y="2594"/>
              <a:ext cx="24" cy="10"/>
            </a:xfrm>
            <a:custGeom>
              <a:avLst/>
              <a:gdLst>
                <a:gd name="T0" fmla="*/ 0 w 46"/>
                <a:gd name="T1" fmla="*/ 0 h 32"/>
                <a:gd name="T2" fmla="*/ 1 w 46"/>
                <a:gd name="T3" fmla="*/ 0 h 32"/>
                <a:gd name="T4" fmla="*/ 1 w 46"/>
                <a:gd name="T5" fmla="*/ 0 h 32"/>
                <a:gd name="T6" fmla="*/ 1 w 46"/>
                <a:gd name="T7" fmla="*/ 0 h 32"/>
                <a:gd name="T8" fmla="*/ 1 w 46"/>
                <a:gd name="T9" fmla="*/ 0 h 32"/>
                <a:gd name="T10" fmla="*/ 1 w 46"/>
                <a:gd name="T11" fmla="*/ 0 h 32"/>
                <a:gd name="T12" fmla="*/ 1 w 46"/>
                <a:gd name="T13" fmla="*/ 0 h 32"/>
                <a:gd name="T14" fmla="*/ 1 w 46"/>
                <a:gd name="T15" fmla="*/ 0 h 32"/>
                <a:gd name="T16" fmla="*/ 1 w 46"/>
                <a:gd name="T17" fmla="*/ 0 h 32"/>
                <a:gd name="T18" fmla="*/ 1 w 46"/>
                <a:gd name="T19" fmla="*/ 0 h 32"/>
                <a:gd name="T20" fmla="*/ 1 w 46"/>
                <a:gd name="T21" fmla="*/ 0 h 32"/>
                <a:gd name="T22" fmla="*/ 1 w 46"/>
                <a:gd name="T23" fmla="*/ 0 h 32"/>
                <a:gd name="T24" fmla="*/ 1 w 46"/>
                <a:gd name="T25" fmla="*/ 0 h 32"/>
                <a:gd name="T26" fmla="*/ 1 w 46"/>
                <a:gd name="T27" fmla="*/ 0 h 32"/>
                <a:gd name="T28" fmla="*/ 1 w 46"/>
                <a:gd name="T29" fmla="*/ 0 h 32"/>
                <a:gd name="T30" fmla="*/ 1 w 46"/>
                <a:gd name="T31" fmla="*/ 0 h 32"/>
                <a:gd name="T32" fmla="*/ 1 w 46"/>
                <a:gd name="T33" fmla="*/ 0 h 32"/>
                <a:gd name="T34" fmla="*/ 0 w 46"/>
                <a:gd name="T35" fmla="*/ 0 h 3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46"/>
                <a:gd name="T55" fmla="*/ 0 h 32"/>
                <a:gd name="T56" fmla="*/ 46 w 46"/>
                <a:gd name="T57" fmla="*/ 32 h 32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46" h="32">
                  <a:moveTo>
                    <a:pt x="0" y="31"/>
                  </a:moveTo>
                  <a:lnTo>
                    <a:pt x="11" y="32"/>
                  </a:lnTo>
                  <a:lnTo>
                    <a:pt x="14" y="24"/>
                  </a:lnTo>
                  <a:lnTo>
                    <a:pt x="11" y="21"/>
                  </a:lnTo>
                  <a:lnTo>
                    <a:pt x="11" y="13"/>
                  </a:lnTo>
                  <a:lnTo>
                    <a:pt x="15" y="9"/>
                  </a:lnTo>
                  <a:lnTo>
                    <a:pt x="23" y="4"/>
                  </a:lnTo>
                  <a:lnTo>
                    <a:pt x="28" y="3"/>
                  </a:lnTo>
                  <a:lnTo>
                    <a:pt x="34" y="2"/>
                  </a:lnTo>
                  <a:lnTo>
                    <a:pt x="37" y="2"/>
                  </a:lnTo>
                  <a:lnTo>
                    <a:pt x="46" y="3"/>
                  </a:lnTo>
                  <a:lnTo>
                    <a:pt x="37" y="0"/>
                  </a:lnTo>
                  <a:lnTo>
                    <a:pt x="28" y="0"/>
                  </a:lnTo>
                  <a:lnTo>
                    <a:pt x="20" y="1"/>
                  </a:lnTo>
                  <a:lnTo>
                    <a:pt x="12" y="4"/>
                  </a:lnTo>
                  <a:lnTo>
                    <a:pt x="8" y="10"/>
                  </a:lnTo>
                  <a:lnTo>
                    <a:pt x="3" y="16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138" name="Freeform 418">
              <a:extLst>
                <a:ext uri="{FF2B5EF4-FFF2-40B4-BE49-F238E27FC236}">
                  <a16:creationId xmlns:a16="http://schemas.microsoft.com/office/drawing/2014/main" id="{8077DBCA-207C-4ECB-BEA2-43833D1A40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1" y="2566"/>
              <a:ext cx="13" cy="9"/>
            </a:xfrm>
            <a:custGeom>
              <a:avLst/>
              <a:gdLst>
                <a:gd name="T0" fmla="*/ 1 w 25"/>
                <a:gd name="T1" fmla="*/ 0 h 29"/>
                <a:gd name="T2" fmla="*/ 1 w 25"/>
                <a:gd name="T3" fmla="*/ 0 h 29"/>
                <a:gd name="T4" fmla="*/ 1 w 25"/>
                <a:gd name="T5" fmla="*/ 0 h 29"/>
                <a:gd name="T6" fmla="*/ 0 w 25"/>
                <a:gd name="T7" fmla="*/ 0 h 29"/>
                <a:gd name="T8" fmla="*/ 1 w 25"/>
                <a:gd name="T9" fmla="*/ 0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"/>
                <a:gd name="T16" fmla="*/ 0 h 29"/>
                <a:gd name="T17" fmla="*/ 25 w 25"/>
                <a:gd name="T18" fmla="*/ 29 h 2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" h="29">
                  <a:moveTo>
                    <a:pt x="25" y="29"/>
                  </a:moveTo>
                  <a:lnTo>
                    <a:pt x="25" y="14"/>
                  </a:lnTo>
                  <a:lnTo>
                    <a:pt x="8" y="0"/>
                  </a:lnTo>
                  <a:lnTo>
                    <a:pt x="0" y="29"/>
                  </a:lnTo>
                  <a:lnTo>
                    <a:pt x="25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139" name="Freeform 419">
              <a:extLst>
                <a:ext uri="{FF2B5EF4-FFF2-40B4-BE49-F238E27FC236}">
                  <a16:creationId xmlns:a16="http://schemas.microsoft.com/office/drawing/2014/main" id="{FEB72D4F-B9A9-4697-998D-5AB7431BD9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5" y="2562"/>
              <a:ext cx="18" cy="6"/>
            </a:xfrm>
            <a:custGeom>
              <a:avLst/>
              <a:gdLst>
                <a:gd name="T0" fmla="*/ 0 w 36"/>
                <a:gd name="T1" fmla="*/ 0 h 19"/>
                <a:gd name="T2" fmla="*/ 1 w 36"/>
                <a:gd name="T3" fmla="*/ 0 h 19"/>
                <a:gd name="T4" fmla="*/ 1 w 36"/>
                <a:gd name="T5" fmla="*/ 0 h 19"/>
                <a:gd name="T6" fmla="*/ 1 w 36"/>
                <a:gd name="T7" fmla="*/ 0 h 19"/>
                <a:gd name="T8" fmla="*/ 1 w 36"/>
                <a:gd name="T9" fmla="*/ 0 h 19"/>
                <a:gd name="T10" fmla="*/ 0 w 36"/>
                <a:gd name="T11" fmla="*/ 0 h 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6"/>
                <a:gd name="T19" fmla="*/ 0 h 19"/>
                <a:gd name="T20" fmla="*/ 36 w 36"/>
                <a:gd name="T21" fmla="*/ 19 h 1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6" h="19">
                  <a:moveTo>
                    <a:pt x="0" y="11"/>
                  </a:moveTo>
                  <a:lnTo>
                    <a:pt x="23" y="11"/>
                  </a:lnTo>
                  <a:lnTo>
                    <a:pt x="33" y="19"/>
                  </a:lnTo>
                  <a:lnTo>
                    <a:pt x="36" y="0"/>
                  </a:lnTo>
                  <a:lnTo>
                    <a:pt x="5" y="0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140" name="Freeform 420">
              <a:extLst>
                <a:ext uri="{FF2B5EF4-FFF2-40B4-BE49-F238E27FC236}">
                  <a16:creationId xmlns:a16="http://schemas.microsoft.com/office/drawing/2014/main" id="{1E6B5114-4DB7-42A5-90AD-2CBE72BC11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3" y="2595"/>
              <a:ext cx="16" cy="9"/>
            </a:xfrm>
            <a:custGeom>
              <a:avLst/>
              <a:gdLst>
                <a:gd name="T0" fmla="*/ 1 w 32"/>
                <a:gd name="T1" fmla="*/ 0 h 25"/>
                <a:gd name="T2" fmla="*/ 1 w 32"/>
                <a:gd name="T3" fmla="*/ 0 h 25"/>
                <a:gd name="T4" fmla="*/ 1 w 32"/>
                <a:gd name="T5" fmla="*/ 0 h 25"/>
                <a:gd name="T6" fmla="*/ 1 w 32"/>
                <a:gd name="T7" fmla="*/ 0 h 25"/>
                <a:gd name="T8" fmla="*/ 1 w 32"/>
                <a:gd name="T9" fmla="*/ 0 h 25"/>
                <a:gd name="T10" fmla="*/ 1 w 32"/>
                <a:gd name="T11" fmla="*/ 0 h 25"/>
                <a:gd name="T12" fmla="*/ 1 w 32"/>
                <a:gd name="T13" fmla="*/ 0 h 25"/>
                <a:gd name="T14" fmla="*/ 1 w 32"/>
                <a:gd name="T15" fmla="*/ 0 h 25"/>
                <a:gd name="T16" fmla="*/ 1 w 32"/>
                <a:gd name="T17" fmla="*/ 0 h 25"/>
                <a:gd name="T18" fmla="*/ 0 w 32"/>
                <a:gd name="T19" fmla="*/ 0 h 25"/>
                <a:gd name="T20" fmla="*/ 1 w 32"/>
                <a:gd name="T21" fmla="*/ 0 h 25"/>
                <a:gd name="T22" fmla="*/ 1 w 32"/>
                <a:gd name="T23" fmla="*/ 0 h 25"/>
                <a:gd name="T24" fmla="*/ 1 w 32"/>
                <a:gd name="T25" fmla="*/ 0 h 25"/>
                <a:gd name="T26" fmla="*/ 1 w 32"/>
                <a:gd name="T27" fmla="*/ 0 h 25"/>
                <a:gd name="T28" fmla="*/ 1 w 32"/>
                <a:gd name="T29" fmla="*/ 0 h 25"/>
                <a:gd name="T30" fmla="*/ 1 w 32"/>
                <a:gd name="T31" fmla="*/ 0 h 25"/>
                <a:gd name="T32" fmla="*/ 1 w 32"/>
                <a:gd name="T33" fmla="*/ 0 h 25"/>
                <a:gd name="T34" fmla="*/ 1 w 32"/>
                <a:gd name="T35" fmla="*/ 0 h 25"/>
                <a:gd name="T36" fmla="*/ 1 w 32"/>
                <a:gd name="T37" fmla="*/ 0 h 25"/>
                <a:gd name="T38" fmla="*/ 1 w 32"/>
                <a:gd name="T39" fmla="*/ 0 h 25"/>
                <a:gd name="T40" fmla="*/ 1 w 32"/>
                <a:gd name="T41" fmla="*/ 0 h 25"/>
                <a:gd name="T42" fmla="*/ 1 w 32"/>
                <a:gd name="T43" fmla="*/ 0 h 25"/>
                <a:gd name="T44" fmla="*/ 1 w 32"/>
                <a:gd name="T45" fmla="*/ 0 h 25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32"/>
                <a:gd name="T70" fmla="*/ 0 h 25"/>
                <a:gd name="T71" fmla="*/ 32 w 32"/>
                <a:gd name="T72" fmla="*/ 25 h 25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32" h="25">
                  <a:moveTo>
                    <a:pt x="23" y="4"/>
                  </a:moveTo>
                  <a:lnTo>
                    <a:pt x="26" y="7"/>
                  </a:lnTo>
                  <a:lnTo>
                    <a:pt x="28" y="11"/>
                  </a:lnTo>
                  <a:lnTo>
                    <a:pt x="26" y="15"/>
                  </a:lnTo>
                  <a:lnTo>
                    <a:pt x="25" y="19"/>
                  </a:lnTo>
                  <a:lnTo>
                    <a:pt x="20" y="21"/>
                  </a:lnTo>
                  <a:lnTo>
                    <a:pt x="14" y="22"/>
                  </a:lnTo>
                  <a:lnTo>
                    <a:pt x="9" y="23"/>
                  </a:lnTo>
                  <a:lnTo>
                    <a:pt x="3" y="23"/>
                  </a:lnTo>
                  <a:lnTo>
                    <a:pt x="0" y="22"/>
                  </a:lnTo>
                  <a:lnTo>
                    <a:pt x="3" y="24"/>
                  </a:lnTo>
                  <a:lnTo>
                    <a:pt x="8" y="25"/>
                  </a:lnTo>
                  <a:lnTo>
                    <a:pt x="20" y="25"/>
                  </a:lnTo>
                  <a:lnTo>
                    <a:pt x="25" y="23"/>
                  </a:lnTo>
                  <a:lnTo>
                    <a:pt x="29" y="20"/>
                  </a:lnTo>
                  <a:lnTo>
                    <a:pt x="32" y="17"/>
                  </a:lnTo>
                  <a:lnTo>
                    <a:pt x="32" y="9"/>
                  </a:lnTo>
                  <a:lnTo>
                    <a:pt x="29" y="5"/>
                  </a:lnTo>
                  <a:lnTo>
                    <a:pt x="25" y="3"/>
                  </a:lnTo>
                  <a:lnTo>
                    <a:pt x="20" y="1"/>
                  </a:lnTo>
                  <a:lnTo>
                    <a:pt x="14" y="0"/>
                  </a:lnTo>
                  <a:lnTo>
                    <a:pt x="19" y="2"/>
                  </a:lnTo>
                  <a:lnTo>
                    <a:pt x="23" y="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141" name="Freeform 421">
              <a:extLst>
                <a:ext uri="{FF2B5EF4-FFF2-40B4-BE49-F238E27FC236}">
                  <a16:creationId xmlns:a16="http://schemas.microsoft.com/office/drawing/2014/main" id="{3E07C21C-27AF-40C8-80BC-62AC7D5EA9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3" y="2548"/>
              <a:ext cx="12" cy="2"/>
            </a:xfrm>
            <a:custGeom>
              <a:avLst/>
              <a:gdLst>
                <a:gd name="T0" fmla="*/ 0 w 25"/>
                <a:gd name="T1" fmla="*/ 0 h 8"/>
                <a:gd name="T2" fmla="*/ 0 w 25"/>
                <a:gd name="T3" fmla="*/ 0 h 8"/>
                <a:gd name="T4" fmla="*/ 0 w 25"/>
                <a:gd name="T5" fmla="*/ 0 h 8"/>
                <a:gd name="T6" fmla="*/ 0 w 25"/>
                <a:gd name="T7" fmla="*/ 0 h 8"/>
                <a:gd name="T8" fmla="*/ 0 w 25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"/>
                <a:gd name="T16" fmla="*/ 0 h 8"/>
                <a:gd name="T17" fmla="*/ 25 w 25"/>
                <a:gd name="T18" fmla="*/ 8 h 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" h="8">
                  <a:moveTo>
                    <a:pt x="0" y="8"/>
                  </a:moveTo>
                  <a:lnTo>
                    <a:pt x="25" y="7"/>
                  </a:lnTo>
                  <a:lnTo>
                    <a:pt x="25" y="0"/>
                  </a:ln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142" name="Rectangle 422">
              <a:extLst>
                <a:ext uri="{FF2B5EF4-FFF2-40B4-BE49-F238E27FC236}">
                  <a16:creationId xmlns:a16="http://schemas.microsoft.com/office/drawing/2014/main" id="{908B806A-68F2-4BE9-BEF3-F3FB263893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5" y="2549"/>
              <a:ext cx="7" cy="1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800" b="0">
                <a:latin typeface="Arial Narrow" panose="020B0606020202030204" pitchFamily="34" charset="0"/>
              </a:endParaRPr>
            </a:p>
          </p:txBody>
        </p:sp>
      </p:grpSp>
      <p:sp>
        <p:nvSpPr>
          <p:cNvPr id="40986" name="Line 423">
            <a:extLst>
              <a:ext uri="{FF2B5EF4-FFF2-40B4-BE49-F238E27FC236}">
                <a16:creationId xmlns:a16="http://schemas.microsoft.com/office/drawing/2014/main" id="{4ECB28F1-EE05-4A4A-9284-39BBE001477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43864" y="4335463"/>
            <a:ext cx="1239837" cy="1444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grpSp>
        <p:nvGrpSpPr>
          <p:cNvPr id="40987" name="Group 424">
            <a:extLst>
              <a:ext uri="{FF2B5EF4-FFF2-40B4-BE49-F238E27FC236}">
                <a16:creationId xmlns:a16="http://schemas.microsoft.com/office/drawing/2014/main" id="{BF0D914C-E000-4F61-B603-C71FF4BC1307}"/>
              </a:ext>
            </a:extLst>
          </p:cNvPr>
          <p:cNvGrpSpPr>
            <a:grpSpLocks/>
          </p:cNvGrpSpPr>
          <p:nvPr/>
        </p:nvGrpSpPr>
        <p:grpSpPr bwMode="auto">
          <a:xfrm>
            <a:off x="6940550" y="3760789"/>
            <a:ext cx="1785938" cy="1546225"/>
            <a:chOff x="3360" y="2544"/>
            <a:chExt cx="1008" cy="432"/>
          </a:xfrm>
        </p:grpSpPr>
        <p:grpSp>
          <p:nvGrpSpPr>
            <p:cNvPr id="40991" name="Group 425">
              <a:extLst>
                <a:ext uri="{FF2B5EF4-FFF2-40B4-BE49-F238E27FC236}">
                  <a16:creationId xmlns:a16="http://schemas.microsoft.com/office/drawing/2014/main" id="{3D348695-FFD7-48C0-AF8B-7D6389D5C9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2544"/>
              <a:ext cx="1008" cy="432"/>
              <a:chOff x="1776" y="1200"/>
              <a:chExt cx="1056" cy="809"/>
            </a:xfrm>
          </p:grpSpPr>
          <p:sp>
            <p:nvSpPr>
              <p:cNvPr id="40993" name="Freeform 426">
                <a:extLst>
                  <a:ext uri="{FF2B5EF4-FFF2-40B4-BE49-F238E27FC236}">
                    <a16:creationId xmlns:a16="http://schemas.microsoft.com/office/drawing/2014/main" id="{3AB4FC93-51C0-4A9A-B67A-D451AD2A96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6" y="1200"/>
                <a:ext cx="1056" cy="809"/>
              </a:xfrm>
              <a:custGeom>
                <a:avLst/>
                <a:gdLst>
                  <a:gd name="T0" fmla="*/ 2147483646 w 171"/>
                  <a:gd name="T1" fmla="*/ 2147483646 h 107"/>
                  <a:gd name="T2" fmla="*/ 2147483646 w 171"/>
                  <a:gd name="T3" fmla="*/ 2147483646 h 107"/>
                  <a:gd name="T4" fmla="*/ 2147483646 w 171"/>
                  <a:gd name="T5" fmla="*/ 2147483646 h 107"/>
                  <a:gd name="T6" fmla="*/ 2147483646 w 171"/>
                  <a:gd name="T7" fmla="*/ 2147483646 h 107"/>
                  <a:gd name="T8" fmla="*/ 2147483646 w 171"/>
                  <a:gd name="T9" fmla="*/ 2147483646 h 107"/>
                  <a:gd name="T10" fmla="*/ 2147483646 w 171"/>
                  <a:gd name="T11" fmla="*/ 2147483646 h 107"/>
                  <a:gd name="T12" fmla="*/ 2147483646 w 171"/>
                  <a:gd name="T13" fmla="*/ 2147483646 h 107"/>
                  <a:gd name="T14" fmla="*/ 2147483646 w 171"/>
                  <a:gd name="T15" fmla="*/ 2147483646 h 107"/>
                  <a:gd name="T16" fmla="*/ 2147483646 w 171"/>
                  <a:gd name="T17" fmla="*/ 2147483646 h 107"/>
                  <a:gd name="T18" fmla="*/ 2147483646 w 171"/>
                  <a:gd name="T19" fmla="*/ 2147483646 h 107"/>
                  <a:gd name="T20" fmla="*/ 2147483646 w 171"/>
                  <a:gd name="T21" fmla="*/ 2147483646 h 107"/>
                  <a:gd name="T22" fmla="*/ 2147483646 w 171"/>
                  <a:gd name="T23" fmla="*/ 2147483646 h 107"/>
                  <a:gd name="T24" fmla="*/ 2147483646 w 171"/>
                  <a:gd name="T25" fmla="*/ 2147483646 h 107"/>
                  <a:gd name="T26" fmla="*/ 2147483646 w 171"/>
                  <a:gd name="T27" fmla="*/ 2147483646 h 107"/>
                  <a:gd name="T28" fmla="*/ 2147483646 w 171"/>
                  <a:gd name="T29" fmla="*/ 2147483646 h 107"/>
                  <a:gd name="T30" fmla="*/ 2147483646 w 171"/>
                  <a:gd name="T31" fmla="*/ 2147483646 h 107"/>
                  <a:gd name="T32" fmla="*/ 2147483646 w 171"/>
                  <a:gd name="T33" fmla="*/ 2147483646 h 107"/>
                  <a:gd name="T34" fmla="*/ 2147483646 w 171"/>
                  <a:gd name="T35" fmla="*/ 2147483646 h 107"/>
                  <a:gd name="T36" fmla="*/ 2147483646 w 171"/>
                  <a:gd name="T37" fmla="*/ 2147483646 h 107"/>
                  <a:gd name="T38" fmla="*/ 2147483646 w 171"/>
                  <a:gd name="T39" fmla="*/ 2147483646 h 107"/>
                  <a:gd name="T40" fmla="*/ 2147483646 w 171"/>
                  <a:gd name="T41" fmla="*/ 2147483646 h 107"/>
                  <a:gd name="T42" fmla="*/ 2147483646 w 171"/>
                  <a:gd name="T43" fmla="*/ 2147483646 h 107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171"/>
                  <a:gd name="T67" fmla="*/ 0 h 107"/>
                  <a:gd name="T68" fmla="*/ 171 w 171"/>
                  <a:gd name="T69" fmla="*/ 107 h 107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171" h="107">
                    <a:moveTo>
                      <a:pt x="16" y="78"/>
                    </a:moveTo>
                    <a:cubicBezTo>
                      <a:pt x="16" y="74"/>
                      <a:pt x="16" y="71"/>
                      <a:pt x="17" y="67"/>
                    </a:cubicBezTo>
                    <a:cubicBezTo>
                      <a:pt x="9" y="63"/>
                      <a:pt x="3" y="55"/>
                      <a:pt x="2" y="46"/>
                    </a:cubicBezTo>
                    <a:cubicBezTo>
                      <a:pt x="0" y="31"/>
                      <a:pt x="11" y="17"/>
                      <a:pt x="27" y="15"/>
                    </a:cubicBezTo>
                    <a:cubicBezTo>
                      <a:pt x="28" y="15"/>
                      <a:pt x="29" y="15"/>
                      <a:pt x="30" y="15"/>
                    </a:cubicBezTo>
                    <a:cubicBezTo>
                      <a:pt x="34" y="8"/>
                      <a:pt x="42" y="3"/>
                      <a:pt x="51" y="2"/>
                    </a:cubicBezTo>
                    <a:cubicBezTo>
                      <a:pt x="60" y="0"/>
                      <a:pt x="68" y="4"/>
                      <a:pt x="74" y="10"/>
                    </a:cubicBezTo>
                    <a:cubicBezTo>
                      <a:pt x="77" y="8"/>
                      <a:pt x="81" y="6"/>
                      <a:pt x="85" y="6"/>
                    </a:cubicBezTo>
                    <a:cubicBezTo>
                      <a:pt x="90" y="5"/>
                      <a:pt x="95" y="6"/>
                      <a:pt x="99" y="8"/>
                    </a:cubicBezTo>
                    <a:cubicBezTo>
                      <a:pt x="103" y="5"/>
                      <a:pt x="108" y="3"/>
                      <a:pt x="113" y="3"/>
                    </a:cubicBezTo>
                    <a:cubicBezTo>
                      <a:pt x="126" y="1"/>
                      <a:pt x="139" y="10"/>
                      <a:pt x="143" y="22"/>
                    </a:cubicBezTo>
                    <a:cubicBezTo>
                      <a:pt x="156" y="22"/>
                      <a:pt x="168" y="33"/>
                      <a:pt x="170" y="47"/>
                    </a:cubicBezTo>
                    <a:cubicBezTo>
                      <a:pt x="171" y="56"/>
                      <a:pt x="167" y="65"/>
                      <a:pt x="160" y="71"/>
                    </a:cubicBezTo>
                    <a:cubicBezTo>
                      <a:pt x="160" y="72"/>
                      <a:pt x="160" y="72"/>
                      <a:pt x="160" y="73"/>
                    </a:cubicBezTo>
                    <a:cubicBezTo>
                      <a:pt x="162" y="88"/>
                      <a:pt x="151" y="102"/>
                      <a:pt x="136" y="103"/>
                    </a:cubicBezTo>
                    <a:cubicBezTo>
                      <a:pt x="129" y="104"/>
                      <a:pt x="123" y="102"/>
                      <a:pt x="118" y="99"/>
                    </a:cubicBezTo>
                    <a:cubicBezTo>
                      <a:pt x="114" y="103"/>
                      <a:pt x="108" y="106"/>
                      <a:pt x="102" y="106"/>
                    </a:cubicBezTo>
                    <a:cubicBezTo>
                      <a:pt x="94" y="107"/>
                      <a:pt x="87" y="105"/>
                      <a:pt x="81" y="100"/>
                    </a:cubicBezTo>
                    <a:cubicBezTo>
                      <a:pt x="80" y="101"/>
                      <a:pt x="79" y="101"/>
                      <a:pt x="78" y="101"/>
                    </a:cubicBezTo>
                    <a:cubicBezTo>
                      <a:pt x="72" y="102"/>
                      <a:pt x="66" y="100"/>
                      <a:pt x="61" y="97"/>
                    </a:cubicBezTo>
                    <a:cubicBezTo>
                      <a:pt x="57" y="100"/>
                      <a:pt x="52" y="102"/>
                      <a:pt x="47" y="103"/>
                    </a:cubicBezTo>
                    <a:cubicBezTo>
                      <a:pt x="32" y="104"/>
                      <a:pt x="18" y="93"/>
                      <a:pt x="16" y="78"/>
                    </a:cubicBezTo>
                    <a:close/>
                  </a:path>
                </a:pathLst>
              </a:custGeom>
              <a:solidFill>
                <a:srgbClr val="85AD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0994" name="Freeform 427">
                <a:extLst>
                  <a:ext uri="{FF2B5EF4-FFF2-40B4-BE49-F238E27FC236}">
                    <a16:creationId xmlns:a16="http://schemas.microsoft.com/office/drawing/2014/main" id="{5681217D-58D3-4413-98BD-117D78D55C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1" y="1210"/>
                <a:ext cx="1051" cy="799"/>
              </a:xfrm>
              <a:custGeom>
                <a:avLst/>
                <a:gdLst>
                  <a:gd name="T0" fmla="*/ 2147483646 w 170"/>
                  <a:gd name="T1" fmla="*/ 2147483646 h 106"/>
                  <a:gd name="T2" fmla="*/ 2147483646 w 170"/>
                  <a:gd name="T3" fmla="*/ 2147483646 h 106"/>
                  <a:gd name="T4" fmla="*/ 2147483646 w 170"/>
                  <a:gd name="T5" fmla="*/ 2147483646 h 106"/>
                  <a:gd name="T6" fmla="*/ 2147483646 w 170"/>
                  <a:gd name="T7" fmla="*/ 2147483646 h 106"/>
                  <a:gd name="T8" fmla="*/ 2147483646 w 170"/>
                  <a:gd name="T9" fmla="*/ 2147483646 h 106"/>
                  <a:gd name="T10" fmla="*/ 2147483646 w 170"/>
                  <a:gd name="T11" fmla="*/ 2147483646 h 106"/>
                  <a:gd name="T12" fmla="*/ 2147483646 w 170"/>
                  <a:gd name="T13" fmla="*/ 2147483646 h 106"/>
                  <a:gd name="T14" fmla="*/ 2147483646 w 170"/>
                  <a:gd name="T15" fmla="*/ 2147483646 h 106"/>
                  <a:gd name="T16" fmla="*/ 2147483646 w 170"/>
                  <a:gd name="T17" fmla="*/ 2147483646 h 106"/>
                  <a:gd name="T18" fmla="*/ 2147483646 w 170"/>
                  <a:gd name="T19" fmla="*/ 2147483646 h 106"/>
                  <a:gd name="T20" fmla="*/ 2147483646 w 170"/>
                  <a:gd name="T21" fmla="*/ 2147483646 h 106"/>
                  <a:gd name="T22" fmla="*/ 2147483646 w 170"/>
                  <a:gd name="T23" fmla="*/ 2147483646 h 106"/>
                  <a:gd name="T24" fmla="*/ 2147483646 w 170"/>
                  <a:gd name="T25" fmla="*/ 2147483646 h 106"/>
                  <a:gd name="T26" fmla="*/ 2147483646 w 170"/>
                  <a:gd name="T27" fmla="*/ 2147483646 h 106"/>
                  <a:gd name="T28" fmla="*/ 2147483646 w 170"/>
                  <a:gd name="T29" fmla="*/ 2147483646 h 106"/>
                  <a:gd name="T30" fmla="*/ 2147483646 w 170"/>
                  <a:gd name="T31" fmla="*/ 2147483646 h 106"/>
                  <a:gd name="T32" fmla="*/ 2147483646 w 170"/>
                  <a:gd name="T33" fmla="*/ 2147483646 h 106"/>
                  <a:gd name="T34" fmla="*/ 2147483646 w 170"/>
                  <a:gd name="T35" fmla="*/ 2147483646 h 106"/>
                  <a:gd name="T36" fmla="*/ 2147483646 w 170"/>
                  <a:gd name="T37" fmla="*/ 2147483646 h 106"/>
                  <a:gd name="T38" fmla="*/ 2147483646 w 170"/>
                  <a:gd name="T39" fmla="*/ 2147483646 h 106"/>
                  <a:gd name="T40" fmla="*/ 2147483646 w 170"/>
                  <a:gd name="T41" fmla="*/ 2147483646 h 106"/>
                  <a:gd name="T42" fmla="*/ 2147483646 w 170"/>
                  <a:gd name="T43" fmla="*/ 2147483646 h 10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170"/>
                  <a:gd name="T67" fmla="*/ 0 h 106"/>
                  <a:gd name="T68" fmla="*/ 170 w 170"/>
                  <a:gd name="T69" fmla="*/ 106 h 10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170" h="106">
                    <a:moveTo>
                      <a:pt x="15" y="77"/>
                    </a:moveTo>
                    <a:cubicBezTo>
                      <a:pt x="15" y="73"/>
                      <a:pt x="15" y="70"/>
                      <a:pt x="16" y="66"/>
                    </a:cubicBezTo>
                    <a:cubicBezTo>
                      <a:pt x="8" y="62"/>
                      <a:pt x="3" y="54"/>
                      <a:pt x="2" y="45"/>
                    </a:cubicBezTo>
                    <a:cubicBezTo>
                      <a:pt x="0" y="30"/>
                      <a:pt x="11" y="16"/>
                      <a:pt x="26" y="14"/>
                    </a:cubicBezTo>
                    <a:cubicBezTo>
                      <a:pt x="27" y="14"/>
                      <a:pt x="28" y="14"/>
                      <a:pt x="29" y="14"/>
                    </a:cubicBezTo>
                    <a:cubicBezTo>
                      <a:pt x="34" y="7"/>
                      <a:pt x="41" y="2"/>
                      <a:pt x="50" y="1"/>
                    </a:cubicBezTo>
                    <a:cubicBezTo>
                      <a:pt x="59" y="0"/>
                      <a:pt x="67" y="3"/>
                      <a:pt x="73" y="9"/>
                    </a:cubicBezTo>
                    <a:cubicBezTo>
                      <a:pt x="76" y="7"/>
                      <a:pt x="80" y="6"/>
                      <a:pt x="84" y="5"/>
                    </a:cubicBezTo>
                    <a:cubicBezTo>
                      <a:pt x="89" y="5"/>
                      <a:pt x="94" y="5"/>
                      <a:pt x="98" y="7"/>
                    </a:cubicBezTo>
                    <a:cubicBezTo>
                      <a:pt x="102" y="4"/>
                      <a:pt x="107" y="3"/>
                      <a:pt x="112" y="2"/>
                    </a:cubicBezTo>
                    <a:cubicBezTo>
                      <a:pt x="125" y="1"/>
                      <a:pt x="138" y="9"/>
                      <a:pt x="141" y="21"/>
                    </a:cubicBezTo>
                    <a:cubicBezTo>
                      <a:pt x="155" y="21"/>
                      <a:pt x="167" y="32"/>
                      <a:pt x="168" y="46"/>
                    </a:cubicBezTo>
                    <a:cubicBezTo>
                      <a:pt x="170" y="55"/>
                      <a:pt x="166" y="64"/>
                      <a:pt x="159" y="70"/>
                    </a:cubicBezTo>
                    <a:cubicBezTo>
                      <a:pt x="159" y="71"/>
                      <a:pt x="159" y="71"/>
                      <a:pt x="159" y="72"/>
                    </a:cubicBezTo>
                    <a:cubicBezTo>
                      <a:pt x="161" y="87"/>
                      <a:pt x="150" y="100"/>
                      <a:pt x="135" y="102"/>
                    </a:cubicBezTo>
                    <a:cubicBezTo>
                      <a:pt x="128" y="103"/>
                      <a:pt x="122" y="101"/>
                      <a:pt x="117" y="98"/>
                    </a:cubicBezTo>
                    <a:cubicBezTo>
                      <a:pt x="113" y="102"/>
                      <a:pt x="107" y="105"/>
                      <a:pt x="101" y="105"/>
                    </a:cubicBezTo>
                    <a:cubicBezTo>
                      <a:pt x="93" y="106"/>
                      <a:pt x="86" y="104"/>
                      <a:pt x="81" y="99"/>
                    </a:cubicBezTo>
                    <a:cubicBezTo>
                      <a:pt x="79" y="99"/>
                      <a:pt x="78" y="100"/>
                      <a:pt x="77" y="100"/>
                    </a:cubicBezTo>
                    <a:cubicBezTo>
                      <a:pt x="71" y="100"/>
                      <a:pt x="65" y="99"/>
                      <a:pt x="60" y="96"/>
                    </a:cubicBezTo>
                    <a:cubicBezTo>
                      <a:pt x="56" y="99"/>
                      <a:pt x="51" y="101"/>
                      <a:pt x="46" y="101"/>
                    </a:cubicBezTo>
                    <a:cubicBezTo>
                      <a:pt x="31" y="103"/>
                      <a:pt x="17" y="92"/>
                      <a:pt x="15" y="77"/>
                    </a:cubicBezTo>
                    <a:close/>
                  </a:path>
                </a:pathLst>
              </a:custGeom>
              <a:solidFill>
                <a:srgbClr val="87AF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0995" name="Freeform 428">
                <a:extLst>
                  <a:ext uri="{FF2B5EF4-FFF2-40B4-BE49-F238E27FC236}">
                    <a16:creationId xmlns:a16="http://schemas.microsoft.com/office/drawing/2014/main" id="{B9AF0F59-CBC3-4C5D-B06E-1C142AAF18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1" y="1210"/>
                <a:ext cx="1046" cy="799"/>
              </a:xfrm>
              <a:custGeom>
                <a:avLst/>
                <a:gdLst>
                  <a:gd name="T0" fmla="*/ 2147483646 w 169"/>
                  <a:gd name="T1" fmla="*/ 2147483646 h 106"/>
                  <a:gd name="T2" fmla="*/ 2147483646 w 169"/>
                  <a:gd name="T3" fmla="*/ 2147483646 h 106"/>
                  <a:gd name="T4" fmla="*/ 2147483646 w 169"/>
                  <a:gd name="T5" fmla="*/ 2147483646 h 106"/>
                  <a:gd name="T6" fmla="*/ 2147483646 w 169"/>
                  <a:gd name="T7" fmla="*/ 2147483646 h 106"/>
                  <a:gd name="T8" fmla="*/ 2147483646 w 169"/>
                  <a:gd name="T9" fmla="*/ 2147483646 h 106"/>
                  <a:gd name="T10" fmla="*/ 2147483646 w 169"/>
                  <a:gd name="T11" fmla="*/ 2147483646 h 106"/>
                  <a:gd name="T12" fmla="*/ 2147483646 w 169"/>
                  <a:gd name="T13" fmla="*/ 2147483646 h 106"/>
                  <a:gd name="T14" fmla="*/ 2147483646 w 169"/>
                  <a:gd name="T15" fmla="*/ 2147483646 h 106"/>
                  <a:gd name="T16" fmla="*/ 2147483646 w 169"/>
                  <a:gd name="T17" fmla="*/ 2147483646 h 106"/>
                  <a:gd name="T18" fmla="*/ 2147483646 w 169"/>
                  <a:gd name="T19" fmla="*/ 2147483646 h 106"/>
                  <a:gd name="T20" fmla="*/ 2147483646 w 169"/>
                  <a:gd name="T21" fmla="*/ 2147483646 h 106"/>
                  <a:gd name="T22" fmla="*/ 2147483646 w 169"/>
                  <a:gd name="T23" fmla="*/ 2147483646 h 106"/>
                  <a:gd name="T24" fmla="*/ 2147483646 w 169"/>
                  <a:gd name="T25" fmla="*/ 2147483646 h 106"/>
                  <a:gd name="T26" fmla="*/ 2147483646 w 169"/>
                  <a:gd name="T27" fmla="*/ 2147483646 h 106"/>
                  <a:gd name="T28" fmla="*/ 2147483646 w 169"/>
                  <a:gd name="T29" fmla="*/ 2147483646 h 106"/>
                  <a:gd name="T30" fmla="*/ 2147483646 w 169"/>
                  <a:gd name="T31" fmla="*/ 2147483646 h 106"/>
                  <a:gd name="T32" fmla="*/ 2147483646 w 169"/>
                  <a:gd name="T33" fmla="*/ 2147483646 h 106"/>
                  <a:gd name="T34" fmla="*/ 2147483646 w 169"/>
                  <a:gd name="T35" fmla="*/ 2147483646 h 106"/>
                  <a:gd name="T36" fmla="*/ 2147483646 w 169"/>
                  <a:gd name="T37" fmla="*/ 2147483646 h 106"/>
                  <a:gd name="T38" fmla="*/ 2147483646 w 169"/>
                  <a:gd name="T39" fmla="*/ 2147483646 h 106"/>
                  <a:gd name="T40" fmla="*/ 2147483646 w 169"/>
                  <a:gd name="T41" fmla="*/ 2147483646 h 106"/>
                  <a:gd name="T42" fmla="*/ 2147483646 w 169"/>
                  <a:gd name="T43" fmla="*/ 2147483646 h 10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169"/>
                  <a:gd name="T67" fmla="*/ 0 h 106"/>
                  <a:gd name="T68" fmla="*/ 169 w 169"/>
                  <a:gd name="T69" fmla="*/ 106 h 10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169" h="106">
                    <a:moveTo>
                      <a:pt x="15" y="77"/>
                    </a:moveTo>
                    <a:cubicBezTo>
                      <a:pt x="15" y="73"/>
                      <a:pt x="15" y="70"/>
                      <a:pt x="16" y="66"/>
                    </a:cubicBezTo>
                    <a:cubicBezTo>
                      <a:pt x="8" y="62"/>
                      <a:pt x="3" y="54"/>
                      <a:pt x="2" y="45"/>
                    </a:cubicBezTo>
                    <a:cubicBezTo>
                      <a:pt x="0" y="30"/>
                      <a:pt x="11" y="16"/>
                      <a:pt x="26" y="14"/>
                    </a:cubicBezTo>
                    <a:cubicBezTo>
                      <a:pt x="27" y="14"/>
                      <a:pt x="28" y="14"/>
                      <a:pt x="29" y="14"/>
                    </a:cubicBezTo>
                    <a:cubicBezTo>
                      <a:pt x="34" y="7"/>
                      <a:pt x="41" y="2"/>
                      <a:pt x="50" y="1"/>
                    </a:cubicBezTo>
                    <a:cubicBezTo>
                      <a:pt x="59" y="0"/>
                      <a:pt x="67" y="3"/>
                      <a:pt x="73" y="9"/>
                    </a:cubicBezTo>
                    <a:cubicBezTo>
                      <a:pt x="76" y="7"/>
                      <a:pt x="80" y="6"/>
                      <a:pt x="84" y="5"/>
                    </a:cubicBezTo>
                    <a:cubicBezTo>
                      <a:pt x="89" y="5"/>
                      <a:pt x="94" y="5"/>
                      <a:pt x="98" y="7"/>
                    </a:cubicBezTo>
                    <a:cubicBezTo>
                      <a:pt x="102" y="5"/>
                      <a:pt x="107" y="3"/>
                      <a:pt x="112" y="2"/>
                    </a:cubicBezTo>
                    <a:cubicBezTo>
                      <a:pt x="125" y="1"/>
                      <a:pt x="137" y="9"/>
                      <a:pt x="141" y="21"/>
                    </a:cubicBezTo>
                    <a:cubicBezTo>
                      <a:pt x="155" y="22"/>
                      <a:pt x="167" y="32"/>
                      <a:pt x="168" y="46"/>
                    </a:cubicBezTo>
                    <a:cubicBezTo>
                      <a:pt x="169" y="55"/>
                      <a:pt x="166" y="64"/>
                      <a:pt x="159" y="70"/>
                    </a:cubicBezTo>
                    <a:cubicBezTo>
                      <a:pt x="159" y="71"/>
                      <a:pt x="159" y="71"/>
                      <a:pt x="159" y="72"/>
                    </a:cubicBezTo>
                    <a:cubicBezTo>
                      <a:pt x="161" y="87"/>
                      <a:pt x="150" y="100"/>
                      <a:pt x="135" y="102"/>
                    </a:cubicBezTo>
                    <a:cubicBezTo>
                      <a:pt x="128" y="103"/>
                      <a:pt x="122" y="101"/>
                      <a:pt x="117" y="98"/>
                    </a:cubicBezTo>
                    <a:cubicBezTo>
                      <a:pt x="113" y="102"/>
                      <a:pt x="107" y="104"/>
                      <a:pt x="101" y="105"/>
                    </a:cubicBezTo>
                    <a:cubicBezTo>
                      <a:pt x="93" y="106"/>
                      <a:pt x="86" y="104"/>
                      <a:pt x="81" y="99"/>
                    </a:cubicBezTo>
                    <a:cubicBezTo>
                      <a:pt x="79" y="99"/>
                      <a:pt x="78" y="100"/>
                      <a:pt x="77" y="100"/>
                    </a:cubicBezTo>
                    <a:cubicBezTo>
                      <a:pt x="71" y="100"/>
                      <a:pt x="65" y="99"/>
                      <a:pt x="60" y="96"/>
                    </a:cubicBezTo>
                    <a:cubicBezTo>
                      <a:pt x="56" y="99"/>
                      <a:pt x="51" y="101"/>
                      <a:pt x="46" y="101"/>
                    </a:cubicBezTo>
                    <a:cubicBezTo>
                      <a:pt x="31" y="103"/>
                      <a:pt x="17" y="92"/>
                      <a:pt x="15" y="77"/>
                    </a:cubicBezTo>
                    <a:close/>
                  </a:path>
                </a:pathLst>
              </a:custGeom>
              <a:solidFill>
                <a:srgbClr val="88B0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0996" name="Freeform 429">
                <a:extLst>
                  <a:ext uri="{FF2B5EF4-FFF2-40B4-BE49-F238E27FC236}">
                    <a16:creationId xmlns:a16="http://schemas.microsoft.com/office/drawing/2014/main" id="{CC86084A-1F08-4CB5-824F-48DF3484F1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4" y="1222"/>
                <a:ext cx="1028" cy="771"/>
              </a:xfrm>
              <a:custGeom>
                <a:avLst/>
                <a:gdLst>
                  <a:gd name="T0" fmla="*/ 2147483646 w 166"/>
                  <a:gd name="T1" fmla="*/ 2147483646 h 102"/>
                  <a:gd name="T2" fmla="*/ 2147483646 w 166"/>
                  <a:gd name="T3" fmla="*/ 2147483646 h 102"/>
                  <a:gd name="T4" fmla="*/ 2147483646 w 166"/>
                  <a:gd name="T5" fmla="*/ 2147483646 h 102"/>
                  <a:gd name="T6" fmla="*/ 2147483646 w 166"/>
                  <a:gd name="T7" fmla="*/ 2147483646 h 102"/>
                  <a:gd name="T8" fmla="*/ 2147483646 w 166"/>
                  <a:gd name="T9" fmla="*/ 2147483646 h 102"/>
                  <a:gd name="T10" fmla="*/ 2147483646 w 166"/>
                  <a:gd name="T11" fmla="*/ 2147483646 h 102"/>
                  <a:gd name="T12" fmla="*/ 2147483646 w 166"/>
                  <a:gd name="T13" fmla="*/ 2147483646 h 102"/>
                  <a:gd name="T14" fmla="*/ 2147483646 w 166"/>
                  <a:gd name="T15" fmla="*/ 2147483646 h 102"/>
                  <a:gd name="T16" fmla="*/ 2147483646 w 166"/>
                  <a:gd name="T17" fmla="*/ 2147483646 h 102"/>
                  <a:gd name="T18" fmla="*/ 2147483646 w 166"/>
                  <a:gd name="T19" fmla="*/ 2147483646 h 102"/>
                  <a:gd name="T20" fmla="*/ 2147483646 w 166"/>
                  <a:gd name="T21" fmla="*/ 2147483646 h 102"/>
                  <a:gd name="T22" fmla="*/ 2147483646 w 166"/>
                  <a:gd name="T23" fmla="*/ 2147483646 h 102"/>
                  <a:gd name="T24" fmla="*/ 2147483646 w 166"/>
                  <a:gd name="T25" fmla="*/ 2147483646 h 102"/>
                  <a:gd name="T26" fmla="*/ 2147483646 w 166"/>
                  <a:gd name="T27" fmla="*/ 2147483646 h 102"/>
                  <a:gd name="T28" fmla="*/ 2147483646 w 166"/>
                  <a:gd name="T29" fmla="*/ 2147483646 h 102"/>
                  <a:gd name="T30" fmla="*/ 2147483646 w 166"/>
                  <a:gd name="T31" fmla="*/ 2147483646 h 102"/>
                  <a:gd name="T32" fmla="*/ 2147483646 w 166"/>
                  <a:gd name="T33" fmla="*/ 2147483646 h 102"/>
                  <a:gd name="T34" fmla="*/ 2147483646 w 166"/>
                  <a:gd name="T35" fmla="*/ 2147483646 h 102"/>
                  <a:gd name="T36" fmla="*/ 2147483646 w 166"/>
                  <a:gd name="T37" fmla="*/ 2147483646 h 102"/>
                  <a:gd name="T38" fmla="*/ 2147483646 w 166"/>
                  <a:gd name="T39" fmla="*/ 2147483646 h 102"/>
                  <a:gd name="T40" fmla="*/ 2147483646 w 166"/>
                  <a:gd name="T41" fmla="*/ 2147483646 h 102"/>
                  <a:gd name="T42" fmla="*/ 2147483646 w 166"/>
                  <a:gd name="T43" fmla="*/ 2147483646 h 102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166"/>
                  <a:gd name="T67" fmla="*/ 0 h 102"/>
                  <a:gd name="T68" fmla="*/ 166 w 166"/>
                  <a:gd name="T69" fmla="*/ 102 h 102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166" h="102">
                    <a:moveTo>
                      <a:pt x="15" y="74"/>
                    </a:moveTo>
                    <a:cubicBezTo>
                      <a:pt x="15" y="71"/>
                      <a:pt x="15" y="67"/>
                      <a:pt x="16" y="64"/>
                    </a:cubicBezTo>
                    <a:cubicBezTo>
                      <a:pt x="8" y="60"/>
                      <a:pt x="3" y="52"/>
                      <a:pt x="1" y="43"/>
                    </a:cubicBezTo>
                    <a:cubicBezTo>
                      <a:pt x="0" y="28"/>
                      <a:pt x="10" y="15"/>
                      <a:pt x="25" y="14"/>
                    </a:cubicBezTo>
                    <a:cubicBezTo>
                      <a:pt x="26" y="13"/>
                      <a:pt x="28" y="13"/>
                      <a:pt x="29" y="13"/>
                    </a:cubicBezTo>
                    <a:cubicBezTo>
                      <a:pt x="33" y="7"/>
                      <a:pt x="40" y="1"/>
                      <a:pt x="49" y="1"/>
                    </a:cubicBezTo>
                    <a:cubicBezTo>
                      <a:pt x="57" y="0"/>
                      <a:pt x="66" y="3"/>
                      <a:pt x="71" y="9"/>
                    </a:cubicBezTo>
                    <a:cubicBezTo>
                      <a:pt x="75" y="7"/>
                      <a:pt x="78" y="5"/>
                      <a:pt x="82" y="5"/>
                    </a:cubicBezTo>
                    <a:cubicBezTo>
                      <a:pt x="87" y="4"/>
                      <a:pt x="92" y="5"/>
                      <a:pt x="96" y="7"/>
                    </a:cubicBezTo>
                    <a:cubicBezTo>
                      <a:pt x="100" y="4"/>
                      <a:pt x="104" y="2"/>
                      <a:pt x="109" y="2"/>
                    </a:cubicBezTo>
                    <a:cubicBezTo>
                      <a:pt x="122" y="0"/>
                      <a:pt x="134" y="8"/>
                      <a:pt x="138" y="20"/>
                    </a:cubicBezTo>
                    <a:cubicBezTo>
                      <a:pt x="152" y="21"/>
                      <a:pt x="163" y="31"/>
                      <a:pt x="165" y="44"/>
                    </a:cubicBezTo>
                    <a:cubicBezTo>
                      <a:pt x="166" y="53"/>
                      <a:pt x="162" y="62"/>
                      <a:pt x="155" y="68"/>
                    </a:cubicBezTo>
                    <a:cubicBezTo>
                      <a:pt x="155" y="68"/>
                      <a:pt x="155" y="68"/>
                      <a:pt x="155" y="69"/>
                    </a:cubicBezTo>
                    <a:cubicBezTo>
                      <a:pt x="157" y="84"/>
                      <a:pt x="146" y="97"/>
                      <a:pt x="131" y="99"/>
                    </a:cubicBezTo>
                    <a:cubicBezTo>
                      <a:pt x="125" y="99"/>
                      <a:pt x="119" y="98"/>
                      <a:pt x="114" y="94"/>
                    </a:cubicBezTo>
                    <a:cubicBezTo>
                      <a:pt x="110" y="98"/>
                      <a:pt x="105" y="101"/>
                      <a:pt x="99" y="101"/>
                    </a:cubicBezTo>
                    <a:cubicBezTo>
                      <a:pt x="91" y="102"/>
                      <a:pt x="84" y="100"/>
                      <a:pt x="79" y="96"/>
                    </a:cubicBezTo>
                    <a:cubicBezTo>
                      <a:pt x="78" y="96"/>
                      <a:pt x="76" y="96"/>
                      <a:pt x="75" y="96"/>
                    </a:cubicBezTo>
                    <a:cubicBezTo>
                      <a:pt x="69" y="97"/>
                      <a:pt x="63" y="95"/>
                      <a:pt x="58" y="92"/>
                    </a:cubicBezTo>
                    <a:cubicBezTo>
                      <a:pt x="55" y="95"/>
                      <a:pt x="50" y="97"/>
                      <a:pt x="45" y="98"/>
                    </a:cubicBezTo>
                    <a:cubicBezTo>
                      <a:pt x="30" y="99"/>
                      <a:pt x="17" y="89"/>
                      <a:pt x="15" y="74"/>
                    </a:cubicBezTo>
                    <a:close/>
                  </a:path>
                </a:pathLst>
              </a:custGeom>
              <a:solidFill>
                <a:srgbClr val="96B8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0997" name="Freeform 430">
                <a:extLst>
                  <a:ext uri="{FF2B5EF4-FFF2-40B4-BE49-F238E27FC236}">
                    <a16:creationId xmlns:a16="http://schemas.microsoft.com/office/drawing/2014/main" id="{2AA082DD-D204-4EAF-BE33-70AE9C7D64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0" y="1232"/>
                <a:ext cx="1008" cy="751"/>
              </a:xfrm>
              <a:custGeom>
                <a:avLst/>
                <a:gdLst>
                  <a:gd name="T0" fmla="*/ 2147483646 w 163"/>
                  <a:gd name="T1" fmla="*/ 2147483646 h 100"/>
                  <a:gd name="T2" fmla="*/ 2147483646 w 163"/>
                  <a:gd name="T3" fmla="*/ 2147483646 h 100"/>
                  <a:gd name="T4" fmla="*/ 2147483646 w 163"/>
                  <a:gd name="T5" fmla="*/ 2147483646 h 100"/>
                  <a:gd name="T6" fmla="*/ 2147483646 w 163"/>
                  <a:gd name="T7" fmla="*/ 2147483646 h 100"/>
                  <a:gd name="T8" fmla="*/ 2147483646 w 163"/>
                  <a:gd name="T9" fmla="*/ 2147483646 h 100"/>
                  <a:gd name="T10" fmla="*/ 2147483646 w 163"/>
                  <a:gd name="T11" fmla="*/ 2147483646 h 100"/>
                  <a:gd name="T12" fmla="*/ 2147483646 w 163"/>
                  <a:gd name="T13" fmla="*/ 2147483646 h 100"/>
                  <a:gd name="T14" fmla="*/ 2147483646 w 163"/>
                  <a:gd name="T15" fmla="*/ 2147483646 h 100"/>
                  <a:gd name="T16" fmla="*/ 2147483646 w 163"/>
                  <a:gd name="T17" fmla="*/ 2147483646 h 100"/>
                  <a:gd name="T18" fmla="*/ 2147483646 w 163"/>
                  <a:gd name="T19" fmla="*/ 2147483646 h 100"/>
                  <a:gd name="T20" fmla="*/ 2147483646 w 163"/>
                  <a:gd name="T21" fmla="*/ 2147483646 h 100"/>
                  <a:gd name="T22" fmla="*/ 2147483646 w 163"/>
                  <a:gd name="T23" fmla="*/ 2147483646 h 100"/>
                  <a:gd name="T24" fmla="*/ 2147483646 w 163"/>
                  <a:gd name="T25" fmla="*/ 2147483646 h 100"/>
                  <a:gd name="T26" fmla="*/ 2147483646 w 163"/>
                  <a:gd name="T27" fmla="*/ 2147483646 h 100"/>
                  <a:gd name="T28" fmla="*/ 2147483646 w 163"/>
                  <a:gd name="T29" fmla="*/ 2147483646 h 100"/>
                  <a:gd name="T30" fmla="*/ 2147483646 w 163"/>
                  <a:gd name="T31" fmla="*/ 2147483646 h 100"/>
                  <a:gd name="T32" fmla="*/ 2147483646 w 163"/>
                  <a:gd name="T33" fmla="*/ 2147483646 h 100"/>
                  <a:gd name="T34" fmla="*/ 2147483646 w 163"/>
                  <a:gd name="T35" fmla="*/ 2147483646 h 100"/>
                  <a:gd name="T36" fmla="*/ 2147483646 w 163"/>
                  <a:gd name="T37" fmla="*/ 2147483646 h 100"/>
                  <a:gd name="T38" fmla="*/ 2147483646 w 163"/>
                  <a:gd name="T39" fmla="*/ 2147483646 h 100"/>
                  <a:gd name="T40" fmla="*/ 2147483646 w 163"/>
                  <a:gd name="T41" fmla="*/ 2147483646 h 100"/>
                  <a:gd name="T42" fmla="*/ 2147483646 w 163"/>
                  <a:gd name="T43" fmla="*/ 2147483646 h 100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163"/>
                  <a:gd name="T67" fmla="*/ 0 h 100"/>
                  <a:gd name="T68" fmla="*/ 163 w 163"/>
                  <a:gd name="T69" fmla="*/ 100 h 100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163" h="100">
                    <a:moveTo>
                      <a:pt x="15" y="73"/>
                    </a:moveTo>
                    <a:cubicBezTo>
                      <a:pt x="14" y="69"/>
                      <a:pt x="15" y="66"/>
                      <a:pt x="16" y="63"/>
                    </a:cubicBezTo>
                    <a:cubicBezTo>
                      <a:pt x="8" y="59"/>
                      <a:pt x="3" y="51"/>
                      <a:pt x="2" y="42"/>
                    </a:cubicBezTo>
                    <a:cubicBezTo>
                      <a:pt x="0" y="28"/>
                      <a:pt x="10" y="15"/>
                      <a:pt x="25" y="13"/>
                    </a:cubicBezTo>
                    <a:cubicBezTo>
                      <a:pt x="26" y="13"/>
                      <a:pt x="27" y="13"/>
                      <a:pt x="28" y="13"/>
                    </a:cubicBezTo>
                    <a:cubicBezTo>
                      <a:pt x="33" y="6"/>
                      <a:pt x="40" y="1"/>
                      <a:pt x="48" y="1"/>
                    </a:cubicBezTo>
                    <a:cubicBezTo>
                      <a:pt x="57" y="0"/>
                      <a:pt x="65" y="3"/>
                      <a:pt x="70" y="8"/>
                    </a:cubicBezTo>
                    <a:cubicBezTo>
                      <a:pt x="74" y="6"/>
                      <a:pt x="77" y="5"/>
                      <a:pt x="81" y="5"/>
                    </a:cubicBezTo>
                    <a:cubicBezTo>
                      <a:pt x="86" y="4"/>
                      <a:pt x="91" y="5"/>
                      <a:pt x="95" y="7"/>
                    </a:cubicBezTo>
                    <a:cubicBezTo>
                      <a:pt x="99" y="4"/>
                      <a:pt x="103" y="2"/>
                      <a:pt x="108" y="2"/>
                    </a:cubicBezTo>
                    <a:cubicBezTo>
                      <a:pt x="121" y="0"/>
                      <a:pt x="133" y="8"/>
                      <a:pt x="136" y="20"/>
                    </a:cubicBezTo>
                    <a:cubicBezTo>
                      <a:pt x="150" y="20"/>
                      <a:pt x="161" y="30"/>
                      <a:pt x="162" y="43"/>
                    </a:cubicBezTo>
                    <a:cubicBezTo>
                      <a:pt x="163" y="52"/>
                      <a:pt x="160" y="61"/>
                      <a:pt x="153" y="66"/>
                    </a:cubicBezTo>
                    <a:cubicBezTo>
                      <a:pt x="153" y="67"/>
                      <a:pt x="153" y="67"/>
                      <a:pt x="153" y="68"/>
                    </a:cubicBezTo>
                    <a:cubicBezTo>
                      <a:pt x="155" y="82"/>
                      <a:pt x="144" y="95"/>
                      <a:pt x="130" y="97"/>
                    </a:cubicBezTo>
                    <a:cubicBezTo>
                      <a:pt x="124" y="97"/>
                      <a:pt x="118" y="96"/>
                      <a:pt x="113" y="93"/>
                    </a:cubicBezTo>
                    <a:cubicBezTo>
                      <a:pt x="109" y="96"/>
                      <a:pt x="103" y="99"/>
                      <a:pt x="98" y="99"/>
                    </a:cubicBezTo>
                    <a:cubicBezTo>
                      <a:pt x="90" y="100"/>
                      <a:pt x="83" y="98"/>
                      <a:pt x="78" y="94"/>
                    </a:cubicBezTo>
                    <a:cubicBezTo>
                      <a:pt x="77" y="94"/>
                      <a:pt x="75" y="94"/>
                      <a:pt x="74" y="94"/>
                    </a:cubicBezTo>
                    <a:cubicBezTo>
                      <a:pt x="68" y="95"/>
                      <a:pt x="63" y="94"/>
                      <a:pt x="58" y="91"/>
                    </a:cubicBezTo>
                    <a:cubicBezTo>
                      <a:pt x="54" y="93"/>
                      <a:pt x="49" y="95"/>
                      <a:pt x="44" y="96"/>
                    </a:cubicBezTo>
                    <a:cubicBezTo>
                      <a:pt x="30" y="97"/>
                      <a:pt x="17" y="87"/>
                      <a:pt x="15" y="73"/>
                    </a:cubicBezTo>
                    <a:close/>
                  </a:path>
                </a:pathLst>
              </a:custGeom>
              <a:solidFill>
                <a:srgbClr val="9EBE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0998" name="Freeform 431">
                <a:extLst>
                  <a:ext uri="{FF2B5EF4-FFF2-40B4-BE49-F238E27FC236}">
                    <a16:creationId xmlns:a16="http://schemas.microsoft.com/office/drawing/2014/main" id="{64FFC610-81D7-4E0A-AD9C-0050D2ABA7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3" y="1245"/>
                <a:ext cx="982" cy="725"/>
              </a:xfrm>
              <a:custGeom>
                <a:avLst/>
                <a:gdLst>
                  <a:gd name="T0" fmla="*/ 2147483646 w 159"/>
                  <a:gd name="T1" fmla="*/ 2147483646 h 96"/>
                  <a:gd name="T2" fmla="*/ 2147483646 w 159"/>
                  <a:gd name="T3" fmla="*/ 2147483646 h 96"/>
                  <a:gd name="T4" fmla="*/ 2147483646 w 159"/>
                  <a:gd name="T5" fmla="*/ 2147483646 h 96"/>
                  <a:gd name="T6" fmla="*/ 2147483646 w 159"/>
                  <a:gd name="T7" fmla="*/ 2147483646 h 96"/>
                  <a:gd name="T8" fmla="*/ 2147483646 w 159"/>
                  <a:gd name="T9" fmla="*/ 2147483646 h 96"/>
                  <a:gd name="T10" fmla="*/ 2147483646 w 159"/>
                  <a:gd name="T11" fmla="*/ 2147483646 h 96"/>
                  <a:gd name="T12" fmla="*/ 2147483646 w 159"/>
                  <a:gd name="T13" fmla="*/ 2147483646 h 96"/>
                  <a:gd name="T14" fmla="*/ 2147483646 w 159"/>
                  <a:gd name="T15" fmla="*/ 2147483646 h 96"/>
                  <a:gd name="T16" fmla="*/ 2147483646 w 159"/>
                  <a:gd name="T17" fmla="*/ 2147483646 h 96"/>
                  <a:gd name="T18" fmla="*/ 2147483646 w 159"/>
                  <a:gd name="T19" fmla="*/ 2147483646 h 96"/>
                  <a:gd name="T20" fmla="*/ 2147483646 w 159"/>
                  <a:gd name="T21" fmla="*/ 2147483646 h 96"/>
                  <a:gd name="T22" fmla="*/ 2147483646 w 159"/>
                  <a:gd name="T23" fmla="*/ 2147483646 h 96"/>
                  <a:gd name="T24" fmla="*/ 2147483646 w 159"/>
                  <a:gd name="T25" fmla="*/ 2147483646 h 96"/>
                  <a:gd name="T26" fmla="*/ 2147483646 w 159"/>
                  <a:gd name="T27" fmla="*/ 2147483646 h 96"/>
                  <a:gd name="T28" fmla="*/ 2147483646 w 159"/>
                  <a:gd name="T29" fmla="*/ 2147483646 h 96"/>
                  <a:gd name="T30" fmla="*/ 2147483646 w 159"/>
                  <a:gd name="T31" fmla="*/ 2147483646 h 96"/>
                  <a:gd name="T32" fmla="*/ 2147483646 w 159"/>
                  <a:gd name="T33" fmla="*/ 2147483646 h 96"/>
                  <a:gd name="T34" fmla="*/ 2147483646 w 159"/>
                  <a:gd name="T35" fmla="*/ 2147483646 h 96"/>
                  <a:gd name="T36" fmla="*/ 2147483646 w 159"/>
                  <a:gd name="T37" fmla="*/ 2147483646 h 96"/>
                  <a:gd name="T38" fmla="*/ 2147483646 w 159"/>
                  <a:gd name="T39" fmla="*/ 2147483646 h 96"/>
                  <a:gd name="T40" fmla="*/ 2147483646 w 159"/>
                  <a:gd name="T41" fmla="*/ 2147483646 h 96"/>
                  <a:gd name="T42" fmla="*/ 2147483646 w 159"/>
                  <a:gd name="T43" fmla="*/ 2147483646 h 9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159"/>
                  <a:gd name="T67" fmla="*/ 0 h 96"/>
                  <a:gd name="T68" fmla="*/ 159 w 159"/>
                  <a:gd name="T69" fmla="*/ 96 h 9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159" h="96">
                    <a:moveTo>
                      <a:pt x="15" y="70"/>
                    </a:moveTo>
                    <a:cubicBezTo>
                      <a:pt x="14" y="66"/>
                      <a:pt x="15" y="63"/>
                      <a:pt x="15" y="60"/>
                    </a:cubicBezTo>
                    <a:cubicBezTo>
                      <a:pt x="8" y="56"/>
                      <a:pt x="3" y="49"/>
                      <a:pt x="2" y="41"/>
                    </a:cubicBezTo>
                    <a:cubicBezTo>
                      <a:pt x="0" y="27"/>
                      <a:pt x="10" y="14"/>
                      <a:pt x="25" y="13"/>
                    </a:cubicBezTo>
                    <a:cubicBezTo>
                      <a:pt x="26" y="13"/>
                      <a:pt x="27" y="13"/>
                      <a:pt x="28" y="13"/>
                    </a:cubicBezTo>
                    <a:cubicBezTo>
                      <a:pt x="32" y="6"/>
                      <a:pt x="39" y="1"/>
                      <a:pt x="47" y="1"/>
                    </a:cubicBezTo>
                    <a:cubicBezTo>
                      <a:pt x="55" y="0"/>
                      <a:pt x="63" y="3"/>
                      <a:pt x="69" y="8"/>
                    </a:cubicBezTo>
                    <a:cubicBezTo>
                      <a:pt x="72" y="6"/>
                      <a:pt x="75" y="5"/>
                      <a:pt x="79" y="5"/>
                    </a:cubicBezTo>
                    <a:cubicBezTo>
                      <a:pt x="84" y="4"/>
                      <a:pt x="89" y="5"/>
                      <a:pt x="93" y="6"/>
                    </a:cubicBezTo>
                    <a:cubicBezTo>
                      <a:pt x="96" y="4"/>
                      <a:pt x="100" y="2"/>
                      <a:pt x="105" y="2"/>
                    </a:cubicBezTo>
                    <a:cubicBezTo>
                      <a:pt x="118" y="0"/>
                      <a:pt x="129" y="8"/>
                      <a:pt x="133" y="19"/>
                    </a:cubicBezTo>
                    <a:cubicBezTo>
                      <a:pt x="146" y="19"/>
                      <a:pt x="157" y="29"/>
                      <a:pt x="158" y="41"/>
                    </a:cubicBezTo>
                    <a:cubicBezTo>
                      <a:pt x="159" y="50"/>
                      <a:pt x="156" y="58"/>
                      <a:pt x="149" y="64"/>
                    </a:cubicBezTo>
                    <a:cubicBezTo>
                      <a:pt x="149" y="64"/>
                      <a:pt x="149" y="64"/>
                      <a:pt x="149" y="65"/>
                    </a:cubicBezTo>
                    <a:cubicBezTo>
                      <a:pt x="151" y="79"/>
                      <a:pt x="141" y="91"/>
                      <a:pt x="126" y="93"/>
                    </a:cubicBezTo>
                    <a:cubicBezTo>
                      <a:pt x="120" y="93"/>
                      <a:pt x="115" y="92"/>
                      <a:pt x="110" y="89"/>
                    </a:cubicBezTo>
                    <a:cubicBezTo>
                      <a:pt x="106" y="92"/>
                      <a:pt x="101" y="95"/>
                      <a:pt x="95" y="95"/>
                    </a:cubicBezTo>
                    <a:cubicBezTo>
                      <a:pt x="88" y="96"/>
                      <a:pt x="81" y="94"/>
                      <a:pt x="76" y="90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67" y="91"/>
                      <a:pt x="61" y="90"/>
                      <a:pt x="56" y="87"/>
                    </a:cubicBezTo>
                    <a:cubicBezTo>
                      <a:pt x="53" y="90"/>
                      <a:pt x="48" y="91"/>
                      <a:pt x="44" y="92"/>
                    </a:cubicBezTo>
                    <a:cubicBezTo>
                      <a:pt x="29" y="94"/>
                      <a:pt x="16" y="84"/>
                      <a:pt x="15" y="70"/>
                    </a:cubicBezTo>
                    <a:close/>
                  </a:path>
                </a:pathLst>
              </a:custGeom>
              <a:solidFill>
                <a:srgbClr val="AFC9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0999" name="Freeform 432">
                <a:extLst>
                  <a:ext uri="{FF2B5EF4-FFF2-40B4-BE49-F238E27FC236}">
                    <a16:creationId xmlns:a16="http://schemas.microsoft.com/office/drawing/2014/main" id="{51C130AA-0DD1-48D8-830C-6616747C55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3" y="1245"/>
                <a:ext cx="982" cy="725"/>
              </a:xfrm>
              <a:custGeom>
                <a:avLst/>
                <a:gdLst>
                  <a:gd name="T0" fmla="*/ 2147483646 w 159"/>
                  <a:gd name="T1" fmla="*/ 2147483646 h 96"/>
                  <a:gd name="T2" fmla="*/ 2147483646 w 159"/>
                  <a:gd name="T3" fmla="*/ 2147483646 h 96"/>
                  <a:gd name="T4" fmla="*/ 2147483646 w 159"/>
                  <a:gd name="T5" fmla="*/ 2147483646 h 96"/>
                  <a:gd name="T6" fmla="*/ 2147483646 w 159"/>
                  <a:gd name="T7" fmla="*/ 2147483646 h 96"/>
                  <a:gd name="T8" fmla="*/ 2147483646 w 159"/>
                  <a:gd name="T9" fmla="*/ 2147483646 h 96"/>
                  <a:gd name="T10" fmla="*/ 2147483646 w 159"/>
                  <a:gd name="T11" fmla="*/ 2147483646 h 96"/>
                  <a:gd name="T12" fmla="*/ 2147483646 w 159"/>
                  <a:gd name="T13" fmla="*/ 2147483646 h 96"/>
                  <a:gd name="T14" fmla="*/ 2147483646 w 159"/>
                  <a:gd name="T15" fmla="*/ 2147483646 h 96"/>
                  <a:gd name="T16" fmla="*/ 2147483646 w 159"/>
                  <a:gd name="T17" fmla="*/ 2147483646 h 96"/>
                  <a:gd name="T18" fmla="*/ 2147483646 w 159"/>
                  <a:gd name="T19" fmla="*/ 2147483646 h 96"/>
                  <a:gd name="T20" fmla="*/ 2147483646 w 159"/>
                  <a:gd name="T21" fmla="*/ 2147483646 h 96"/>
                  <a:gd name="T22" fmla="*/ 2147483646 w 159"/>
                  <a:gd name="T23" fmla="*/ 2147483646 h 96"/>
                  <a:gd name="T24" fmla="*/ 2147483646 w 159"/>
                  <a:gd name="T25" fmla="*/ 2147483646 h 96"/>
                  <a:gd name="T26" fmla="*/ 2147483646 w 159"/>
                  <a:gd name="T27" fmla="*/ 2147483646 h 96"/>
                  <a:gd name="T28" fmla="*/ 2147483646 w 159"/>
                  <a:gd name="T29" fmla="*/ 2147483646 h 96"/>
                  <a:gd name="T30" fmla="*/ 2147483646 w 159"/>
                  <a:gd name="T31" fmla="*/ 2147483646 h 96"/>
                  <a:gd name="T32" fmla="*/ 2147483646 w 159"/>
                  <a:gd name="T33" fmla="*/ 2147483646 h 96"/>
                  <a:gd name="T34" fmla="*/ 2147483646 w 159"/>
                  <a:gd name="T35" fmla="*/ 2147483646 h 96"/>
                  <a:gd name="T36" fmla="*/ 2147483646 w 159"/>
                  <a:gd name="T37" fmla="*/ 2147483646 h 96"/>
                  <a:gd name="T38" fmla="*/ 2147483646 w 159"/>
                  <a:gd name="T39" fmla="*/ 2147483646 h 96"/>
                  <a:gd name="T40" fmla="*/ 2147483646 w 159"/>
                  <a:gd name="T41" fmla="*/ 2147483646 h 96"/>
                  <a:gd name="T42" fmla="*/ 2147483646 w 159"/>
                  <a:gd name="T43" fmla="*/ 2147483646 h 9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159"/>
                  <a:gd name="T67" fmla="*/ 0 h 96"/>
                  <a:gd name="T68" fmla="*/ 159 w 159"/>
                  <a:gd name="T69" fmla="*/ 96 h 9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159" h="96">
                    <a:moveTo>
                      <a:pt x="15" y="70"/>
                    </a:moveTo>
                    <a:cubicBezTo>
                      <a:pt x="14" y="66"/>
                      <a:pt x="15" y="63"/>
                      <a:pt x="16" y="60"/>
                    </a:cubicBezTo>
                    <a:cubicBezTo>
                      <a:pt x="8" y="56"/>
                      <a:pt x="3" y="49"/>
                      <a:pt x="2" y="41"/>
                    </a:cubicBezTo>
                    <a:cubicBezTo>
                      <a:pt x="0" y="27"/>
                      <a:pt x="11" y="14"/>
                      <a:pt x="25" y="13"/>
                    </a:cubicBezTo>
                    <a:cubicBezTo>
                      <a:pt x="26" y="13"/>
                      <a:pt x="27" y="13"/>
                      <a:pt x="28" y="13"/>
                    </a:cubicBezTo>
                    <a:cubicBezTo>
                      <a:pt x="32" y="6"/>
                      <a:pt x="39" y="2"/>
                      <a:pt x="47" y="1"/>
                    </a:cubicBezTo>
                    <a:cubicBezTo>
                      <a:pt x="55" y="0"/>
                      <a:pt x="63" y="3"/>
                      <a:pt x="69" y="8"/>
                    </a:cubicBezTo>
                    <a:cubicBezTo>
                      <a:pt x="72" y="6"/>
                      <a:pt x="75" y="5"/>
                      <a:pt x="79" y="5"/>
                    </a:cubicBezTo>
                    <a:cubicBezTo>
                      <a:pt x="84" y="4"/>
                      <a:pt x="89" y="5"/>
                      <a:pt x="93" y="7"/>
                    </a:cubicBezTo>
                    <a:cubicBezTo>
                      <a:pt x="96" y="4"/>
                      <a:pt x="100" y="2"/>
                      <a:pt x="105" y="2"/>
                    </a:cubicBezTo>
                    <a:cubicBezTo>
                      <a:pt x="118" y="0"/>
                      <a:pt x="129" y="8"/>
                      <a:pt x="133" y="19"/>
                    </a:cubicBezTo>
                    <a:cubicBezTo>
                      <a:pt x="146" y="19"/>
                      <a:pt x="157" y="29"/>
                      <a:pt x="158" y="42"/>
                    </a:cubicBezTo>
                    <a:cubicBezTo>
                      <a:pt x="159" y="50"/>
                      <a:pt x="155" y="58"/>
                      <a:pt x="149" y="64"/>
                    </a:cubicBezTo>
                    <a:cubicBezTo>
                      <a:pt x="149" y="64"/>
                      <a:pt x="149" y="64"/>
                      <a:pt x="149" y="65"/>
                    </a:cubicBezTo>
                    <a:cubicBezTo>
                      <a:pt x="151" y="79"/>
                      <a:pt x="141" y="91"/>
                      <a:pt x="126" y="93"/>
                    </a:cubicBezTo>
                    <a:cubicBezTo>
                      <a:pt x="120" y="93"/>
                      <a:pt x="115" y="92"/>
                      <a:pt x="110" y="89"/>
                    </a:cubicBezTo>
                    <a:cubicBezTo>
                      <a:pt x="106" y="92"/>
                      <a:pt x="101" y="95"/>
                      <a:pt x="95" y="95"/>
                    </a:cubicBezTo>
                    <a:cubicBezTo>
                      <a:pt x="88" y="96"/>
                      <a:pt x="81" y="94"/>
                      <a:pt x="76" y="90"/>
                    </a:cubicBezTo>
                    <a:cubicBezTo>
                      <a:pt x="75" y="90"/>
                      <a:pt x="74" y="90"/>
                      <a:pt x="73" y="90"/>
                    </a:cubicBezTo>
                    <a:cubicBezTo>
                      <a:pt x="67" y="91"/>
                      <a:pt x="61" y="90"/>
                      <a:pt x="56" y="87"/>
                    </a:cubicBezTo>
                    <a:cubicBezTo>
                      <a:pt x="53" y="90"/>
                      <a:pt x="48" y="91"/>
                      <a:pt x="44" y="92"/>
                    </a:cubicBezTo>
                    <a:cubicBezTo>
                      <a:pt x="29" y="93"/>
                      <a:pt x="16" y="84"/>
                      <a:pt x="15" y="70"/>
                    </a:cubicBezTo>
                    <a:close/>
                  </a:path>
                </a:pathLst>
              </a:custGeom>
              <a:solidFill>
                <a:srgbClr val="AFC9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1000" name="Freeform 433">
                <a:extLst>
                  <a:ext uri="{FF2B5EF4-FFF2-40B4-BE49-F238E27FC236}">
                    <a16:creationId xmlns:a16="http://schemas.microsoft.com/office/drawing/2014/main" id="{C3905088-CF3E-4D41-AF73-4CD39E5B17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8" y="1254"/>
                <a:ext cx="972" cy="707"/>
              </a:xfrm>
              <a:custGeom>
                <a:avLst/>
                <a:gdLst>
                  <a:gd name="T0" fmla="*/ 2147483646 w 157"/>
                  <a:gd name="T1" fmla="*/ 2147483646 h 94"/>
                  <a:gd name="T2" fmla="*/ 2147483646 w 157"/>
                  <a:gd name="T3" fmla="*/ 2147483646 h 94"/>
                  <a:gd name="T4" fmla="*/ 2147483646 w 157"/>
                  <a:gd name="T5" fmla="*/ 2147483646 h 94"/>
                  <a:gd name="T6" fmla="*/ 2147483646 w 157"/>
                  <a:gd name="T7" fmla="*/ 2147483646 h 94"/>
                  <a:gd name="T8" fmla="*/ 2147483646 w 157"/>
                  <a:gd name="T9" fmla="*/ 2147483646 h 94"/>
                  <a:gd name="T10" fmla="*/ 2147483646 w 157"/>
                  <a:gd name="T11" fmla="*/ 2147483646 h 94"/>
                  <a:gd name="T12" fmla="*/ 2147483646 w 157"/>
                  <a:gd name="T13" fmla="*/ 2147483646 h 94"/>
                  <a:gd name="T14" fmla="*/ 2147483646 w 157"/>
                  <a:gd name="T15" fmla="*/ 2147483646 h 94"/>
                  <a:gd name="T16" fmla="*/ 2147483646 w 157"/>
                  <a:gd name="T17" fmla="*/ 2147483646 h 94"/>
                  <a:gd name="T18" fmla="*/ 2147483646 w 157"/>
                  <a:gd name="T19" fmla="*/ 2147483646 h 94"/>
                  <a:gd name="T20" fmla="*/ 2147483646 w 157"/>
                  <a:gd name="T21" fmla="*/ 2147483646 h 94"/>
                  <a:gd name="T22" fmla="*/ 2147483646 w 157"/>
                  <a:gd name="T23" fmla="*/ 2147483646 h 94"/>
                  <a:gd name="T24" fmla="*/ 2147483646 w 157"/>
                  <a:gd name="T25" fmla="*/ 2147483646 h 94"/>
                  <a:gd name="T26" fmla="*/ 2147483646 w 157"/>
                  <a:gd name="T27" fmla="*/ 2147483646 h 94"/>
                  <a:gd name="T28" fmla="*/ 2147483646 w 157"/>
                  <a:gd name="T29" fmla="*/ 2147483646 h 94"/>
                  <a:gd name="T30" fmla="*/ 2147483646 w 157"/>
                  <a:gd name="T31" fmla="*/ 2147483646 h 94"/>
                  <a:gd name="T32" fmla="*/ 2147483646 w 157"/>
                  <a:gd name="T33" fmla="*/ 2147483646 h 94"/>
                  <a:gd name="T34" fmla="*/ 2147483646 w 157"/>
                  <a:gd name="T35" fmla="*/ 2147483646 h 94"/>
                  <a:gd name="T36" fmla="*/ 2147483646 w 157"/>
                  <a:gd name="T37" fmla="*/ 2147483646 h 94"/>
                  <a:gd name="T38" fmla="*/ 2147483646 w 157"/>
                  <a:gd name="T39" fmla="*/ 2147483646 h 94"/>
                  <a:gd name="T40" fmla="*/ 2147483646 w 157"/>
                  <a:gd name="T41" fmla="*/ 2147483646 h 94"/>
                  <a:gd name="T42" fmla="*/ 2147483646 w 157"/>
                  <a:gd name="T43" fmla="*/ 2147483646 h 94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157"/>
                  <a:gd name="T67" fmla="*/ 0 h 94"/>
                  <a:gd name="T68" fmla="*/ 157 w 157"/>
                  <a:gd name="T69" fmla="*/ 94 h 94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157" h="94">
                    <a:moveTo>
                      <a:pt x="15" y="68"/>
                    </a:moveTo>
                    <a:cubicBezTo>
                      <a:pt x="14" y="65"/>
                      <a:pt x="14" y="62"/>
                      <a:pt x="15" y="59"/>
                    </a:cubicBezTo>
                    <a:cubicBezTo>
                      <a:pt x="8" y="55"/>
                      <a:pt x="3" y="48"/>
                      <a:pt x="2" y="40"/>
                    </a:cubicBezTo>
                    <a:cubicBezTo>
                      <a:pt x="0" y="26"/>
                      <a:pt x="10" y="14"/>
                      <a:pt x="24" y="13"/>
                    </a:cubicBezTo>
                    <a:cubicBezTo>
                      <a:pt x="26" y="12"/>
                      <a:pt x="27" y="12"/>
                      <a:pt x="28" y="12"/>
                    </a:cubicBezTo>
                    <a:cubicBezTo>
                      <a:pt x="32" y="6"/>
                      <a:pt x="38" y="1"/>
                      <a:pt x="47" y="1"/>
                    </a:cubicBezTo>
                    <a:cubicBezTo>
                      <a:pt x="55" y="0"/>
                      <a:pt x="63" y="3"/>
                      <a:pt x="68" y="8"/>
                    </a:cubicBezTo>
                    <a:cubicBezTo>
                      <a:pt x="71" y="6"/>
                      <a:pt x="75" y="5"/>
                      <a:pt x="78" y="4"/>
                    </a:cubicBezTo>
                    <a:cubicBezTo>
                      <a:pt x="83" y="4"/>
                      <a:pt x="87" y="5"/>
                      <a:pt x="91" y="6"/>
                    </a:cubicBezTo>
                    <a:cubicBezTo>
                      <a:pt x="95" y="4"/>
                      <a:pt x="99" y="2"/>
                      <a:pt x="104" y="2"/>
                    </a:cubicBezTo>
                    <a:cubicBezTo>
                      <a:pt x="116" y="0"/>
                      <a:pt x="127" y="8"/>
                      <a:pt x="131" y="19"/>
                    </a:cubicBezTo>
                    <a:cubicBezTo>
                      <a:pt x="144" y="19"/>
                      <a:pt x="155" y="28"/>
                      <a:pt x="156" y="41"/>
                    </a:cubicBezTo>
                    <a:cubicBezTo>
                      <a:pt x="157" y="49"/>
                      <a:pt x="153" y="57"/>
                      <a:pt x="147" y="62"/>
                    </a:cubicBezTo>
                    <a:cubicBezTo>
                      <a:pt x="147" y="63"/>
                      <a:pt x="147" y="63"/>
                      <a:pt x="147" y="63"/>
                    </a:cubicBezTo>
                    <a:cubicBezTo>
                      <a:pt x="149" y="77"/>
                      <a:pt x="139" y="89"/>
                      <a:pt x="125" y="91"/>
                    </a:cubicBezTo>
                    <a:cubicBezTo>
                      <a:pt x="119" y="91"/>
                      <a:pt x="113" y="90"/>
                      <a:pt x="108" y="87"/>
                    </a:cubicBezTo>
                    <a:cubicBezTo>
                      <a:pt x="105" y="90"/>
                      <a:pt x="100" y="93"/>
                      <a:pt x="94" y="93"/>
                    </a:cubicBezTo>
                    <a:cubicBezTo>
                      <a:pt x="87" y="94"/>
                      <a:pt x="80" y="92"/>
                      <a:pt x="75" y="88"/>
                    </a:cubicBezTo>
                    <a:cubicBezTo>
                      <a:pt x="74" y="88"/>
                      <a:pt x="73" y="88"/>
                      <a:pt x="72" y="89"/>
                    </a:cubicBezTo>
                    <a:cubicBezTo>
                      <a:pt x="66" y="89"/>
                      <a:pt x="60" y="88"/>
                      <a:pt x="56" y="85"/>
                    </a:cubicBezTo>
                    <a:cubicBezTo>
                      <a:pt x="52" y="88"/>
                      <a:pt x="48" y="90"/>
                      <a:pt x="43" y="90"/>
                    </a:cubicBezTo>
                    <a:cubicBezTo>
                      <a:pt x="29" y="92"/>
                      <a:pt x="16" y="82"/>
                      <a:pt x="15" y="68"/>
                    </a:cubicBezTo>
                    <a:close/>
                  </a:path>
                </a:pathLst>
              </a:custGeom>
              <a:solidFill>
                <a:srgbClr val="B8CE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1001" name="Freeform 434">
                <a:extLst>
                  <a:ext uri="{FF2B5EF4-FFF2-40B4-BE49-F238E27FC236}">
                    <a16:creationId xmlns:a16="http://schemas.microsoft.com/office/drawing/2014/main" id="{5FB09916-7E6E-4DFC-B139-456CADB57E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8" y="1254"/>
                <a:ext cx="972" cy="707"/>
              </a:xfrm>
              <a:custGeom>
                <a:avLst/>
                <a:gdLst>
                  <a:gd name="T0" fmla="*/ 2147483646 w 157"/>
                  <a:gd name="T1" fmla="*/ 2147483646 h 94"/>
                  <a:gd name="T2" fmla="*/ 2147483646 w 157"/>
                  <a:gd name="T3" fmla="*/ 2147483646 h 94"/>
                  <a:gd name="T4" fmla="*/ 2147483646 w 157"/>
                  <a:gd name="T5" fmla="*/ 2147483646 h 94"/>
                  <a:gd name="T6" fmla="*/ 2147483646 w 157"/>
                  <a:gd name="T7" fmla="*/ 2147483646 h 94"/>
                  <a:gd name="T8" fmla="*/ 2147483646 w 157"/>
                  <a:gd name="T9" fmla="*/ 2147483646 h 94"/>
                  <a:gd name="T10" fmla="*/ 2147483646 w 157"/>
                  <a:gd name="T11" fmla="*/ 2147483646 h 94"/>
                  <a:gd name="T12" fmla="*/ 2147483646 w 157"/>
                  <a:gd name="T13" fmla="*/ 2147483646 h 94"/>
                  <a:gd name="T14" fmla="*/ 2147483646 w 157"/>
                  <a:gd name="T15" fmla="*/ 2147483646 h 94"/>
                  <a:gd name="T16" fmla="*/ 2147483646 w 157"/>
                  <a:gd name="T17" fmla="*/ 2147483646 h 94"/>
                  <a:gd name="T18" fmla="*/ 2147483646 w 157"/>
                  <a:gd name="T19" fmla="*/ 2147483646 h 94"/>
                  <a:gd name="T20" fmla="*/ 2147483646 w 157"/>
                  <a:gd name="T21" fmla="*/ 2147483646 h 94"/>
                  <a:gd name="T22" fmla="*/ 2147483646 w 157"/>
                  <a:gd name="T23" fmla="*/ 2147483646 h 94"/>
                  <a:gd name="T24" fmla="*/ 2147483646 w 157"/>
                  <a:gd name="T25" fmla="*/ 2147483646 h 94"/>
                  <a:gd name="T26" fmla="*/ 2147483646 w 157"/>
                  <a:gd name="T27" fmla="*/ 2147483646 h 94"/>
                  <a:gd name="T28" fmla="*/ 2147483646 w 157"/>
                  <a:gd name="T29" fmla="*/ 2147483646 h 94"/>
                  <a:gd name="T30" fmla="*/ 2147483646 w 157"/>
                  <a:gd name="T31" fmla="*/ 2147483646 h 94"/>
                  <a:gd name="T32" fmla="*/ 2147483646 w 157"/>
                  <a:gd name="T33" fmla="*/ 2147483646 h 94"/>
                  <a:gd name="T34" fmla="*/ 2147483646 w 157"/>
                  <a:gd name="T35" fmla="*/ 2147483646 h 94"/>
                  <a:gd name="T36" fmla="*/ 2147483646 w 157"/>
                  <a:gd name="T37" fmla="*/ 2147483646 h 94"/>
                  <a:gd name="T38" fmla="*/ 2147483646 w 157"/>
                  <a:gd name="T39" fmla="*/ 2147483646 h 94"/>
                  <a:gd name="T40" fmla="*/ 2147483646 w 157"/>
                  <a:gd name="T41" fmla="*/ 2147483646 h 94"/>
                  <a:gd name="T42" fmla="*/ 2147483646 w 157"/>
                  <a:gd name="T43" fmla="*/ 2147483646 h 94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157"/>
                  <a:gd name="T67" fmla="*/ 0 h 94"/>
                  <a:gd name="T68" fmla="*/ 157 w 157"/>
                  <a:gd name="T69" fmla="*/ 94 h 94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157" h="94">
                    <a:moveTo>
                      <a:pt x="15" y="68"/>
                    </a:moveTo>
                    <a:cubicBezTo>
                      <a:pt x="14" y="65"/>
                      <a:pt x="15" y="62"/>
                      <a:pt x="16" y="59"/>
                    </a:cubicBezTo>
                    <a:cubicBezTo>
                      <a:pt x="8" y="55"/>
                      <a:pt x="3" y="48"/>
                      <a:pt x="2" y="40"/>
                    </a:cubicBezTo>
                    <a:cubicBezTo>
                      <a:pt x="0" y="26"/>
                      <a:pt x="11" y="14"/>
                      <a:pt x="25" y="13"/>
                    </a:cubicBezTo>
                    <a:cubicBezTo>
                      <a:pt x="26" y="13"/>
                      <a:pt x="27" y="12"/>
                      <a:pt x="28" y="12"/>
                    </a:cubicBezTo>
                    <a:cubicBezTo>
                      <a:pt x="32" y="6"/>
                      <a:pt x="38" y="2"/>
                      <a:pt x="47" y="1"/>
                    </a:cubicBezTo>
                    <a:cubicBezTo>
                      <a:pt x="55" y="0"/>
                      <a:pt x="63" y="3"/>
                      <a:pt x="68" y="8"/>
                    </a:cubicBezTo>
                    <a:cubicBezTo>
                      <a:pt x="71" y="6"/>
                      <a:pt x="75" y="5"/>
                      <a:pt x="78" y="5"/>
                    </a:cubicBezTo>
                    <a:cubicBezTo>
                      <a:pt x="83" y="4"/>
                      <a:pt x="87" y="5"/>
                      <a:pt x="91" y="6"/>
                    </a:cubicBezTo>
                    <a:cubicBezTo>
                      <a:pt x="95" y="4"/>
                      <a:pt x="99" y="2"/>
                      <a:pt x="104" y="2"/>
                    </a:cubicBezTo>
                    <a:cubicBezTo>
                      <a:pt x="116" y="0"/>
                      <a:pt x="127" y="8"/>
                      <a:pt x="131" y="19"/>
                    </a:cubicBezTo>
                    <a:cubicBezTo>
                      <a:pt x="144" y="19"/>
                      <a:pt x="155" y="28"/>
                      <a:pt x="156" y="41"/>
                    </a:cubicBezTo>
                    <a:cubicBezTo>
                      <a:pt x="157" y="49"/>
                      <a:pt x="153" y="57"/>
                      <a:pt x="147" y="62"/>
                    </a:cubicBezTo>
                    <a:cubicBezTo>
                      <a:pt x="147" y="63"/>
                      <a:pt x="147" y="63"/>
                      <a:pt x="147" y="63"/>
                    </a:cubicBezTo>
                    <a:cubicBezTo>
                      <a:pt x="149" y="77"/>
                      <a:pt x="139" y="89"/>
                      <a:pt x="125" y="91"/>
                    </a:cubicBezTo>
                    <a:cubicBezTo>
                      <a:pt x="119" y="91"/>
                      <a:pt x="113" y="90"/>
                      <a:pt x="108" y="87"/>
                    </a:cubicBezTo>
                    <a:cubicBezTo>
                      <a:pt x="105" y="90"/>
                      <a:pt x="100" y="93"/>
                      <a:pt x="94" y="93"/>
                    </a:cubicBezTo>
                    <a:cubicBezTo>
                      <a:pt x="87" y="94"/>
                      <a:pt x="80" y="92"/>
                      <a:pt x="75" y="88"/>
                    </a:cubicBezTo>
                    <a:cubicBezTo>
                      <a:pt x="74" y="88"/>
                      <a:pt x="73" y="88"/>
                      <a:pt x="72" y="89"/>
                    </a:cubicBezTo>
                    <a:cubicBezTo>
                      <a:pt x="66" y="89"/>
                      <a:pt x="60" y="88"/>
                      <a:pt x="56" y="85"/>
                    </a:cubicBezTo>
                    <a:cubicBezTo>
                      <a:pt x="52" y="88"/>
                      <a:pt x="48" y="89"/>
                      <a:pt x="43" y="90"/>
                    </a:cubicBezTo>
                    <a:cubicBezTo>
                      <a:pt x="29" y="91"/>
                      <a:pt x="16" y="82"/>
                      <a:pt x="15" y="68"/>
                    </a:cubicBezTo>
                    <a:close/>
                  </a:path>
                </a:pathLst>
              </a:custGeom>
              <a:solidFill>
                <a:srgbClr val="B9CE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1002" name="Freeform 435">
                <a:extLst>
                  <a:ext uri="{FF2B5EF4-FFF2-40B4-BE49-F238E27FC236}">
                    <a16:creationId xmlns:a16="http://schemas.microsoft.com/office/drawing/2014/main" id="{AAE4AB35-378A-4FE3-939D-58F9428C8F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6" y="1267"/>
                <a:ext cx="941" cy="681"/>
              </a:xfrm>
              <a:custGeom>
                <a:avLst/>
                <a:gdLst>
                  <a:gd name="T0" fmla="*/ 2147483646 w 152"/>
                  <a:gd name="T1" fmla="*/ 2147483646 h 90"/>
                  <a:gd name="T2" fmla="*/ 2147483646 w 152"/>
                  <a:gd name="T3" fmla="*/ 2147483646 h 90"/>
                  <a:gd name="T4" fmla="*/ 2147483646 w 152"/>
                  <a:gd name="T5" fmla="*/ 2147483646 h 90"/>
                  <a:gd name="T6" fmla="*/ 2147483646 w 152"/>
                  <a:gd name="T7" fmla="*/ 2147483646 h 90"/>
                  <a:gd name="T8" fmla="*/ 2147483646 w 152"/>
                  <a:gd name="T9" fmla="*/ 2147483646 h 90"/>
                  <a:gd name="T10" fmla="*/ 2147483646 w 152"/>
                  <a:gd name="T11" fmla="*/ 2147483646 h 90"/>
                  <a:gd name="T12" fmla="*/ 2147483646 w 152"/>
                  <a:gd name="T13" fmla="*/ 2147483646 h 90"/>
                  <a:gd name="T14" fmla="*/ 2147483646 w 152"/>
                  <a:gd name="T15" fmla="*/ 2147483646 h 90"/>
                  <a:gd name="T16" fmla="*/ 2147483646 w 152"/>
                  <a:gd name="T17" fmla="*/ 2147483646 h 90"/>
                  <a:gd name="T18" fmla="*/ 2147483646 w 152"/>
                  <a:gd name="T19" fmla="*/ 2147483646 h 90"/>
                  <a:gd name="T20" fmla="*/ 2147483646 w 152"/>
                  <a:gd name="T21" fmla="*/ 2147483646 h 90"/>
                  <a:gd name="T22" fmla="*/ 2147483646 w 152"/>
                  <a:gd name="T23" fmla="*/ 2147483646 h 90"/>
                  <a:gd name="T24" fmla="*/ 2147483646 w 152"/>
                  <a:gd name="T25" fmla="*/ 2147483646 h 90"/>
                  <a:gd name="T26" fmla="*/ 2147483646 w 152"/>
                  <a:gd name="T27" fmla="*/ 2147483646 h 90"/>
                  <a:gd name="T28" fmla="*/ 2147483646 w 152"/>
                  <a:gd name="T29" fmla="*/ 2147483646 h 90"/>
                  <a:gd name="T30" fmla="*/ 2147483646 w 152"/>
                  <a:gd name="T31" fmla="*/ 2147483646 h 90"/>
                  <a:gd name="T32" fmla="*/ 2147483646 w 152"/>
                  <a:gd name="T33" fmla="*/ 2147483646 h 90"/>
                  <a:gd name="T34" fmla="*/ 2147483646 w 152"/>
                  <a:gd name="T35" fmla="*/ 2147483646 h 90"/>
                  <a:gd name="T36" fmla="*/ 2147483646 w 152"/>
                  <a:gd name="T37" fmla="*/ 2147483646 h 90"/>
                  <a:gd name="T38" fmla="*/ 2147483646 w 152"/>
                  <a:gd name="T39" fmla="*/ 2147483646 h 90"/>
                  <a:gd name="T40" fmla="*/ 2147483646 w 152"/>
                  <a:gd name="T41" fmla="*/ 2147483646 h 90"/>
                  <a:gd name="T42" fmla="*/ 2147483646 w 152"/>
                  <a:gd name="T43" fmla="*/ 2147483646 h 90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152"/>
                  <a:gd name="T67" fmla="*/ 0 h 90"/>
                  <a:gd name="T68" fmla="*/ 152 w 152"/>
                  <a:gd name="T69" fmla="*/ 90 h 90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152" h="90">
                    <a:moveTo>
                      <a:pt x="14" y="65"/>
                    </a:moveTo>
                    <a:cubicBezTo>
                      <a:pt x="13" y="62"/>
                      <a:pt x="13" y="59"/>
                      <a:pt x="14" y="56"/>
                    </a:cubicBezTo>
                    <a:cubicBezTo>
                      <a:pt x="7" y="53"/>
                      <a:pt x="2" y="46"/>
                      <a:pt x="1" y="38"/>
                    </a:cubicBezTo>
                    <a:cubicBezTo>
                      <a:pt x="0" y="25"/>
                      <a:pt x="9" y="14"/>
                      <a:pt x="23" y="12"/>
                    </a:cubicBezTo>
                    <a:cubicBezTo>
                      <a:pt x="24" y="12"/>
                      <a:pt x="25" y="12"/>
                      <a:pt x="26" y="12"/>
                    </a:cubicBezTo>
                    <a:cubicBezTo>
                      <a:pt x="30" y="6"/>
                      <a:pt x="37" y="1"/>
                      <a:pt x="45" y="1"/>
                    </a:cubicBezTo>
                    <a:cubicBezTo>
                      <a:pt x="53" y="0"/>
                      <a:pt x="60" y="3"/>
                      <a:pt x="65" y="8"/>
                    </a:cubicBezTo>
                    <a:cubicBezTo>
                      <a:pt x="68" y="6"/>
                      <a:pt x="72" y="5"/>
                      <a:pt x="75" y="4"/>
                    </a:cubicBezTo>
                    <a:cubicBezTo>
                      <a:pt x="80" y="4"/>
                      <a:pt x="84" y="4"/>
                      <a:pt x="88" y="6"/>
                    </a:cubicBezTo>
                    <a:cubicBezTo>
                      <a:pt x="91" y="4"/>
                      <a:pt x="96" y="2"/>
                      <a:pt x="100" y="2"/>
                    </a:cubicBezTo>
                    <a:cubicBezTo>
                      <a:pt x="112" y="0"/>
                      <a:pt x="123" y="7"/>
                      <a:pt x="127" y="18"/>
                    </a:cubicBezTo>
                    <a:cubicBezTo>
                      <a:pt x="139" y="18"/>
                      <a:pt x="149" y="27"/>
                      <a:pt x="151" y="39"/>
                    </a:cubicBezTo>
                    <a:cubicBezTo>
                      <a:pt x="152" y="47"/>
                      <a:pt x="148" y="55"/>
                      <a:pt x="142" y="60"/>
                    </a:cubicBezTo>
                    <a:cubicBezTo>
                      <a:pt x="142" y="60"/>
                      <a:pt x="142" y="60"/>
                      <a:pt x="142" y="61"/>
                    </a:cubicBezTo>
                    <a:cubicBezTo>
                      <a:pt x="144" y="74"/>
                      <a:pt x="134" y="85"/>
                      <a:pt x="120" y="87"/>
                    </a:cubicBezTo>
                    <a:cubicBezTo>
                      <a:pt x="115" y="87"/>
                      <a:pt x="109" y="86"/>
                      <a:pt x="105" y="83"/>
                    </a:cubicBezTo>
                    <a:cubicBezTo>
                      <a:pt x="101" y="87"/>
                      <a:pt x="96" y="89"/>
                      <a:pt x="90" y="89"/>
                    </a:cubicBezTo>
                    <a:cubicBezTo>
                      <a:pt x="84" y="90"/>
                      <a:pt x="77" y="88"/>
                      <a:pt x="72" y="84"/>
                    </a:cubicBezTo>
                    <a:cubicBezTo>
                      <a:pt x="71" y="85"/>
                      <a:pt x="70" y="85"/>
                      <a:pt x="69" y="85"/>
                    </a:cubicBezTo>
                    <a:cubicBezTo>
                      <a:pt x="63" y="85"/>
                      <a:pt x="58" y="84"/>
                      <a:pt x="53" y="82"/>
                    </a:cubicBezTo>
                    <a:cubicBezTo>
                      <a:pt x="50" y="84"/>
                      <a:pt x="46" y="86"/>
                      <a:pt x="41" y="86"/>
                    </a:cubicBezTo>
                    <a:cubicBezTo>
                      <a:pt x="27" y="88"/>
                      <a:pt x="15" y="78"/>
                      <a:pt x="14" y="65"/>
                    </a:cubicBezTo>
                    <a:close/>
                  </a:path>
                </a:pathLst>
              </a:custGeom>
              <a:solidFill>
                <a:srgbClr val="C9DA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1003" name="Freeform 436">
                <a:extLst>
                  <a:ext uri="{FF2B5EF4-FFF2-40B4-BE49-F238E27FC236}">
                    <a16:creationId xmlns:a16="http://schemas.microsoft.com/office/drawing/2014/main" id="{80A7FF8A-9886-4058-A63B-C77A792A30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6" y="1267"/>
                <a:ext cx="941" cy="681"/>
              </a:xfrm>
              <a:custGeom>
                <a:avLst/>
                <a:gdLst>
                  <a:gd name="T0" fmla="*/ 2147483646 w 152"/>
                  <a:gd name="T1" fmla="*/ 2147483646 h 90"/>
                  <a:gd name="T2" fmla="*/ 2147483646 w 152"/>
                  <a:gd name="T3" fmla="*/ 2147483646 h 90"/>
                  <a:gd name="T4" fmla="*/ 2147483646 w 152"/>
                  <a:gd name="T5" fmla="*/ 2147483646 h 90"/>
                  <a:gd name="T6" fmla="*/ 2147483646 w 152"/>
                  <a:gd name="T7" fmla="*/ 2147483646 h 90"/>
                  <a:gd name="T8" fmla="*/ 2147483646 w 152"/>
                  <a:gd name="T9" fmla="*/ 2147483646 h 90"/>
                  <a:gd name="T10" fmla="*/ 2147483646 w 152"/>
                  <a:gd name="T11" fmla="*/ 2147483646 h 90"/>
                  <a:gd name="T12" fmla="*/ 2147483646 w 152"/>
                  <a:gd name="T13" fmla="*/ 2147483646 h 90"/>
                  <a:gd name="T14" fmla="*/ 2147483646 w 152"/>
                  <a:gd name="T15" fmla="*/ 2147483646 h 90"/>
                  <a:gd name="T16" fmla="*/ 2147483646 w 152"/>
                  <a:gd name="T17" fmla="*/ 2147483646 h 90"/>
                  <a:gd name="T18" fmla="*/ 2147483646 w 152"/>
                  <a:gd name="T19" fmla="*/ 2147483646 h 90"/>
                  <a:gd name="T20" fmla="*/ 2147483646 w 152"/>
                  <a:gd name="T21" fmla="*/ 2147483646 h 90"/>
                  <a:gd name="T22" fmla="*/ 2147483646 w 152"/>
                  <a:gd name="T23" fmla="*/ 2147483646 h 90"/>
                  <a:gd name="T24" fmla="*/ 2147483646 w 152"/>
                  <a:gd name="T25" fmla="*/ 2147483646 h 90"/>
                  <a:gd name="T26" fmla="*/ 2147483646 w 152"/>
                  <a:gd name="T27" fmla="*/ 2147483646 h 90"/>
                  <a:gd name="T28" fmla="*/ 2147483646 w 152"/>
                  <a:gd name="T29" fmla="*/ 2147483646 h 90"/>
                  <a:gd name="T30" fmla="*/ 2147483646 w 152"/>
                  <a:gd name="T31" fmla="*/ 2147483646 h 90"/>
                  <a:gd name="T32" fmla="*/ 2147483646 w 152"/>
                  <a:gd name="T33" fmla="*/ 2147483646 h 90"/>
                  <a:gd name="T34" fmla="*/ 2147483646 w 152"/>
                  <a:gd name="T35" fmla="*/ 2147483646 h 90"/>
                  <a:gd name="T36" fmla="*/ 2147483646 w 152"/>
                  <a:gd name="T37" fmla="*/ 2147483646 h 90"/>
                  <a:gd name="T38" fmla="*/ 2147483646 w 152"/>
                  <a:gd name="T39" fmla="*/ 2147483646 h 90"/>
                  <a:gd name="T40" fmla="*/ 2147483646 w 152"/>
                  <a:gd name="T41" fmla="*/ 2147483646 h 90"/>
                  <a:gd name="T42" fmla="*/ 2147483646 w 152"/>
                  <a:gd name="T43" fmla="*/ 2147483646 h 90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152"/>
                  <a:gd name="T67" fmla="*/ 0 h 90"/>
                  <a:gd name="T68" fmla="*/ 152 w 152"/>
                  <a:gd name="T69" fmla="*/ 90 h 90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152" h="90">
                    <a:moveTo>
                      <a:pt x="14" y="65"/>
                    </a:moveTo>
                    <a:cubicBezTo>
                      <a:pt x="13" y="62"/>
                      <a:pt x="13" y="59"/>
                      <a:pt x="14" y="56"/>
                    </a:cubicBezTo>
                    <a:cubicBezTo>
                      <a:pt x="7" y="53"/>
                      <a:pt x="2" y="46"/>
                      <a:pt x="1" y="38"/>
                    </a:cubicBezTo>
                    <a:cubicBezTo>
                      <a:pt x="0" y="25"/>
                      <a:pt x="10" y="14"/>
                      <a:pt x="23" y="12"/>
                    </a:cubicBezTo>
                    <a:cubicBezTo>
                      <a:pt x="24" y="12"/>
                      <a:pt x="25" y="12"/>
                      <a:pt x="26" y="12"/>
                    </a:cubicBezTo>
                    <a:cubicBezTo>
                      <a:pt x="30" y="6"/>
                      <a:pt x="37" y="1"/>
                      <a:pt x="45" y="1"/>
                    </a:cubicBezTo>
                    <a:cubicBezTo>
                      <a:pt x="53" y="0"/>
                      <a:pt x="60" y="3"/>
                      <a:pt x="65" y="8"/>
                    </a:cubicBezTo>
                    <a:cubicBezTo>
                      <a:pt x="68" y="6"/>
                      <a:pt x="72" y="5"/>
                      <a:pt x="75" y="4"/>
                    </a:cubicBezTo>
                    <a:cubicBezTo>
                      <a:pt x="80" y="4"/>
                      <a:pt x="84" y="5"/>
                      <a:pt x="88" y="6"/>
                    </a:cubicBezTo>
                    <a:cubicBezTo>
                      <a:pt x="91" y="4"/>
                      <a:pt x="96" y="2"/>
                      <a:pt x="100" y="2"/>
                    </a:cubicBezTo>
                    <a:cubicBezTo>
                      <a:pt x="112" y="0"/>
                      <a:pt x="123" y="7"/>
                      <a:pt x="126" y="18"/>
                    </a:cubicBezTo>
                    <a:cubicBezTo>
                      <a:pt x="139" y="18"/>
                      <a:pt x="149" y="27"/>
                      <a:pt x="151" y="39"/>
                    </a:cubicBezTo>
                    <a:cubicBezTo>
                      <a:pt x="152" y="47"/>
                      <a:pt x="148" y="55"/>
                      <a:pt x="142" y="60"/>
                    </a:cubicBezTo>
                    <a:cubicBezTo>
                      <a:pt x="142" y="60"/>
                      <a:pt x="142" y="60"/>
                      <a:pt x="142" y="61"/>
                    </a:cubicBezTo>
                    <a:cubicBezTo>
                      <a:pt x="144" y="74"/>
                      <a:pt x="134" y="85"/>
                      <a:pt x="120" y="87"/>
                    </a:cubicBezTo>
                    <a:cubicBezTo>
                      <a:pt x="115" y="87"/>
                      <a:pt x="109" y="86"/>
                      <a:pt x="105" y="83"/>
                    </a:cubicBezTo>
                    <a:cubicBezTo>
                      <a:pt x="101" y="87"/>
                      <a:pt x="96" y="89"/>
                      <a:pt x="90" y="89"/>
                    </a:cubicBezTo>
                    <a:cubicBezTo>
                      <a:pt x="84" y="90"/>
                      <a:pt x="77" y="88"/>
                      <a:pt x="72" y="84"/>
                    </a:cubicBezTo>
                    <a:cubicBezTo>
                      <a:pt x="71" y="84"/>
                      <a:pt x="70" y="85"/>
                      <a:pt x="69" y="85"/>
                    </a:cubicBezTo>
                    <a:cubicBezTo>
                      <a:pt x="63" y="85"/>
                      <a:pt x="58" y="84"/>
                      <a:pt x="53" y="81"/>
                    </a:cubicBezTo>
                    <a:cubicBezTo>
                      <a:pt x="50" y="84"/>
                      <a:pt x="46" y="86"/>
                      <a:pt x="41" y="86"/>
                    </a:cubicBezTo>
                    <a:cubicBezTo>
                      <a:pt x="28" y="88"/>
                      <a:pt x="15" y="78"/>
                      <a:pt x="14" y="65"/>
                    </a:cubicBezTo>
                    <a:close/>
                  </a:path>
                </a:pathLst>
              </a:custGeom>
              <a:solidFill>
                <a:srgbClr val="CADA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1004" name="Freeform 437">
                <a:extLst>
                  <a:ext uri="{FF2B5EF4-FFF2-40B4-BE49-F238E27FC236}">
                    <a16:creationId xmlns:a16="http://schemas.microsoft.com/office/drawing/2014/main" id="{340EC252-789C-42A6-B5F8-425B97B9B1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6" y="1267"/>
                <a:ext cx="941" cy="681"/>
              </a:xfrm>
              <a:custGeom>
                <a:avLst/>
                <a:gdLst>
                  <a:gd name="T0" fmla="*/ 2147483646 w 152"/>
                  <a:gd name="T1" fmla="*/ 2147483646 h 90"/>
                  <a:gd name="T2" fmla="*/ 2147483646 w 152"/>
                  <a:gd name="T3" fmla="*/ 2147483646 h 90"/>
                  <a:gd name="T4" fmla="*/ 2147483646 w 152"/>
                  <a:gd name="T5" fmla="*/ 2147483646 h 90"/>
                  <a:gd name="T6" fmla="*/ 2147483646 w 152"/>
                  <a:gd name="T7" fmla="*/ 2147483646 h 90"/>
                  <a:gd name="T8" fmla="*/ 2147483646 w 152"/>
                  <a:gd name="T9" fmla="*/ 2147483646 h 90"/>
                  <a:gd name="T10" fmla="*/ 2147483646 w 152"/>
                  <a:gd name="T11" fmla="*/ 2147483646 h 90"/>
                  <a:gd name="T12" fmla="*/ 2147483646 w 152"/>
                  <a:gd name="T13" fmla="*/ 2147483646 h 90"/>
                  <a:gd name="T14" fmla="*/ 2147483646 w 152"/>
                  <a:gd name="T15" fmla="*/ 2147483646 h 90"/>
                  <a:gd name="T16" fmla="*/ 2147483646 w 152"/>
                  <a:gd name="T17" fmla="*/ 2147483646 h 90"/>
                  <a:gd name="T18" fmla="*/ 2147483646 w 152"/>
                  <a:gd name="T19" fmla="*/ 2147483646 h 90"/>
                  <a:gd name="T20" fmla="*/ 2147483646 w 152"/>
                  <a:gd name="T21" fmla="*/ 2147483646 h 90"/>
                  <a:gd name="T22" fmla="*/ 2147483646 w 152"/>
                  <a:gd name="T23" fmla="*/ 2147483646 h 90"/>
                  <a:gd name="T24" fmla="*/ 2147483646 w 152"/>
                  <a:gd name="T25" fmla="*/ 2147483646 h 90"/>
                  <a:gd name="T26" fmla="*/ 2147483646 w 152"/>
                  <a:gd name="T27" fmla="*/ 2147483646 h 90"/>
                  <a:gd name="T28" fmla="*/ 2147483646 w 152"/>
                  <a:gd name="T29" fmla="*/ 2147483646 h 90"/>
                  <a:gd name="T30" fmla="*/ 2147483646 w 152"/>
                  <a:gd name="T31" fmla="*/ 2147483646 h 90"/>
                  <a:gd name="T32" fmla="*/ 2147483646 w 152"/>
                  <a:gd name="T33" fmla="*/ 2147483646 h 90"/>
                  <a:gd name="T34" fmla="*/ 2147483646 w 152"/>
                  <a:gd name="T35" fmla="*/ 2147483646 h 90"/>
                  <a:gd name="T36" fmla="*/ 2147483646 w 152"/>
                  <a:gd name="T37" fmla="*/ 2147483646 h 90"/>
                  <a:gd name="T38" fmla="*/ 2147483646 w 152"/>
                  <a:gd name="T39" fmla="*/ 2147483646 h 90"/>
                  <a:gd name="T40" fmla="*/ 2147483646 w 152"/>
                  <a:gd name="T41" fmla="*/ 2147483646 h 90"/>
                  <a:gd name="T42" fmla="*/ 2147483646 w 152"/>
                  <a:gd name="T43" fmla="*/ 2147483646 h 90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152"/>
                  <a:gd name="T67" fmla="*/ 0 h 90"/>
                  <a:gd name="T68" fmla="*/ 152 w 152"/>
                  <a:gd name="T69" fmla="*/ 90 h 90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152" h="90">
                    <a:moveTo>
                      <a:pt x="14" y="65"/>
                    </a:moveTo>
                    <a:cubicBezTo>
                      <a:pt x="13" y="62"/>
                      <a:pt x="14" y="59"/>
                      <a:pt x="14" y="56"/>
                    </a:cubicBezTo>
                    <a:cubicBezTo>
                      <a:pt x="7" y="53"/>
                      <a:pt x="2" y="46"/>
                      <a:pt x="1" y="38"/>
                    </a:cubicBezTo>
                    <a:cubicBezTo>
                      <a:pt x="0" y="25"/>
                      <a:pt x="10" y="14"/>
                      <a:pt x="23" y="12"/>
                    </a:cubicBezTo>
                    <a:cubicBezTo>
                      <a:pt x="24" y="12"/>
                      <a:pt x="25" y="12"/>
                      <a:pt x="26" y="12"/>
                    </a:cubicBezTo>
                    <a:cubicBezTo>
                      <a:pt x="30" y="6"/>
                      <a:pt x="37" y="2"/>
                      <a:pt x="45" y="1"/>
                    </a:cubicBezTo>
                    <a:cubicBezTo>
                      <a:pt x="53" y="0"/>
                      <a:pt x="60" y="3"/>
                      <a:pt x="65" y="8"/>
                    </a:cubicBezTo>
                    <a:cubicBezTo>
                      <a:pt x="68" y="6"/>
                      <a:pt x="72" y="5"/>
                      <a:pt x="75" y="4"/>
                    </a:cubicBezTo>
                    <a:cubicBezTo>
                      <a:pt x="80" y="4"/>
                      <a:pt x="84" y="5"/>
                      <a:pt x="88" y="6"/>
                    </a:cubicBezTo>
                    <a:cubicBezTo>
                      <a:pt x="91" y="4"/>
                      <a:pt x="95" y="2"/>
                      <a:pt x="100" y="2"/>
                    </a:cubicBezTo>
                    <a:cubicBezTo>
                      <a:pt x="112" y="1"/>
                      <a:pt x="123" y="8"/>
                      <a:pt x="126" y="18"/>
                    </a:cubicBezTo>
                    <a:cubicBezTo>
                      <a:pt x="139" y="18"/>
                      <a:pt x="149" y="27"/>
                      <a:pt x="151" y="39"/>
                    </a:cubicBezTo>
                    <a:cubicBezTo>
                      <a:pt x="152" y="47"/>
                      <a:pt x="148" y="55"/>
                      <a:pt x="142" y="60"/>
                    </a:cubicBezTo>
                    <a:cubicBezTo>
                      <a:pt x="142" y="60"/>
                      <a:pt x="142" y="60"/>
                      <a:pt x="142" y="61"/>
                    </a:cubicBezTo>
                    <a:cubicBezTo>
                      <a:pt x="144" y="74"/>
                      <a:pt x="134" y="85"/>
                      <a:pt x="120" y="87"/>
                    </a:cubicBezTo>
                    <a:cubicBezTo>
                      <a:pt x="115" y="87"/>
                      <a:pt x="109" y="86"/>
                      <a:pt x="105" y="83"/>
                    </a:cubicBezTo>
                    <a:cubicBezTo>
                      <a:pt x="101" y="86"/>
                      <a:pt x="96" y="89"/>
                      <a:pt x="90" y="89"/>
                    </a:cubicBezTo>
                    <a:cubicBezTo>
                      <a:pt x="84" y="90"/>
                      <a:pt x="77" y="88"/>
                      <a:pt x="72" y="84"/>
                    </a:cubicBezTo>
                    <a:cubicBezTo>
                      <a:pt x="71" y="84"/>
                      <a:pt x="70" y="85"/>
                      <a:pt x="69" y="85"/>
                    </a:cubicBezTo>
                    <a:cubicBezTo>
                      <a:pt x="63" y="85"/>
                      <a:pt x="58" y="84"/>
                      <a:pt x="53" y="81"/>
                    </a:cubicBezTo>
                    <a:cubicBezTo>
                      <a:pt x="50" y="84"/>
                      <a:pt x="46" y="86"/>
                      <a:pt x="41" y="86"/>
                    </a:cubicBezTo>
                    <a:cubicBezTo>
                      <a:pt x="28" y="87"/>
                      <a:pt x="15" y="78"/>
                      <a:pt x="14" y="65"/>
                    </a:cubicBezTo>
                    <a:close/>
                  </a:path>
                </a:pathLst>
              </a:custGeom>
              <a:solidFill>
                <a:srgbClr val="CBDB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1005" name="Freeform 438">
                <a:extLst>
                  <a:ext uri="{FF2B5EF4-FFF2-40B4-BE49-F238E27FC236}">
                    <a16:creationId xmlns:a16="http://schemas.microsoft.com/office/drawing/2014/main" id="{68C7BBE1-BF57-441B-BE25-D839FBB5F7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6" y="1267"/>
                <a:ext cx="936" cy="681"/>
              </a:xfrm>
              <a:custGeom>
                <a:avLst/>
                <a:gdLst>
                  <a:gd name="T0" fmla="*/ 2147483646 w 151"/>
                  <a:gd name="T1" fmla="*/ 2147483646 h 90"/>
                  <a:gd name="T2" fmla="*/ 2147483646 w 151"/>
                  <a:gd name="T3" fmla="*/ 2147483646 h 90"/>
                  <a:gd name="T4" fmla="*/ 2147483646 w 151"/>
                  <a:gd name="T5" fmla="*/ 2147483646 h 90"/>
                  <a:gd name="T6" fmla="*/ 2147483646 w 151"/>
                  <a:gd name="T7" fmla="*/ 2147483646 h 90"/>
                  <a:gd name="T8" fmla="*/ 2147483646 w 151"/>
                  <a:gd name="T9" fmla="*/ 2147483646 h 90"/>
                  <a:gd name="T10" fmla="*/ 2147483646 w 151"/>
                  <a:gd name="T11" fmla="*/ 2147483646 h 90"/>
                  <a:gd name="T12" fmla="*/ 2147483646 w 151"/>
                  <a:gd name="T13" fmla="*/ 2147483646 h 90"/>
                  <a:gd name="T14" fmla="*/ 2147483646 w 151"/>
                  <a:gd name="T15" fmla="*/ 2147483646 h 90"/>
                  <a:gd name="T16" fmla="*/ 2147483646 w 151"/>
                  <a:gd name="T17" fmla="*/ 2147483646 h 90"/>
                  <a:gd name="T18" fmla="*/ 2147483646 w 151"/>
                  <a:gd name="T19" fmla="*/ 2147483646 h 90"/>
                  <a:gd name="T20" fmla="*/ 2147483646 w 151"/>
                  <a:gd name="T21" fmla="*/ 2147483646 h 90"/>
                  <a:gd name="T22" fmla="*/ 2147483646 w 151"/>
                  <a:gd name="T23" fmla="*/ 2147483646 h 90"/>
                  <a:gd name="T24" fmla="*/ 2147483646 w 151"/>
                  <a:gd name="T25" fmla="*/ 2147483646 h 90"/>
                  <a:gd name="T26" fmla="*/ 2147483646 w 151"/>
                  <a:gd name="T27" fmla="*/ 2147483646 h 90"/>
                  <a:gd name="T28" fmla="*/ 2147483646 w 151"/>
                  <a:gd name="T29" fmla="*/ 2147483646 h 90"/>
                  <a:gd name="T30" fmla="*/ 2147483646 w 151"/>
                  <a:gd name="T31" fmla="*/ 2147483646 h 90"/>
                  <a:gd name="T32" fmla="*/ 2147483646 w 151"/>
                  <a:gd name="T33" fmla="*/ 2147483646 h 90"/>
                  <a:gd name="T34" fmla="*/ 2147483646 w 151"/>
                  <a:gd name="T35" fmla="*/ 2147483646 h 90"/>
                  <a:gd name="T36" fmla="*/ 2147483646 w 151"/>
                  <a:gd name="T37" fmla="*/ 2147483646 h 90"/>
                  <a:gd name="T38" fmla="*/ 2147483646 w 151"/>
                  <a:gd name="T39" fmla="*/ 2147483646 h 90"/>
                  <a:gd name="T40" fmla="*/ 2147483646 w 151"/>
                  <a:gd name="T41" fmla="*/ 2147483646 h 90"/>
                  <a:gd name="T42" fmla="*/ 2147483646 w 151"/>
                  <a:gd name="T43" fmla="*/ 2147483646 h 90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151"/>
                  <a:gd name="T67" fmla="*/ 0 h 90"/>
                  <a:gd name="T68" fmla="*/ 151 w 151"/>
                  <a:gd name="T69" fmla="*/ 90 h 90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151" h="90">
                    <a:moveTo>
                      <a:pt x="14" y="65"/>
                    </a:moveTo>
                    <a:cubicBezTo>
                      <a:pt x="13" y="62"/>
                      <a:pt x="14" y="59"/>
                      <a:pt x="15" y="56"/>
                    </a:cubicBezTo>
                    <a:cubicBezTo>
                      <a:pt x="8" y="53"/>
                      <a:pt x="2" y="46"/>
                      <a:pt x="1" y="38"/>
                    </a:cubicBezTo>
                    <a:cubicBezTo>
                      <a:pt x="0" y="25"/>
                      <a:pt x="10" y="14"/>
                      <a:pt x="23" y="12"/>
                    </a:cubicBezTo>
                    <a:cubicBezTo>
                      <a:pt x="24" y="12"/>
                      <a:pt x="25" y="12"/>
                      <a:pt x="26" y="12"/>
                    </a:cubicBezTo>
                    <a:cubicBezTo>
                      <a:pt x="30" y="6"/>
                      <a:pt x="37" y="2"/>
                      <a:pt x="45" y="1"/>
                    </a:cubicBezTo>
                    <a:cubicBezTo>
                      <a:pt x="53" y="0"/>
                      <a:pt x="60" y="3"/>
                      <a:pt x="65" y="8"/>
                    </a:cubicBezTo>
                    <a:cubicBezTo>
                      <a:pt x="68" y="6"/>
                      <a:pt x="72" y="5"/>
                      <a:pt x="75" y="5"/>
                    </a:cubicBezTo>
                    <a:cubicBezTo>
                      <a:pt x="80" y="4"/>
                      <a:pt x="84" y="5"/>
                      <a:pt x="88" y="6"/>
                    </a:cubicBezTo>
                    <a:cubicBezTo>
                      <a:pt x="91" y="4"/>
                      <a:pt x="95" y="2"/>
                      <a:pt x="100" y="2"/>
                    </a:cubicBezTo>
                    <a:cubicBezTo>
                      <a:pt x="112" y="1"/>
                      <a:pt x="123" y="8"/>
                      <a:pt x="126" y="18"/>
                    </a:cubicBezTo>
                    <a:cubicBezTo>
                      <a:pt x="139" y="18"/>
                      <a:pt x="149" y="27"/>
                      <a:pt x="151" y="39"/>
                    </a:cubicBezTo>
                    <a:cubicBezTo>
                      <a:pt x="151" y="47"/>
                      <a:pt x="148" y="55"/>
                      <a:pt x="142" y="60"/>
                    </a:cubicBezTo>
                    <a:cubicBezTo>
                      <a:pt x="142" y="60"/>
                      <a:pt x="142" y="60"/>
                      <a:pt x="142" y="61"/>
                    </a:cubicBezTo>
                    <a:cubicBezTo>
                      <a:pt x="144" y="74"/>
                      <a:pt x="134" y="85"/>
                      <a:pt x="120" y="87"/>
                    </a:cubicBezTo>
                    <a:cubicBezTo>
                      <a:pt x="115" y="87"/>
                      <a:pt x="109" y="86"/>
                      <a:pt x="104" y="83"/>
                    </a:cubicBezTo>
                    <a:cubicBezTo>
                      <a:pt x="101" y="86"/>
                      <a:pt x="96" y="89"/>
                      <a:pt x="90" y="89"/>
                    </a:cubicBezTo>
                    <a:cubicBezTo>
                      <a:pt x="84" y="90"/>
                      <a:pt x="77" y="88"/>
                      <a:pt x="72" y="84"/>
                    </a:cubicBezTo>
                    <a:cubicBezTo>
                      <a:pt x="71" y="84"/>
                      <a:pt x="70" y="84"/>
                      <a:pt x="69" y="85"/>
                    </a:cubicBezTo>
                    <a:cubicBezTo>
                      <a:pt x="63" y="85"/>
                      <a:pt x="58" y="84"/>
                      <a:pt x="53" y="81"/>
                    </a:cubicBezTo>
                    <a:cubicBezTo>
                      <a:pt x="50" y="84"/>
                      <a:pt x="46" y="85"/>
                      <a:pt x="41" y="86"/>
                    </a:cubicBezTo>
                    <a:cubicBezTo>
                      <a:pt x="28" y="87"/>
                      <a:pt x="15" y="78"/>
                      <a:pt x="14" y="65"/>
                    </a:cubicBezTo>
                    <a:close/>
                  </a:path>
                </a:pathLst>
              </a:custGeom>
              <a:solidFill>
                <a:srgbClr val="CDDC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</p:grpSp>
        <p:sp>
          <p:nvSpPr>
            <p:cNvPr id="40992" name="Text Box 439">
              <a:extLst>
                <a:ext uri="{FF2B5EF4-FFF2-40B4-BE49-F238E27FC236}">
                  <a16:creationId xmlns:a16="http://schemas.microsoft.com/office/drawing/2014/main" id="{3452A88B-510F-4037-AAE2-FE0BBB71CD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8" y="2745"/>
              <a:ext cx="105" cy="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lIns="92075" tIns="46038" rIns="92075" bIns="46038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it-IT" sz="1200">
                <a:latin typeface="Trebuchet MS" panose="020B0603020202020204" pitchFamily="34" charset="0"/>
              </a:endParaRPr>
            </a:p>
          </p:txBody>
        </p:sp>
      </p:grpSp>
      <p:sp>
        <p:nvSpPr>
          <p:cNvPr id="40988" name="Text Box 441">
            <a:extLst>
              <a:ext uri="{FF2B5EF4-FFF2-40B4-BE49-F238E27FC236}">
                <a16:creationId xmlns:a16="http://schemas.microsoft.com/office/drawing/2014/main" id="{61E966D4-D6AA-4E2A-B8BB-B35E40E4DA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12238" y="4597401"/>
            <a:ext cx="12573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it-IT" sz="1200">
                <a:latin typeface="Trebuchet MS" panose="020B0603020202020204" pitchFamily="34" charset="0"/>
              </a:rPr>
              <a:t>2/3G: HLR/AuC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it-IT" sz="1200">
                <a:latin typeface="Trebuchet MS" panose="020B0603020202020204" pitchFamily="34" charset="0"/>
              </a:rPr>
              <a:t>4G: HSS</a:t>
            </a:r>
          </a:p>
        </p:txBody>
      </p:sp>
      <p:pic>
        <p:nvPicPr>
          <p:cNvPr id="40989" name="Picture 442" descr="j0249811">
            <a:extLst>
              <a:ext uri="{FF2B5EF4-FFF2-40B4-BE49-F238E27FC236}">
                <a16:creationId xmlns:a16="http://schemas.microsoft.com/office/drawing/2014/main" id="{DF2847DA-EB22-4BED-B0C6-E216C989A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7201" y="3975101"/>
            <a:ext cx="430213" cy="40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0" name="Picture 261" descr="j0249811">
            <a:extLst>
              <a:ext uri="{FF2B5EF4-FFF2-40B4-BE49-F238E27FC236}">
                <a16:creationId xmlns:a16="http://schemas.microsoft.com/office/drawing/2014/main" id="{CE7680EA-9982-4FCD-9349-E39C2F8D9F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8051" y="4121150"/>
            <a:ext cx="379413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09D6D22-8D04-2349-9D09-E3C2FC3C3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12192000" cy="1030288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Security in </a:t>
            </a:r>
            <a:r>
              <a:rPr lang="en-US" sz="6000" b="1" dirty="0">
                <a:solidFill>
                  <a:schemeClr val="tx1"/>
                </a:solidFill>
              </a:rPr>
              <a:t>1G</a:t>
            </a:r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27" name="Picture 4" descr="Risultati immagini per think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213649" y="3170793"/>
            <a:ext cx="3148920" cy="3058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CasellaDiTesto 30"/>
          <p:cNvSpPr txBox="1"/>
          <p:nvPr/>
        </p:nvSpPr>
        <p:spPr>
          <a:xfrm>
            <a:off x="1587187" y="3530317"/>
            <a:ext cx="1402949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it-IT" sz="2400" dirty="0"/>
              <a:t>Security? </a:t>
            </a:r>
          </a:p>
        </p:txBody>
      </p:sp>
      <p:sp>
        <p:nvSpPr>
          <p:cNvPr id="2" name="Ovale 1"/>
          <p:cNvSpPr/>
          <p:nvPr/>
        </p:nvSpPr>
        <p:spPr>
          <a:xfrm>
            <a:off x="5837294" y="1605499"/>
            <a:ext cx="2828260" cy="2838893"/>
          </a:xfrm>
          <a:prstGeom prst="ellipse">
            <a:avLst/>
          </a:prstGeom>
          <a:noFill/>
          <a:ln w="1016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4" name="Connettore 1 3"/>
          <p:cNvCxnSpPr/>
          <p:nvPr/>
        </p:nvCxnSpPr>
        <p:spPr>
          <a:xfrm flipV="1">
            <a:off x="5837294" y="1605500"/>
            <a:ext cx="2828260" cy="2838892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/>
          <p:cNvSpPr txBox="1"/>
          <p:nvPr/>
        </p:nvSpPr>
        <p:spPr>
          <a:xfrm>
            <a:off x="1623203" y="3884744"/>
            <a:ext cx="124585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it-IT" sz="2800" b="1" dirty="0" err="1">
                <a:solidFill>
                  <a:srgbClr val="FF0000"/>
                </a:solidFill>
              </a:rPr>
              <a:t>Nah</a:t>
            </a:r>
            <a:r>
              <a:rPr lang="it-IT" sz="2800" b="1" dirty="0">
                <a:solidFill>
                  <a:srgbClr val="FF0000"/>
                </a:solidFill>
              </a:rPr>
              <a:t>…! </a:t>
            </a:r>
          </a:p>
        </p:txBody>
      </p:sp>
    </p:spTree>
    <p:extLst>
      <p:ext uri="{BB962C8B-B14F-4D97-AF65-F5344CB8AC3E}">
        <p14:creationId xmlns:p14="http://schemas.microsoft.com/office/powerpoint/2010/main" val="3706983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e 5"/>
          <p:cNvSpPr>
            <a:spLocks noChangeAspect="1"/>
          </p:cNvSpPr>
          <p:nvPr/>
        </p:nvSpPr>
        <p:spPr>
          <a:xfrm>
            <a:off x="5853639" y="1144649"/>
            <a:ext cx="2863447" cy="2863625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 dirty="0">
              <a:solidFill>
                <a:schemeClr val="tx1"/>
              </a:solidFill>
              <a:latin typeface="+mj-lt"/>
            </a:endParaRPr>
          </a:p>
        </p:txBody>
      </p:sp>
      <p:grpSp>
        <p:nvGrpSpPr>
          <p:cNvPr id="7" name="Group 41">
            <a:extLst>
              <a:ext uri="{FF2B5EF4-FFF2-40B4-BE49-F238E27FC236}">
                <a16:creationId xmlns:a16="http://schemas.microsoft.com/office/drawing/2014/main" id="{618DCA5B-7181-0843-8846-92B2B8BC89E7}"/>
              </a:ext>
            </a:extLst>
          </p:cNvPr>
          <p:cNvGrpSpPr/>
          <p:nvPr/>
        </p:nvGrpSpPr>
        <p:grpSpPr>
          <a:xfrm>
            <a:off x="1903283" y="1144649"/>
            <a:ext cx="3977769" cy="1912035"/>
            <a:chOff x="8086712" y="1219572"/>
            <a:chExt cx="3977769" cy="1912035"/>
          </a:xfrm>
        </p:grpSpPr>
        <p:sp>
          <p:nvSpPr>
            <p:cNvPr id="8" name="TextBox 27">
              <a:extLst>
                <a:ext uri="{FF2B5EF4-FFF2-40B4-BE49-F238E27FC236}">
                  <a16:creationId xmlns:a16="http://schemas.microsoft.com/office/drawing/2014/main" id="{92F95E51-15C9-FE45-B85E-7FACBB70ADE3}"/>
                </a:ext>
              </a:extLst>
            </p:cNvPr>
            <p:cNvSpPr txBox="1"/>
            <p:nvPr/>
          </p:nvSpPr>
          <p:spPr>
            <a:xfrm>
              <a:off x="8297806" y="1500503"/>
              <a:ext cx="360447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Security? No problem!</a:t>
              </a:r>
            </a:p>
            <a:p>
              <a:pPr algn="ctr"/>
              <a:r>
                <a:rPr lang="en-US" sz="2400" dirty="0"/>
                <a:t>Let me do it!!</a:t>
              </a:r>
              <a:endParaRPr lang="en-US" sz="2400" b="1" dirty="0"/>
            </a:p>
          </p:txBody>
        </p:sp>
        <p:sp>
          <p:nvSpPr>
            <p:cNvPr id="9" name="Oval 37">
              <a:extLst>
                <a:ext uri="{FF2B5EF4-FFF2-40B4-BE49-F238E27FC236}">
                  <a16:creationId xmlns:a16="http://schemas.microsoft.com/office/drawing/2014/main" id="{605C6E76-EC19-B844-BC9E-1645E562CBCA}"/>
                </a:ext>
              </a:extLst>
            </p:cNvPr>
            <p:cNvSpPr/>
            <p:nvPr/>
          </p:nvSpPr>
          <p:spPr>
            <a:xfrm>
              <a:off x="8086712" y="1219572"/>
              <a:ext cx="3950356" cy="1553534"/>
            </a:xfrm>
            <a:prstGeom prst="ellipse">
              <a:avLst/>
            </a:prstGeom>
            <a:noFill/>
            <a:ln w="57150">
              <a:solidFill>
                <a:srgbClr val="253D8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38">
              <a:extLst>
                <a:ext uri="{FF2B5EF4-FFF2-40B4-BE49-F238E27FC236}">
                  <a16:creationId xmlns:a16="http://schemas.microsoft.com/office/drawing/2014/main" id="{E1A88F0F-6DBC-D645-82B4-3FDAB74595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709767">
              <a:off x="11369819" y="2438101"/>
              <a:ext cx="694662" cy="693506"/>
            </a:xfrm>
            <a:prstGeom prst="rect">
              <a:avLst/>
            </a:prstGeom>
          </p:spPr>
        </p:pic>
      </p:grpSp>
      <p:pic>
        <p:nvPicPr>
          <p:cNvPr id="11" name="Picture 4" descr="Risultati immagini per thinki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213649" y="3170793"/>
            <a:ext cx="3148920" cy="3058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asellaDiTesto 11"/>
          <p:cNvSpPr txBox="1"/>
          <p:nvPr/>
        </p:nvSpPr>
        <p:spPr>
          <a:xfrm>
            <a:off x="1447511" y="3445258"/>
            <a:ext cx="1587037" cy="83099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it-IT" sz="2400" dirty="0"/>
              <a:t>Can </a:t>
            </a:r>
            <a:r>
              <a:rPr lang="it-IT" sz="2400" dirty="0" err="1"/>
              <a:t>you</a:t>
            </a:r>
            <a:endParaRPr lang="it-IT" sz="2400" dirty="0"/>
          </a:p>
          <a:p>
            <a:pPr algn="ctr"/>
            <a:r>
              <a:rPr lang="it-IT" sz="2400" dirty="0" err="1"/>
              <a:t>Protect</a:t>
            </a:r>
            <a:r>
              <a:rPr lang="it-IT" sz="2400" dirty="0"/>
              <a:t> </a:t>
            </a:r>
            <a:r>
              <a:rPr lang="it-IT" sz="2400" dirty="0" err="1"/>
              <a:t>us</a:t>
            </a:r>
            <a:r>
              <a:rPr lang="it-IT" sz="2400" dirty="0"/>
              <a:t>?</a:t>
            </a:r>
          </a:p>
        </p:txBody>
      </p:sp>
      <p:sp>
        <p:nvSpPr>
          <p:cNvPr id="2" name="AutoShape 2" descr="Timeless Tips How To Draw Cartoon Car Crash 2019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5906" y="5055501"/>
            <a:ext cx="5339092" cy="2224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asellaDiTesto 3"/>
          <p:cNvSpPr txBox="1"/>
          <p:nvPr/>
        </p:nvSpPr>
        <p:spPr>
          <a:xfrm>
            <a:off x="6280137" y="4330937"/>
            <a:ext cx="4279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/>
              <a:t>COMP-128 Security by </a:t>
            </a:r>
            <a:r>
              <a:rPr lang="it-IT" sz="2400" b="1" dirty="0" err="1"/>
              <a:t>obscurity</a:t>
            </a:r>
            <a:endParaRPr lang="it-IT" sz="2400" b="1" dirty="0"/>
          </a:p>
        </p:txBody>
      </p:sp>
      <p:sp>
        <p:nvSpPr>
          <p:cNvPr id="18" name="CasellaDiTesto 17"/>
          <p:cNvSpPr txBox="1"/>
          <p:nvPr/>
        </p:nvSpPr>
        <p:spPr>
          <a:xfrm>
            <a:off x="4524997" y="4838731"/>
            <a:ext cx="36433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No mutual </a:t>
            </a:r>
            <a:r>
              <a:rPr lang="en-US" sz="2400" b="1" dirty="0" err="1"/>
              <a:t>auth</a:t>
            </a:r>
            <a:r>
              <a:rPr lang="en-US" sz="2400" b="1" dirty="0"/>
              <a:t> (Rogue BS)</a:t>
            </a:r>
          </a:p>
        </p:txBody>
      </p:sp>
      <p:sp>
        <p:nvSpPr>
          <p:cNvPr id="19" name="CasellaDiTesto 18"/>
          <p:cNvSpPr txBox="1"/>
          <p:nvPr/>
        </p:nvSpPr>
        <p:spPr>
          <a:xfrm>
            <a:off x="8407347" y="4938314"/>
            <a:ext cx="33954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No core network security</a:t>
            </a:r>
          </a:p>
        </p:txBody>
      </p:sp>
      <p:sp>
        <p:nvSpPr>
          <p:cNvPr id="20" name="CasellaDiTesto 19"/>
          <p:cNvSpPr txBox="1"/>
          <p:nvPr/>
        </p:nvSpPr>
        <p:spPr>
          <a:xfrm>
            <a:off x="7461072" y="5188675"/>
            <a:ext cx="10887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. . . . . . </a:t>
            </a:r>
          </a:p>
        </p:txBody>
      </p:sp>
      <p:sp>
        <p:nvSpPr>
          <p:cNvPr id="17" name="Title 4">
            <a:extLst>
              <a:ext uri="{FF2B5EF4-FFF2-40B4-BE49-F238E27FC236}">
                <a16:creationId xmlns:a16="http://schemas.microsoft.com/office/drawing/2014/main" id="{109D6D22-8D04-2349-9D09-E3C2FC3C3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12192000" cy="1030288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Security in </a:t>
            </a:r>
            <a:r>
              <a:rPr lang="en-US" sz="6000" b="1" dirty="0">
                <a:solidFill>
                  <a:schemeClr val="tx1"/>
                </a:solidFill>
              </a:rPr>
              <a:t>2G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3775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/>
      <p:bldP spid="18" grpId="0"/>
      <p:bldP spid="19" grpId="0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vale 16"/>
          <p:cNvSpPr>
            <a:spLocks noChangeAspect="1"/>
          </p:cNvSpPr>
          <p:nvPr/>
        </p:nvSpPr>
        <p:spPr>
          <a:xfrm>
            <a:off x="5851031" y="1144649"/>
            <a:ext cx="2863448" cy="2863625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ln w="25400">
            <a:solidFill>
              <a:schemeClr val="accent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 dirty="0">
              <a:solidFill>
                <a:schemeClr val="tx1"/>
              </a:solidFill>
              <a:latin typeface="+mj-lt"/>
            </a:endParaRPr>
          </a:p>
        </p:txBody>
      </p:sp>
      <p:grpSp>
        <p:nvGrpSpPr>
          <p:cNvPr id="7" name="Group 41">
            <a:extLst>
              <a:ext uri="{FF2B5EF4-FFF2-40B4-BE49-F238E27FC236}">
                <a16:creationId xmlns:a16="http://schemas.microsoft.com/office/drawing/2014/main" id="{618DCA5B-7181-0843-8846-92B2B8BC89E7}"/>
              </a:ext>
            </a:extLst>
          </p:cNvPr>
          <p:cNvGrpSpPr/>
          <p:nvPr/>
        </p:nvGrpSpPr>
        <p:grpSpPr>
          <a:xfrm>
            <a:off x="2966949" y="1144649"/>
            <a:ext cx="2914103" cy="1912035"/>
            <a:chOff x="8086712" y="1219572"/>
            <a:chExt cx="3977769" cy="1912035"/>
          </a:xfrm>
        </p:grpSpPr>
        <p:sp>
          <p:nvSpPr>
            <p:cNvPr id="8" name="TextBox 27">
              <a:extLst>
                <a:ext uri="{FF2B5EF4-FFF2-40B4-BE49-F238E27FC236}">
                  <a16:creationId xmlns:a16="http://schemas.microsoft.com/office/drawing/2014/main" id="{92F95E51-15C9-FE45-B85E-7FACBB70ADE3}"/>
                </a:ext>
              </a:extLst>
            </p:cNvPr>
            <p:cNvSpPr txBox="1"/>
            <p:nvPr/>
          </p:nvSpPr>
          <p:spPr>
            <a:xfrm>
              <a:off x="8297806" y="1500503"/>
              <a:ext cx="360447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OK, let’s be </a:t>
              </a:r>
              <a:br>
                <a:rPr lang="en-US" sz="2400" dirty="0"/>
              </a:br>
              <a:r>
                <a:rPr lang="en-US" sz="2400" dirty="0"/>
                <a:t>serious now…</a:t>
              </a:r>
              <a:endParaRPr lang="en-US" sz="2400" b="1" dirty="0"/>
            </a:p>
          </p:txBody>
        </p:sp>
        <p:sp>
          <p:nvSpPr>
            <p:cNvPr id="9" name="Oval 37">
              <a:extLst>
                <a:ext uri="{FF2B5EF4-FFF2-40B4-BE49-F238E27FC236}">
                  <a16:creationId xmlns:a16="http://schemas.microsoft.com/office/drawing/2014/main" id="{605C6E76-EC19-B844-BC9E-1645E562CBCA}"/>
                </a:ext>
              </a:extLst>
            </p:cNvPr>
            <p:cNvSpPr/>
            <p:nvPr/>
          </p:nvSpPr>
          <p:spPr>
            <a:xfrm>
              <a:off x="8086712" y="1219572"/>
              <a:ext cx="3950356" cy="1553534"/>
            </a:xfrm>
            <a:prstGeom prst="ellipse">
              <a:avLst/>
            </a:prstGeom>
            <a:noFill/>
            <a:ln w="57150">
              <a:solidFill>
                <a:srgbClr val="253D8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38">
              <a:extLst>
                <a:ext uri="{FF2B5EF4-FFF2-40B4-BE49-F238E27FC236}">
                  <a16:creationId xmlns:a16="http://schemas.microsoft.com/office/drawing/2014/main" id="{E1A88F0F-6DBC-D645-82B4-3FDAB74595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709767">
              <a:off x="11369819" y="2438101"/>
              <a:ext cx="694662" cy="693506"/>
            </a:xfrm>
            <a:prstGeom prst="rect">
              <a:avLst/>
            </a:prstGeom>
          </p:spPr>
        </p:pic>
      </p:grpSp>
      <p:pic>
        <p:nvPicPr>
          <p:cNvPr id="11" name="Picture 4" descr="Risultati immagini per thinki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213649" y="3170793"/>
            <a:ext cx="3148920" cy="3058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asellaDiTesto 11"/>
          <p:cNvSpPr txBox="1"/>
          <p:nvPr/>
        </p:nvSpPr>
        <p:spPr>
          <a:xfrm>
            <a:off x="1472566" y="3402726"/>
            <a:ext cx="1494383" cy="83099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it-IT" sz="2400" dirty="0"/>
              <a:t>Pro to the </a:t>
            </a:r>
            <a:br>
              <a:rPr lang="it-IT" sz="2400" dirty="0"/>
            </a:br>
            <a:r>
              <a:rPr lang="it-IT" sz="2400" dirty="0"/>
              <a:t>rescue!!</a:t>
            </a:r>
          </a:p>
        </p:txBody>
      </p:sp>
      <p:sp>
        <p:nvSpPr>
          <p:cNvPr id="2" name="AutoShape 2" descr="Timeless Tips How To Draw Cartoon Car Crash 2019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4" name="CasellaDiTesto 3"/>
          <p:cNvSpPr txBox="1"/>
          <p:nvPr/>
        </p:nvSpPr>
        <p:spPr>
          <a:xfrm>
            <a:off x="6280137" y="4330937"/>
            <a:ext cx="50338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/>
              <a:t>(</a:t>
            </a:r>
            <a:r>
              <a:rPr lang="it-IT" sz="2400" b="1" dirty="0" err="1"/>
              <a:t>fairly</a:t>
            </a:r>
            <a:r>
              <a:rPr lang="it-IT" sz="2400" b="1" dirty="0"/>
              <a:t>) </a:t>
            </a:r>
            <a:r>
              <a:rPr lang="it-IT" sz="2400" b="1" dirty="0" err="1"/>
              <a:t>good</a:t>
            </a:r>
            <a:r>
              <a:rPr lang="it-IT" sz="2400" b="1" dirty="0"/>
              <a:t> </a:t>
            </a:r>
            <a:r>
              <a:rPr lang="it-IT" sz="2400" b="1" dirty="0" err="1"/>
              <a:t>ciphers</a:t>
            </a:r>
            <a:r>
              <a:rPr lang="it-IT" sz="2400" b="1" dirty="0"/>
              <a:t> - public </a:t>
            </a:r>
            <a:r>
              <a:rPr lang="it-IT" sz="2400" b="1" dirty="0" err="1"/>
              <a:t>scrutiny</a:t>
            </a:r>
            <a:r>
              <a:rPr lang="it-IT" sz="2400" b="1" dirty="0"/>
              <a:t>! </a:t>
            </a:r>
          </a:p>
        </p:txBody>
      </p:sp>
      <p:sp>
        <p:nvSpPr>
          <p:cNvPr id="18" name="CasellaDiTesto 17"/>
          <p:cNvSpPr txBox="1"/>
          <p:nvPr/>
        </p:nvSpPr>
        <p:spPr>
          <a:xfrm>
            <a:off x="4708809" y="5272719"/>
            <a:ext cx="3142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Multual</a:t>
            </a:r>
            <a:r>
              <a:rPr lang="en-US" sz="2400" b="1" dirty="0"/>
              <a:t> authentication</a:t>
            </a:r>
          </a:p>
        </p:txBody>
      </p:sp>
      <p:sp>
        <p:nvSpPr>
          <p:cNvPr id="19" name="CasellaDiTesto 18"/>
          <p:cNvSpPr txBox="1"/>
          <p:nvPr/>
        </p:nvSpPr>
        <p:spPr>
          <a:xfrm>
            <a:off x="8289652" y="5511091"/>
            <a:ext cx="2996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Core network security</a:t>
            </a:r>
          </a:p>
        </p:txBody>
      </p:sp>
      <p:sp>
        <p:nvSpPr>
          <p:cNvPr id="20" name="CasellaDiTesto 19"/>
          <p:cNvSpPr txBox="1"/>
          <p:nvPr/>
        </p:nvSpPr>
        <p:spPr>
          <a:xfrm>
            <a:off x="7595236" y="6105540"/>
            <a:ext cx="10887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. . . . . . </a:t>
            </a:r>
          </a:p>
        </p:txBody>
      </p:sp>
      <p:sp>
        <p:nvSpPr>
          <p:cNvPr id="21" name="CasellaDiTesto 20"/>
          <p:cNvSpPr txBox="1"/>
          <p:nvPr/>
        </p:nvSpPr>
        <p:spPr>
          <a:xfrm>
            <a:off x="7695546" y="4890787"/>
            <a:ext cx="44725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Encryption </a:t>
            </a:r>
            <a:r>
              <a:rPr lang="en-US" sz="2400" b="1" u="sng" dirty="0"/>
              <a:t>AND</a:t>
            </a:r>
            <a:r>
              <a:rPr lang="en-US" sz="2400" b="1" dirty="0"/>
              <a:t> (in part) Integrity</a:t>
            </a:r>
          </a:p>
        </p:txBody>
      </p:sp>
      <p:sp>
        <p:nvSpPr>
          <p:cNvPr id="22" name="CasellaDiTesto 21"/>
          <p:cNvSpPr txBox="1"/>
          <p:nvPr/>
        </p:nvSpPr>
        <p:spPr>
          <a:xfrm>
            <a:off x="4982559" y="5739454"/>
            <a:ext cx="19010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Multiple keys</a:t>
            </a:r>
          </a:p>
        </p:txBody>
      </p:sp>
      <p:sp>
        <p:nvSpPr>
          <p:cNvPr id="23" name="Title 4">
            <a:extLst>
              <a:ext uri="{FF2B5EF4-FFF2-40B4-BE49-F238E27FC236}">
                <a16:creationId xmlns:a16="http://schemas.microsoft.com/office/drawing/2014/main" id="{109D6D22-8D04-2349-9D09-E3C2FC3C3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12192000" cy="1030288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Security in </a:t>
            </a:r>
            <a:r>
              <a:rPr lang="en-US" sz="6000" b="1" dirty="0">
                <a:solidFill>
                  <a:schemeClr val="tx1"/>
                </a:solidFill>
              </a:rPr>
              <a:t>3G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4161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4" grpId="0"/>
      <p:bldP spid="18" grpId="0"/>
      <p:bldP spid="19" grpId="0"/>
      <p:bldP spid="20" grpId="0"/>
      <p:bldP spid="21" grpId="0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41">
            <a:extLst>
              <a:ext uri="{FF2B5EF4-FFF2-40B4-BE49-F238E27FC236}">
                <a16:creationId xmlns:a16="http://schemas.microsoft.com/office/drawing/2014/main" id="{618DCA5B-7181-0843-8846-92B2B8BC89E7}"/>
              </a:ext>
            </a:extLst>
          </p:cNvPr>
          <p:cNvGrpSpPr/>
          <p:nvPr/>
        </p:nvGrpSpPr>
        <p:grpSpPr>
          <a:xfrm>
            <a:off x="1" y="836640"/>
            <a:ext cx="2490952" cy="1912035"/>
            <a:chOff x="8086712" y="1219572"/>
            <a:chExt cx="3977769" cy="1912035"/>
          </a:xfrm>
        </p:grpSpPr>
        <p:sp>
          <p:nvSpPr>
            <p:cNvPr id="8" name="TextBox 27">
              <a:extLst>
                <a:ext uri="{FF2B5EF4-FFF2-40B4-BE49-F238E27FC236}">
                  <a16:creationId xmlns:a16="http://schemas.microsoft.com/office/drawing/2014/main" id="{92F95E51-15C9-FE45-B85E-7FACBB70ADE3}"/>
                </a:ext>
              </a:extLst>
            </p:cNvPr>
            <p:cNvSpPr txBox="1"/>
            <p:nvPr/>
          </p:nvSpPr>
          <p:spPr>
            <a:xfrm>
              <a:off x="8297806" y="1372907"/>
              <a:ext cx="360447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Time for a Security architecture!</a:t>
              </a:r>
              <a:endParaRPr lang="en-US" sz="2400" b="1" dirty="0"/>
            </a:p>
          </p:txBody>
        </p:sp>
        <p:sp>
          <p:nvSpPr>
            <p:cNvPr id="9" name="Oval 37">
              <a:extLst>
                <a:ext uri="{FF2B5EF4-FFF2-40B4-BE49-F238E27FC236}">
                  <a16:creationId xmlns:a16="http://schemas.microsoft.com/office/drawing/2014/main" id="{605C6E76-EC19-B844-BC9E-1645E562CBCA}"/>
                </a:ext>
              </a:extLst>
            </p:cNvPr>
            <p:cNvSpPr/>
            <p:nvPr/>
          </p:nvSpPr>
          <p:spPr>
            <a:xfrm>
              <a:off x="8086712" y="1219572"/>
              <a:ext cx="3950356" cy="1553534"/>
            </a:xfrm>
            <a:prstGeom prst="ellipse">
              <a:avLst/>
            </a:prstGeom>
            <a:noFill/>
            <a:ln w="57150">
              <a:solidFill>
                <a:srgbClr val="253D8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38">
              <a:extLst>
                <a:ext uri="{FF2B5EF4-FFF2-40B4-BE49-F238E27FC236}">
                  <a16:creationId xmlns:a16="http://schemas.microsoft.com/office/drawing/2014/main" id="{E1A88F0F-6DBC-D645-82B4-3FDAB74595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709767">
              <a:off x="11369819" y="2438101"/>
              <a:ext cx="694662" cy="693506"/>
            </a:xfrm>
            <a:prstGeom prst="rect">
              <a:avLst/>
            </a:prstGeom>
          </p:spPr>
        </p:pic>
      </p:grpSp>
      <p:sp>
        <p:nvSpPr>
          <p:cNvPr id="2" name="AutoShape 2" descr="Timeless Tips How To Draw Cartoon Car Crash 2019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grpSp>
        <p:nvGrpSpPr>
          <p:cNvPr id="6" name="Gruppo 5"/>
          <p:cNvGrpSpPr/>
          <p:nvPr/>
        </p:nvGrpSpPr>
        <p:grpSpPr>
          <a:xfrm>
            <a:off x="159113" y="2624100"/>
            <a:ext cx="2553072" cy="1410604"/>
            <a:chOff x="2483004" y="1212857"/>
            <a:chExt cx="2553072" cy="2062783"/>
          </a:xfrm>
        </p:grpSpPr>
        <p:pic>
          <p:nvPicPr>
            <p:cNvPr id="3073" name="Picture 1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83004" y="1212857"/>
              <a:ext cx="2544846" cy="20627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Rettangolo 4"/>
            <p:cNvSpPr/>
            <p:nvPr/>
          </p:nvSpPr>
          <p:spPr>
            <a:xfrm>
              <a:off x="2491230" y="1221081"/>
              <a:ext cx="2544846" cy="2048756"/>
            </a:xfrm>
            <a:prstGeom prst="rect">
              <a:avLst/>
            </a:prstGeom>
            <a:noFill/>
            <a:ln w="317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pic>
        <p:nvPicPr>
          <p:cNvPr id="23" name="Picture 4" descr="Risultati immagini per thinki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-266" y="4221110"/>
            <a:ext cx="2892322" cy="2196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CasellaDiTesto 23"/>
          <p:cNvSpPr txBox="1"/>
          <p:nvPr/>
        </p:nvSpPr>
        <p:spPr>
          <a:xfrm>
            <a:off x="300448" y="4366919"/>
            <a:ext cx="1304460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it-IT" sz="2000" dirty="0" err="1"/>
              <a:t>Systematic</a:t>
            </a:r>
            <a:endParaRPr lang="it-IT" sz="2000" dirty="0"/>
          </a:p>
          <a:p>
            <a:pPr algn="ctr"/>
            <a:r>
              <a:rPr lang="it-IT" sz="2000" dirty="0" err="1"/>
              <a:t>approach</a:t>
            </a:r>
            <a:endParaRPr lang="it-IT" sz="2000" dirty="0"/>
          </a:p>
        </p:txBody>
      </p:sp>
      <p:pic>
        <p:nvPicPr>
          <p:cNvPr id="13" name="Immagin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0431" y="1499186"/>
            <a:ext cx="9266129" cy="4732710"/>
          </a:xfrm>
          <a:prstGeom prst="rect">
            <a:avLst/>
          </a:prstGeom>
        </p:spPr>
      </p:pic>
      <p:sp>
        <p:nvSpPr>
          <p:cNvPr id="14" name="Title 4">
            <a:extLst>
              <a:ext uri="{FF2B5EF4-FFF2-40B4-BE49-F238E27FC236}">
                <a16:creationId xmlns:a16="http://schemas.microsoft.com/office/drawing/2014/main" id="{109D6D22-8D04-2349-9D09-E3C2FC3C3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12192000" cy="1030288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Security in </a:t>
            </a:r>
            <a:r>
              <a:rPr lang="en-US" sz="6000" b="1" dirty="0">
                <a:solidFill>
                  <a:schemeClr val="tx1"/>
                </a:solidFill>
              </a:rPr>
              <a:t>4G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669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4" descr="Risultati immagini per think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-266" y="4221110"/>
            <a:ext cx="2892322" cy="2196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utoShape 2" descr="Timeless Tips How To Draw Cartoon Car Crash 2019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16" name="Title 4">
            <a:extLst>
              <a:ext uri="{FF2B5EF4-FFF2-40B4-BE49-F238E27FC236}">
                <a16:creationId xmlns:a16="http://schemas.microsoft.com/office/drawing/2014/main" id="{109D6D22-8D04-2349-9D09-E3C2FC3C348F}"/>
              </a:ext>
            </a:extLst>
          </p:cNvPr>
          <p:cNvSpPr txBox="1">
            <a:spLocks/>
          </p:cNvSpPr>
          <p:nvPr/>
        </p:nvSpPr>
        <p:spPr>
          <a:xfrm>
            <a:off x="3653319" y="1"/>
            <a:ext cx="8538681" cy="10302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Security in </a:t>
            </a:r>
            <a:r>
              <a:rPr lang="en-US" sz="6000" b="1" dirty="0"/>
              <a:t>4G</a:t>
            </a:r>
            <a:endParaRPr lang="en-US" b="1" dirty="0"/>
          </a:p>
        </p:txBody>
      </p:sp>
      <p:pic>
        <p:nvPicPr>
          <p:cNvPr id="13" name="Immagin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0431" y="1499186"/>
            <a:ext cx="9266129" cy="4732710"/>
          </a:xfrm>
          <a:prstGeom prst="rect">
            <a:avLst/>
          </a:prstGeom>
        </p:spPr>
      </p:pic>
      <p:sp>
        <p:nvSpPr>
          <p:cNvPr id="3" name="Fumetto 1 2"/>
          <p:cNvSpPr/>
          <p:nvPr/>
        </p:nvSpPr>
        <p:spPr>
          <a:xfrm>
            <a:off x="2432943" y="4303284"/>
            <a:ext cx="1910643" cy="934255"/>
          </a:xfrm>
          <a:prstGeom prst="wedgeRectCallout">
            <a:avLst>
              <a:gd name="adj1" fmla="val 146671"/>
              <a:gd name="adj2" fmla="val -1332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/>
              <a:t>(I) Network Access Security</a:t>
            </a:r>
          </a:p>
        </p:txBody>
      </p:sp>
      <p:sp>
        <p:nvSpPr>
          <p:cNvPr id="18" name="Fumetto 1 17"/>
          <p:cNvSpPr/>
          <p:nvPr/>
        </p:nvSpPr>
        <p:spPr>
          <a:xfrm>
            <a:off x="8877980" y="5006825"/>
            <a:ext cx="1910643" cy="934255"/>
          </a:xfrm>
          <a:prstGeom prst="wedgeRectCallout">
            <a:avLst>
              <a:gd name="adj1" fmla="val -151608"/>
              <a:gd name="adj2" fmla="val 445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(II) Network Domain Security</a:t>
            </a:r>
          </a:p>
        </p:txBody>
      </p:sp>
      <p:sp>
        <p:nvSpPr>
          <p:cNvPr id="19" name="Fumetto 1 18"/>
          <p:cNvSpPr/>
          <p:nvPr/>
        </p:nvSpPr>
        <p:spPr>
          <a:xfrm>
            <a:off x="8892151" y="5020996"/>
            <a:ext cx="1910643" cy="934255"/>
          </a:xfrm>
          <a:prstGeom prst="wedgeRectCallout">
            <a:avLst>
              <a:gd name="adj1" fmla="val -58117"/>
              <a:gd name="adj2" fmla="val -13666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/>
              <a:t>(II) Network Domain Security</a:t>
            </a:r>
          </a:p>
        </p:txBody>
      </p:sp>
      <p:sp>
        <p:nvSpPr>
          <p:cNvPr id="20" name="Fumetto 1 19"/>
          <p:cNvSpPr/>
          <p:nvPr/>
        </p:nvSpPr>
        <p:spPr>
          <a:xfrm>
            <a:off x="4210493" y="1723956"/>
            <a:ext cx="2036641" cy="934255"/>
          </a:xfrm>
          <a:prstGeom prst="wedgeRectCallout">
            <a:avLst>
              <a:gd name="adj1" fmla="val -64239"/>
              <a:gd name="adj2" fmla="val 14899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/>
              <a:t>(III) User Domain Security</a:t>
            </a:r>
          </a:p>
        </p:txBody>
      </p:sp>
      <p:sp>
        <p:nvSpPr>
          <p:cNvPr id="21" name="Fumetto 1 20"/>
          <p:cNvSpPr/>
          <p:nvPr/>
        </p:nvSpPr>
        <p:spPr>
          <a:xfrm>
            <a:off x="2425848" y="4306822"/>
            <a:ext cx="1910643" cy="934255"/>
          </a:xfrm>
          <a:prstGeom prst="wedgeRectCallout">
            <a:avLst>
              <a:gd name="adj1" fmla="val 50955"/>
              <a:gd name="adj2" fmla="val 8298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/>
              <a:t>(I) Network Access Security</a:t>
            </a:r>
          </a:p>
        </p:txBody>
      </p:sp>
      <p:sp>
        <p:nvSpPr>
          <p:cNvPr id="22" name="Fumetto 1 21"/>
          <p:cNvSpPr/>
          <p:nvPr/>
        </p:nvSpPr>
        <p:spPr>
          <a:xfrm>
            <a:off x="6247134" y="2600386"/>
            <a:ext cx="2369216" cy="934255"/>
          </a:xfrm>
          <a:prstGeom prst="wedgeRectCallout">
            <a:avLst>
              <a:gd name="adj1" fmla="val -46431"/>
              <a:gd name="adj2" fmla="val -9797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/>
              <a:t>(IV) Application Domain Security</a:t>
            </a:r>
          </a:p>
        </p:txBody>
      </p:sp>
      <p:sp>
        <p:nvSpPr>
          <p:cNvPr id="26" name="Fumetto 1 25"/>
          <p:cNvSpPr/>
          <p:nvPr/>
        </p:nvSpPr>
        <p:spPr>
          <a:xfrm>
            <a:off x="9291590" y="1727470"/>
            <a:ext cx="2565210" cy="934255"/>
          </a:xfrm>
          <a:prstGeom prst="wedgeRectCallout">
            <a:avLst>
              <a:gd name="adj1" fmla="val -76773"/>
              <a:gd name="adj2" fmla="val 15354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/>
              <a:t>(V) Service-</a:t>
            </a:r>
            <a:r>
              <a:rPr lang="it-IT" sz="2000" b="1" dirty="0" err="1"/>
              <a:t>Based</a:t>
            </a:r>
            <a:r>
              <a:rPr lang="it-IT" sz="2000" b="1" dirty="0"/>
              <a:t> Architecture Domain  Security</a:t>
            </a:r>
          </a:p>
        </p:txBody>
      </p:sp>
      <p:sp>
        <p:nvSpPr>
          <p:cNvPr id="27" name="Fumetto 1 26"/>
          <p:cNvSpPr/>
          <p:nvPr/>
        </p:nvSpPr>
        <p:spPr>
          <a:xfrm>
            <a:off x="5228813" y="1164668"/>
            <a:ext cx="5835877" cy="464082"/>
          </a:xfrm>
          <a:prstGeom prst="wedgeRectCallout">
            <a:avLst>
              <a:gd name="adj1" fmla="val -12084"/>
              <a:gd name="adj2" fmla="val -1523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/>
              <a:t>(VI)  </a:t>
            </a:r>
            <a:r>
              <a:rPr lang="it-IT" b="1" dirty="0" err="1"/>
              <a:t>Visibility</a:t>
            </a:r>
            <a:r>
              <a:rPr lang="it-IT" b="1" dirty="0"/>
              <a:t> and </a:t>
            </a:r>
            <a:r>
              <a:rPr lang="it-IT" b="1" dirty="0" err="1"/>
              <a:t>Configuration</a:t>
            </a:r>
            <a:r>
              <a:rPr lang="it-IT" b="1" dirty="0"/>
              <a:t> of Security</a:t>
            </a:r>
          </a:p>
        </p:txBody>
      </p:sp>
      <p:sp>
        <p:nvSpPr>
          <p:cNvPr id="25" name="Title 4">
            <a:extLst>
              <a:ext uri="{FF2B5EF4-FFF2-40B4-BE49-F238E27FC236}">
                <a16:creationId xmlns:a16="http://schemas.microsoft.com/office/drawing/2014/main" id="{109D6D22-8D04-2349-9D09-E3C2FC3C3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12192000" cy="1030288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Security in </a:t>
            </a:r>
            <a:r>
              <a:rPr lang="en-US" sz="6000" b="1" dirty="0">
                <a:solidFill>
                  <a:schemeClr val="tx1"/>
                </a:solidFill>
              </a:rPr>
              <a:t>4G </a:t>
            </a:r>
            <a:r>
              <a:rPr lang="en-US" sz="4000" b="1" dirty="0">
                <a:solidFill>
                  <a:schemeClr val="tx1"/>
                </a:solidFill>
              </a:rPr>
              <a:t>and</a:t>
            </a:r>
            <a:r>
              <a:rPr lang="en-US" sz="6000" b="1" dirty="0">
                <a:solidFill>
                  <a:schemeClr val="tx1"/>
                </a:solidFill>
              </a:rPr>
              <a:t> 5G</a:t>
            </a:r>
            <a:endParaRPr lang="en-US" b="1" dirty="0">
              <a:solidFill>
                <a:schemeClr val="tx1"/>
              </a:solidFill>
            </a:endParaRPr>
          </a:p>
        </p:txBody>
      </p:sp>
      <p:grpSp>
        <p:nvGrpSpPr>
          <p:cNvPr id="28" name="Group 41">
            <a:extLst>
              <a:ext uri="{FF2B5EF4-FFF2-40B4-BE49-F238E27FC236}">
                <a16:creationId xmlns:a16="http://schemas.microsoft.com/office/drawing/2014/main" id="{618DCA5B-7181-0843-8846-92B2B8BC89E7}"/>
              </a:ext>
            </a:extLst>
          </p:cNvPr>
          <p:cNvGrpSpPr/>
          <p:nvPr/>
        </p:nvGrpSpPr>
        <p:grpSpPr>
          <a:xfrm>
            <a:off x="1" y="836640"/>
            <a:ext cx="2490952" cy="1912035"/>
            <a:chOff x="8086712" y="1219572"/>
            <a:chExt cx="3977769" cy="1912035"/>
          </a:xfrm>
        </p:grpSpPr>
        <p:sp>
          <p:nvSpPr>
            <p:cNvPr id="29" name="TextBox 27">
              <a:extLst>
                <a:ext uri="{FF2B5EF4-FFF2-40B4-BE49-F238E27FC236}">
                  <a16:creationId xmlns:a16="http://schemas.microsoft.com/office/drawing/2014/main" id="{92F95E51-15C9-FE45-B85E-7FACBB70ADE3}"/>
                </a:ext>
              </a:extLst>
            </p:cNvPr>
            <p:cNvSpPr txBox="1"/>
            <p:nvPr/>
          </p:nvSpPr>
          <p:spPr>
            <a:xfrm>
              <a:off x="8297806" y="1372907"/>
              <a:ext cx="360447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Time for a Security architecture!</a:t>
              </a:r>
              <a:endParaRPr lang="en-US" sz="2400" b="1" dirty="0"/>
            </a:p>
          </p:txBody>
        </p:sp>
        <p:sp>
          <p:nvSpPr>
            <p:cNvPr id="30" name="Oval 37">
              <a:extLst>
                <a:ext uri="{FF2B5EF4-FFF2-40B4-BE49-F238E27FC236}">
                  <a16:creationId xmlns:a16="http://schemas.microsoft.com/office/drawing/2014/main" id="{605C6E76-EC19-B844-BC9E-1645E562CBCA}"/>
                </a:ext>
              </a:extLst>
            </p:cNvPr>
            <p:cNvSpPr/>
            <p:nvPr/>
          </p:nvSpPr>
          <p:spPr>
            <a:xfrm>
              <a:off x="8086712" y="1219572"/>
              <a:ext cx="3950356" cy="1553534"/>
            </a:xfrm>
            <a:prstGeom prst="ellipse">
              <a:avLst/>
            </a:prstGeom>
            <a:noFill/>
            <a:ln w="57150">
              <a:solidFill>
                <a:srgbClr val="253D8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1" name="Picture 38">
              <a:extLst>
                <a:ext uri="{FF2B5EF4-FFF2-40B4-BE49-F238E27FC236}">
                  <a16:creationId xmlns:a16="http://schemas.microsoft.com/office/drawing/2014/main" id="{E1A88F0F-6DBC-D645-82B4-3FDAB745952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709767">
              <a:off x="11369819" y="2438101"/>
              <a:ext cx="694662" cy="693506"/>
            </a:xfrm>
            <a:prstGeom prst="rect">
              <a:avLst/>
            </a:prstGeom>
          </p:spPr>
        </p:pic>
      </p:grpSp>
      <p:grpSp>
        <p:nvGrpSpPr>
          <p:cNvPr id="32" name="Gruppo 31"/>
          <p:cNvGrpSpPr/>
          <p:nvPr/>
        </p:nvGrpSpPr>
        <p:grpSpPr>
          <a:xfrm>
            <a:off x="159113" y="2624100"/>
            <a:ext cx="2553072" cy="1410604"/>
            <a:chOff x="2483004" y="1212857"/>
            <a:chExt cx="2553072" cy="2062783"/>
          </a:xfrm>
        </p:grpSpPr>
        <p:pic>
          <p:nvPicPr>
            <p:cNvPr id="33" name="Picture 1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83004" y="1212857"/>
              <a:ext cx="2544846" cy="20627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4" name="Rettangolo 33"/>
            <p:cNvSpPr/>
            <p:nvPr/>
          </p:nvSpPr>
          <p:spPr>
            <a:xfrm>
              <a:off x="2491230" y="1221081"/>
              <a:ext cx="2544846" cy="2048756"/>
            </a:xfrm>
            <a:prstGeom prst="rect">
              <a:avLst/>
            </a:prstGeom>
            <a:noFill/>
            <a:ln w="317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36" name="CasellaDiTesto 35"/>
          <p:cNvSpPr txBox="1"/>
          <p:nvPr/>
        </p:nvSpPr>
        <p:spPr>
          <a:xfrm>
            <a:off x="300448" y="4366919"/>
            <a:ext cx="1304460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it-IT" sz="2000" dirty="0" err="1"/>
              <a:t>Systematic</a:t>
            </a:r>
            <a:endParaRPr lang="it-IT" sz="2000" dirty="0"/>
          </a:p>
          <a:p>
            <a:pPr algn="ctr"/>
            <a:r>
              <a:rPr lang="it-IT" sz="2000" dirty="0" err="1"/>
              <a:t>approach</a:t>
            </a:r>
            <a:endParaRPr lang="it-IT" sz="2000" dirty="0"/>
          </a:p>
        </p:txBody>
      </p:sp>
      <p:sp>
        <p:nvSpPr>
          <p:cNvPr id="37" name="CasellaDiTesto 36"/>
          <p:cNvSpPr txBox="1"/>
          <p:nvPr/>
        </p:nvSpPr>
        <p:spPr>
          <a:xfrm>
            <a:off x="2712185" y="855051"/>
            <a:ext cx="90115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b="1" i="1" dirty="0" err="1"/>
              <a:t>Actually</a:t>
            </a:r>
            <a:r>
              <a:rPr lang="it-IT" sz="1600" b="1" i="1" dirty="0"/>
              <a:t>… </a:t>
            </a:r>
            <a:r>
              <a:rPr lang="it-IT" sz="1600" b="1" i="1" dirty="0" err="1"/>
              <a:t>this</a:t>
            </a:r>
            <a:r>
              <a:rPr lang="it-IT" sz="1600" b="1" i="1" dirty="0"/>
              <a:t> </a:t>
            </a:r>
            <a:r>
              <a:rPr lang="it-IT" sz="1600" b="1" i="1" dirty="0" err="1"/>
              <a:t>is</a:t>
            </a:r>
            <a:r>
              <a:rPr lang="it-IT" sz="1600" b="1" i="1" dirty="0"/>
              <a:t> </a:t>
            </a:r>
            <a:r>
              <a:rPr lang="it-IT" sz="1600" b="1" i="1" dirty="0" err="1"/>
              <a:t>already</a:t>
            </a:r>
            <a:r>
              <a:rPr lang="it-IT" sz="1600" b="1" i="1" dirty="0"/>
              <a:t> the  5G security </a:t>
            </a:r>
            <a:r>
              <a:rPr lang="it-IT" sz="1600" b="1" i="1" dirty="0" err="1"/>
              <a:t>architecture</a:t>
            </a:r>
            <a:r>
              <a:rPr lang="it-IT" sz="1600" b="1" i="1" dirty="0"/>
              <a:t>… to </a:t>
            </a:r>
            <a:r>
              <a:rPr lang="it-IT" sz="1600" b="1" i="1" dirty="0" err="1"/>
              <a:t>save</a:t>
            </a:r>
            <a:r>
              <a:rPr lang="it-IT" sz="1600" b="1" i="1" dirty="0"/>
              <a:t> </a:t>
            </a:r>
            <a:r>
              <a:rPr lang="it-IT" sz="1600" b="1" i="1" dirty="0" err="1"/>
              <a:t>one</a:t>
            </a:r>
            <a:r>
              <a:rPr lang="it-IT" sz="1600" b="1" i="1" dirty="0"/>
              <a:t> slide (</a:t>
            </a:r>
            <a:r>
              <a:rPr lang="it-IT" sz="1600" b="1" i="1" dirty="0" err="1"/>
              <a:t>couple</a:t>
            </a:r>
            <a:r>
              <a:rPr lang="it-IT" sz="1600" b="1" i="1" dirty="0"/>
              <a:t> of </a:t>
            </a:r>
            <a:r>
              <a:rPr lang="it-IT" sz="1600" b="1" i="1" dirty="0" err="1"/>
              <a:t>differences</a:t>
            </a:r>
            <a:r>
              <a:rPr lang="it-IT" sz="1600" b="1" i="1" dirty="0"/>
              <a:t> over 4G)!</a:t>
            </a:r>
          </a:p>
        </p:txBody>
      </p:sp>
    </p:spTree>
    <p:extLst>
      <p:ext uri="{BB962C8B-B14F-4D97-AF65-F5344CB8AC3E}">
        <p14:creationId xmlns:p14="http://schemas.microsoft.com/office/powerpoint/2010/main" val="2370085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6" grpId="0" animBg="1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BE21864-05D9-476D-9BBC-CC96F38F4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5G Security Architecture - Components</a:t>
            </a:r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E0F112FF-1454-4E9D-B004-A2FB565D8F28}"/>
              </a:ext>
            </a:extLst>
          </p:cNvPr>
          <p:cNvSpPr/>
          <p:nvPr/>
        </p:nvSpPr>
        <p:spPr bwMode="auto">
          <a:xfrm>
            <a:off x="0" y="5531928"/>
            <a:ext cx="12166478" cy="1326072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7B4A305E-AAA3-43EA-BAC6-0D02552E81DB}"/>
              </a:ext>
            </a:extLst>
          </p:cNvPr>
          <p:cNvSpPr txBox="1"/>
          <p:nvPr/>
        </p:nvSpPr>
        <p:spPr>
          <a:xfrm>
            <a:off x="174381" y="5593930"/>
            <a:ext cx="380809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b="1" dirty="0">
                <a:latin typeface="Arial Narrow" panose="020B0606020202030204" pitchFamily="34" charset="0"/>
              </a:rPr>
              <a:t>DU	Distributed Unit</a:t>
            </a:r>
          </a:p>
          <a:p>
            <a:r>
              <a:rPr lang="it-IT" sz="1600" b="1" dirty="0">
                <a:latin typeface="Arial Narrow" panose="020B0606020202030204" pitchFamily="34" charset="0"/>
              </a:rPr>
              <a:t>CU	Central Unit</a:t>
            </a:r>
          </a:p>
          <a:p>
            <a:endParaRPr lang="it-IT" sz="1600" b="1" dirty="0">
              <a:latin typeface="Arial Narrow" panose="020B0606020202030204" pitchFamily="34" charset="0"/>
            </a:endParaRPr>
          </a:p>
          <a:p>
            <a:r>
              <a:rPr lang="it-IT" sz="1600" b="1" dirty="0">
                <a:latin typeface="Arial Narrow" panose="020B0606020202030204" pitchFamily="34" charset="0"/>
              </a:rPr>
              <a:t>N3IWF	Non 3GPP Inter </a:t>
            </a:r>
            <a:r>
              <a:rPr lang="it-IT" sz="1600" b="1" dirty="0" err="1">
                <a:latin typeface="Arial Narrow" panose="020B0606020202030204" pitchFamily="34" charset="0"/>
              </a:rPr>
              <a:t>Working</a:t>
            </a:r>
            <a:r>
              <a:rPr lang="it-IT" sz="1600" b="1" dirty="0">
                <a:latin typeface="Arial Narrow" panose="020B0606020202030204" pitchFamily="34" charset="0"/>
              </a:rPr>
              <a:t> </a:t>
            </a:r>
            <a:r>
              <a:rPr lang="it-IT" sz="1600" b="1" dirty="0" err="1">
                <a:latin typeface="Arial Narrow" panose="020B0606020202030204" pitchFamily="34" charset="0"/>
              </a:rPr>
              <a:t>Function</a:t>
            </a:r>
            <a:endParaRPr lang="it-IT" sz="1600" b="1" dirty="0">
              <a:latin typeface="Arial Narrow" panose="020B0606020202030204" pitchFamily="34" charset="0"/>
            </a:endParaRP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1ECD1E7F-8543-43F9-AD7B-1DDD47EB4BD1}"/>
              </a:ext>
            </a:extLst>
          </p:cNvPr>
          <p:cNvSpPr txBox="1"/>
          <p:nvPr/>
        </p:nvSpPr>
        <p:spPr>
          <a:xfrm>
            <a:off x="3943674" y="5604594"/>
            <a:ext cx="361669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b="1" dirty="0">
                <a:latin typeface="Arial Narrow" panose="020B0606020202030204" pitchFamily="34" charset="0"/>
              </a:rPr>
              <a:t>AMF	Access Management </a:t>
            </a:r>
            <a:r>
              <a:rPr lang="it-IT" sz="1600" b="1" dirty="0" err="1">
                <a:latin typeface="Arial Narrow" panose="020B0606020202030204" pitchFamily="34" charset="0"/>
              </a:rPr>
              <a:t>Function</a:t>
            </a:r>
            <a:endParaRPr lang="it-IT" sz="1600" b="1" dirty="0">
              <a:latin typeface="Arial Narrow" panose="020B0606020202030204" pitchFamily="34" charset="0"/>
            </a:endParaRPr>
          </a:p>
          <a:p>
            <a:r>
              <a:rPr lang="it-IT" sz="1600" b="1" dirty="0">
                <a:latin typeface="Arial Narrow" panose="020B0606020202030204" pitchFamily="34" charset="0"/>
              </a:rPr>
              <a:t>SEAF	</a:t>
            </a:r>
            <a:r>
              <a:rPr lang="it-IT" sz="1600" b="1" dirty="0" err="1">
                <a:latin typeface="Arial Narrow" panose="020B0606020202030204" pitchFamily="34" charset="0"/>
              </a:rPr>
              <a:t>SEcurity</a:t>
            </a:r>
            <a:r>
              <a:rPr lang="it-IT" sz="1600" b="1" dirty="0">
                <a:latin typeface="Arial Narrow" panose="020B0606020202030204" pitchFamily="34" charset="0"/>
              </a:rPr>
              <a:t> Anchor </a:t>
            </a:r>
            <a:r>
              <a:rPr lang="it-IT" sz="1600" b="1" dirty="0" err="1">
                <a:latin typeface="Arial Narrow" panose="020B0606020202030204" pitchFamily="34" charset="0"/>
              </a:rPr>
              <a:t>Function</a:t>
            </a:r>
            <a:r>
              <a:rPr lang="it-IT" sz="1600" b="1" dirty="0">
                <a:latin typeface="Arial Narrow" panose="020B0606020202030204" pitchFamily="34" charset="0"/>
              </a:rPr>
              <a:t> </a:t>
            </a:r>
          </a:p>
          <a:p>
            <a:endParaRPr lang="it-IT" sz="1600" b="1" dirty="0">
              <a:latin typeface="Arial Narrow" panose="020B0606020202030204" pitchFamily="34" charset="0"/>
            </a:endParaRPr>
          </a:p>
          <a:p>
            <a:r>
              <a:rPr lang="it-IT" sz="1600" b="1" dirty="0">
                <a:latin typeface="Arial Narrow" panose="020B0606020202030204" pitchFamily="34" charset="0"/>
              </a:rPr>
              <a:t>SEPP	Security Edge </a:t>
            </a:r>
            <a:r>
              <a:rPr lang="it-IT" sz="1600" b="1" dirty="0" err="1">
                <a:latin typeface="Arial Narrow" panose="020B0606020202030204" pitchFamily="34" charset="0"/>
              </a:rPr>
              <a:t>Protection</a:t>
            </a:r>
            <a:r>
              <a:rPr lang="it-IT" sz="1600" b="1" dirty="0">
                <a:latin typeface="Arial Narrow" panose="020B0606020202030204" pitchFamily="34" charset="0"/>
              </a:rPr>
              <a:t> Proxy</a:t>
            </a:r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96CFE65F-88C8-4E3B-B145-E0D8CE127275}"/>
              </a:ext>
            </a:extLst>
          </p:cNvPr>
          <p:cNvSpPr txBox="1"/>
          <p:nvPr/>
        </p:nvSpPr>
        <p:spPr>
          <a:xfrm>
            <a:off x="7496610" y="5473296"/>
            <a:ext cx="466986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b="1" dirty="0">
                <a:latin typeface="Arial Narrow" panose="020B0606020202030204" pitchFamily="34" charset="0"/>
              </a:rPr>
              <a:t>AUSF	</a:t>
            </a:r>
            <a:r>
              <a:rPr lang="it-IT" sz="1600" b="1" dirty="0" err="1">
                <a:latin typeface="Arial Narrow" panose="020B0606020202030204" pitchFamily="34" charset="0"/>
              </a:rPr>
              <a:t>AUthentication</a:t>
            </a:r>
            <a:r>
              <a:rPr lang="it-IT" sz="1600" b="1" dirty="0">
                <a:latin typeface="Arial Narrow" panose="020B0606020202030204" pitchFamily="34" charset="0"/>
              </a:rPr>
              <a:t> Server </a:t>
            </a:r>
            <a:r>
              <a:rPr lang="it-IT" sz="1600" b="1" dirty="0" err="1">
                <a:latin typeface="Arial Narrow" panose="020B0606020202030204" pitchFamily="34" charset="0"/>
              </a:rPr>
              <a:t>Function</a:t>
            </a:r>
            <a:endParaRPr lang="it-IT" sz="1600" b="1" dirty="0">
              <a:latin typeface="Arial Narrow" panose="020B0606020202030204" pitchFamily="34" charset="0"/>
            </a:endParaRPr>
          </a:p>
          <a:p>
            <a:r>
              <a:rPr lang="it-IT" sz="1600" b="1" dirty="0">
                <a:latin typeface="Arial Narrow" panose="020B0606020202030204" pitchFamily="34" charset="0"/>
              </a:rPr>
              <a:t>SIDF	Subscription </a:t>
            </a:r>
            <a:r>
              <a:rPr lang="it-IT" sz="1600" b="1" dirty="0" err="1">
                <a:latin typeface="Arial Narrow" panose="020B0606020202030204" pitchFamily="34" charset="0"/>
              </a:rPr>
              <a:t>Identifier</a:t>
            </a:r>
            <a:r>
              <a:rPr lang="it-IT" sz="1600" b="1" dirty="0">
                <a:latin typeface="Arial Narrow" panose="020B0606020202030204" pitchFamily="34" charset="0"/>
              </a:rPr>
              <a:t> </a:t>
            </a:r>
            <a:r>
              <a:rPr lang="it-IT" sz="1600" b="1" dirty="0" err="1">
                <a:latin typeface="Arial Narrow" panose="020B0606020202030204" pitchFamily="34" charset="0"/>
              </a:rPr>
              <a:t>Deconcealment</a:t>
            </a:r>
            <a:r>
              <a:rPr lang="it-IT" sz="1600" b="1" dirty="0">
                <a:latin typeface="Arial Narrow" panose="020B0606020202030204" pitchFamily="34" charset="0"/>
              </a:rPr>
              <a:t> </a:t>
            </a:r>
            <a:r>
              <a:rPr lang="it-IT" sz="1600" b="1" dirty="0" err="1">
                <a:latin typeface="Arial Narrow" panose="020B0606020202030204" pitchFamily="34" charset="0"/>
              </a:rPr>
              <a:t>Fct</a:t>
            </a:r>
            <a:endParaRPr lang="it-IT" sz="1600" b="1" dirty="0">
              <a:latin typeface="Arial Narrow" panose="020B0606020202030204" pitchFamily="34" charset="0"/>
            </a:endParaRPr>
          </a:p>
          <a:p>
            <a:r>
              <a:rPr lang="it-IT" sz="1600" b="1" dirty="0">
                <a:latin typeface="Arial Narrow" panose="020B0606020202030204" pitchFamily="34" charset="0"/>
              </a:rPr>
              <a:t>ARPF	</a:t>
            </a:r>
            <a:r>
              <a:rPr lang="it-IT" sz="1600" b="1" dirty="0" err="1">
                <a:latin typeface="Arial Narrow" panose="020B0606020202030204" pitchFamily="34" charset="0"/>
              </a:rPr>
              <a:t>Auth</a:t>
            </a:r>
            <a:r>
              <a:rPr lang="it-IT" sz="1600" b="1" dirty="0">
                <a:latin typeface="Arial Narrow" panose="020B0606020202030204" pitchFamily="34" charset="0"/>
              </a:rPr>
              <a:t> </a:t>
            </a:r>
            <a:r>
              <a:rPr lang="it-IT" sz="1600" b="1" dirty="0" err="1">
                <a:latin typeface="Arial Narrow" panose="020B0606020202030204" pitchFamily="34" charset="0"/>
              </a:rPr>
              <a:t>credential</a:t>
            </a:r>
            <a:r>
              <a:rPr lang="it-IT" sz="1600" b="1" dirty="0">
                <a:latin typeface="Arial Narrow" panose="020B0606020202030204" pitchFamily="34" charset="0"/>
              </a:rPr>
              <a:t> Repository &amp; Processing </a:t>
            </a:r>
            <a:r>
              <a:rPr lang="it-IT" sz="1600" b="1" dirty="0" err="1">
                <a:latin typeface="Arial Narrow" panose="020B0606020202030204" pitchFamily="34" charset="0"/>
              </a:rPr>
              <a:t>Fct</a:t>
            </a:r>
            <a:endParaRPr lang="it-IT" sz="1600" b="1" dirty="0">
              <a:latin typeface="Arial Narrow" panose="020B0606020202030204" pitchFamily="34" charset="0"/>
            </a:endParaRPr>
          </a:p>
          <a:p>
            <a:r>
              <a:rPr lang="it-IT" sz="1600" b="1" dirty="0">
                <a:latin typeface="Arial Narrow" panose="020B0606020202030204" pitchFamily="34" charset="0"/>
              </a:rPr>
              <a:t>UDM	</a:t>
            </a:r>
            <a:r>
              <a:rPr lang="it-IT" sz="1600" b="1" dirty="0" err="1">
                <a:latin typeface="Arial Narrow" panose="020B0606020202030204" pitchFamily="34" charset="0"/>
              </a:rPr>
              <a:t>Unified</a:t>
            </a:r>
            <a:r>
              <a:rPr lang="it-IT" sz="1600" b="1" dirty="0">
                <a:latin typeface="Arial Narrow" panose="020B0606020202030204" pitchFamily="34" charset="0"/>
              </a:rPr>
              <a:t> Data Management</a:t>
            </a:r>
          </a:p>
          <a:p>
            <a:r>
              <a:rPr lang="it-IT" sz="1600" b="1" dirty="0">
                <a:latin typeface="Arial Narrow" panose="020B0606020202030204" pitchFamily="34" charset="0"/>
              </a:rPr>
              <a:t>UDR	</a:t>
            </a:r>
            <a:r>
              <a:rPr lang="it-IT" sz="1600" b="1" dirty="0" err="1">
                <a:latin typeface="Arial Narrow" panose="020B0606020202030204" pitchFamily="34" charset="0"/>
              </a:rPr>
              <a:t>Unified</a:t>
            </a:r>
            <a:r>
              <a:rPr lang="it-IT" sz="1600" b="1" dirty="0">
                <a:latin typeface="Arial Narrow" panose="020B0606020202030204" pitchFamily="34" charset="0"/>
              </a:rPr>
              <a:t> Data Repository</a:t>
            </a:r>
          </a:p>
        </p:txBody>
      </p:sp>
      <p:sp>
        <p:nvSpPr>
          <p:cNvPr id="41" name="Rettangolo 40">
            <a:extLst>
              <a:ext uri="{FF2B5EF4-FFF2-40B4-BE49-F238E27FC236}">
                <a16:creationId xmlns:a16="http://schemas.microsoft.com/office/drawing/2014/main" id="{6639F410-E84A-4054-804D-0E02BBDCE360}"/>
              </a:ext>
            </a:extLst>
          </p:cNvPr>
          <p:cNvSpPr/>
          <p:nvPr/>
        </p:nvSpPr>
        <p:spPr>
          <a:xfrm>
            <a:off x="682745" y="4667399"/>
            <a:ext cx="11324929" cy="1334979"/>
          </a:xfrm>
          <a:prstGeom prst="rect">
            <a:avLst/>
          </a:prstGeom>
          <a:solidFill>
            <a:schemeClr val="bg1"/>
          </a:solidFill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it-IT" sz="1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it-IT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</a:t>
            </a:r>
            <a:r>
              <a:rPr lang="it-IT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it-IT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IMHO NO </a:t>
            </a:r>
            <a:r>
              <a:rPr lang="it-IT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such</a:t>
            </a:r>
            <a:r>
              <a:rPr lang="it-IT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thing</a:t>
            </a:r>
            <a:r>
              <a:rPr lang="it-IT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lang="it-IT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one-size </a:t>
            </a:r>
            <a:r>
              <a:rPr lang="it-IT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trusted</a:t>
            </a:r>
            <a:r>
              <a:rPr lang="it-IT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it-IT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untrusted</a:t>
            </a:r>
            <a:r>
              <a:rPr lang="it-IT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5G/6G network! </a:t>
            </a:r>
          </a:p>
          <a:p>
            <a:pPr algn="ctr"/>
            <a:r>
              <a:rPr lang="it-IT" sz="20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it-IT" sz="2000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</a:t>
            </a:r>
            <a:r>
              <a:rPr lang="it-IT" sz="20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000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own</a:t>
            </a:r>
            <a:r>
              <a:rPr lang="it-IT" sz="20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technical </a:t>
            </a:r>
            <a:r>
              <a:rPr lang="it-IT" sz="2000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explanation</a:t>
            </a:r>
            <a:r>
              <a:rPr lang="it-IT" sz="20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it-IT" sz="2000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</a:t>
            </a:r>
            <a:r>
              <a:rPr lang="it-IT" sz="20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it-IT" sz="2000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geo-political</a:t>
            </a:r>
            <a:r>
              <a:rPr lang="it-IT" sz="20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security </a:t>
            </a:r>
            <a:r>
              <a:rPr lang="it-IT" sz="2000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debate</a:t>
            </a:r>
            <a:r>
              <a:rPr lang="it-IT" sz="20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000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it-IT" sz="20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part </a:t>
            </a:r>
            <a:r>
              <a:rPr lang="it-IT" sz="2000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ill-posed</a:t>
            </a:r>
            <a:r>
              <a:rPr lang="it-IT" sz="20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42" name="Rettangolo 41">
            <a:extLst>
              <a:ext uri="{FF2B5EF4-FFF2-40B4-BE49-F238E27FC236}">
                <a16:creationId xmlns:a16="http://schemas.microsoft.com/office/drawing/2014/main" id="{127A6425-D86E-483B-8E61-0AD44F240743}"/>
              </a:ext>
            </a:extLst>
          </p:cNvPr>
          <p:cNvSpPr/>
          <p:nvPr/>
        </p:nvSpPr>
        <p:spPr bwMode="auto">
          <a:xfrm>
            <a:off x="964564" y="4746668"/>
            <a:ext cx="10945520" cy="461665"/>
          </a:xfrm>
          <a:prstGeom prst="rect">
            <a:avLst/>
          </a:prstGeom>
          <a:gradFill flip="none" rotWithShape="1">
            <a:gsLst>
              <a:gs pos="9000">
                <a:srgbClr val="FF3300"/>
              </a:gs>
              <a:gs pos="42000">
                <a:srgbClr val="FFFF00"/>
              </a:gs>
              <a:gs pos="76000">
                <a:srgbClr val="92D050"/>
              </a:gs>
              <a:gs pos="100000">
                <a:srgbClr val="00B050"/>
              </a:gs>
            </a:gsLst>
            <a:lin ang="0" scaled="1"/>
            <a:tileRect/>
          </a:gra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Improved</a:t>
            </a:r>
            <a:r>
              <a:rPr kumimoji="0" lang="it-IT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 key </a:t>
            </a:r>
            <a:r>
              <a:rPr kumimoji="0" lang="it-IT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derivation</a:t>
            </a:r>
            <a:r>
              <a:rPr kumimoji="0" lang="it-IT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 </a:t>
            </a:r>
            <a:r>
              <a:rPr kumimoji="0" lang="it-IT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  <a:sym typeface="Wingdings" panose="05000000000000000000" pitchFamily="2" charset="2"/>
              </a:rPr>
              <a:t> </a:t>
            </a:r>
            <a:r>
              <a:rPr kumimoji="0" lang="it-IT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  <a:sym typeface="Wingdings" panose="05000000000000000000" pitchFamily="2" charset="2"/>
              </a:rPr>
              <a:t>several</a:t>
            </a:r>
            <a:r>
              <a:rPr kumimoji="0" lang="it-IT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 </a:t>
            </a:r>
            <a:r>
              <a:rPr kumimoji="0" lang="it-IT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different</a:t>
            </a:r>
            <a:r>
              <a:rPr kumimoji="0" lang="it-IT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 </a:t>
            </a:r>
            <a:r>
              <a:rPr kumimoji="0" lang="it-IT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levels</a:t>
            </a:r>
            <a:r>
              <a:rPr kumimoji="0" lang="it-IT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 of trust (trust domains)</a:t>
            </a:r>
          </a:p>
        </p:txBody>
      </p:sp>
      <p:sp>
        <p:nvSpPr>
          <p:cNvPr id="44" name="Rettangolo 43">
            <a:extLst>
              <a:ext uri="{FF2B5EF4-FFF2-40B4-BE49-F238E27FC236}">
                <a16:creationId xmlns:a16="http://schemas.microsoft.com/office/drawing/2014/main" id="{3465AB37-09F8-4B6D-99A8-9B90BF2F1E4A}"/>
              </a:ext>
            </a:extLst>
          </p:cNvPr>
          <p:cNvSpPr/>
          <p:nvPr/>
        </p:nvSpPr>
        <p:spPr bwMode="auto">
          <a:xfrm>
            <a:off x="2567509" y="3284980"/>
            <a:ext cx="1512212" cy="905343"/>
          </a:xfrm>
          <a:prstGeom prst="rect">
            <a:avLst/>
          </a:prstGeom>
          <a:solidFill>
            <a:srgbClr val="EFB011">
              <a:alpha val="49804"/>
            </a:srgbClr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45" name="Rettangolo 44">
            <a:extLst>
              <a:ext uri="{FF2B5EF4-FFF2-40B4-BE49-F238E27FC236}">
                <a16:creationId xmlns:a16="http://schemas.microsoft.com/office/drawing/2014/main" id="{868638FA-15D0-45BD-A6EF-3F51E27292F5}"/>
              </a:ext>
            </a:extLst>
          </p:cNvPr>
          <p:cNvSpPr/>
          <p:nvPr/>
        </p:nvSpPr>
        <p:spPr bwMode="auto">
          <a:xfrm>
            <a:off x="1653816" y="3429000"/>
            <a:ext cx="648090" cy="576080"/>
          </a:xfrm>
          <a:prstGeom prst="rect">
            <a:avLst/>
          </a:prstGeom>
          <a:solidFill>
            <a:srgbClr val="00B0F0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DU</a:t>
            </a:r>
            <a:endParaRPr kumimoji="0" lang="it-IT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46" name="Rettangolo 45">
            <a:extLst>
              <a:ext uri="{FF2B5EF4-FFF2-40B4-BE49-F238E27FC236}">
                <a16:creationId xmlns:a16="http://schemas.microsoft.com/office/drawing/2014/main" id="{B4AAE5AB-30CF-445A-B9E3-50903FD50298}"/>
              </a:ext>
            </a:extLst>
          </p:cNvPr>
          <p:cNvSpPr/>
          <p:nvPr/>
        </p:nvSpPr>
        <p:spPr bwMode="auto">
          <a:xfrm>
            <a:off x="2711530" y="3429000"/>
            <a:ext cx="648090" cy="576080"/>
          </a:xfrm>
          <a:prstGeom prst="rect">
            <a:avLst/>
          </a:prstGeom>
          <a:solidFill>
            <a:srgbClr val="00B0F0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CU</a:t>
            </a:r>
            <a:endParaRPr kumimoji="0" lang="it-IT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47" name="Rettangolo con angoli arrotondati 46">
            <a:extLst>
              <a:ext uri="{FF2B5EF4-FFF2-40B4-BE49-F238E27FC236}">
                <a16:creationId xmlns:a16="http://schemas.microsoft.com/office/drawing/2014/main" id="{82F5C86C-8CAB-452B-8564-B371471332E7}"/>
              </a:ext>
            </a:extLst>
          </p:cNvPr>
          <p:cNvSpPr/>
          <p:nvPr/>
        </p:nvSpPr>
        <p:spPr bwMode="auto">
          <a:xfrm>
            <a:off x="1127310" y="3212970"/>
            <a:ext cx="2664370" cy="1367564"/>
          </a:xfrm>
          <a:prstGeom prst="roundRect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72C225A8-4063-4075-8250-9EE87C4212ED}"/>
              </a:ext>
            </a:extLst>
          </p:cNvPr>
          <p:cNvSpPr txBox="1"/>
          <p:nvPr/>
        </p:nvSpPr>
        <p:spPr>
          <a:xfrm>
            <a:off x="2118171" y="4118869"/>
            <a:ext cx="7040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 err="1"/>
              <a:t>gNB</a:t>
            </a:r>
            <a:endParaRPr lang="it-IT" sz="2400" b="1" dirty="0"/>
          </a:p>
        </p:txBody>
      </p:sp>
      <p:pic>
        <p:nvPicPr>
          <p:cNvPr id="49" name="Picture 4">
            <a:extLst>
              <a:ext uri="{FF2B5EF4-FFF2-40B4-BE49-F238E27FC236}">
                <a16:creationId xmlns:a16="http://schemas.microsoft.com/office/drawing/2014/main" id="{471A4C0A-1CBC-448F-AD7F-10CF29F3F0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011" y="2204827"/>
            <a:ext cx="677622" cy="1367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0" name="Gruppo 49">
            <a:extLst>
              <a:ext uri="{FF2B5EF4-FFF2-40B4-BE49-F238E27FC236}">
                <a16:creationId xmlns:a16="http://schemas.microsoft.com/office/drawing/2014/main" id="{3D590A51-67A7-47D4-9B05-F3C1161D8825}"/>
              </a:ext>
            </a:extLst>
          </p:cNvPr>
          <p:cNvGrpSpPr/>
          <p:nvPr/>
        </p:nvGrpSpPr>
        <p:grpSpPr>
          <a:xfrm>
            <a:off x="4457399" y="4190323"/>
            <a:ext cx="27720" cy="66240"/>
            <a:chOff x="5625620" y="4622383"/>
            <a:chExt cx="27720" cy="6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51" name="Input penna 50">
                  <a:extLst>
                    <a:ext uri="{FF2B5EF4-FFF2-40B4-BE49-F238E27FC236}">
                      <a16:creationId xmlns:a16="http://schemas.microsoft.com/office/drawing/2014/main" id="{7701C598-AA91-48C3-971B-F43486AAA0B0}"/>
                    </a:ext>
                  </a:extLst>
                </p14:cNvPr>
                <p14:cNvContentPartPr/>
                <p14:nvPr/>
              </p14:nvContentPartPr>
              <p14:xfrm>
                <a:off x="5629940" y="4622383"/>
                <a:ext cx="23400" cy="32760"/>
              </p14:xfrm>
            </p:contentPart>
          </mc:Choice>
          <mc:Fallback xmlns="">
            <p:pic>
              <p:nvPicPr>
                <p:cNvPr id="14" name="Input penna 13">
                  <a:extLst>
                    <a:ext uri="{FF2B5EF4-FFF2-40B4-BE49-F238E27FC236}">
                      <a16:creationId xmlns:a16="http://schemas.microsoft.com/office/drawing/2014/main" id="{8EB944DA-8743-4464-A3F3-EB28DFA6801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621300" y="4613383"/>
                  <a:ext cx="410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2" name="Input penna 51">
                  <a:extLst>
                    <a:ext uri="{FF2B5EF4-FFF2-40B4-BE49-F238E27FC236}">
                      <a16:creationId xmlns:a16="http://schemas.microsoft.com/office/drawing/2014/main" id="{8B21DBAE-5D91-45C2-906B-A5559230288C}"/>
                    </a:ext>
                  </a:extLst>
                </p14:cNvPr>
                <p14:cNvContentPartPr/>
                <p14:nvPr/>
              </p14:nvContentPartPr>
              <p14:xfrm>
                <a:off x="5625620" y="4654783"/>
                <a:ext cx="18720" cy="33840"/>
              </p14:xfrm>
            </p:contentPart>
          </mc:Choice>
          <mc:Fallback xmlns="">
            <p:pic>
              <p:nvPicPr>
                <p:cNvPr id="16" name="Input penna 15">
                  <a:extLst>
                    <a:ext uri="{FF2B5EF4-FFF2-40B4-BE49-F238E27FC236}">
                      <a16:creationId xmlns:a16="http://schemas.microsoft.com/office/drawing/2014/main" id="{9F80F907-9326-4C87-BC42-C7E8DBFA73C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616620" y="4645783"/>
                  <a:ext cx="36360" cy="514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3" name="Rettangolo 52">
            <a:extLst>
              <a:ext uri="{FF2B5EF4-FFF2-40B4-BE49-F238E27FC236}">
                <a16:creationId xmlns:a16="http://schemas.microsoft.com/office/drawing/2014/main" id="{9E9D2BD9-A713-40F7-AE39-7A196047A6C3}"/>
              </a:ext>
            </a:extLst>
          </p:cNvPr>
          <p:cNvSpPr/>
          <p:nvPr/>
        </p:nvSpPr>
        <p:spPr bwMode="auto">
          <a:xfrm>
            <a:off x="4079720" y="1340710"/>
            <a:ext cx="2520350" cy="3126035"/>
          </a:xfrm>
          <a:prstGeom prst="rect">
            <a:avLst/>
          </a:prstGeom>
          <a:solidFill>
            <a:srgbClr val="FFC000">
              <a:alpha val="50000"/>
            </a:srgbClr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54" name="CasellaDiTesto 53">
            <a:extLst>
              <a:ext uri="{FF2B5EF4-FFF2-40B4-BE49-F238E27FC236}">
                <a16:creationId xmlns:a16="http://schemas.microsoft.com/office/drawing/2014/main" id="{369E0B09-91A5-4B7D-AA32-FE021CAAC8B7}"/>
              </a:ext>
            </a:extLst>
          </p:cNvPr>
          <p:cNvSpPr txBox="1"/>
          <p:nvPr/>
        </p:nvSpPr>
        <p:spPr>
          <a:xfrm>
            <a:off x="4223740" y="4047485"/>
            <a:ext cx="21499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 err="1"/>
              <a:t>Serving</a:t>
            </a:r>
            <a:r>
              <a:rPr lang="it-IT" sz="2400" b="1" dirty="0"/>
              <a:t> network</a:t>
            </a:r>
          </a:p>
        </p:txBody>
      </p:sp>
      <p:sp>
        <p:nvSpPr>
          <p:cNvPr id="55" name="Rettangolo 54">
            <a:extLst>
              <a:ext uri="{FF2B5EF4-FFF2-40B4-BE49-F238E27FC236}">
                <a16:creationId xmlns:a16="http://schemas.microsoft.com/office/drawing/2014/main" id="{CE4E9948-6C07-480C-8474-8F5C6329C485}"/>
              </a:ext>
            </a:extLst>
          </p:cNvPr>
          <p:cNvSpPr/>
          <p:nvPr/>
        </p:nvSpPr>
        <p:spPr bwMode="auto">
          <a:xfrm>
            <a:off x="1077646" y="1822094"/>
            <a:ext cx="1406860" cy="649288"/>
          </a:xfrm>
          <a:prstGeom prst="rect">
            <a:avLst/>
          </a:prstGeom>
          <a:solidFill>
            <a:srgbClr val="00B0F0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non3GPP</a:t>
            </a:r>
            <a:br>
              <a:rPr kumimoji="0" lang="it-IT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</a:br>
            <a:r>
              <a:rPr kumimoji="0" lang="it-IT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access</a:t>
            </a:r>
            <a:endParaRPr kumimoji="0" lang="it-IT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56" name="Rettangolo 55">
            <a:extLst>
              <a:ext uri="{FF2B5EF4-FFF2-40B4-BE49-F238E27FC236}">
                <a16:creationId xmlns:a16="http://schemas.microsoft.com/office/drawing/2014/main" id="{CAD4E41A-353A-454D-A1EE-41B867C5A3DA}"/>
              </a:ext>
            </a:extLst>
          </p:cNvPr>
          <p:cNvSpPr/>
          <p:nvPr/>
        </p:nvSpPr>
        <p:spPr bwMode="auto">
          <a:xfrm>
            <a:off x="2567510" y="1694066"/>
            <a:ext cx="1512211" cy="905343"/>
          </a:xfrm>
          <a:prstGeom prst="rect">
            <a:avLst/>
          </a:prstGeom>
          <a:solidFill>
            <a:srgbClr val="EFB011">
              <a:alpha val="49804"/>
            </a:srgbClr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57" name="Rettangolo 56">
            <a:extLst>
              <a:ext uri="{FF2B5EF4-FFF2-40B4-BE49-F238E27FC236}">
                <a16:creationId xmlns:a16="http://schemas.microsoft.com/office/drawing/2014/main" id="{C69FE63D-4522-42D3-AD54-7F732266998C}"/>
              </a:ext>
            </a:extLst>
          </p:cNvPr>
          <p:cNvSpPr/>
          <p:nvPr/>
        </p:nvSpPr>
        <p:spPr bwMode="auto">
          <a:xfrm>
            <a:off x="2745097" y="1844779"/>
            <a:ext cx="974573" cy="590597"/>
          </a:xfrm>
          <a:prstGeom prst="rect">
            <a:avLst/>
          </a:prstGeom>
          <a:solidFill>
            <a:srgbClr val="00B0F0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ts val="23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N3IWF</a:t>
            </a:r>
            <a:endParaRPr kumimoji="0" lang="it-IT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58" name="Rettangolo 57">
            <a:extLst>
              <a:ext uri="{FF2B5EF4-FFF2-40B4-BE49-F238E27FC236}">
                <a16:creationId xmlns:a16="http://schemas.microsoft.com/office/drawing/2014/main" id="{E9565700-C66C-4310-8C4F-DBA4FF3C4505}"/>
              </a:ext>
            </a:extLst>
          </p:cNvPr>
          <p:cNvSpPr/>
          <p:nvPr/>
        </p:nvSpPr>
        <p:spPr bwMode="auto">
          <a:xfrm>
            <a:off x="7680220" y="1340710"/>
            <a:ext cx="4229864" cy="3126035"/>
          </a:xfrm>
          <a:prstGeom prst="rect">
            <a:avLst/>
          </a:prstGeom>
          <a:solidFill>
            <a:srgbClr val="92D050">
              <a:alpha val="50000"/>
            </a:srgbClr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AE84DED3-277A-43CA-869E-B1271933AC55}"/>
              </a:ext>
            </a:extLst>
          </p:cNvPr>
          <p:cNvSpPr txBox="1"/>
          <p:nvPr/>
        </p:nvSpPr>
        <p:spPr>
          <a:xfrm>
            <a:off x="8837556" y="4008810"/>
            <a:ext cx="1925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/>
              <a:t>Home network</a:t>
            </a:r>
          </a:p>
        </p:txBody>
      </p:sp>
      <p:sp>
        <p:nvSpPr>
          <p:cNvPr id="60" name="Rettangolo 59">
            <a:extLst>
              <a:ext uri="{FF2B5EF4-FFF2-40B4-BE49-F238E27FC236}">
                <a16:creationId xmlns:a16="http://schemas.microsoft.com/office/drawing/2014/main" id="{8BBC0802-62E0-4EDA-94A4-FF1EB8D1F4DC}"/>
              </a:ext>
            </a:extLst>
          </p:cNvPr>
          <p:cNvSpPr/>
          <p:nvPr/>
        </p:nvSpPr>
        <p:spPr bwMode="auto">
          <a:xfrm>
            <a:off x="4316961" y="2650059"/>
            <a:ext cx="842910" cy="576080"/>
          </a:xfrm>
          <a:prstGeom prst="rect">
            <a:avLst/>
          </a:prstGeom>
          <a:solidFill>
            <a:srgbClr val="00B0F0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AMF</a:t>
            </a:r>
            <a:endParaRPr kumimoji="0" lang="it-IT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61" name="Rettangolo 60">
            <a:extLst>
              <a:ext uri="{FF2B5EF4-FFF2-40B4-BE49-F238E27FC236}">
                <a16:creationId xmlns:a16="http://schemas.microsoft.com/office/drawing/2014/main" id="{4F7857FD-E076-43B9-BFE3-43C4ECBFB4EE}"/>
              </a:ext>
            </a:extLst>
          </p:cNvPr>
          <p:cNvSpPr/>
          <p:nvPr/>
        </p:nvSpPr>
        <p:spPr bwMode="auto">
          <a:xfrm>
            <a:off x="5242485" y="2650059"/>
            <a:ext cx="997535" cy="576080"/>
          </a:xfrm>
          <a:prstGeom prst="rect">
            <a:avLst/>
          </a:prstGeom>
          <a:solidFill>
            <a:srgbClr val="00B0F0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SEAF</a:t>
            </a:r>
            <a:endParaRPr kumimoji="0" lang="it-IT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62" name="Rettangolo con angoli arrotondati 61">
            <a:extLst>
              <a:ext uri="{FF2B5EF4-FFF2-40B4-BE49-F238E27FC236}">
                <a16:creationId xmlns:a16="http://schemas.microsoft.com/office/drawing/2014/main" id="{4BAA65D2-C065-478B-8582-18927E6DD22A}"/>
              </a:ext>
            </a:extLst>
          </p:cNvPr>
          <p:cNvSpPr/>
          <p:nvPr/>
        </p:nvSpPr>
        <p:spPr bwMode="auto">
          <a:xfrm>
            <a:off x="4195262" y="2435376"/>
            <a:ext cx="2149948" cy="993624"/>
          </a:xfrm>
          <a:prstGeom prst="roundRect">
            <a:avLst/>
          </a:prstGeom>
          <a:noFill/>
          <a:ln w="38100" cap="flat" cmpd="sng" algn="ctr">
            <a:solidFill>
              <a:schemeClr val="tx1"/>
            </a:solidFill>
            <a:prstDash val="sysDash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63" name="Rettangolo 62">
            <a:extLst>
              <a:ext uri="{FF2B5EF4-FFF2-40B4-BE49-F238E27FC236}">
                <a16:creationId xmlns:a16="http://schemas.microsoft.com/office/drawing/2014/main" id="{266ACF8F-A7F2-4655-A676-0841B69304FC}"/>
              </a:ext>
            </a:extLst>
          </p:cNvPr>
          <p:cNvSpPr/>
          <p:nvPr/>
        </p:nvSpPr>
        <p:spPr bwMode="auto">
          <a:xfrm>
            <a:off x="6493750" y="2069207"/>
            <a:ext cx="295254" cy="1638807"/>
          </a:xfrm>
          <a:prstGeom prst="rect">
            <a:avLst/>
          </a:prstGeom>
          <a:solidFill>
            <a:srgbClr val="00B0F0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S</a:t>
            </a:r>
            <a:br>
              <a:rPr kumimoji="0" lang="it-IT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</a:br>
            <a:r>
              <a:rPr kumimoji="0" lang="it-IT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E</a:t>
            </a:r>
            <a:br>
              <a:rPr kumimoji="0" lang="it-IT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</a:br>
            <a:r>
              <a:rPr kumimoji="0" lang="it-IT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P</a:t>
            </a:r>
            <a:br>
              <a:rPr kumimoji="0" lang="it-IT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</a:br>
            <a:r>
              <a:rPr kumimoji="0" lang="it-IT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P</a:t>
            </a:r>
            <a:endParaRPr kumimoji="0" lang="it-IT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64" name="Rettangolo 63">
            <a:extLst>
              <a:ext uri="{FF2B5EF4-FFF2-40B4-BE49-F238E27FC236}">
                <a16:creationId xmlns:a16="http://schemas.microsoft.com/office/drawing/2014/main" id="{CC99D867-EE38-4AC6-A954-27113EEEC1B7}"/>
              </a:ext>
            </a:extLst>
          </p:cNvPr>
          <p:cNvSpPr/>
          <p:nvPr/>
        </p:nvSpPr>
        <p:spPr bwMode="auto">
          <a:xfrm>
            <a:off x="7518466" y="2084323"/>
            <a:ext cx="295254" cy="1638807"/>
          </a:xfrm>
          <a:prstGeom prst="rect">
            <a:avLst/>
          </a:prstGeom>
          <a:solidFill>
            <a:srgbClr val="00B0F0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S</a:t>
            </a:r>
            <a:br>
              <a:rPr kumimoji="0" lang="it-IT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</a:br>
            <a:r>
              <a:rPr kumimoji="0" lang="it-IT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E</a:t>
            </a:r>
            <a:br>
              <a:rPr kumimoji="0" lang="it-IT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</a:br>
            <a:r>
              <a:rPr kumimoji="0" lang="it-IT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P</a:t>
            </a:r>
            <a:br>
              <a:rPr kumimoji="0" lang="it-IT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</a:br>
            <a:r>
              <a:rPr kumimoji="0" lang="it-IT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P</a:t>
            </a:r>
            <a:endParaRPr kumimoji="0" lang="it-IT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65" name="Rettangolo 64">
            <a:extLst>
              <a:ext uri="{FF2B5EF4-FFF2-40B4-BE49-F238E27FC236}">
                <a16:creationId xmlns:a16="http://schemas.microsoft.com/office/drawing/2014/main" id="{0FF9CE51-691A-4DF6-A881-E7EED161C1CF}"/>
              </a:ext>
            </a:extLst>
          </p:cNvPr>
          <p:cNvSpPr/>
          <p:nvPr/>
        </p:nvSpPr>
        <p:spPr bwMode="auto">
          <a:xfrm>
            <a:off x="8090729" y="2746485"/>
            <a:ext cx="904905" cy="461665"/>
          </a:xfrm>
          <a:prstGeom prst="rect">
            <a:avLst/>
          </a:prstGeom>
          <a:solidFill>
            <a:srgbClr val="00B0F0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AUSF</a:t>
            </a:r>
            <a:endParaRPr kumimoji="0" lang="it-IT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66" name="Rettangolo 65">
            <a:extLst>
              <a:ext uri="{FF2B5EF4-FFF2-40B4-BE49-F238E27FC236}">
                <a16:creationId xmlns:a16="http://schemas.microsoft.com/office/drawing/2014/main" id="{7CDC0DEB-6C05-4FAA-95AE-14FA020A9E2D}"/>
              </a:ext>
            </a:extLst>
          </p:cNvPr>
          <p:cNvSpPr/>
          <p:nvPr/>
        </p:nvSpPr>
        <p:spPr bwMode="auto">
          <a:xfrm>
            <a:off x="9240352" y="2746485"/>
            <a:ext cx="904905" cy="461665"/>
          </a:xfrm>
          <a:prstGeom prst="rect">
            <a:avLst/>
          </a:prstGeom>
          <a:solidFill>
            <a:srgbClr val="00B0F0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SIDF</a:t>
            </a:r>
            <a:endParaRPr kumimoji="0" lang="it-IT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67" name="Rettangolo 66">
            <a:extLst>
              <a:ext uri="{FF2B5EF4-FFF2-40B4-BE49-F238E27FC236}">
                <a16:creationId xmlns:a16="http://schemas.microsoft.com/office/drawing/2014/main" id="{567A2BC6-0DAE-4854-B654-0B49906B492D}"/>
              </a:ext>
            </a:extLst>
          </p:cNvPr>
          <p:cNvSpPr/>
          <p:nvPr/>
        </p:nvSpPr>
        <p:spPr bwMode="auto">
          <a:xfrm>
            <a:off x="10612237" y="2088977"/>
            <a:ext cx="904905" cy="461665"/>
          </a:xfrm>
          <a:prstGeom prst="rect">
            <a:avLst/>
          </a:prstGeom>
          <a:solidFill>
            <a:srgbClr val="00B0F0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ARPF</a:t>
            </a:r>
            <a:endParaRPr kumimoji="0" lang="it-IT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68" name="Rettangolo 67">
            <a:extLst>
              <a:ext uri="{FF2B5EF4-FFF2-40B4-BE49-F238E27FC236}">
                <a16:creationId xmlns:a16="http://schemas.microsoft.com/office/drawing/2014/main" id="{D8C912B6-D96D-427D-B269-A22767BEFA7D}"/>
              </a:ext>
            </a:extLst>
          </p:cNvPr>
          <p:cNvSpPr/>
          <p:nvPr/>
        </p:nvSpPr>
        <p:spPr bwMode="auto">
          <a:xfrm>
            <a:off x="10612237" y="2744186"/>
            <a:ext cx="904905" cy="461665"/>
          </a:xfrm>
          <a:prstGeom prst="rect">
            <a:avLst/>
          </a:prstGeom>
          <a:solidFill>
            <a:srgbClr val="00B0F0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UDM</a:t>
            </a:r>
            <a:endParaRPr kumimoji="0" lang="it-IT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69" name="Rettangolo 68">
            <a:extLst>
              <a:ext uri="{FF2B5EF4-FFF2-40B4-BE49-F238E27FC236}">
                <a16:creationId xmlns:a16="http://schemas.microsoft.com/office/drawing/2014/main" id="{939289F9-5349-41FD-98F8-A9580202962A}"/>
              </a:ext>
            </a:extLst>
          </p:cNvPr>
          <p:cNvSpPr/>
          <p:nvPr/>
        </p:nvSpPr>
        <p:spPr bwMode="auto">
          <a:xfrm>
            <a:off x="10612237" y="3399395"/>
            <a:ext cx="904905" cy="461665"/>
          </a:xfrm>
          <a:prstGeom prst="rect">
            <a:avLst/>
          </a:prstGeom>
          <a:solidFill>
            <a:srgbClr val="00B0F0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UDR</a:t>
            </a:r>
            <a:endParaRPr kumimoji="0" lang="it-IT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70" name="Rettangolo con angoli arrotondati 69">
            <a:extLst>
              <a:ext uri="{FF2B5EF4-FFF2-40B4-BE49-F238E27FC236}">
                <a16:creationId xmlns:a16="http://schemas.microsoft.com/office/drawing/2014/main" id="{F322A262-8B68-4660-808F-A1C8DBACDBDB}"/>
              </a:ext>
            </a:extLst>
          </p:cNvPr>
          <p:cNvSpPr/>
          <p:nvPr/>
        </p:nvSpPr>
        <p:spPr bwMode="auto">
          <a:xfrm>
            <a:off x="10344590" y="1916790"/>
            <a:ext cx="1368190" cy="2088289"/>
          </a:xfrm>
          <a:prstGeom prst="roundRect">
            <a:avLst/>
          </a:prstGeom>
          <a:noFill/>
          <a:ln w="38100" cap="flat" cmpd="sng" algn="ctr">
            <a:solidFill>
              <a:schemeClr val="tx1"/>
            </a:solidFill>
            <a:prstDash val="sysDash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71" name="Fumetto 1 25">
            <a:extLst>
              <a:ext uri="{FF2B5EF4-FFF2-40B4-BE49-F238E27FC236}">
                <a16:creationId xmlns:a16="http://schemas.microsoft.com/office/drawing/2014/main" id="{B5F1AB8B-DC87-4381-B44C-5EEB625190A2}"/>
              </a:ext>
            </a:extLst>
          </p:cNvPr>
          <p:cNvSpPr/>
          <p:nvPr/>
        </p:nvSpPr>
        <p:spPr>
          <a:xfrm>
            <a:off x="2013846" y="1077839"/>
            <a:ext cx="2565210" cy="934255"/>
          </a:xfrm>
          <a:prstGeom prst="wedgeRectCallout">
            <a:avLst>
              <a:gd name="adj1" fmla="val -52517"/>
              <a:gd name="adj2" fmla="val 192927"/>
            </a:avLst>
          </a:prstGeom>
          <a:solidFill>
            <a:schemeClr val="bg1"/>
          </a:solidFill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security support in DU (</a:t>
            </a:r>
            <a:r>
              <a:rPr lang="it-IT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deployed</a:t>
            </a:r>
            <a:r>
              <a:rPr lang="it-IT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it-IT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untrusted</a:t>
            </a:r>
            <a:r>
              <a:rPr lang="it-IT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sites</a:t>
            </a:r>
            <a:r>
              <a:rPr lang="it-IT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72" name="Fumetto 1 25">
            <a:extLst>
              <a:ext uri="{FF2B5EF4-FFF2-40B4-BE49-F238E27FC236}">
                <a16:creationId xmlns:a16="http://schemas.microsoft.com/office/drawing/2014/main" id="{AE4AC512-CC03-4AA2-B58F-3A7F0D30549C}"/>
              </a:ext>
            </a:extLst>
          </p:cNvPr>
          <p:cNvSpPr/>
          <p:nvPr/>
        </p:nvSpPr>
        <p:spPr>
          <a:xfrm>
            <a:off x="3951039" y="4204020"/>
            <a:ext cx="2565210" cy="934255"/>
          </a:xfrm>
          <a:prstGeom prst="wedgeRectCallout">
            <a:avLst>
              <a:gd name="adj1" fmla="val -78461"/>
              <a:gd name="adj2" fmla="val -66528"/>
            </a:avLst>
          </a:prstGeom>
          <a:solidFill>
            <a:schemeClr val="bg1"/>
          </a:solidFill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Access </a:t>
            </a:r>
            <a:r>
              <a:rPr lang="it-IT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Stratum</a:t>
            </a:r>
            <a:r>
              <a:rPr lang="it-IT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Security </a:t>
            </a:r>
            <a:r>
              <a:rPr lang="it-IT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terminated</a:t>
            </a:r>
            <a:r>
              <a:rPr lang="it-IT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</a:t>
            </a:r>
            <a:r>
              <a:rPr lang="it-IT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CU</a:t>
            </a:r>
          </a:p>
        </p:txBody>
      </p:sp>
      <p:sp>
        <p:nvSpPr>
          <p:cNvPr id="73" name="Fumetto 1 25">
            <a:extLst>
              <a:ext uri="{FF2B5EF4-FFF2-40B4-BE49-F238E27FC236}">
                <a16:creationId xmlns:a16="http://schemas.microsoft.com/office/drawing/2014/main" id="{BDD37055-BDE6-4D36-9935-87A2021D61F5}"/>
              </a:ext>
            </a:extLst>
          </p:cNvPr>
          <p:cNvSpPr/>
          <p:nvPr/>
        </p:nvSpPr>
        <p:spPr>
          <a:xfrm>
            <a:off x="4651066" y="697394"/>
            <a:ext cx="2877086" cy="934255"/>
          </a:xfrm>
          <a:prstGeom prst="wedgeRectCallout">
            <a:avLst>
              <a:gd name="adj1" fmla="val -39861"/>
              <a:gd name="adj2" fmla="val 143700"/>
            </a:avLst>
          </a:prstGeom>
          <a:solidFill>
            <a:schemeClr val="bg1"/>
          </a:solidFill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</a:t>
            </a:r>
            <a:r>
              <a:rPr lang="it-IT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Network Access Security </a:t>
            </a:r>
            <a:br>
              <a:rPr lang="it-IT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it-IT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(AMF+SEAF co-</a:t>
            </a:r>
            <a:r>
              <a:rPr lang="it-IT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implemented</a:t>
            </a:r>
            <a:r>
              <a:rPr lang="it-IT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it-IT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Fumetto 1 25">
            <a:extLst>
              <a:ext uri="{FF2B5EF4-FFF2-40B4-BE49-F238E27FC236}">
                <a16:creationId xmlns:a16="http://schemas.microsoft.com/office/drawing/2014/main" id="{420B2052-CA28-477A-8878-E0640043A470}"/>
              </a:ext>
            </a:extLst>
          </p:cNvPr>
          <p:cNvSpPr/>
          <p:nvPr/>
        </p:nvSpPr>
        <p:spPr>
          <a:xfrm>
            <a:off x="6699274" y="4696254"/>
            <a:ext cx="2565210" cy="934255"/>
          </a:xfrm>
          <a:prstGeom prst="wedgeRectCallout">
            <a:avLst>
              <a:gd name="adj1" fmla="val -33322"/>
              <a:gd name="adj2" fmla="val -187568"/>
            </a:avLst>
          </a:prstGeom>
          <a:solidFill>
            <a:schemeClr val="bg1"/>
          </a:solidFill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for </a:t>
            </a:r>
            <a:r>
              <a:rPr lang="it-IT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interconnection</a:t>
            </a:r>
            <a:r>
              <a:rPr lang="it-IT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traffic</a:t>
            </a:r>
            <a:endParaRPr lang="it-IT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Fumetto 1 25">
            <a:extLst>
              <a:ext uri="{FF2B5EF4-FFF2-40B4-BE49-F238E27FC236}">
                <a16:creationId xmlns:a16="http://schemas.microsoft.com/office/drawing/2014/main" id="{56AF8E19-82F8-4C0B-A6AD-CE90F0D4610C}"/>
              </a:ext>
            </a:extLst>
          </p:cNvPr>
          <p:cNvSpPr/>
          <p:nvPr/>
        </p:nvSpPr>
        <p:spPr>
          <a:xfrm>
            <a:off x="3704590" y="3059583"/>
            <a:ext cx="2565210" cy="934255"/>
          </a:xfrm>
          <a:prstGeom prst="wedgeRectCallout">
            <a:avLst>
              <a:gd name="adj1" fmla="val 116223"/>
              <a:gd name="adj2" fmla="val -52049"/>
            </a:avLst>
          </a:prstGeom>
          <a:solidFill>
            <a:schemeClr val="bg1"/>
          </a:solidFill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Implements</a:t>
            </a:r>
            <a:r>
              <a:rPr lang="it-IT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UE authentication, stores key for </a:t>
            </a:r>
            <a:r>
              <a:rPr lang="it-IT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later</a:t>
            </a:r>
            <a:r>
              <a:rPr lang="it-IT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reuse</a:t>
            </a:r>
            <a:endParaRPr lang="it-IT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Fumetto 1 25">
            <a:extLst>
              <a:ext uri="{FF2B5EF4-FFF2-40B4-BE49-F238E27FC236}">
                <a16:creationId xmlns:a16="http://schemas.microsoft.com/office/drawing/2014/main" id="{E6327E78-71AF-4D8D-9E86-0C9865BAEDE6}"/>
              </a:ext>
            </a:extLst>
          </p:cNvPr>
          <p:cNvSpPr/>
          <p:nvPr/>
        </p:nvSpPr>
        <p:spPr>
          <a:xfrm>
            <a:off x="7464190" y="1125786"/>
            <a:ext cx="2565210" cy="934255"/>
          </a:xfrm>
          <a:prstGeom prst="wedgeRectCallout">
            <a:avLst>
              <a:gd name="adj1" fmla="val 36705"/>
              <a:gd name="adj2" fmla="val 115323"/>
            </a:avLst>
          </a:prstGeom>
          <a:solidFill>
            <a:schemeClr val="bg1"/>
          </a:solidFill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Deconceals</a:t>
            </a:r>
            <a:r>
              <a:rPr lang="it-IT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User Identity (more </a:t>
            </a:r>
            <a:r>
              <a:rPr lang="it-IT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later</a:t>
            </a:r>
            <a:r>
              <a:rPr lang="it-IT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77" name="Fumetto 1 25">
            <a:extLst>
              <a:ext uri="{FF2B5EF4-FFF2-40B4-BE49-F238E27FC236}">
                <a16:creationId xmlns:a16="http://schemas.microsoft.com/office/drawing/2014/main" id="{9F028D48-B899-4DD7-9455-6CCCC4898DA7}"/>
              </a:ext>
            </a:extLst>
          </p:cNvPr>
          <p:cNvSpPr/>
          <p:nvPr/>
        </p:nvSpPr>
        <p:spPr>
          <a:xfrm>
            <a:off x="7608210" y="349872"/>
            <a:ext cx="4392610" cy="1020537"/>
          </a:xfrm>
          <a:prstGeom prst="wedgeRectCallout">
            <a:avLst>
              <a:gd name="adj1" fmla="val 25356"/>
              <a:gd name="adj2" fmla="val 113501"/>
            </a:avLst>
          </a:prstGeom>
          <a:solidFill>
            <a:schemeClr val="bg1"/>
          </a:solidFill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5G «</a:t>
            </a:r>
            <a:r>
              <a:rPr lang="it-IT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vault</a:t>
            </a:r>
            <a:r>
              <a:rPr lang="it-IT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» </a:t>
            </a:r>
            <a:r>
              <a:rPr lang="it-IT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: User data (UDR) and </a:t>
            </a:r>
            <a:r>
              <a:rPr lang="it-IT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credentials</a:t>
            </a:r>
            <a:r>
              <a:rPr lang="it-IT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(ARPF) </a:t>
            </a:r>
            <a:r>
              <a:rPr lang="it-IT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used</a:t>
            </a:r>
            <a:r>
              <a:rPr lang="it-IT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by UDM authentication/</a:t>
            </a:r>
            <a:r>
              <a:rPr lang="it-IT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identification</a:t>
            </a:r>
            <a:r>
              <a:rPr lang="it-IT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it-IT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functions</a:t>
            </a:r>
            <a:r>
              <a:rPr lang="it-IT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endParaRPr lang="it-IT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Fumetto 1 25">
            <a:extLst>
              <a:ext uri="{FF2B5EF4-FFF2-40B4-BE49-F238E27FC236}">
                <a16:creationId xmlns:a16="http://schemas.microsoft.com/office/drawing/2014/main" id="{EC0CC45F-1DAC-4D32-8D02-8EE35F69AFEB}"/>
              </a:ext>
            </a:extLst>
          </p:cNvPr>
          <p:cNvSpPr/>
          <p:nvPr/>
        </p:nvSpPr>
        <p:spPr>
          <a:xfrm>
            <a:off x="3647924" y="2757125"/>
            <a:ext cx="2565210" cy="934255"/>
          </a:xfrm>
          <a:prstGeom prst="wedgeRectCallout">
            <a:avLst>
              <a:gd name="adj1" fmla="val -67282"/>
              <a:gd name="adj2" fmla="val -85640"/>
            </a:avLst>
          </a:prstGeom>
          <a:solidFill>
            <a:schemeClr val="bg1"/>
          </a:solidFill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for non-3GPP access (Wi-Fi, </a:t>
            </a:r>
            <a:r>
              <a:rPr lang="it-IT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it-IT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grpSp>
        <p:nvGrpSpPr>
          <p:cNvPr id="79" name="Gruppo 78">
            <a:extLst>
              <a:ext uri="{FF2B5EF4-FFF2-40B4-BE49-F238E27FC236}">
                <a16:creationId xmlns:a16="http://schemas.microsoft.com/office/drawing/2014/main" id="{319D8B6B-F906-4D30-8409-C9F92F70EA17}"/>
              </a:ext>
            </a:extLst>
          </p:cNvPr>
          <p:cNvGrpSpPr/>
          <p:nvPr/>
        </p:nvGrpSpPr>
        <p:grpSpPr>
          <a:xfrm>
            <a:off x="908197" y="5026106"/>
            <a:ext cx="5187803" cy="1475527"/>
            <a:chOff x="1926629" y="4804116"/>
            <a:chExt cx="5187803" cy="1475527"/>
          </a:xfrm>
        </p:grpSpPr>
        <p:sp>
          <p:nvSpPr>
            <p:cNvPr id="80" name="Rettangolo 79">
              <a:extLst>
                <a:ext uri="{FF2B5EF4-FFF2-40B4-BE49-F238E27FC236}">
                  <a16:creationId xmlns:a16="http://schemas.microsoft.com/office/drawing/2014/main" id="{1E9C9D6D-B81D-4BE2-8072-45871F322E4A}"/>
                </a:ext>
              </a:extLst>
            </p:cNvPr>
            <p:cNvSpPr/>
            <p:nvPr/>
          </p:nvSpPr>
          <p:spPr bwMode="auto">
            <a:xfrm>
              <a:off x="1926629" y="4804116"/>
              <a:ext cx="5187803" cy="147552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635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it-IT" sz="2400" b="1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Arial Narrow" pitchFamily="34" charset="0"/>
                </a:rPr>
                <a:t>L2 </a:t>
              </a:r>
              <a:r>
                <a:rPr kumimoji="0" lang="it-IT" sz="2400" b="1" i="0" u="none" strike="noStrike" cap="none" normalizeH="0" baseline="0" dirty="0" err="1">
                  <a:ln>
                    <a:noFill/>
                  </a:ln>
                  <a:solidFill>
                    <a:srgbClr val="0070C0"/>
                  </a:solidFill>
                  <a:effectLst/>
                  <a:latin typeface="Arial Narrow" pitchFamily="34" charset="0"/>
                </a:rPr>
                <a:t>message</a:t>
              </a:r>
              <a:r>
                <a:rPr kumimoji="0" lang="it-IT" sz="2400" b="1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Arial Narrow" pitchFamily="34" charset="0"/>
                </a:rPr>
                <a:t> </a:t>
              </a:r>
              <a:r>
                <a:rPr kumimoji="0" lang="it-IT" sz="2400" b="1" i="0" u="none" strike="noStrike" cap="none" normalizeH="0" baseline="0" dirty="0" err="1">
                  <a:ln>
                    <a:noFill/>
                  </a:ln>
                  <a:solidFill>
                    <a:srgbClr val="0070C0"/>
                  </a:solidFill>
                  <a:effectLst/>
                  <a:latin typeface="Arial Narrow" pitchFamily="34" charset="0"/>
                </a:rPr>
                <a:t>integrity</a:t>
              </a:r>
              <a:r>
                <a:rPr kumimoji="0" lang="it-IT" sz="2400" b="1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Arial Narrow" pitchFamily="34" charset="0"/>
                </a:rPr>
                <a:t>?</a:t>
              </a:r>
            </a:p>
          </p:txBody>
        </p:sp>
        <p:pic>
          <p:nvPicPr>
            <p:cNvPr id="81" name="Picture 2">
              <a:extLst>
                <a:ext uri="{FF2B5EF4-FFF2-40B4-BE49-F238E27FC236}">
                  <a16:creationId xmlns:a16="http://schemas.microsoft.com/office/drawing/2014/main" id="{932290AB-9309-496E-AEC0-21A4437EBB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61963" y="5259856"/>
              <a:ext cx="5107053" cy="9986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2" name="Rettangolo 81">
            <a:extLst>
              <a:ext uri="{FF2B5EF4-FFF2-40B4-BE49-F238E27FC236}">
                <a16:creationId xmlns:a16="http://schemas.microsoft.com/office/drawing/2014/main" id="{F3A7679C-74AA-4A3F-B8AE-B0EC932BD58C}"/>
              </a:ext>
            </a:extLst>
          </p:cNvPr>
          <p:cNvSpPr/>
          <p:nvPr/>
        </p:nvSpPr>
        <p:spPr bwMode="auto">
          <a:xfrm>
            <a:off x="7608210" y="3682927"/>
            <a:ext cx="4324886" cy="81050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2400" b="1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Arial Narrow" pitchFamily="34" charset="0"/>
              </a:rPr>
              <a:t>Improved</a:t>
            </a:r>
            <a:r>
              <a:rPr kumimoji="0" lang="it-IT" sz="24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 Narrow" pitchFamily="34" charset="0"/>
              </a:rPr>
              <a:t> AUTH</a:t>
            </a:r>
            <a:r>
              <a:rPr kumimoji="0" lang="it-IT" sz="2400" b="1" i="0" u="none" strike="noStrike" cap="none" normalizeH="0" dirty="0">
                <a:ln>
                  <a:noFill/>
                </a:ln>
                <a:solidFill>
                  <a:srgbClr val="0070C0"/>
                </a:solidFill>
                <a:effectLst/>
                <a:latin typeface="Arial Narrow" pitchFamily="34" charset="0"/>
              </a:rPr>
              <a:t> and home control via </a:t>
            </a:r>
            <a:r>
              <a:rPr kumimoji="0" lang="it-IT" sz="2400" b="1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Arial Narrow" pitchFamily="34" charset="0"/>
              </a:rPr>
              <a:t>Proof</a:t>
            </a:r>
            <a:r>
              <a:rPr kumimoji="0" lang="it-IT" sz="24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 Narrow" pitchFamily="34" charset="0"/>
              </a:rPr>
              <a:t>-of-</a:t>
            </a:r>
            <a:r>
              <a:rPr kumimoji="0" lang="it-IT" sz="2400" b="1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Arial Narrow" pitchFamily="34" charset="0"/>
              </a:rPr>
              <a:t>Presence</a:t>
            </a:r>
            <a:endParaRPr kumimoji="0" lang="it-IT" sz="2400" b="1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 Narrow" pitchFamily="34" charset="0"/>
            </a:endParaRPr>
          </a:p>
        </p:txBody>
      </p:sp>
      <p:sp>
        <p:nvSpPr>
          <p:cNvPr id="83" name="Rettangolo 82">
            <a:extLst>
              <a:ext uri="{FF2B5EF4-FFF2-40B4-BE49-F238E27FC236}">
                <a16:creationId xmlns:a16="http://schemas.microsoft.com/office/drawing/2014/main" id="{FC310540-92C8-4E1C-9ED5-50D8D485FF59}"/>
              </a:ext>
            </a:extLst>
          </p:cNvPr>
          <p:cNvSpPr/>
          <p:nvPr/>
        </p:nvSpPr>
        <p:spPr bwMode="auto">
          <a:xfrm>
            <a:off x="8363878" y="1275537"/>
            <a:ext cx="3465444" cy="9205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24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 Narrow" pitchFamily="34" charset="0"/>
              </a:rPr>
              <a:t>Test Framework SCAS for Security Assurance</a:t>
            </a:r>
          </a:p>
        </p:txBody>
      </p:sp>
    </p:spTree>
    <p:extLst>
      <p:ext uri="{BB962C8B-B14F-4D97-AF65-F5344CB8AC3E}">
        <p14:creationId xmlns:p14="http://schemas.microsoft.com/office/powerpoint/2010/main" val="3843185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 animBg="1"/>
      <p:bldP spid="44" grpId="0" animBg="1"/>
      <p:bldP spid="45" grpId="0" animBg="1"/>
      <p:bldP spid="46" grpId="0" animBg="1"/>
      <p:bldP spid="47" grpId="0" animBg="1"/>
      <p:bldP spid="48" grpId="0"/>
      <p:bldP spid="53" grpId="0" animBg="1"/>
      <p:bldP spid="54" grpId="0"/>
      <p:bldP spid="55" grpId="0" animBg="1"/>
      <p:bldP spid="56" grpId="0" animBg="1"/>
      <p:bldP spid="57" grpId="0" animBg="1"/>
      <p:bldP spid="58" grpId="0" animBg="1"/>
      <p:bldP spid="59" grpId="0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82" grpId="0" animBg="1"/>
      <p:bldP spid="8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2" descr="Risultati immagini per cellula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57" name="Titolo 5">
            <a:extLst>
              <a:ext uri="{FF2B5EF4-FFF2-40B4-BE49-F238E27FC236}">
                <a16:creationId xmlns:a16="http://schemas.microsoft.com/office/drawing/2014/main" id="{CF1783CB-81D6-4284-8014-44282A257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" y="71869"/>
            <a:ext cx="11569940" cy="808673"/>
          </a:xfrm>
        </p:spPr>
        <p:txBody>
          <a:bodyPr>
            <a:normAutofit/>
          </a:bodyPr>
          <a:lstStyle/>
          <a:p>
            <a:r>
              <a:rPr lang="it-IT" sz="4000" dirty="0" err="1">
                <a:solidFill>
                  <a:schemeClr val="tx1"/>
                </a:solidFill>
              </a:rPr>
              <a:t>But</a:t>
            </a:r>
            <a:r>
              <a:rPr lang="it-IT" sz="4000" dirty="0">
                <a:solidFill>
                  <a:schemeClr val="tx1"/>
                </a:solidFill>
              </a:rPr>
              <a:t> systems are way more </a:t>
            </a:r>
            <a:r>
              <a:rPr lang="it-IT" sz="4000" dirty="0" err="1">
                <a:solidFill>
                  <a:schemeClr val="tx1"/>
                </a:solidFill>
              </a:rPr>
              <a:t>complex</a:t>
            </a:r>
            <a:endParaRPr lang="it-IT" sz="4000" dirty="0">
              <a:solidFill>
                <a:schemeClr val="tx1"/>
              </a:solidFill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FC40427-48DD-4952-830D-D4B546C808A4}"/>
              </a:ext>
            </a:extLst>
          </p:cNvPr>
          <p:cNvSpPr txBox="1"/>
          <p:nvPr/>
        </p:nvSpPr>
        <p:spPr>
          <a:xfrm>
            <a:off x="149003" y="1701725"/>
            <a:ext cx="24793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/>
              <a:t>5G/6G </a:t>
            </a:r>
          </a:p>
          <a:p>
            <a:pPr algn="ctr"/>
            <a:r>
              <a:rPr lang="it-IT" sz="2400" b="1" dirty="0"/>
              <a:t>systems’ security:</a:t>
            </a:r>
          </a:p>
          <a:p>
            <a:pPr algn="ctr"/>
            <a:r>
              <a:rPr lang="it-IT" sz="2400" b="1" dirty="0"/>
              <a:t>A small part of a </a:t>
            </a:r>
            <a:r>
              <a:rPr lang="it-IT" sz="2400" b="1" dirty="0" err="1"/>
              <a:t>bigger</a:t>
            </a:r>
            <a:r>
              <a:rPr lang="it-IT" sz="2400" b="1" dirty="0"/>
              <a:t> picture!!</a:t>
            </a:r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A64FE139-31C2-44CA-8C49-2E8A84CB019D}"/>
              </a:ext>
            </a:extLst>
          </p:cNvPr>
          <p:cNvGrpSpPr/>
          <p:nvPr/>
        </p:nvGrpSpPr>
        <p:grpSpPr>
          <a:xfrm>
            <a:off x="2637781" y="1089756"/>
            <a:ext cx="9518847" cy="3057650"/>
            <a:chOff x="-45405" y="3435409"/>
            <a:chExt cx="7111264" cy="3057650"/>
          </a:xfrm>
        </p:grpSpPr>
        <p:sp>
          <p:nvSpPr>
            <p:cNvPr id="10" name="Ovale 9">
              <a:extLst>
                <a:ext uri="{FF2B5EF4-FFF2-40B4-BE49-F238E27FC236}">
                  <a16:creationId xmlns:a16="http://schemas.microsoft.com/office/drawing/2014/main" id="{CE6734A1-2515-496E-8EA1-A487B58B5B9F}"/>
                </a:ext>
              </a:extLst>
            </p:cNvPr>
            <p:cNvSpPr/>
            <p:nvPr/>
          </p:nvSpPr>
          <p:spPr>
            <a:xfrm>
              <a:off x="-45405" y="3435409"/>
              <a:ext cx="7111264" cy="3057650"/>
            </a:xfrm>
            <a:prstGeom prst="ellipse">
              <a:avLst/>
            </a:prstGeom>
            <a:gradFill>
              <a:gsLst>
                <a:gs pos="43000">
                  <a:schemeClr val="accent2">
                    <a:lumMod val="60000"/>
                    <a:lumOff val="40000"/>
                  </a:schemeClr>
                </a:gs>
                <a:gs pos="0">
                  <a:schemeClr val="accent4">
                    <a:lumMod val="40000"/>
                    <a:lumOff val="60000"/>
                  </a:schemeClr>
                </a:gs>
                <a:gs pos="18000">
                  <a:srgbClr val="FF0000"/>
                </a:gs>
                <a:gs pos="100000">
                  <a:srgbClr val="C4D6EB"/>
                </a:gs>
                <a:gs pos="100000">
                  <a:srgbClr val="FFEBFA"/>
                </a:gs>
              </a:gsLst>
              <a:path path="circle">
                <a:fillToRect l="100000" t="100000"/>
              </a:path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600" dirty="0"/>
            </a:p>
          </p:txBody>
        </p:sp>
        <p:sp>
          <p:nvSpPr>
            <p:cNvPr id="13" name="CasellaDiTesto 12">
              <a:extLst>
                <a:ext uri="{FF2B5EF4-FFF2-40B4-BE49-F238E27FC236}">
                  <a16:creationId xmlns:a16="http://schemas.microsoft.com/office/drawing/2014/main" id="{0A8CD89D-37D6-48DC-BA8B-906C73773D18}"/>
                </a:ext>
              </a:extLst>
            </p:cNvPr>
            <p:cNvSpPr txBox="1"/>
            <p:nvPr/>
          </p:nvSpPr>
          <p:spPr>
            <a:xfrm>
              <a:off x="2815146" y="3602645"/>
              <a:ext cx="2264081" cy="3738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2400" b="1" dirty="0"/>
                <a:t>Mobile/</a:t>
              </a:r>
              <a:r>
                <a:rPr lang="it-IT" sz="2400" b="1" dirty="0" err="1"/>
                <a:t>IoT</a:t>
              </a:r>
              <a:r>
                <a:rPr lang="it-IT" sz="2400" b="1" dirty="0"/>
                <a:t> security</a:t>
              </a:r>
            </a:p>
          </p:txBody>
        </p:sp>
        <p:sp>
          <p:nvSpPr>
            <p:cNvPr id="14" name="CasellaDiTesto 13">
              <a:extLst>
                <a:ext uri="{FF2B5EF4-FFF2-40B4-BE49-F238E27FC236}">
                  <a16:creationId xmlns:a16="http://schemas.microsoft.com/office/drawing/2014/main" id="{1A938B7B-EB14-4624-B7C7-DE48890043B8}"/>
                </a:ext>
              </a:extLst>
            </p:cNvPr>
            <p:cNvSpPr txBox="1"/>
            <p:nvPr/>
          </p:nvSpPr>
          <p:spPr>
            <a:xfrm>
              <a:off x="877813" y="3860094"/>
              <a:ext cx="1478237" cy="3738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2400" b="1" dirty="0"/>
                <a:t>Applications</a:t>
              </a:r>
            </a:p>
          </p:txBody>
        </p:sp>
        <p:sp>
          <p:nvSpPr>
            <p:cNvPr id="15" name="CasellaDiTesto 14">
              <a:extLst>
                <a:ext uri="{FF2B5EF4-FFF2-40B4-BE49-F238E27FC236}">
                  <a16:creationId xmlns:a16="http://schemas.microsoft.com/office/drawing/2014/main" id="{447D82F9-1400-4706-8E30-BEBA3A0616C8}"/>
                </a:ext>
              </a:extLst>
            </p:cNvPr>
            <p:cNvSpPr txBox="1"/>
            <p:nvPr/>
          </p:nvSpPr>
          <p:spPr>
            <a:xfrm>
              <a:off x="3430904" y="4416270"/>
              <a:ext cx="1207277" cy="3738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2400" b="1" dirty="0"/>
                <a:t>Hardware</a:t>
              </a:r>
            </a:p>
          </p:txBody>
        </p:sp>
        <p:sp>
          <p:nvSpPr>
            <p:cNvPr id="17" name="CasellaDiTesto 16">
              <a:extLst>
                <a:ext uri="{FF2B5EF4-FFF2-40B4-BE49-F238E27FC236}">
                  <a16:creationId xmlns:a16="http://schemas.microsoft.com/office/drawing/2014/main" id="{47F5C767-0A51-4337-92F8-D7C897E44BF0}"/>
                </a:ext>
              </a:extLst>
            </p:cNvPr>
            <p:cNvSpPr txBox="1"/>
            <p:nvPr/>
          </p:nvSpPr>
          <p:spPr>
            <a:xfrm>
              <a:off x="877813" y="5274072"/>
              <a:ext cx="2066746" cy="3738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2400" b="1" dirty="0" err="1"/>
                <a:t>Risk</a:t>
              </a:r>
              <a:r>
                <a:rPr lang="it-IT" sz="2400" b="1" dirty="0"/>
                <a:t> management</a:t>
              </a:r>
            </a:p>
          </p:txBody>
        </p:sp>
        <p:sp>
          <p:nvSpPr>
            <p:cNvPr id="18" name="CasellaDiTesto 17">
              <a:extLst>
                <a:ext uri="{FF2B5EF4-FFF2-40B4-BE49-F238E27FC236}">
                  <a16:creationId xmlns:a16="http://schemas.microsoft.com/office/drawing/2014/main" id="{7C2FEB4D-9823-46F7-A9A0-E5ECABCB785A}"/>
                </a:ext>
              </a:extLst>
            </p:cNvPr>
            <p:cNvSpPr txBox="1"/>
            <p:nvPr/>
          </p:nvSpPr>
          <p:spPr>
            <a:xfrm>
              <a:off x="2949612" y="4850360"/>
              <a:ext cx="1883224" cy="3738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2400" b="1" dirty="0" err="1"/>
                <a:t>Implementation</a:t>
              </a:r>
              <a:endParaRPr lang="it-IT" sz="2400" b="1" dirty="0"/>
            </a:p>
          </p:txBody>
        </p:sp>
        <p:sp>
          <p:nvSpPr>
            <p:cNvPr id="19" name="CasellaDiTesto 18">
              <a:extLst>
                <a:ext uri="{FF2B5EF4-FFF2-40B4-BE49-F238E27FC236}">
                  <a16:creationId xmlns:a16="http://schemas.microsoft.com/office/drawing/2014/main" id="{E9F9DEB7-766B-4A25-A55A-AC2CB80F52B7}"/>
                </a:ext>
              </a:extLst>
            </p:cNvPr>
            <p:cNvSpPr txBox="1"/>
            <p:nvPr/>
          </p:nvSpPr>
          <p:spPr>
            <a:xfrm>
              <a:off x="3453931" y="5503910"/>
              <a:ext cx="1613823" cy="3738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2400" b="1" dirty="0"/>
                <a:t>Side </a:t>
              </a:r>
              <a:r>
                <a:rPr lang="it-IT" sz="2400" b="1" dirty="0" err="1"/>
                <a:t>channels</a:t>
              </a:r>
              <a:endParaRPr lang="it-IT" sz="2400" b="1" dirty="0"/>
            </a:p>
          </p:txBody>
        </p:sp>
        <p:sp>
          <p:nvSpPr>
            <p:cNvPr id="20" name="CasellaDiTesto 19">
              <a:extLst>
                <a:ext uri="{FF2B5EF4-FFF2-40B4-BE49-F238E27FC236}">
                  <a16:creationId xmlns:a16="http://schemas.microsoft.com/office/drawing/2014/main" id="{BAD579CB-7B8A-489C-ADA8-39CD9177C747}"/>
                </a:ext>
              </a:extLst>
            </p:cNvPr>
            <p:cNvSpPr txBox="1"/>
            <p:nvPr/>
          </p:nvSpPr>
          <p:spPr>
            <a:xfrm>
              <a:off x="1261272" y="4524690"/>
              <a:ext cx="1536384" cy="3738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2400" b="1" dirty="0" err="1"/>
                <a:t>Interworking</a:t>
              </a:r>
              <a:endParaRPr lang="it-IT" sz="2400" b="1" dirty="0"/>
            </a:p>
          </p:txBody>
        </p:sp>
        <p:sp>
          <p:nvSpPr>
            <p:cNvPr id="21" name="CasellaDiTesto 20">
              <a:extLst>
                <a:ext uri="{FF2B5EF4-FFF2-40B4-BE49-F238E27FC236}">
                  <a16:creationId xmlns:a16="http://schemas.microsoft.com/office/drawing/2014/main" id="{BE7CC9E5-EB26-4C77-B14A-C2D37563831A}"/>
                </a:ext>
              </a:extLst>
            </p:cNvPr>
            <p:cNvSpPr txBox="1"/>
            <p:nvPr/>
          </p:nvSpPr>
          <p:spPr>
            <a:xfrm>
              <a:off x="1445749" y="5892776"/>
              <a:ext cx="2795090" cy="3738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2400" b="1" dirty="0" err="1"/>
                <a:t>Incremental</a:t>
              </a:r>
              <a:r>
                <a:rPr lang="it-IT" sz="2400" b="1" dirty="0"/>
                <a:t> </a:t>
              </a:r>
              <a:r>
                <a:rPr lang="it-IT" sz="2400" b="1" dirty="0" err="1"/>
                <a:t>deployment</a:t>
              </a:r>
              <a:endParaRPr lang="it-IT" sz="2400" b="1" dirty="0"/>
            </a:p>
          </p:txBody>
        </p:sp>
        <p:sp>
          <p:nvSpPr>
            <p:cNvPr id="22" name="CasellaDiTesto 21">
              <a:extLst>
                <a:ext uri="{FF2B5EF4-FFF2-40B4-BE49-F238E27FC236}">
                  <a16:creationId xmlns:a16="http://schemas.microsoft.com/office/drawing/2014/main" id="{EA228A39-2E61-4F90-9184-3542DA07637C}"/>
                </a:ext>
              </a:extLst>
            </p:cNvPr>
            <p:cNvSpPr txBox="1"/>
            <p:nvPr/>
          </p:nvSpPr>
          <p:spPr>
            <a:xfrm>
              <a:off x="57655" y="4822760"/>
              <a:ext cx="1106998" cy="3738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2400" b="1" dirty="0" err="1"/>
                <a:t>Malware</a:t>
              </a:r>
              <a:endParaRPr lang="it-IT" sz="2400" b="1" dirty="0"/>
            </a:p>
          </p:txBody>
        </p:sp>
        <p:sp>
          <p:nvSpPr>
            <p:cNvPr id="23" name="CasellaDiTesto 22">
              <a:extLst>
                <a:ext uri="{FF2B5EF4-FFF2-40B4-BE49-F238E27FC236}">
                  <a16:creationId xmlns:a16="http://schemas.microsoft.com/office/drawing/2014/main" id="{A14BCCAF-DC61-42BC-92DE-1F4E1E9BAADF}"/>
                </a:ext>
              </a:extLst>
            </p:cNvPr>
            <p:cNvSpPr txBox="1"/>
            <p:nvPr/>
          </p:nvSpPr>
          <p:spPr>
            <a:xfrm>
              <a:off x="1828783" y="5566115"/>
              <a:ext cx="822497" cy="3738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2400" b="1" dirty="0"/>
                <a:t>… … …</a:t>
              </a:r>
            </a:p>
          </p:txBody>
        </p:sp>
        <p:sp>
          <p:nvSpPr>
            <p:cNvPr id="24" name="CasellaDiTesto 23">
              <a:extLst>
                <a:ext uri="{FF2B5EF4-FFF2-40B4-BE49-F238E27FC236}">
                  <a16:creationId xmlns:a16="http://schemas.microsoft.com/office/drawing/2014/main" id="{67F703DD-CBDC-4153-A8AD-D825D292D672}"/>
                </a:ext>
              </a:extLst>
            </p:cNvPr>
            <p:cNvSpPr txBox="1"/>
            <p:nvPr/>
          </p:nvSpPr>
          <p:spPr>
            <a:xfrm>
              <a:off x="1324960" y="4283806"/>
              <a:ext cx="822497" cy="3738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2400" b="1" dirty="0"/>
                <a:t>… … …</a:t>
              </a:r>
            </a:p>
          </p:txBody>
        </p:sp>
        <p:sp>
          <p:nvSpPr>
            <p:cNvPr id="25" name="CasellaDiTesto 24">
              <a:extLst>
                <a:ext uri="{FF2B5EF4-FFF2-40B4-BE49-F238E27FC236}">
                  <a16:creationId xmlns:a16="http://schemas.microsoft.com/office/drawing/2014/main" id="{1C023830-BA68-4565-AF5B-4BC78C1824C4}"/>
                </a:ext>
              </a:extLst>
            </p:cNvPr>
            <p:cNvSpPr txBox="1"/>
            <p:nvPr/>
          </p:nvSpPr>
          <p:spPr>
            <a:xfrm>
              <a:off x="276647" y="4407959"/>
              <a:ext cx="822497" cy="3738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2400" b="1" dirty="0"/>
                <a:t>… … …</a:t>
              </a:r>
            </a:p>
          </p:txBody>
        </p:sp>
        <p:sp>
          <p:nvSpPr>
            <p:cNvPr id="26" name="CasellaDiTesto 25">
              <a:extLst>
                <a:ext uri="{FF2B5EF4-FFF2-40B4-BE49-F238E27FC236}">
                  <a16:creationId xmlns:a16="http://schemas.microsoft.com/office/drawing/2014/main" id="{1869E418-CFD3-4F4F-A120-1F2C22787F9E}"/>
                </a:ext>
              </a:extLst>
            </p:cNvPr>
            <p:cNvSpPr txBox="1"/>
            <p:nvPr/>
          </p:nvSpPr>
          <p:spPr>
            <a:xfrm>
              <a:off x="184647" y="5023603"/>
              <a:ext cx="822497" cy="3738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2400" b="1" dirty="0"/>
                <a:t>… … …</a:t>
              </a:r>
            </a:p>
          </p:txBody>
        </p:sp>
        <p:sp>
          <p:nvSpPr>
            <p:cNvPr id="27" name="CasellaDiTesto 26">
              <a:extLst>
                <a:ext uri="{FF2B5EF4-FFF2-40B4-BE49-F238E27FC236}">
                  <a16:creationId xmlns:a16="http://schemas.microsoft.com/office/drawing/2014/main" id="{29D88C89-AB17-47B0-9612-9C4EACF24806}"/>
                </a:ext>
              </a:extLst>
            </p:cNvPr>
            <p:cNvSpPr txBox="1"/>
            <p:nvPr/>
          </p:nvSpPr>
          <p:spPr>
            <a:xfrm>
              <a:off x="2207213" y="4948401"/>
              <a:ext cx="822497" cy="3738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2400" b="1" dirty="0"/>
                <a:t>… … …</a:t>
              </a:r>
            </a:p>
          </p:txBody>
        </p:sp>
        <p:sp>
          <p:nvSpPr>
            <p:cNvPr id="28" name="CasellaDiTesto 27">
              <a:extLst>
                <a:ext uri="{FF2B5EF4-FFF2-40B4-BE49-F238E27FC236}">
                  <a16:creationId xmlns:a16="http://schemas.microsoft.com/office/drawing/2014/main" id="{E2CFFE5A-4CDC-4EA4-9B48-1D2B745B98FB}"/>
                </a:ext>
              </a:extLst>
            </p:cNvPr>
            <p:cNvSpPr txBox="1"/>
            <p:nvPr/>
          </p:nvSpPr>
          <p:spPr>
            <a:xfrm>
              <a:off x="4058214" y="5160257"/>
              <a:ext cx="822497" cy="3738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2400" b="1" dirty="0"/>
                <a:t>… … …</a:t>
              </a:r>
            </a:p>
          </p:txBody>
        </p:sp>
        <p:sp>
          <p:nvSpPr>
            <p:cNvPr id="29" name="CasellaDiTesto 28">
              <a:extLst>
                <a:ext uri="{FF2B5EF4-FFF2-40B4-BE49-F238E27FC236}">
                  <a16:creationId xmlns:a16="http://schemas.microsoft.com/office/drawing/2014/main" id="{B68A9943-3D1F-4EB7-A6AC-7180CFB54E3F}"/>
                </a:ext>
              </a:extLst>
            </p:cNvPr>
            <p:cNvSpPr txBox="1"/>
            <p:nvPr/>
          </p:nvSpPr>
          <p:spPr>
            <a:xfrm>
              <a:off x="4640068" y="5777970"/>
              <a:ext cx="822497" cy="3738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2400" b="1" dirty="0"/>
                <a:t>… … …</a:t>
              </a:r>
            </a:p>
          </p:txBody>
        </p:sp>
        <p:sp>
          <p:nvSpPr>
            <p:cNvPr id="30" name="CasellaDiTesto 29">
              <a:extLst>
                <a:ext uri="{FF2B5EF4-FFF2-40B4-BE49-F238E27FC236}">
                  <a16:creationId xmlns:a16="http://schemas.microsoft.com/office/drawing/2014/main" id="{06DA4B1A-46A3-415B-A0EC-80D5802AD9EF}"/>
                </a:ext>
              </a:extLst>
            </p:cNvPr>
            <p:cNvSpPr txBox="1"/>
            <p:nvPr/>
          </p:nvSpPr>
          <p:spPr>
            <a:xfrm>
              <a:off x="2715025" y="4069833"/>
              <a:ext cx="3402034" cy="3738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2400" b="1" dirty="0"/>
                <a:t>Device manufacturing security</a:t>
              </a:r>
            </a:p>
          </p:txBody>
        </p:sp>
        <p:sp>
          <p:nvSpPr>
            <p:cNvPr id="31" name="CasellaDiTesto 30">
              <a:extLst>
                <a:ext uri="{FF2B5EF4-FFF2-40B4-BE49-F238E27FC236}">
                  <a16:creationId xmlns:a16="http://schemas.microsoft.com/office/drawing/2014/main" id="{4CD4753A-4A1E-4946-99C2-ED08E54406EB}"/>
                </a:ext>
              </a:extLst>
            </p:cNvPr>
            <p:cNvSpPr txBox="1"/>
            <p:nvPr/>
          </p:nvSpPr>
          <p:spPr>
            <a:xfrm>
              <a:off x="4974533" y="4495662"/>
              <a:ext cx="1170787" cy="3738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2400" b="1" dirty="0"/>
                <a:t>Firmware</a:t>
              </a:r>
            </a:p>
          </p:txBody>
        </p:sp>
      </p:grp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9558D428-6DC0-41E9-B590-0DE2F7DB7F38}"/>
              </a:ext>
            </a:extLst>
          </p:cNvPr>
          <p:cNvSpPr txBox="1"/>
          <p:nvPr/>
        </p:nvSpPr>
        <p:spPr>
          <a:xfrm>
            <a:off x="226120" y="3917331"/>
            <a:ext cx="3943708" cy="1261884"/>
          </a:xfrm>
          <a:prstGeom prst="rect">
            <a:avLst/>
          </a:prstGeom>
          <a:noFill/>
          <a:ln w="5715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it-IT" sz="2400" b="1" dirty="0">
                <a:solidFill>
                  <a:srgbClr val="FF0000"/>
                </a:solidFill>
              </a:rPr>
              <a:t>No 5G security </a:t>
            </a:r>
            <a:r>
              <a:rPr lang="it-IT" sz="2400" b="1" dirty="0" err="1">
                <a:solidFill>
                  <a:srgbClr val="FF0000"/>
                </a:solidFill>
              </a:rPr>
              <a:t>if</a:t>
            </a:r>
            <a:r>
              <a:rPr lang="it-IT" sz="2400" b="1" dirty="0">
                <a:solidFill>
                  <a:srgbClr val="FF0000"/>
                </a:solidFill>
              </a:rPr>
              <a:t> </a:t>
            </a:r>
          </a:p>
          <a:p>
            <a:pPr algn="ctr"/>
            <a:r>
              <a:rPr lang="it-IT" sz="2800" b="1" dirty="0">
                <a:solidFill>
                  <a:srgbClr val="FF0000"/>
                </a:solidFill>
              </a:rPr>
              <a:t>SW/HW </a:t>
            </a:r>
            <a:r>
              <a:rPr lang="it-IT" sz="2800" b="1" dirty="0" err="1">
                <a:solidFill>
                  <a:srgbClr val="FF0000"/>
                </a:solidFill>
              </a:rPr>
              <a:t>implementation</a:t>
            </a:r>
            <a:r>
              <a:rPr lang="it-IT" sz="2800" b="1" dirty="0">
                <a:solidFill>
                  <a:srgbClr val="FF0000"/>
                </a:solidFill>
              </a:rPr>
              <a:t> </a:t>
            </a:r>
          </a:p>
          <a:p>
            <a:pPr algn="ctr"/>
            <a:r>
              <a:rPr lang="it-IT" sz="2400" b="1" dirty="0" err="1">
                <a:solidFill>
                  <a:srgbClr val="FF0000"/>
                </a:solidFill>
              </a:rPr>
              <a:t>is</a:t>
            </a:r>
            <a:r>
              <a:rPr lang="it-IT" sz="2400" b="1" dirty="0">
                <a:solidFill>
                  <a:srgbClr val="FF0000"/>
                </a:solidFill>
              </a:rPr>
              <a:t> </a:t>
            </a:r>
            <a:r>
              <a:rPr lang="it-IT" sz="2400" b="1" dirty="0" err="1">
                <a:solidFill>
                  <a:srgbClr val="FF0000"/>
                </a:solidFill>
              </a:rPr>
              <a:t>insecure</a:t>
            </a:r>
            <a:r>
              <a:rPr lang="it-IT" sz="2400" b="1" dirty="0">
                <a:solidFill>
                  <a:srgbClr val="FF0000"/>
                </a:solidFill>
              </a:rPr>
              <a:t>!</a:t>
            </a:r>
            <a:endParaRPr lang="it-IT" sz="2000" b="1" dirty="0">
              <a:solidFill>
                <a:srgbClr val="FF0000"/>
              </a:solidFill>
            </a:endParaRP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1AE4F017-3129-4663-892A-FBCCC45A4AB7}"/>
              </a:ext>
            </a:extLst>
          </p:cNvPr>
          <p:cNvSpPr txBox="1"/>
          <p:nvPr/>
        </p:nvSpPr>
        <p:spPr>
          <a:xfrm>
            <a:off x="5803576" y="4233413"/>
            <a:ext cx="6044376" cy="954107"/>
          </a:xfrm>
          <a:prstGeom prst="rect">
            <a:avLst/>
          </a:prstGeom>
          <a:noFill/>
          <a:ln w="5715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rgbClr val="FF0000"/>
                </a:solidFill>
              </a:defRPr>
            </a:lvl1pPr>
          </a:lstStyle>
          <a:p>
            <a:r>
              <a:rPr lang="it-IT" sz="2400" dirty="0"/>
              <a:t>Critical </a:t>
            </a:r>
            <a:r>
              <a:rPr lang="it-IT" sz="2400" dirty="0" err="1"/>
              <a:t>infrastructure</a:t>
            </a:r>
            <a:r>
              <a:rPr lang="it-IT" sz="2400" dirty="0"/>
              <a:t> = high </a:t>
            </a:r>
            <a:r>
              <a:rPr lang="it-IT" sz="2400" dirty="0" err="1"/>
              <a:t>tier</a:t>
            </a:r>
            <a:r>
              <a:rPr lang="it-IT" sz="2400" dirty="0"/>
              <a:t> </a:t>
            </a:r>
            <a:r>
              <a:rPr lang="it-IT" sz="2400" dirty="0" err="1"/>
              <a:t>threats</a:t>
            </a:r>
            <a:endParaRPr lang="it-IT" sz="2400" dirty="0"/>
          </a:p>
          <a:p>
            <a:r>
              <a:rPr lang="it-IT" sz="2400" dirty="0"/>
              <a:t>«</a:t>
            </a:r>
            <a:r>
              <a:rPr lang="it-IT" sz="2400" dirty="0" err="1"/>
              <a:t>They</a:t>
            </a:r>
            <a:r>
              <a:rPr lang="it-IT" sz="2400" dirty="0"/>
              <a:t>» </a:t>
            </a:r>
            <a:r>
              <a:rPr lang="it-IT" sz="2400" dirty="0" err="1"/>
              <a:t>might</a:t>
            </a:r>
            <a:r>
              <a:rPr lang="it-IT" sz="2400" dirty="0"/>
              <a:t> </a:t>
            </a:r>
            <a:r>
              <a:rPr lang="it-IT" i="1" u="sng" dirty="0"/>
              <a:t>design</a:t>
            </a:r>
            <a:r>
              <a:rPr lang="it-IT" dirty="0"/>
              <a:t> </a:t>
            </a:r>
            <a:r>
              <a:rPr lang="it-IT" sz="2400" dirty="0" err="1"/>
              <a:t>vulnerabilities</a:t>
            </a:r>
            <a:r>
              <a:rPr lang="it-IT" sz="2400" dirty="0"/>
              <a:t>!</a:t>
            </a:r>
          </a:p>
        </p:txBody>
      </p:sp>
      <p:sp>
        <p:nvSpPr>
          <p:cNvPr id="12" name="Ovale 11">
            <a:extLst>
              <a:ext uri="{FF2B5EF4-FFF2-40B4-BE49-F238E27FC236}">
                <a16:creationId xmlns:a16="http://schemas.microsoft.com/office/drawing/2014/main" id="{2F2D7CF9-C8F5-461B-AE32-E54714BF8419}"/>
              </a:ext>
            </a:extLst>
          </p:cNvPr>
          <p:cNvSpPr/>
          <p:nvPr/>
        </p:nvSpPr>
        <p:spPr>
          <a:xfrm>
            <a:off x="9244483" y="2591167"/>
            <a:ext cx="2520806" cy="902703"/>
          </a:xfrm>
          <a:prstGeom prst="ellipse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84000">
                <a:srgbClr val="C4D6EB"/>
              </a:gs>
              <a:gs pos="100000">
                <a:srgbClr val="FFEBFA"/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b="1" dirty="0">
                <a:solidFill>
                  <a:schemeClr val="tx1"/>
                </a:solidFill>
              </a:rPr>
              <a:t>5G/6G security</a:t>
            </a: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75CF7ABA-2C0A-49A6-A629-383B83D99B9A}"/>
              </a:ext>
            </a:extLst>
          </p:cNvPr>
          <p:cNvSpPr txBox="1"/>
          <p:nvPr/>
        </p:nvSpPr>
        <p:spPr>
          <a:xfrm>
            <a:off x="77270" y="5373469"/>
            <a:ext cx="6566172" cy="1077218"/>
          </a:xfrm>
          <a:prstGeom prst="rect">
            <a:avLst/>
          </a:prstGeom>
          <a:noFill/>
          <a:ln w="5715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rgbClr val="FF0000"/>
                </a:solidFill>
              </a:defRPr>
            </a:lvl1pPr>
          </a:lstStyle>
          <a:p>
            <a:r>
              <a:rPr lang="it-IT" sz="2400" dirty="0"/>
              <a:t>SW networks, </a:t>
            </a:r>
            <a:r>
              <a:rPr lang="it-IT" sz="2400" dirty="0" err="1"/>
              <a:t>third</a:t>
            </a:r>
            <a:r>
              <a:rPr lang="it-IT" sz="2400" dirty="0"/>
              <a:t> party suppliers:</a:t>
            </a:r>
            <a:r>
              <a:rPr lang="it-IT" dirty="0"/>
              <a:t> </a:t>
            </a:r>
            <a:br>
              <a:rPr lang="it-IT" dirty="0"/>
            </a:br>
            <a:r>
              <a:rPr lang="it-IT" dirty="0" err="1"/>
              <a:t>Complexity</a:t>
            </a:r>
            <a:r>
              <a:rPr lang="it-IT" dirty="0"/>
              <a:t>, </a:t>
            </a:r>
            <a:r>
              <a:rPr lang="it-IT" dirty="0" err="1"/>
              <a:t>increased</a:t>
            </a:r>
            <a:r>
              <a:rPr lang="it-IT" dirty="0"/>
              <a:t> </a:t>
            </a:r>
            <a:r>
              <a:rPr lang="it-IT" dirty="0" err="1"/>
              <a:t>threat</a:t>
            </a:r>
            <a:r>
              <a:rPr lang="it-IT" dirty="0"/>
              <a:t> </a:t>
            </a:r>
            <a:r>
              <a:rPr lang="it-IT" dirty="0" err="1"/>
              <a:t>surface</a:t>
            </a:r>
            <a:r>
              <a:rPr lang="it-IT" dirty="0"/>
              <a:t>!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949B8EB9-87D6-416F-BAE1-30BFA21DB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2887" y="118479"/>
            <a:ext cx="6257695" cy="4028927"/>
          </a:xfrm>
          <a:prstGeom prst="rect">
            <a:avLst/>
          </a:prstGeom>
        </p:spPr>
      </p:pic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67C7389D-74C6-41F5-83C5-4D87D0694A7D}"/>
              </a:ext>
            </a:extLst>
          </p:cNvPr>
          <p:cNvSpPr txBox="1"/>
          <p:nvPr/>
        </p:nvSpPr>
        <p:spPr>
          <a:xfrm>
            <a:off x="6732726" y="5327303"/>
            <a:ext cx="5454634" cy="1231106"/>
          </a:xfrm>
          <a:prstGeom prst="rect">
            <a:avLst/>
          </a:prstGeom>
          <a:noFill/>
          <a:ln w="5715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it-IT" sz="2800" b="1" dirty="0">
                <a:solidFill>
                  <a:srgbClr val="FF0000"/>
                </a:solidFill>
              </a:rPr>
              <a:t>Too </a:t>
            </a:r>
            <a:r>
              <a:rPr lang="it-IT" sz="2800" b="1" dirty="0" err="1">
                <a:solidFill>
                  <a:srgbClr val="FF0000"/>
                </a:solidFill>
              </a:rPr>
              <a:t>many</a:t>
            </a:r>
            <a:r>
              <a:rPr lang="it-IT" sz="2800" b="1" dirty="0">
                <a:solidFill>
                  <a:srgbClr val="FF0000"/>
                </a:solidFill>
              </a:rPr>
              <a:t> «optional/</a:t>
            </a:r>
            <a:r>
              <a:rPr lang="it-IT" sz="2800" b="1" dirty="0" err="1">
                <a:solidFill>
                  <a:srgbClr val="FF0000"/>
                </a:solidFill>
              </a:rPr>
              <a:t>should</a:t>
            </a:r>
            <a:r>
              <a:rPr lang="it-IT" sz="2800" b="1" dirty="0">
                <a:solidFill>
                  <a:srgbClr val="FF0000"/>
                </a:solidFill>
              </a:rPr>
              <a:t>»</a:t>
            </a:r>
          </a:p>
          <a:p>
            <a:pPr algn="ctr"/>
            <a:r>
              <a:rPr lang="it-IT" sz="2800" b="1" dirty="0">
                <a:solidFill>
                  <a:srgbClr val="FF0000"/>
                </a:solidFill>
              </a:rPr>
              <a:t>In the standard! </a:t>
            </a:r>
          </a:p>
          <a:p>
            <a:pPr algn="ctr"/>
            <a:r>
              <a:rPr lang="it-IT" b="1" dirty="0" err="1">
                <a:solidFill>
                  <a:srgbClr val="FF0000"/>
                </a:solidFill>
              </a:rPr>
              <a:t>Very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risky</a:t>
            </a:r>
            <a:r>
              <a:rPr lang="it-IT" b="1" dirty="0">
                <a:solidFill>
                  <a:srgbClr val="FF0000"/>
                </a:solidFill>
              </a:rPr>
              <a:t>! (</a:t>
            </a:r>
            <a:r>
              <a:rPr lang="it-IT" b="1" dirty="0" err="1">
                <a:solidFill>
                  <a:srgbClr val="FF0000"/>
                </a:solidFill>
              </a:rPr>
              <a:t>you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might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believe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you</a:t>
            </a:r>
            <a:r>
              <a:rPr lang="it-IT" b="1" dirty="0">
                <a:solidFill>
                  <a:srgbClr val="FF0000"/>
                </a:solidFill>
              </a:rPr>
              <a:t> are </a:t>
            </a:r>
            <a:r>
              <a:rPr lang="it-IT" b="1" dirty="0" err="1">
                <a:solidFill>
                  <a:srgbClr val="FF0000"/>
                </a:solidFill>
              </a:rPr>
              <a:t>secured</a:t>
            </a:r>
            <a:r>
              <a:rPr lang="it-IT" b="1" dirty="0">
                <a:solidFill>
                  <a:srgbClr val="FF0000"/>
                </a:solidFill>
              </a:rPr>
              <a:t>, </a:t>
            </a:r>
            <a:r>
              <a:rPr lang="it-IT" b="1" dirty="0" err="1">
                <a:solidFill>
                  <a:srgbClr val="FF0000"/>
                </a:solidFill>
              </a:rPr>
              <a:t>while</a:t>
            </a:r>
            <a:r>
              <a:rPr lang="it-IT" b="1" dirty="0">
                <a:solidFill>
                  <a:srgbClr val="FF0000"/>
                </a:solidFill>
              </a:rPr>
              <a:t>…)</a:t>
            </a:r>
            <a:endParaRPr lang="it-IT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3565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2" grpId="0" animBg="1"/>
      <p:bldP spid="38" grpId="0" animBg="1"/>
      <p:bldP spid="35" grpId="0" animBg="1"/>
      <p:bldP spid="3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586" name="Rectangle 2">
            <a:extLst>
              <a:ext uri="{FF2B5EF4-FFF2-40B4-BE49-F238E27FC236}">
                <a16:creationId xmlns:a16="http://schemas.microsoft.com/office/drawing/2014/main" id="{071757FB-8B4B-4032-8BBE-6C7951EFA28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sz="3200" dirty="0"/>
              <a:t>Challenge-</a:t>
            </a:r>
            <a:r>
              <a:rPr lang="it-IT" sz="3200" dirty="0" err="1"/>
              <a:t>Response</a:t>
            </a:r>
            <a:r>
              <a:rPr lang="it-IT" sz="3200" dirty="0"/>
              <a:t> authentication </a:t>
            </a:r>
            <a:br>
              <a:rPr lang="it-IT" sz="3200" dirty="0"/>
            </a:br>
            <a:r>
              <a:rPr lang="it-IT" sz="3200" dirty="0"/>
              <a:t>in Wireless Cellular systems</a:t>
            </a:r>
          </a:p>
        </p:txBody>
      </p:sp>
    </p:spTree>
    <p:extLst>
      <p:ext uri="{BB962C8B-B14F-4D97-AF65-F5344CB8AC3E}">
        <p14:creationId xmlns:p14="http://schemas.microsoft.com/office/powerpoint/2010/main" val="22664628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658" name="Rectangle 2">
            <a:extLst>
              <a:ext uri="{FF2B5EF4-FFF2-40B4-BE49-F238E27FC236}">
                <a16:creationId xmlns:a16="http://schemas.microsoft.com/office/drawing/2014/main" id="{A070F2CF-FE1A-4668-A1F3-7065990A6C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1" y="225425"/>
            <a:ext cx="8170863" cy="41275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Authentication: when (e.g. 2/3G)</a:t>
            </a:r>
          </a:p>
        </p:txBody>
      </p:sp>
      <p:grpSp>
        <p:nvGrpSpPr>
          <p:cNvPr id="41987" name="Group 3">
            <a:extLst>
              <a:ext uri="{FF2B5EF4-FFF2-40B4-BE49-F238E27FC236}">
                <a16:creationId xmlns:a16="http://schemas.microsoft.com/office/drawing/2014/main" id="{D5055C7C-57C4-431E-854C-1BF1AD4BB06E}"/>
              </a:ext>
            </a:extLst>
          </p:cNvPr>
          <p:cNvGrpSpPr>
            <a:grpSpLocks/>
          </p:cNvGrpSpPr>
          <p:nvPr/>
        </p:nvGrpSpPr>
        <p:grpSpPr bwMode="auto">
          <a:xfrm>
            <a:off x="2203450" y="685800"/>
            <a:ext cx="7931150" cy="5715000"/>
            <a:chOff x="428" y="528"/>
            <a:chExt cx="4996" cy="3511"/>
          </a:xfrm>
        </p:grpSpPr>
        <p:sp>
          <p:nvSpPr>
            <p:cNvPr id="42042" name="Line 4">
              <a:extLst>
                <a:ext uri="{FF2B5EF4-FFF2-40B4-BE49-F238E27FC236}">
                  <a16:creationId xmlns:a16="http://schemas.microsoft.com/office/drawing/2014/main" id="{37776F8B-3ADB-4930-A38F-C0260C06B5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6" y="750"/>
              <a:ext cx="0" cy="327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2043" name="Line 5">
              <a:extLst>
                <a:ext uri="{FF2B5EF4-FFF2-40B4-BE49-F238E27FC236}">
                  <a16:creationId xmlns:a16="http://schemas.microsoft.com/office/drawing/2014/main" id="{6820EC82-8E78-42BC-B86E-F5EBF56039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48" y="750"/>
              <a:ext cx="0" cy="327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2044" name="Line 6">
              <a:extLst>
                <a:ext uri="{FF2B5EF4-FFF2-40B4-BE49-F238E27FC236}">
                  <a16:creationId xmlns:a16="http://schemas.microsoft.com/office/drawing/2014/main" id="{E4F54ABF-1822-4751-8C8F-11111C0A45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00" y="750"/>
              <a:ext cx="0" cy="327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2045" name="Line 7">
              <a:extLst>
                <a:ext uri="{FF2B5EF4-FFF2-40B4-BE49-F238E27FC236}">
                  <a16:creationId xmlns:a16="http://schemas.microsoft.com/office/drawing/2014/main" id="{BAE992E8-6EE4-4B44-AEB8-F6AD3DDBBD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2" y="750"/>
              <a:ext cx="0" cy="327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2046" name="Text Box 8">
              <a:extLst>
                <a:ext uri="{FF2B5EF4-FFF2-40B4-BE49-F238E27FC236}">
                  <a16:creationId xmlns:a16="http://schemas.microsoft.com/office/drawing/2014/main" id="{31B84B98-7E24-4A59-BA2E-0749AF6557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" y="528"/>
              <a:ext cx="356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it-IT" sz="2000">
                  <a:latin typeface="Times New Roman" panose="02020603050405020304" pitchFamily="18" charset="0"/>
                </a:rPr>
                <a:t>MS</a:t>
              </a:r>
            </a:p>
          </p:txBody>
        </p:sp>
        <p:sp>
          <p:nvSpPr>
            <p:cNvPr id="42047" name="Text Box 9">
              <a:extLst>
                <a:ext uri="{FF2B5EF4-FFF2-40B4-BE49-F238E27FC236}">
                  <a16:creationId xmlns:a16="http://schemas.microsoft.com/office/drawing/2014/main" id="{F5F011EB-7F82-4279-A3E5-8A85FB712A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9" y="539"/>
              <a:ext cx="455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it-IT" sz="2000">
                  <a:latin typeface="Times New Roman" panose="02020603050405020304" pitchFamily="18" charset="0"/>
                </a:rPr>
                <a:t>VLR</a:t>
              </a:r>
            </a:p>
          </p:txBody>
        </p:sp>
        <p:sp>
          <p:nvSpPr>
            <p:cNvPr id="42048" name="Text Box 10">
              <a:extLst>
                <a:ext uri="{FF2B5EF4-FFF2-40B4-BE49-F238E27FC236}">
                  <a16:creationId xmlns:a16="http://schemas.microsoft.com/office/drawing/2014/main" id="{028362C2-2CF4-4DA5-B5E4-A08C4618ED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0" y="539"/>
              <a:ext cx="463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it-IT" sz="2000">
                  <a:latin typeface="Times New Roman" panose="02020603050405020304" pitchFamily="18" charset="0"/>
                </a:rPr>
                <a:t>HLR</a:t>
              </a:r>
            </a:p>
          </p:txBody>
        </p:sp>
        <p:sp>
          <p:nvSpPr>
            <p:cNvPr id="42049" name="Text Box 11">
              <a:extLst>
                <a:ext uri="{FF2B5EF4-FFF2-40B4-BE49-F238E27FC236}">
                  <a16:creationId xmlns:a16="http://schemas.microsoft.com/office/drawing/2014/main" id="{D3B7C68A-DB3B-4CA8-AC55-AF6A3781B4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0" y="539"/>
              <a:ext cx="464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it-IT" sz="2000">
                  <a:latin typeface="Times New Roman" panose="02020603050405020304" pitchFamily="18" charset="0"/>
                </a:rPr>
                <a:t>AUC</a:t>
              </a:r>
            </a:p>
          </p:txBody>
        </p:sp>
        <p:sp>
          <p:nvSpPr>
            <p:cNvPr id="42050" name="Line 12">
              <a:extLst>
                <a:ext uri="{FF2B5EF4-FFF2-40B4-BE49-F238E27FC236}">
                  <a16:creationId xmlns:a16="http://schemas.microsoft.com/office/drawing/2014/main" id="{B3CDE8B8-B87B-460F-B47C-C2D081A57F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4" y="768"/>
              <a:ext cx="0" cy="327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2051" name="Text Box 13">
              <a:extLst>
                <a:ext uri="{FF2B5EF4-FFF2-40B4-BE49-F238E27FC236}">
                  <a16:creationId xmlns:a16="http://schemas.microsoft.com/office/drawing/2014/main" id="{C66E73CB-8CF1-4073-9F88-BCD618F08A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9" y="528"/>
              <a:ext cx="801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it-IT" sz="2000">
                  <a:latin typeface="Times New Roman" panose="02020603050405020304" pitchFamily="18" charset="0"/>
                </a:rPr>
                <a:t>BSS/MSC</a:t>
              </a:r>
            </a:p>
          </p:txBody>
        </p:sp>
      </p:grpSp>
      <p:grpSp>
        <p:nvGrpSpPr>
          <p:cNvPr id="3" name="Group 14">
            <a:extLst>
              <a:ext uri="{FF2B5EF4-FFF2-40B4-BE49-F238E27FC236}">
                <a16:creationId xmlns:a16="http://schemas.microsoft.com/office/drawing/2014/main" id="{D8D1DAB3-0C94-4161-ACCE-7B360BD241FC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957263"/>
            <a:ext cx="1828800" cy="628650"/>
            <a:chOff x="576" y="699"/>
            <a:chExt cx="1152" cy="396"/>
          </a:xfrm>
        </p:grpSpPr>
        <p:sp>
          <p:nvSpPr>
            <p:cNvPr id="42040" name="Line 15">
              <a:extLst>
                <a:ext uri="{FF2B5EF4-FFF2-40B4-BE49-F238E27FC236}">
                  <a16:creationId xmlns:a16="http://schemas.microsoft.com/office/drawing/2014/main" id="{FDF1038F-ACEE-444D-8521-FC44E3347D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912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2041" name="Text Box 16">
              <a:extLst>
                <a:ext uri="{FF2B5EF4-FFF2-40B4-BE49-F238E27FC236}">
                  <a16:creationId xmlns:a16="http://schemas.microsoft.com/office/drawing/2014/main" id="{46989590-9E1E-4C69-BBA0-84619B16B1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699"/>
              <a:ext cx="1076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11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it-IT" sz="1600" b="0">
                  <a:latin typeface="Times New Roman" panose="02020603050405020304" pitchFamily="18" charset="0"/>
                </a:rPr>
                <a:t>Loc. Upd. Request</a:t>
              </a:r>
            </a:p>
            <a:p>
              <a:pPr algn="ctr" eaLnBrk="1" hangingPunct="1">
                <a:lnSpc>
                  <a:spcPct val="11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it-IT" sz="1600" b="0">
                  <a:latin typeface="Times New Roman" panose="02020603050405020304" pitchFamily="18" charset="0"/>
                </a:rPr>
                <a:t>IMSI, LAI</a:t>
              </a:r>
            </a:p>
          </p:txBody>
        </p:sp>
      </p:grpSp>
      <p:grpSp>
        <p:nvGrpSpPr>
          <p:cNvPr id="4" name="Group 17">
            <a:extLst>
              <a:ext uri="{FF2B5EF4-FFF2-40B4-BE49-F238E27FC236}">
                <a16:creationId xmlns:a16="http://schemas.microsoft.com/office/drawing/2014/main" id="{EFEBD900-35F6-4FCB-8B55-0E44793CDBF3}"/>
              </a:ext>
            </a:extLst>
          </p:cNvPr>
          <p:cNvGrpSpPr>
            <a:grpSpLocks/>
          </p:cNvGrpSpPr>
          <p:nvPr/>
        </p:nvGrpSpPr>
        <p:grpSpPr bwMode="auto">
          <a:xfrm>
            <a:off x="4267200" y="1066800"/>
            <a:ext cx="1828800" cy="628650"/>
            <a:chOff x="576" y="699"/>
            <a:chExt cx="1152" cy="396"/>
          </a:xfrm>
        </p:grpSpPr>
        <p:sp>
          <p:nvSpPr>
            <p:cNvPr id="42038" name="Line 18">
              <a:extLst>
                <a:ext uri="{FF2B5EF4-FFF2-40B4-BE49-F238E27FC236}">
                  <a16:creationId xmlns:a16="http://schemas.microsoft.com/office/drawing/2014/main" id="{011EF70F-E57E-4B75-AA73-9FC313D9CA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912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2039" name="Text Box 19">
              <a:extLst>
                <a:ext uri="{FF2B5EF4-FFF2-40B4-BE49-F238E27FC236}">
                  <a16:creationId xmlns:a16="http://schemas.microsoft.com/office/drawing/2014/main" id="{36290D51-E7CB-447D-9041-193AE1A19A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9" y="699"/>
              <a:ext cx="1030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11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it-IT" sz="1600" b="0">
                  <a:latin typeface="Times New Roman" panose="02020603050405020304" pitchFamily="18" charset="0"/>
                </a:rPr>
                <a:t>Update Loc. Area</a:t>
              </a:r>
            </a:p>
            <a:p>
              <a:pPr algn="ctr" eaLnBrk="1" hangingPunct="1">
                <a:lnSpc>
                  <a:spcPct val="11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it-IT" sz="1600" b="0">
                  <a:latin typeface="Times New Roman" panose="02020603050405020304" pitchFamily="18" charset="0"/>
                </a:rPr>
                <a:t>IMSI, LAI</a:t>
              </a:r>
            </a:p>
          </p:txBody>
        </p:sp>
      </p:grpSp>
      <p:grpSp>
        <p:nvGrpSpPr>
          <p:cNvPr id="5" name="Group 20">
            <a:extLst>
              <a:ext uri="{FF2B5EF4-FFF2-40B4-BE49-F238E27FC236}">
                <a16:creationId xmlns:a16="http://schemas.microsoft.com/office/drawing/2014/main" id="{81B713D4-4636-4046-9978-6071C5ACFCE1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1200150"/>
            <a:ext cx="1828800" cy="628650"/>
            <a:chOff x="576" y="699"/>
            <a:chExt cx="1152" cy="396"/>
          </a:xfrm>
        </p:grpSpPr>
        <p:sp>
          <p:nvSpPr>
            <p:cNvPr id="42036" name="Line 21">
              <a:extLst>
                <a:ext uri="{FF2B5EF4-FFF2-40B4-BE49-F238E27FC236}">
                  <a16:creationId xmlns:a16="http://schemas.microsoft.com/office/drawing/2014/main" id="{3EA100B8-38A5-4092-926E-E3BB21D1BA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912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2037" name="Text Box 22">
              <a:extLst>
                <a:ext uri="{FF2B5EF4-FFF2-40B4-BE49-F238E27FC236}">
                  <a16:creationId xmlns:a16="http://schemas.microsoft.com/office/drawing/2014/main" id="{3C66D278-785F-4902-8857-46964B2549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" y="699"/>
              <a:ext cx="1066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11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it-IT" sz="1600" b="0">
                  <a:latin typeface="Times New Roman" panose="02020603050405020304" pitchFamily="18" charset="0"/>
                </a:rPr>
                <a:t>Auth. Param. Req.</a:t>
              </a:r>
            </a:p>
            <a:p>
              <a:pPr algn="ctr" eaLnBrk="1" hangingPunct="1">
                <a:lnSpc>
                  <a:spcPct val="11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it-IT" sz="1600" b="0">
                  <a:latin typeface="Times New Roman" panose="02020603050405020304" pitchFamily="18" charset="0"/>
                </a:rPr>
                <a:t>IMSI</a:t>
              </a:r>
            </a:p>
          </p:txBody>
        </p:sp>
      </p:grpSp>
      <p:grpSp>
        <p:nvGrpSpPr>
          <p:cNvPr id="6" name="Group 23">
            <a:extLst>
              <a:ext uri="{FF2B5EF4-FFF2-40B4-BE49-F238E27FC236}">
                <a16:creationId xmlns:a16="http://schemas.microsoft.com/office/drawing/2014/main" id="{7647CEB0-33A5-4F60-B6CA-B9CFF99EB40D}"/>
              </a:ext>
            </a:extLst>
          </p:cNvPr>
          <p:cNvGrpSpPr>
            <a:grpSpLocks/>
          </p:cNvGrpSpPr>
          <p:nvPr/>
        </p:nvGrpSpPr>
        <p:grpSpPr bwMode="auto">
          <a:xfrm>
            <a:off x="7924800" y="1219200"/>
            <a:ext cx="1828800" cy="628650"/>
            <a:chOff x="576" y="699"/>
            <a:chExt cx="1152" cy="396"/>
          </a:xfrm>
        </p:grpSpPr>
        <p:sp>
          <p:nvSpPr>
            <p:cNvPr id="42034" name="Line 24">
              <a:extLst>
                <a:ext uri="{FF2B5EF4-FFF2-40B4-BE49-F238E27FC236}">
                  <a16:creationId xmlns:a16="http://schemas.microsoft.com/office/drawing/2014/main" id="{ECC4916C-A4CA-414F-BA25-846C7259C1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912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2035" name="Text Box 25">
              <a:extLst>
                <a:ext uri="{FF2B5EF4-FFF2-40B4-BE49-F238E27FC236}">
                  <a16:creationId xmlns:a16="http://schemas.microsoft.com/office/drawing/2014/main" id="{B29F8025-20F5-48F0-937D-05E9B52541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9" y="699"/>
              <a:ext cx="952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11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it-IT" sz="1600" b="0">
                  <a:latin typeface="Times New Roman" panose="02020603050405020304" pitchFamily="18" charset="0"/>
                </a:rPr>
                <a:t>Auth. Info. Req.</a:t>
              </a:r>
            </a:p>
            <a:p>
              <a:pPr algn="ctr" eaLnBrk="1" hangingPunct="1">
                <a:lnSpc>
                  <a:spcPct val="11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it-IT" sz="1600" b="0">
                  <a:latin typeface="Times New Roman" panose="02020603050405020304" pitchFamily="18" charset="0"/>
                </a:rPr>
                <a:t>IMSI</a:t>
              </a:r>
            </a:p>
          </p:txBody>
        </p:sp>
      </p:grpSp>
      <p:grpSp>
        <p:nvGrpSpPr>
          <p:cNvPr id="7" name="Group 26">
            <a:extLst>
              <a:ext uri="{FF2B5EF4-FFF2-40B4-BE49-F238E27FC236}">
                <a16:creationId xmlns:a16="http://schemas.microsoft.com/office/drawing/2014/main" id="{1D36F9D7-5BF0-4AA3-96EF-1F219331F79D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1676400"/>
            <a:ext cx="3657600" cy="704850"/>
            <a:chOff x="2880" y="1056"/>
            <a:chExt cx="2304" cy="444"/>
          </a:xfrm>
        </p:grpSpPr>
        <p:grpSp>
          <p:nvGrpSpPr>
            <p:cNvPr id="42028" name="Group 27">
              <a:extLst>
                <a:ext uri="{FF2B5EF4-FFF2-40B4-BE49-F238E27FC236}">
                  <a16:creationId xmlns:a16="http://schemas.microsoft.com/office/drawing/2014/main" id="{2E80E34F-C92B-4C9B-8624-3206079A2BD8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4032" y="1056"/>
              <a:ext cx="1152" cy="396"/>
              <a:chOff x="576" y="699"/>
              <a:chExt cx="1152" cy="396"/>
            </a:xfrm>
          </p:grpSpPr>
          <p:sp>
            <p:nvSpPr>
              <p:cNvPr id="42032" name="Line 28">
                <a:extLst>
                  <a:ext uri="{FF2B5EF4-FFF2-40B4-BE49-F238E27FC236}">
                    <a16:creationId xmlns:a16="http://schemas.microsoft.com/office/drawing/2014/main" id="{E0898C6E-85FD-47C8-85E1-808F1D2604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912"/>
                <a:ext cx="115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2033" name="Text Box 29">
                <a:extLst>
                  <a:ext uri="{FF2B5EF4-FFF2-40B4-BE49-F238E27FC236}">
                    <a16:creationId xmlns:a16="http://schemas.microsoft.com/office/drawing/2014/main" id="{F1195E73-4958-44AD-BF04-78C1819688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0" y="699"/>
                <a:ext cx="1106" cy="3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anose="020506040505050202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11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it-IT" sz="1600" b="0">
                    <a:latin typeface="Times New Roman" panose="02020603050405020304" pitchFamily="18" charset="0"/>
                  </a:rPr>
                  <a:t>Auth. Info</a:t>
                </a:r>
              </a:p>
              <a:p>
                <a:pPr algn="ctr" eaLnBrk="1" hangingPunct="1">
                  <a:lnSpc>
                    <a:spcPct val="11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it-IT" sz="1600" b="0" i="1">
                    <a:latin typeface="Times New Roman" panose="02020603050405020304" pitchFamily="18" charset="0"/>
                  </a:rPr>
                  <a:t>(Auth. Parameters)</a:t>
                </a:r>
              </a:p>
            </p:txBody>
          </p:sp>
        </p:grpSp>
        <p:grpSp>
          <p:nvGrpSpPr>
            <p:cNvPr id="42029" name="Group 30">
              <a:extLst>
                <a:ext uri="{FF2B5EF4-FFF2-40B4-BE49-F238E27FC236}">
                  <a16:creationId xmlns:a16="http://schemas.microsoft.com/office/drawing/2014/main" id="{77774340-0405-4CD0-B2B0-CD3309390B10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2880" y="1104"/>
              <a:ext cx="1152" cy="396"/>
              <a:chOff x="576" y="699"/>
              <a:chExt cx="1152" cy="396"/>
            </a:xfrm>
          </p:grpSpPr>
          <p:sp>
            <p:nvSpPr>
              <p:cNvPr id="42030" name="Line 31">
                <a:extLst>
                  <a:ext uri="{FF2B5EF4-FFF2-40B4-BE49-F238E27FC236}">
                    <a16:creationId xmlns:a16="http://schemas.microsoft.com/office/drawing/2014/main" id="{111146C5-A3B1-4187-91FF-3CA0C32697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912"/>
                <a:ext cx="115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2031" name="Text Box 32">
                <a:extLst>
                  <a:ext uri="{FF2B5EF4-FFF2-40B4-BE49-F238E27FC236}">
                    <a16:creationId xmlns:a16="http://schemas.microsoft.com/office/drawing/2014/main" id="{BA684096-7FD7-48EF-ABAF-6B28160006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0" y="699"/>
                <a:ext cx="1106" cy="3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anose="020506040505050202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11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it-IT" sz="1600" b="0">
                    <a:latin typeface="Times New Roman" panose="02020603050405020304" pitchFamily="18" charset="0"/>
                  </a:rPr>
                  <a:t>Auth. Info</a:t>
                </a:r>
              </a:p>
              <a:p>
                <a:pPr algn="ctr" eaLnBrk="1" hangingPunct="1">
                  <a:lnSpc>
                    <a:spcPct val="11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it-IT" sz="1600" b="0" i="1">
                    <a:latin typeface="Times New Roman" panose="02020603050405020304" pitchFamily="18" charset="0"/>
                  </a:rPr>
                  <a:t>(Auth. Parameters)</a:t>
                </a:r>
              </a:p>
            </p:txBody>
          </p:sp>
        </p:grpSp>
      </p:grpSp>
      <p:sp>
        <p:nvSpPr>
          <p:cNvPr id="1222689" name="AutoShape 33">
            <a:extLst>
              <a:ext uri="{FF2B5EF4-FFF2-40B4-BE49-F238E27FC236}">
                <a16:creationId xmlns:a16="http://schemas.microsoft.com/office/drawing/2014/main" id="{FEBB26E9-9C7C-482E-8A88-81E4D89955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2133600"/>
            <a:ext cx="3657600" cy="1066800"/>
          </a:xfrm>
          <a:prstGeom prst="leftRightArrow">
            <a:avLst>
              <a:gd name="adj1" fmla="val 58852"/>
              <a:gd name="adj2" fmla="val 26492"/>
            </a:avLst>
          </a:prstGeom>
          <a:solidFill>
            <a:srgbClr val="96F8F6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it-IT" sz="2000" b="0">
                <a:latin typeface="Times New Roman" panose="02020603050405020304" pitchFamily="18" charset="0"/>
              </a:rPr>
              <a:t>authentication</a:t>
            </a:r>
          </a:p>
        </p:txBody>
      </p:sp>
      <p:sp>
        <p:nvSpPr>
          <p:cNvPr id="1222690" name="AutoShape 34">
            <a:extLst>
              <a:ext uri="{FF2B5EF4-FFF2-40B4-BE49-F238E27FC236}">
                <a16:creationId xmlns:a16="http://schemas.microsoft.com/office/drawing/2014/main" id="{EA39DB74-8137-4132-95E3-65224A1CCE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3276600"/>
            <a:ext cx="1828800" cy="914400"/>
          </a:xfrm>
          <a:prstGeom prst="leftRightArrow">
            <a:avLst>
              <a:gd name="adj1" fmla="val 72685"/>
              <a:gd name="adj2" fmla="val 33685"/>
            </a:avLst>
          </a:prstGeom>
          <a:solidFill>
            <a:srgbClr val="96F8F6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it-IT" sz="2000" b="0">
                <a:latin typeface="Times New Roman" panose="02020603050405020304" pitchFamily="18" charset="0"/>
              </a:rPr>
              <a:t>Activate</a:t>
            </a:r>
            <a:br>
              <a:rPr lang="en-US" altLang="it-IT" sz="2000" b="0">
                <a:latin typeface="Times New Roman" panose="02020603050405020304" pitchFamily="18" charset="0"/>
              </a:rPr>
            </a:br>
            <a:r>
              <a:rPr lang="en-US" altLang="it-IT" sz="2000" b="0">
                <a:latin typeface="Times New Roman" panose="02020603050405020304" pitchFamily="18" charset="0"/>
              </a:rPr>
              <a:t>ciphering</a:t>
            </a:r>
          </a:p>
        </p:txBody>
      </p:sp>
      <p:grpSp>
        <p:nvGrpSpPr>
          <p:cNvPr id="10" name="Group 35">
            <a:extLst>
              <a:ext uri="{FF2B5EF4-FFF2-40B4-BE49-F238E27FC236}">
                <a16:creationId xmlns:a16="http://schemas.microsoft.com/office/drawing/2014/main" id="{7F5241D5-F2D7-4E9F-99D1-D9C19765C8BA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2743200"/>
            <a:ext cx="1828800" cy="628650"/>
            <a:chOff x="576" y="699"/>
            <a:chExt cx="1152" cy="396"/>
          </a:xfrm>
        </p:grpSpPr>
        <p:sp>
          <p:nvSpPr>
            <p:cNvPr id="42026" name="Line 36">
              <a:extLst>
                <a:ext uri="{FF2B5EF4-FFF2-40B4-BE49-F238E27FC236}">
                  <a16:creationId xmlns:a16="http://schemas.microsoft.com/office/drawing/2014/main" id="{96D8F7DC-1962-4C36-89FD-67FE16185B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912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2027" name="Text Box 37">
              <a:extLst>
                <a:ext uri="{FF2B5EF4-FFF2-40B4-BE49-F238E27FC236}">
                  <a16:creationId xmlns:a16="http://schemas.microsoft.com/office/drawing/2014/main" id="{C6301FA9-6AB1-472B-AE4B-2E52C51D68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7" y="699"/>
              <a:ext cx="974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11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it-IT" sz="1600" b="0">
                  <a:latin typeface="Times New Roman" panose="02020603050405020304" pitchFamily="18" charset="0"/>
                </a:rPr>
                <a:t>Update Location</a:t>
              </a:r>
            </a:p>
            <a:p>
              <a:pPr algn="ctr" eaLnBrk="1" hangingPunct="1">
                <a:lnSpc>
                  <a:spcPct val="11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it-IT" sz="1600" b="0">
                  <a:latin typeface="Times New Roman" panose="02020603050405020304" pitchFamily="18" charset="0"/>
                </a:rPr>
                <a:t>IMSI, MSRN</a:t>
              </a:r>
            </a:p>
          </p:txBody>
        </p:sp>
      </p:grpSp>
      <p:grpSp>
        <p:nvGrpSpPr>
          <p:cNvPr id="11" name="Group 38">
            <a:extLst>
              <a:ext uri="{FF2B5EF4-FFF2-40B4-BE49-F238E27FC236}">
                <a16:creationId xmlns:a16="http://schemas.microsoft.com/office/drawing/2014/main" id="{41E4B202-15CD-474C-AD8E-C1805BCCB21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064251" y="3257550"/>
            <a:ext cx="2017713" cy="628650"/>
            <a:chOff x="508" y="699"/>
            <a:chExt cx="1271" cy="396"/>
          </a:xfrm>
        </p:grpSpPr>
        <p:sp>
          <p:nvSpPr>
            <p:cNvPr id="42024" name="Line 39">
              <a:extLst>
                <a:ext uri="{FF2B5EF4-FFF2-40B4-BE49-F238E27FC236}">
                  <a16:creationId xmlns:a16="http://schemas.microsoft.com/office/drawing/2014/main" id="{0630A30F-48D6-42AA-9012-907A00D4CF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912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2025" name="Text Box 40">
              <a:extLst>
                <a:ext uri="{FF2B5EF4-FFF2-40B4-BE49-F238E27FC236}">
                  <a16:creationId xmlns:a16="http://schemas.microsoft.com/office/drawing/2014/main" id="{FAC8E9E2-0069-49F1-8DAE-89DC1F0A3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" y="699"/>
              <a:ext cx="1271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11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it-IT" sz="1600" b="0">
                  <a:latin typeface="Times New Roman" panose="02020603050405020304" pitchFamily="18" charset="0"/>
                </a:rPr>
                <a:t>Insert Subscrib. Data </a:t>
              </a:r>
            </a:p>
            <a:p>
              <a:pPr algn="ctr" eaLnBrk="1" hangingPunct="1">
                <a:lnSpc>
                  <a:spcPct val="11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it-IT" sz="1600" b="0">
                  <a:latin typeface="Times New Roman" panose="02020603050405020304" pitchFamily="18" charset="0"/>
                </a:rPr>
                <a:t>IMSI, </a:t>
              </a:r>
              <a:r>
                <a:rPr lang="en-US" altLang="it-IT" sz="1600" b="0" i="1">
                  <a:latin typeface="Times New Roman" panose="02020603050405020304" pitchFamily="18" charset="0"/>
                </a:rPr>
                <a:t>additional data </a:t>
              </a:r>
            </a:p>
          </p:txBody>
        </p:sp>
      </p:grpSp>
      <p:grpSp>
        <p:nvGrpSpPr>
          <p:cNvPr id="12" name="Group 41">
            <a:extLst>
              <a:ext uri="{FF2B5EF4-FFF2-40B4-BE49-F238E27FC236}">
                <a16:creationId xmlns:a16="http://schemas.microsoft.com/office/drawing/2014/main" id="{3F781B27-0D61-4D9F-9F85-02677B076932}"/>
              </a:ext>
            </a:extLst>
          </p:cNvPr>
          <p:cNvGrpSpPr>
            <a:grpSpLocks/>
          </p:cNvGrpSpPr>
          <p:nvPr/>
        </p:nvGrpSpPr>
        <p:grpSpPr bwMode="auto">
          <a:xfrm>
            <a:off x="6080125" y="3867150"/>
            <a:ext cx="1898650" cy="628650"/>
            <a:chOff x="566" y="699"/>
            <a:chExt cx="1196" cy="396"/>
          </a:xfrm>
        </p:grpSpPr>
        <p:sp>
          <p:nvSpPr>
            <p:cNvPr id="42022" name="Line 42">
              <a:extLst>
                <a:ext uri="{FF2B5EF4-FFF2-40B4-BE49-F238E27FC236}">
                  <a16:creationId xmlns:a16="http://schemas.microsoft.com/office/drawing/2014/main" id="{BCD47B77-5F5E-40C5-9BE4-7880BE3538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912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2023" name="Text Box 43">
              <a:extLst>
                <a:ext uri="{FF2B5EF4-FFF2-40B4-BE49-F238E27FC236}">
                  <a16:creationId xmlns:a16="http://schemas.microsoft.com/office/drawing/2014/main" id="{45727502-D362-47E6-A410-AE730FDCDE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6" y="699"/>
              <a:ext cx="1196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11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it-IT" sz="1600" b="0">
                  <a:latin typeface="Times New Roman" panose="02020603050405020304" pitchFamily="18" charset="0"/>
                </a:rPr>
                <a:t>Insert Subscrib. Data</a:t>
              </a:r>
            </a:p>
            <a:p>
              <a:pPr algn="ctr" eaLnBrk="1" hangingPunct="1">
                <a:lnSpc>
                  <a:spcPct val="11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it-IT" sz="1600" b="0">
                  <a:latin typeface="Times New Roman" panose="02020603050405020304" pitchFamily="18" charset="0"/>
                </a:rPr>
                <a:t>ACK</a:t>
              </a:r>
            </a:p>
          </p:txBody>
        </p:sp>
      </p:grpSp>
      <p:grpSp>
        <p:nvGrpSpPr>
          <p:cNvPr id="13" name="Group 44">
            <a:extLst>
              <a:ext uri="{FF2B5EF4-FFF2-40B4-BE49-F238E27FC236}">
                <a16:creationId xmlns:a16="http://schemas.microsoft.com/office/drawing/2014/main" id="{1EE81CA1-49D1-415A-B6CE-8C9CE405F692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127750" y="4343400"/>
            <a:ext cx="1828800" cy="628650"/>
            <a:chOff x="576" y="699"/>
            <a:chExt cx="1152" cy="396"/>
          </a:xfrm>
        </p:grpSpPr>
        <p:sp>
          <p:nvSpPr>
            <p:cNvPr id="42020" name="Line 45">
              <a:extLst>
                <a:ext uri="{FF2B5EF4-FFF2-40B4-BE49-F238E27FC236}">
                  <a16:creationId xmlns:a16="http://schemas.microsoft.com/office/drawing/2014/main" id="{7826F385-C8B7-423C-BEC8-2118EB2302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912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2021" name="Text Box 46">
              <a:extLst>
                <a:ext uri="{FF2B5EF4-FFF2-40B4-BE49-F238E27FC236}">
                  <a16:creationId xmlns:a16="http://schemas.microsoft.com/office/drawing/2014/main" id="{6F30D5EA-B9BA-4322-A2D6-4B9FB82988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" y="699"/>
              <a:ext cx="1119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11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it-IT" sz="1600" b="0">
                  <a:latin typeface="Times New Roman" panose="02020603050405020304" pitchFamily="18" charset="0"/>
                </a:rPr>
                <a:t>Locat. Upd. Accept</a:t>
              </a:r>
            </a:p>
            <a:p>
              <a:pPr algn="ctr" eaLnBrk="1" hangingPunct="1">
                <a:lnSpc>
                  <a:spcPct val="11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it-IT" sz="1600" b="0">
                  <a:latin typeface="Times New Roman" panose="02020603050405020304" pitchFamily="18" charset="0"/>
                </a:rPr>
                <a:t>IMSI</a:t>
              </a:r>
            </a:p>
          </p:txBody>
        </p:sp>
      </p:grpSp>
      <p:grpSp>
        <p:nvGrpSpPr>
          <p:cNvPr id="14" name="Group 47">
            <a:extLst>
              <a:ext uri="{FF2B5EF4-FFF2-40B4-BE49-F238E27FC236}">
                <a16:creationId xmlns:a16="http://schemas.microsoft.com/office/drawing/2014/main" id="{972F18F0-7A59-4BAB-A8D0-E068EC553103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267200" y="3048000"/>
            <a:ext cx="1828800" cy="628650"/>
            <a:chOff x="576" y="699"/>
            <a:chExt cx="1152" cy="396"/>
          </a:xfrm>
        </p:grpSpPr>
        <p:sp>
          <p:nvSpPr>
            <p:cNvPr id="42018" name="Line 48">
              <a:extLst>
                <a:ext uri="{FF2B5EF4-FFF2-40B4-BE49-F238E27FC236}">
                  <a16:creationId xmlns:a16="http://schemas.microsoft.com/office/drawing/2014/main" id="{46A8E5BD-23D0-4923-B0C5-4F84E1F889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912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2019" name="Text Box 49">
              <a:extLst>
                <a:ext uri="{FF2B5EF4-FFF2-40B4-BE49-F238E27FC236}">
                  <a16:creationId xmlns:a16="http://schemas.microsoft.com/office/drawing/2014/main" id="{5502FDF5-F1C3-4768-8D7F-6FDA0BDD3E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8" y="699"/>
              <a:ext cx="904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11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it-IT" sz="1600" b="0">
                  <a:latin typeface="Times New Roman" panose="02020603050405020304" pitchFamily="18" charset="0"/>
                </a:rPr>
                <a:t>Start Ciphering</a:t>
              </a:r>
            </a:p>
            <a:p>
              <a:pPr algn="ctr" eaLnBrk="1" hangingPunct="1">
                <a:lnSpc>
                  <a:spcPct val="11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it-IT" sz="1600" b="0">
                  <a:latin typeface="Times New Roman" panose="02020603050405020304" pitchFamily="18" charset="0"/>
                </a:rPr>
                <a:t>Kc</a:t>
              </a:r>
              <a:endParaRPr lang="en-US" altLang="it-IT" sz="1600" b="0" i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5" name="Group 50">
            <a:extLst>
              <a:ext uri="{FF2B5EF4-FFF2-40B4-BE49-F238E27FC236}">
                <a16:creationId xmlns:a16="http://schemas.microsoft.com/office/drawing/2014/main" id="{EB421666-5B73-4E5A-A544-EBBFAFBD5A5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267200" y="4495798"/>
            <a:ext cx="1828800" cy="342900"/>
            <a:chOff x="576" y="699"/>
            <a:chExt cx="1152" cy="216"/>
          </a:xfrm>
        </p:grpSpPr>
        <p:sp>
          <p:nvSpPr>
            <p:cNvPr id="42016" name="Line 51">
              <a:extLst>
                <a:ext uri="{FF2B5EF4-FFF2-40B4-BE49-F238E27FC236}">
                  <a16:creationId xmlns:a16="http://schemas.microsoft.com/office/drawing/2014/main" id="{59CDD2ED-961A-4E16-AB03-83205BD31A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912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2017" name="Text Box 52">
              <a:extLst>
                <a:ext uri="{FF2B5EF4-FFF2-40B4-BE49-F238E27FC236}">
                  <a16:creationId xmlns:a16="http://schemas.microsoft.com/office/drawing/2014/main" id="{7AD70DDB-35F6-4B47-A66F-1881119C35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0" y="699"/>
              <a:ext cx="1122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11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it-IT" sz="1600" b="0">
                  <a:latin typeface="Times New Roman" panose="02020603050405020304" pitchFamily="18" charset="0"/>
                </a:rPr>
                <a:t>Locat. Upd. Accept</a:t>
              </a:r>
            </a:p>
          </p:txBody>
        </p:sp>
      </p:grpSp>
      <p:grpSp>
        <p:nvGrpSpPr>
          <p:cNvPr id="16" name="Group 53">
            <a:extLst>
              <a:ext uri="{FF2B5EF4-FFF2-40B4-BE49-F238E27FC236}">
                <a16:creationId xmlns:a16="http://schemas.microsoft.com/office/drawing/2014/main" id="{698B8797-E2BB-4C7C-BE76-419A142823D7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267200" y="3505200"/>
            <a:ext cx="1855788" cy="628650"/>
            <a:chOff x="576" y="699"/>
            <a:chExt cx="1169" cy="396"/>
          </a:xfrm>
        </p:grpSpPr>
        <p:sp>
          <p:nvSpPr>
            <p:cNvPr id="42014" name="Line 54">
              <a:extLst>
                <a:ext uri="{FF2B5EF4-FFF2-40B4-BE49-F238E27FC236}">
                  <a16:creationId xmlns:a16="http://schemas.microsoft.com/office/drawing/2014/main" id="{62815696-2239-42FF-84B5-DA3CF6213C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912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2015" name="Text Box 55">
              <a:extLst>
                <a:ext uri="{FF2B5EF4-FFF2-40B4-BE49-F238E27FC236}">
                  <a16:creationId xmlns:a16="http://schemas.microsoft.com/office/drawing/2014/main" id="{8C1CCF80-1416-462E-82E0-1082C4AE11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0" y="699"/>
              <a:ext cx="1165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11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it-IT" sz="1600" b="0">
                  <a:latin typeface="Times New Roman" panose="02020603050405020304" pitchFamily="18" charset="0"/>
                </a:rPr>
                <a:t>Forward new TMSI </a:t>
              </a:r>
            </a:p>
            <a:p>
              <a:pPr algn="ctr" eaLnBrk="1" hangingPunct="1">
                <a:lnSpc>
                  <a:spcPct val="11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it-IT" sz="1600" b="0">
                  <a:latin typeface="Times New Roman" panose="02020603050405020304" pitchFamily="18" charset="0"/>
                </a:rPr>
                <a:t>TMSI</a:t>
              </a:r>
              <a:endParaRPr lang="en-US" altLang="it-IT" sz="1600" b="0" i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7" name="Group 56">
            <a:extLst>
              <a:ext uri="{FF2B5EF4-FFF2-40B4-BE49-F238E27FC236}">
                <a16:creationId xmlns:a16="http://schemas.microsoft.com/office/drawing/2014/main" id="{C738F54E-4D96-4B73-9FF9-82E09723472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2438400" y="5049840"/>
            <a:ext cx="1828800" cy="342900"/>
            <a:chOff x="576" y="699"/>
            <a:chExt cx="1152" cy="216"/>
          </a:xfrm>
        </p:grpSpPr>
        <p:sp>
          <p:nvSpPr>
            <p:cNvPr id="42012" name="Line 57">
              <a:extLst>
                <a:ext uri="{FF2B5EF4-FFF2-40B4-BE49-F238E27FC236}">
                  <a16:creationId xmlns:a16="http://schemas.microsoft.com/office/drawing/2014/main" id="{44604FC2-1729-4B64-ABD6-8EC213B730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912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2013" name="Text Box 58">
              <a:extLst>
                <a:ext uri="{FF2B5EF4-FFF2-40B4-BE49-F238E27FC236}">
                  <a16:creationId xmlns:a16="http://schemas.microsoft.com/office/drawing/2014/main" id="{25CD7CCA-6EC0-4F9A-BD80-30B1B5E189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8" y="699"/>
              <a:ext cx="1137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11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it-IT" sz="1600" b="0">
                  <a:latin typeface="Times New Roman" panose="02020603050405020304" pitchFamily="18" charset="0"/>
                </a:rPr>
                <a:t>TMSI Realloc Cmd</a:t>
              </a:r>
            </a:p>
          </p:txBody>
        </p:sp>
      </p:grpSp>
      <p:grpSp>
        <p:nvGrpSpPr>
          <p:cNvPr id="18" name="Group 59">
            <a:extLst>
              <a:ext uri="{FF2B5EF4-FFF2-40B4-BE49-F238E27FC236}">
                <a16:creationId xmlns:a16="http://schemas.microsoft.com/office/drawing/2014/main" id="{B414C5E2-E9C2-497A-A6A9-CE115599607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2438400" y="5430840"/>
            <a:ext cx="1828800" cy="342900"/>
            <a:chOff x="576" y="699"/>
            <a:chExt cx="1152" cy="216"/>
          </a:xfrm>
        </p:grpSpPr>
        <p:sp>
          <p:nvSpPr>
            <p:cNvPr id="42010" name="Line 60">
              <a:extLst>
                <a:ext uri="{FF2B5EF4-FFF2-40B4-BE49-F238E27FC236}">
                  <a16:creationId xmlns:a16="http://schemas.microsoft.com/office/drawing/2014/main" id="{7549DC08-5951-4DB5-B844-93B59D17D8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912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2011" name="Text Box 61">
              <a:extLst>
                <a:ext uri="{FF2B5EF4-FFF2-40B4-BE49-F238E27FC236}">
                  <a16:creationId xmlns:a16="http://schemas.microsoft.com/office/drawing/2014/main" id="{6185F983-5FF1-4179-BFE1-C5E5833E27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0" y="699"/>
              <a:ext cx="1122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11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it-IT" sz="1600" b="0">
                  <a:latin typeface="Times New Roman" panose="02020603050405020304" pitchFamily="18" charset="0"/>
                </a:rPr>
                <a:t>Locat. Upd. Accept</a:t>
              </a:r>
            </a:p>
          </p:txBody>
        </p:sp>
      </p:grpSp>
      <p:grpSp>
        <p:nvGrpSpPr>
          <p:cNvPr id="19" name="Group 62">
            <a:extLst>
              <a:ext uri="{FF2B5EF4-FFF2-40B4-BE49-F238E27FC236}">
                <a16:creationId xmlns:a16="http://schemas.microsoft.com/office/drawing/2014/main" id="{2BBB9BBE-9B56-408A-9403-5DD6B671A668}"/>
              </a:ext>
            </a:extLst>
          </p:cNvPr>
          <p:cNvGrpSpPr>
            <a:grpSpLocks/>
          </p:cNvGrpSpPr>
          <p:nvPr/>
        </p:nvGrpSpPr>
        <p:grpSpPr bwMode="auto">
          <a:xfrm>
            <a:off x="2454275" y="5772148"/>
            <a:ext cx="1849438" cy="342900"/>
            <a:chOff x="576" y="699"/>
            <a:chExt cx="1165" cy="216"/>
          </a:xfrm>
        </p:grpSpPr>
        <p:sp>
          <p:nvSpPr>
            <p:cNvPr id="42008" name="Line 63">
              <a:extLst>
                <a:ext uri="{FF2B5EF4-FFF2-40B4-BE49-F238E27FC236}">
                  <a16:creationId xmlns:a16="http://schemas.microsoft.com/office/drawing/2014/main" id="{25629A2A-2E06-474D-9B7B-C1573180B8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912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2009" name="Text Box 64">
              <a:extLst>
                <a:ext uri="{FF2B5EF4-FFF2-40B4-BE49-F238E27FC236}">
                  <a16:creationId xmlns:a16="http://schemas.microsoft.com/office/drawing/2014/main" id="{62B0F0A4-0D72-44F8-8631-FC85617E6B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1" y="699"/>
              <a:ext cx="1150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11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it-IT" sz="1600" b="0">
                  <a:latin typeface="Times New Roman" panose="02020603050405020304" pitchFamily="18" charset="0"/>
                </a:rPr>
                <a:t>TMSI Realloc ACK</a:t>
              </a:r>
            </a:p>
          </p:txBody>
        </p:sp>
      </p:grpSp>
      <p:grpSp>
        <p:nvGrpSpPr>
          <p:cNvPr id="20" name="Group 65">
            <a:extLst>
              <a:ext uri="{FF2B5EF4-FFF2-40B4-BE49-F238E27FC236}">
                <a16:creationId xmlns:a16="http://schemas.microsoft.com/office/drawing/2014/main" id="{B5731010-430D-44D4-A047-B96A122120BC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5924548"/>
            <a:ext cx="1828800" cy="342900"/>
            <a:chOff x="576" y="699"/>
            <a:chExt cx="1152" cy="216"/>
          </a:xfrm>
        </p:grpSpPr>
        <p:sp>
          <p:nvSpPr>
            <p:cNvPr id="42006" name="Line 66">
              <a:extLst>
                <a:ext uri="{FF2B5EF4-FFF2-40B4-BE49-F238E27FC236}">
                  <a16:creationId xmlns:a16="http://schemas.microsoft.com/office/drawing/2014/main" id="{6B8AD2B2-4CB2-4B11-B2CE-462A2A9716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912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2007" name="Text Box 67">
              <a:extLst>
                <a:ext uri="{FF2B5EF4-FFF2-40B4-BE49-F238E27FC236}">
                  <a16:creationId xmlns:a16="http://schemas.microsoft.com/office/drawing/2014/main" id="{E281B3D5-7BA3-436D-9605-EEFA607FC5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5" y="699"/>
              <a:ext cx="722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11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it-IT" sz="1600" b="0">
                  <a:latin typeface="Times New Roman" panose="02020603050405020304" pitchFamily="18" charset="0"/>
                </a:rPr>
                <a:t>TMSI ACK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222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222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2689" grpId="0" animBg="1" autoUpdateAnimBg="0"/>
      <p:bldP spid="1222690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682" name="Rectangle 2">
            <a:extLst>
              <a:ext uri="{FF2B5EF4-FFF2-40B4-BE49-F238E27FC236}">
                <a16:creationId xmlns:a16="http://schemas.microsoft.com/office/drawing/2014/main" id="{CD6ECA6D-2CA2-4C93-BE3B-FF19823A79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Authentication in 2G</a:t>
            </a:r>
            <a:br>
              <a:rPr lang="en-US" dirty="0"/>
            </a:br>
            <a:r>
              <a:rPr lang="en-US" sz="2400" dirty="0"/>
              <a:t>(unilateral)</a:t>
            </a: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B3852175-3224-406D-9F43-3A70B52FEA07}"/>
              </a:ext>
            </a:extLst>
          </p:cNvPr>
          <p:cNvGrpSpPr>
            <a:grpSpLocks/>
          </p:cNvGrpSpPr>
          <p:nvPr/>
        </p:nvGrpSpPr>
        <p:grpSpPr bwMode="auto">
          <a:xfrm>
            <a:off x="3163888" y="1828801"/>
            <a:ext cx="3886200" cy="792163"/>
            <a:chOff x="1129" y="1584"/>
            <a:chExt cx="3120" cy="499"/>
          </a:xfrm>
        </p:grpSpPr>
        <p:sp>
          <p:nvSpPr>
            <p:cNvPr id="44101" name="Line 4">
              <a:extLst>
                <a:ext uri="{FF2B5EF4-FFF2-40B4-BE49-F238E27FC236}">
                  <a16:creationId xmlns:a16="http://schemas.microsoft.com/office/drawing/2014/main" id="{392CFBC9-BA9C-47B8-8928-5BF4138AF7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29" y="1824"/>
              <a:ext cx="31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4102" name="Text Box 5">
              <a:extLst>
                <a:ext uri="{FF2B5EF4-FFF2-40B4-BE49-F238E27FC236}">
                  <a16:creationId xmlns:a16="http://schemas.microsoft.com/office/drawing/2014/main" id="{BAF2A3C6-9711-40CE-8EE5-BC0EA0D66E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1" y="1584"/>
              <a:ext cx="206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2000" b="0">
                  <a:latin typeface="Times New Roman" panose="02020603050405020304" pitchFamily="18" charset="0"/>
                </a:rPr>
                <a:t>Authentication Request</a:t>
              </a:r>
            </a:p>
          </p:txBody>
        </p:sp>
        <p:sp>
          <p:nvSpPr>
            <p:cNvPr id="44103" name="Text Box 6">
              <a:extLst>
                <a:ext uri="{FF2B5EF4-FFF2-40B4-BE49-F238E27FC236}">
                  <a16:creationId xmlns:a16="http://schemas.microsoft.com/office/drawing/2014/main" id="{4FEB466D-D5D8-4C84-AF16-DFF98723EA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4" y="1833"/>
              <a:ext cx="225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2000" b="0" i="1">
                  <a:latin typeface="Times New Roman" panose="02020603050405020304" pitchFamily="18" charset="0"/>
                </a:rPr>
                <a:t>Challenge: 128 bit RAND</a:t>
              </a:r>
            </a:p>
          </p:txBody>
        </p:sp>
      </p:grpSp>
      <p:grpSp>
        <p:nvGrpSpPr>
          <p:cNvPr id="3" name="Group 7">
            <a:extLst>
              <a:ext uri="{FF2B5EF4-FFF2-40B4-BE49-F238E27FC236}">
                <a16:creationId xmlns:a16="http://schemas.microsoft.com/office/drawing/2014/main" id="{11CFBB6F-F8A3-4DBB-8A12-6B9F1F5A0490}"/>
              </a:ext>
            </a:extLst>
          </p:cNvPr>
          <p:cNvGrpSpPr>
            <a:grpSpLocks/>
          </p:cNvGrpSpPr>
          <p:nvPr/>
        </p:nvGrpSpPr>
        <p:grpSpPr bwMode="auto">
          <a:xfrm>
            <a:off x="1905001" y="2667000"/>
            <a:ext cx="1668463" cy="1587500"/>
            <a:chOff x="624" y="2016"/>
            <a:chExt cx="1051" cy="1408"/>
          </a:xfrm>
        </p:grpSpPr>
        <p:sp>
          <p:nvSpPr>
            <p:cNvPr id="44094" name="Line 8">
              <a:extLst>
                <a:ext uri="{FF2B5EF4-FFF2-40B4-BE49-F238E27FC236}">
                  <a16:creationId xmlns:a16="http://schemas.microsoft.com/office/drawing/2014/main" id="{A9E2B06C-875A-4A2B-8FA9-8C10441F8E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225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4095" name="Line 9">
              <a:extLst>
                <a:ext uri="{FF2B5EF4-FFF2-40B4-BE49-F238E27FC236}">
                  <a16:creationId xmlns:a16="http://schemas.microsoft.com/office/drawing/2014/main" id="{A02162E9-E1C7-4C84-8DA6-0F634468C9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225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4096" name="Rectangle 10">
              <a:extLst>
                <a:ext uri="{FF2B5EF4-FFF2-40B4-BE49-F238E27FC236}">
                  <a16:creationId xmlns:a16="http://schemas.microsoft.com/office/drawing/2014/main" id="{FB016187-4147-4BB4-91CC-373A2F1C30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2448"/>
              <a:ext cx="1008" cy="432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2000" b="0">
                  <a:latin typeface="Times New Roman" panose="02020603050405020304" pitchFamily="18" charset="0"/>
                </a:rPr>
                <a:t>A3</a:t>
              </a:r>
            </a:p>
          </p:txBody>
        </p:sp>
        <p:sp>
          <p:nvSpPr>
            <p:cNvPr id="44097" name="Line 11">
              <a:extLst>
                <a:ext uri="{FF2B5EF4-FFF2-40B4-BE49-F238E27FC236}">
                  <a16:creationId xmlns:a16="http://schemas.microsoft.com/office/drawing/2014/main" id="{E08B2BBB-4018-4A79-BBB2-7ADFF5A081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880"/>
              <a:ext cx="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4098" name="Text Box 12">
              <a:extLst>
                <a:ext uri="{FF2B5EF4-FFF2-40B4-BE49-F238E27FC236}">
                  <a16:creationId xmlns:a16="http://schemas.microsoft.com/office/drawing/2014/main" id="{101E38FA-A57D-4100-9FC7-0A0139B837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016"/>
              <a:ext cx="571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2000" b="0">
                  <a:latin typeface="Times New Roman" panose="02020603050405020304" pitchFamily="18" charset="0"/>
                </a:rPr>
                <a:t>RAND</a:t>
              </a:r>
            </a:p>
          </p:txBody>
        </p:sp>
        <p:sp>
          <p:nvSpPr>
            <p:cNvPr id="44099" name="Text Box 13">
              <a:extLst>
                <a:ext uri="{FF2B5EF4-FFF2-40B4-BE49-F238E27FC236}">
                  <a16:creationId xmlns:a16="http://schemas.microsoft.com/office/drawing/2014/main" id="{1761D246-D7A6-45FB-B011-83B367EB07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016"/>
              <a:ext cx="276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2000" b="0">
                  <a:latin typeface="Times New Roman" panose="02020603050405020304" pitchFamily="18" charset="0"/>
                </a:rPr>
                <a:t>Ki</a:t>
              </a:r>
              <a:endParaRPr lang="it-IT" altLang="it-IT" sz="2000" b="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44100" name="Text Box 14">
              <a:extLst>
                <a:ext uri="{FF2B5EF4-FFF2-40B4-BE49-F238E27FC236}">
                  <a16:creationId xmlns:a16="http://schemas.microsoft.com/office/drawing/2014/main" id="{54FB5852-7B47-4DCB-90C2-62CC4ACB63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2" y="3072"/>
              <a:ext cx="499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2000" b="0">
                  <a:latin typeface="Times New Roman" panose="02020603050405020304" pitchFamily="18" charset="0"/>
                </a:rPr>
                <a:t>SRES</a:t>
              </a:r>
            </a:p>
          </p:txBody>
        </p:sp>
      </p:grpSp>
      <p:grpSp>
        <p:nvGrpSpPr>
          <p:cNvPr id="4" name="Group 15">
            <a:extLst>
              <a:ext uri="{FF2B5EF4-FFF2-40B4-BE49-F238E27FC236}">
                <a16:creationId xmlns:a16="http://schemas.microsoft.com/office/drawing/2014/main" id="{3153C480-5417-43F6-99FA-87CA129FD5D2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3200400" y="4008438"/>
            <a:ext cx="3886200" cy="792162"/>
            <a:chOff x="1129" y="1584"/>
            <a:chExt cx="3120" cy="499"/>
          </a:xfrm>
        </p:grpSpPr>
        <p:sp>
          <p:nvSpPr>
            <p:cNvPr id="44091" name="Line 16">
              <a:extLst>
                <a:ext uri="{FF2B5EF4-FFF2-40B4-BE49-F238E27FC236}">
                  <a16:creationId xmlns:a16="http://schemas.microsoft.com/office/drawing/2014/main" id="{7387EBFB-2CB5-48F2-B353-3E1213843B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29" y="1824"/>
              <a:ext cx="31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4092" name="Text Box 17">
              <a:extLst>
                <a:ext uri="{FF2B5EF4-FFF2-40B4-BE49-F238E27FC236}">
                  <a16:creationId xmlns:a16="http://schemas.microsoft.com/office/drawing/2014/main" id="{EEB6A251-7B96-42F5-9FB4-E0C29EBF85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0" y="1584"/>
              <a:ext cx="218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2000" b="0">
                  <a:latin typeface="Times New Roman" panose="02020603050405020304" pitchFamily="18" charset="0"/>
                </a:rPr>
                <a:t>Authentication Response</a:t>
              </a:r>
            </a:p>
          </p:txBody>
        </p:sp>
        <p:sp>
          <p:nvSpPr>
            <p:cNvPr id="44093" name="Text Box 18">
              <a:extLst>
                <a:ext uri="{FF2B5EF4-FFF2-40B4-BE49-F238E27FC236}">
                  <a16:creationId xmlns:a16="http://schemas.microsoft.com/office/drawing/2014/main" id="{575077E8-BC77-46BE-B9EC-2F73AE665E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5" y="1833"/>
              <a:ext cx="241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2000" b="0" i="1">
                  <a:latin typeface="Times New Roman" panose="02020603050405020304" pitchFamily="18" charset="0"/>
                </a:rPr>
                <a:t>Signed RESult: 32 bit SRES</a:t>
              </a:r>
            </a:p>
          </p:txBody>
        </p:sp>
      </p:grpSp>
      <p:grpSp>
        <p:nvGrpSpPr>
          <p:cNvPr id="5" name="Group 19">
            <a:extLst>
              <a:ext uri="{FF2B5EF4-FFF2-40B4-BE49-F238E27FC236}">
                <a16:creationId xmlns:a16="http://schemas.microsoft.com/office/drawing/2014/main" id="{EAC05085-F93F-43D1-BE34-C229EAFC463A}"/>
              </a:ext>
            </a:extLst>
          </p:cNvPr>
          <p:cNvGrpSpPr>
            <a:grpSpLocks/>
          </p:cNvGrpSpPr>
          <p:nvPr/>
        </p:nvGrpSpPr>
        <p:grpSpPr bwMode="auto">
          <a:xfrm>
            <a:off x="7162800" y="2895600"/>
            <a:ext cx="1219200" cy="1981200"/>
            <a:chOff x="3552" y="1824"/>
            <a:chExt cx="768" cy="1248"/>
          </a:xfrm>
        </p:grpSpPr>
        <p:sp>
          <p:nvSpPr>
            <p:cNvPr id="44087" name="AutoShape 20">
              <a:extLst>
                <a:ext uri="{FF2B5EF4-FFF2-40B4-BE49-F238E27FC236}">
                  <a16:creationId xmlns:a16="http://schemas.microsoft.com/office/drawing/2014/main" id="{22ECD17A-81F1-4CE8-A4AB-F804EE26EA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2448"/>
              <a:ext cx="768" cy="624"/>
            </a:xfrm>
            <a:prstGeom prst="flowChartDecision">
              <a:avLst/>
            </a:prstGeom>
            <a:solidFill>
              <a:srgbClr val="FFFF99">
                <a:alpha val="50195"/>
              </a:srgb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2000" b="0">
                  <a:latin typeface="Times New Roman" panose="02020603050405020304" pitchFamily="18" charset="0"/>
                </a:rPr>
                <a:t>Equal?</a:t>
              </a:r>
            </a:p>
          </p:txBody>
        </p:sp>
        <p:grpSp>
          <p:nvGrpSpPr>
            <p:cNvPr id="44088" name="Group 21">
              <a:extLst>
                <a:ext uri="{FF2B5EF4-FFF2-40B4-BE49-F238E27FC236}">
                  <a16:creationId xmlns:a16="http://schemas.microsoft.com/office/drawing/2014/main" id="{809041E5-FB6E-4FA2-92B8-08E982DAA8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6" y="1824"/>
              <a:ext cx="499" cy="624"/>
              <a:chOff x="3696" y="1824"/>
              <a:chExt cx="499" cy="624"/>
            </a:xfrm>
          </p:grpSpPr>
          <p:sp>
            <p:nvSpPr>
              <p:cNvPr id="44089" name="Line 22">
                <a:extLst>
                  <a:ext uri="{FF2B5EF4-FFF2-40B4-BE49-F238E27FC236}">
                    <a16:creationId xmlns:a16="http://schemas.microsoft.com/office/drawing/2014/main" id="{1387C94E-0974-41B6-99B1-AD8B0FEEDC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1824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4090" name="Text Box 23">
                <a:extLst>
                  <a:ext uri="{FF2B5EF4-FFF2-40B4-BE49-F238E27FC236}">
                    <a16:creationId xmlns:a16="http://schemas.microsoft.com/office/drawing/2014/main" id="{3B020523-92E0-40BC-9AD7-4D026811E6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96" y="2016"/>
                <a:ext cx="499" cy="2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anose="020506040505050202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it-IT" altLang="it-IT" sz="2000" b="0">
                    <a:latin typeface="Times New Roman" panose="02020603050405020304" pitchFamily="18" charset="0"/>
                  </a:rPr>
                  <a:t>SRES</a:t>
                </a:r>
              </a:p>
            </p:txBody>
          </p:sp>
        </p:grpSp>
      </p:grpSp>
      <p:grpSp>
        <p:nvGrpSpPr>
          <p:cNvPr id="44039" name="Group 24">
            <a:extLst>
              <a:ext uri="{FF2B5EF4-FFF2-40B4-BE49-F238E27FC236}">
                <a16:creationId xmlns:a16="http://schemas.microsoft.com/office/drawing/2014/main" id="{0BC3A245-F3F8-4B46-90D7-A1728B23EF59}"/>
              </a:ext>
            </a:extLst>
          </p:cNvPr>
          <p:cNvGrpSpPr>
            <a:grpSpLocks/>
          </p:cNvGrpSpPr>
          <p:nvPr/>
        </p:nvGrpSpPr>
        <p:grpSpPr bwMode="auto">
          <a:xfrm>
            <a:off x="2017714" y="1295400"/>
            <a:ext cx="8497887" cy="1447800"/>
            <a:chOff x="311" y="816"/>
            <a:chExt cx="5353" cy="912"/>
          </a:xfrm>
        </p:grpSpPr>
        <p:sp>
          <p:nvSpPr>
            <p:cNvPr id="44050" name="AutoShape 25">
              <a:extLst>
                <a:ext uri="{FF2B5EF4-FFF2-40B4-BE49-F238E27FC236}">
                  <a16:creationId xmlns:a16="http://schemas.microsoft.com/office/drawing/2014/main" id="{E397FFB7-77CE-474B-95F6-DA028723BF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912"/>
              <a:ext cx="480" cy="816"/>
            </a:xfrm>
            <a:prstGeom prst="can">
              <a:avLst>
                <a:gd name="adj" fmla="val 33126"/>
              </a:avLst>
            </a:prstGeom>
            <a:solidFill>
              <a:srgbClr val="FF99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2000" b="0">
                  <a:latin typeface="Times New Roman" panose="02020603050405020304" pitchFamily="18" charset="0"/>
                </a:rPr>
                <a:t>SN</a:t>
              </a:r>
            </a:p>
          </p:txBody>
        </p:sp>
        <p:grpSp>
          <p:nvGrpSpPr>
            <p:cNvPr id="44051" name="Group 26">
              <a:extLst>
                <a:ext uri="{FF2B5EF4-FFF2-40B4-BE49-F238E27FC236}">
                  <a16:creationId xmlns:a16="http://schemas.microsoft.com/office/drawing/2014/main" id="{185C4D8E-0C5C-4721-BF46-8A966B601A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" y="1152"/>
              <a:ext cx="480" cy="432"/>
              <a:chOff x="806" y="2592"/>
              <a:chExt cx="779" cy="551"/>
            </a:xfrm>
          </p:grpSpPr>
          <p:grpSp>
            <p:nvGrpSpPr>
              <p:cNvPr id="44054" name="Group 27">
                <a:extLst>
                  <a:ext uri="{FF2B5EF4-FFF2-40B4-BE49-F238E27FC236}">
                    <a16:creationId xmlns:a16="http://schemas.microsoft.com/office/drawing/2014/main" id="{5A062E91-A485-41C6-BD26-7025968EE6F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98" y="2592"/>
                <a:ext cx="387" cy="253"/>
                <a:chOff x="1198" y="2592"/>
                <a:chExt cx="387" cy="253"/>
              </a:xfrm>
            </p:grpSpPr>
            <p:sp>
              <p:nvSpPr>
                <p:cNvPr id="44085" name="Freeform 28">
                  <a:extLst>
                    <a:ext uri="{FF2B5EF4-FFF2-40B4-BE49-F238E27FC236}">
                      <a16:creationId xmlns:a16="http://schemas.microsoft.com/office/drawing/2014/main" id="{4B8C7CD6-7095-4C16-9F8D-474A7D2492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98" y="2592"/>
                  <a:ext cx="387" cy="250"/>
                </a:xfrm>
                <a:custGeom>
                  <a:avLst/>
                  <a:gdLst>
                    <a:gd name="T0" fmla="*/ 385 w 387"/>
                    <a:gd name="T1" fmla="*/ 0 h 250"/>
                    <a:gd name="T2" fmla="*/ 202 w 387"/>
                    <a:gd name="T3" fmla="*/ 120 h 250"/>
                    <a:gd name="T4" fmla="*/ 198 w 387"/>
                    <a:gd name="T5" fmla="*/ 118 h 250"/>
                    <a:gd name="T6" fmla="*/ 0 w 387"/>
                    <a:gd name="T7" fmla="*/ 249 h 250"/>
                    <a:gd name="T8" fmla="*/ 21 w 387"/>
                    <a:gd name="T9" fmla="*/ 249 h 250"/>
                    <a:gd name="T10" fmla="*/ 202 w 387"/>
                    <a:gd name="T11" fmla="*/ 130 h 250"/>
                    <a:gd name="T12" fmla="*/ 205 w 387"/>
                    <a:gd name="T13" fmla="*/ 124 h 250"/>
                    <a:gd name="T14" fmla="*/ 386 w 387"/>
                    <a:gd name="T15" fmla="*/ 2 h 250"/>
                    <a:gd name="T16" fmla="*/ 385 w 387"/>
                    <a:gd name="T17" fmla="*/ 0 h 25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387"/>
                    <a:gd name="T28" fmla="*/ 0 h 250"/>
                    <a:gd name="T29" fmla="*/ 387 w 387"/>
                    <a:gd name="T30" fmla="*/ 250 h 25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387" h="250">
                      <a:moveTo>
                        <a:pt x="385" y="0"/>
                      </a:moveTo>
                      <a:lnTo>
                        <a:pt x="202" y="120"/>
                      </a:lnTo>
                      <a:lnTo>
                        <a:pt x="198" y="118"/>
                      </a:lnTo>
                      <a:lnTo>
                        <a:pt x="0" y="249"/>
                      </a:lnTo>
                      <a:lnTo>
                        <a:pt x="21" y="249"/>
                      </a:lnTo>
                      <a:lnTo>
                        <a:pt x="202" y="130"/>
                      </a:lnTo>
                      <a:lnTo>
                        <a:pt x="205" y="124"/>
                      </a:lnTo>
                      <a:lnTo>
                        <a:pt x="386" y="2"/>
                      </a:lnTo>
                      <a:lnTo>
                        <a:pt x="385" y="0"/>
                      </a:lnTo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/>
                <a:lstStyle/>
                <a:p>
                  <a:endParaRPr lang="it-IT"/>
                </a:p>
              </p:txBody>
            </p:sp>
            <p:sp>
              <p:nvSpPr>
                <p:cNvPr id="44086" name="Oval 29">
                  <a:extLst>
                    <a:ext uri="{FF2B5EF4-FFF2-40B4-BE49-F238E27FC236}">
                      <a16:creationId xmlns:a16="http://schemas.microsoft.com/office/drawing/2014/main" id="{5BB590BC-3208-411A-A0D4-A0207B3971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12" y="2821"/>
                  <a:ext cx="20" cy="24"/>
                </a:xfrm>
                <a:prstGeom prst="ellipse">
                  <a:avLst/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è"/>
                    <a:defRPr sz="3200" b="1">
                      <a:solidFill>
                        <a:schemeClr val="tx1"/>
                      </a:solidFill>
                      <a:latin typeface="Bookman Old Style" panose="020506040505050202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ð"/>
                    <a:defRPr sz="32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à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it-IT" altLang="it-IT" sz="1800" b="0"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44055" name="Group 30">
                <a:extLst>
                  <a:ext uri="{FF2B5EF4-FFF2-40B4-BE49-F238E27FC236}">
                    <a16:creationId xmlns:a16="http://schemas.microsoft.com/office/drawing/2014/main" id="{32D0055C-32A7-4D8E-A7B3-865F551C3AB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06" y="2722"/>
                <a:ext cx="496" cy="421"/>
                <a:chOff x="806" y="2722"/>
                <a:chExt cx="496" cy="421"/>
              </a:xfrm>
            </p:grpSpPr>
            <p:sp>
              <p:nvSpPr>
                <p:cNvPr id="44056" name="Freeform 31">
                  <a:extLst>
                    <a:ext uri="{FF2B5EF4-FFF2-40B4-BE49-F238E27FC236}">
                      <a16:creationId xmlns:a16="http://schemas.microsoft.com/office/drawing/2014/main" id="{31DE7CCE-C1DD-40FE-8B6E-F5BAAF98FB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06" y="2722"/>
                  <a:ext cx="496" cy="421"/>
                </a:xfrm>
                <a:custGeom>
                  <a:avLst/>
                  <a:gdLst>
                    <a:gd name="T0" fmla="*/ 386 w 496"/>
                    <a:gd name="T1" fmla="*/ 15 h 421"/>
                    <a:gd name="T2" fmla="*/ 312 w 496"/>
                    <a:gd name="T3" fmla="*/ 89 h 421"/>
                    <a:gd name="T4" fmla="*/ 104 w 496"/>
                    <a:gd name="T5" fmla="*/ 247 h 421"/>
                    <a:gd name="T6" fmla="*/ 0 w 496"/>
                    <a:gd name="T7" fmla="*/ 301 h 421"/>
                    <a:gd name="T8" fmla="*/ 64 w 496"/>
                    <a:gd name="T9" fmla="*/ 420 h 421"/>
                    <a:gd name="T10" fmla="*/ 89 w 496"/>
                    <a:gd name="T11" fmla="*/ 415 h 421"/>
                    <a:gd name="T12" fmla="*/ 168 w 496"/>
                    <a:gd name="T13" fmla="*/ 366 h 421"/>
                    <a:gd name="T14" fmla="*/ 401 w 496"/>
                    <a:gd name="T15" fmla="*/ 193 h 421"/>
                    <a:gd name="T16" fmla="*/ 495 w 496"/>
                    <a:gd name="T17" fmla="*/ 94 h 421"/>
                    <a:gd name="T18" fmla="*/ 421 w 496"/>
                    <a:gd name="T19" fmla="*/ 0 h 421"/>
                    <a:gd name="T20" fmla="*/ 386 w 496"/>
                    <a:gd name="T21" fmla="*/ 15 h 421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496"/>
                    <a:gd name="T34" fmla="*/ 0 h 421"/>
                    <a:gd name="T35" fmla="*/ 496 w 496"/>
                    <a:gd name="T36" fmla="*/ 421 h 421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496" h="421">
                      <a:moveTo>
                        <a:pt x="386" y="15"/>
                      </a:moveTo>
                      <a:lnTo>
                        <a:pt x="312" y="89"/>
                      </a:lnTo>
                      <a:lnTo>
                        <a:pt x="104" y="247"/>
                      </a:lnTo>
                      <a:lnTo>
                        <a:pt x="0" y="301"/>
                      </a:lnTo>
                      <a:lnTo>
                        <a:pt x="64" y="420"/>
                      </a:lnTo>
                      <a:lnTo>
                        <a:pt x="89" y="415"/>
                      </a:lnTo>
                      <a:lnTo>
                        <a:pt x="168" y="366"/>
                      </a:lnTo>
                      <a:lnTo>
                        <a:pt x="401" y="193"/>
                      </a:lnTo>
                      <a:lnTo>
                        <a:pt x="495" y="94"/>
                      </a:lnTo>
                      <a:lnTo>
                        <a:pt x="421" y="0"/>
                      </a:lnTo>
                      <a:lnTo>
                        <a:pt x="386" y="15"/>
                      </a:lnTo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/>
                <a:lstStyle/>
                <a:p>
                  <a:endParaRPr lang="it-IT"/>
                </a:p>
              </p:txBody>
            </p:sp>
            <p:sp>
              <p:nvSpPr>
                <p:cNvPr id="44057" name="Freeform 32">
                  <a:extLst>
                    <a:ext uri="{FF2B5EF4-FFF2-40B4-BE49-F238E27FC236}">
                      <a16:creationId xmlns:a16="http://schemas.microsoft.com/office/drawing/2014/main" id="{13826C8E-E05A-4A1A-8E1A-8B1E1151B4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17" y="3033"/>
                  <a:ext cx="70" cy="106"/>
                </a:xfrm>
                <a:custGeom>
                  <a:avLst/>
                  <a:gdLst>
                    <a:gd name="T0" fmla="*/ 14 w 70"/>
                    <a:gd name="T1" fmla="*/ 0 h 106"/>
                    <a:gd name="T2" fmla="*/ 0 w 70"/>
                    <a:gd name="T3" fmla="*/ 0 h 106"/>
                    <a:gd name="T4" fmla="*/ 51 w 70"/>
                    <a:gd name="T5" fmla="*/ 105 h 106"/>
                    <a:gd name="T6" fmla="*/ 69 w 70"/>
                    <a:gd name="T7" fmla="*/ 100 h 106"/>
                    <a:gd name="T8" fmla="*/ 14 w 70"/>
                    <a:gd name="T9" fmla="*/ 0 h 10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0"/>
                    <a:gd name="T16" fmla="*/ 0 h 106"/>
                    <a:gd name="T17" fmla="*/ 70 w 70"/>
                    <a:gd name="T18" fmla="*/ 106 h 10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0" h="106">
                      <a:moveTo>
                        <a:pt x="14" y="0"/>
                      </a:moveTo>
                      <a:lnTo>
                        <a:pt x="0" y="0"/>
                      </a:lnTo>
                      <a:lnTo>
                        <a:pt x="51" y="105"/>
                      </a:lnTo>
                      <a:lnTo>
                        <a:pt x="69" y="100"/>
                      </a:lnTo>
                      <a:lnTo>
                        <a:pt x="14" y="0"/>
                      </a:lnTo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/>
                <a:lstStyle/>
                <a:p>
                  <a:endParaRPr lang="it-IT"/>
                </a:p>
              </p:txBody>
            </p:sp>
            <p:sp>
              <p:nvSpPr>
                <p:cNvPr id="44058" name="Freeform 33">
                  <a:extLst>
                    <a:ext uri="{FF2B5EF4-FFF2-40B4-BE49-F238E27FC236}">
                      <a16:creationId xmlns:a16="http://schemas.microsoft.com/office/drawing/2014/main" id="{84E9DEA7-7A30-43E5-84C5-A3B0161F101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41" y="2988"/>
                  <a:ext cx="131" cy="140"/>
                </a:xfrm>
                <a:custGeom>
                  <a:avLst/>
                  <a:gdLst>
                    <a:gd name="T0" fmla="*/ 0 w 131"/>
                    <a:gd name="T1" fmla="*/ 43 h 140"/>
                    <a:gd name="T2" fmla="*/ 53 w 131"/>
                    <a:gd name="T3" fmla="*/ 139 h 140"/>
                    <a:gd name="T4" fmla="*/ 130 w 131"/>
                    <a:gd name="T5" fmla="*/ 86 h 140"/>
                    <a:gd name="T6" fmla="*/ 77 w 131"/>
                    <a:gd name="T7" fmla="*/ 0 h 140"/>
                    <a:gd name="T8" fmla="*/ 0 w 131"/>
                    <a:gd name="T9" fmla="*/ 43 h 1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31"/>
                    <a:gd name="T16" fmla="*/ 0 h 140"/>
                    <a:gd name="T17" fmla="*/ 131 w 131"/>
                    <a:gd name="T18" fmla="*/ 140 h 1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31" h="140">
                      <a:moveTo>
                        <a:pt x="0" y="43"/>
                      </a:moveTo>
                      <a:lnTo>
                        <a:pt x="53" y="139"/>
                      </a:lnTo>
                      <a:lnTo>
                        <a:pt x="130" y="86"/>
                      </a:lnTo>
                      <a:lnTo>
                        <a:pt x="77" y="0"/>
                      </a:lnTo>
                      <a:lnTo>
                        <a:pt x="0" y="43"/>
                      </a:lnTo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/>
                <a:lstStyle/>
                <a:p>
                  <a:endParaRPr lang="it-IT"/>
                </a:p>
              </p:txBody>
            </p:sp>
            <p:sp>
              <p:nvSpPr>
                <p:cNvPr id="44059" name="Freeform 34">
                  <a:extLst>
                    <a:ext uri="{FF2B5EF4-FFF2-40B4-BE49-F238E27FC236}">
                      <a16:creationId xmlns:a16="http://schemas.microsoft.com/office/drawing/2014/main" id="{90EA58A9-6047-40A9-A5AC-D8DC07B4C07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45" y="2733"/>
                  <a:ext cx="142" cy="161"/>
                </a:xfrm>
                <a:custGeom>
                  <a:avLst/>
                  <a:gdLst>
                    <a:gd name="T0" fmla="*/ 78 w 142"/>
                    <a:gd name="T1" fmla="*/ 0 h 161"/>
                    <a:gd name="T2" fmla="*/ 0 w 142"/>
                    <a:gd name="T3" fmla="*/ 78 h 161"/>
                    <a:gd name="T4" fmla="*/ 68 w 142"/>
                    <a:gd name="T5" fmla="*/ 160 h 161"/>
                    <a:gd name="T6" fmla="*/ 141 w 142"/>
                    <a:gd name="T7" fmla="*/ 82 h 161"/>
                    <a:gd name="T8" fmla="*/ 78 w 142"/>
                    <a:gd name="T9" fmla="*/ 0 h 16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42"/>
                    <a:gd name="T16" fmla="*/ 0 h 161"/>
                    <a:gd name="T17" fmla="*/ 142 w 142"/>
                    <a:gd name="T18" fmla="*/ 161 h 16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42" h="161">
                      <a:moveTo>
                        <a:pt x="78" y="0"/>
                      </a:moveTo>
                      <a:lnTo>
                        <a:pt x="0" y="78"/>
                      </a:lnTo>
                      <a:lnTo>
                        <a:pt x="68" y="160"/>
                      </a:lnTo>
                      <a:lnTo>
                        <a:pt x="141" y="82"/>
                      </a:lnTo>
                      <a:lnTo>
                        <a:pt x="78" y="0"/>
                      </a:lnTo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/>
                <a:lstStyle/>
                <a:p>
                  <a:endParaRPr lang="it-IT"/>
                </a:p>
              </p:txBody>
            </p:sp>
            <p:sp>
              <p:nvSpPr>
                <p:cNvPr id="44060" name="Freeform 35">
                  <a:extLst>
                    <a:ext uri="{FF2B5EF4-FFF2-40B4-BE49-F238E27FC236}">
                      <a16:creationId xmlns:a16="http://schemas.microsoft.com/office/drawing/2014/main" id="{3139C369-706D-408E-8870-D36D00C745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31" y="2827"/>
                  <a:ext cx="271" cy="241"/>
                </a:xfrm>
                <a:custGeom>
                  <a:avLst/>
                  <a:gdLst>
                    <a:gd name="T0" fmla="*/ 0 w 271"/>
                    <a:gd name="T1" fmla="*/ 147 h 241"/>
                    <a:gd name="T2" fmla="*/ 54 w 271"/>
                    <a:gd name="T3" fmla="*/ 240 h 241"/>
                    <a:gd name="T4" fmla="*/ 270 w 271"/>
                    <a:gd name="T5" fmla="*/ 73 h 241"/>
                    <a:gd name="T6" fmla="*/ 206 w 271"/>
                    <a:gd name="T7" fmla="*/ 0 h 241"/>
                    <a:gd name="T8" fmla="*/ 0 w 271"/>
                    <a:gd name="T9" fmla="*/ 147 h 2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1"/>
                    <a:gd name="T16" fmla="*/ 0 h 241"/>
                    <a:gd name="T17" fmla="*/ 271 w 271"/>
                    <a:gd name="T18" fmla="*/ 241 h 24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1" h="241">
                      <a:moveTo>
                        <a:pt x="0" y="147"/>
                      </a:moveTo>
                      <a:lnTo>
                        <a:pt x="54" y="240"/>
                      </a:lnTo>
                      <a:lnTo>
                        <a:pt x="270" y="73"/>
                      </a:lnTo>
                      <a:lnTo>
                        <a:pt x="206" y="0"/>
                      </a:lnTo>
                      <a:lnTo>
                        <a:pt x="0" y="147"/>
                      </a:lnTo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/>
                <a:lstStyle/>
                <a:p>
                  <a:endParaRPr lang="it-IT"/>
                </a:p>
              </p:txBody>
            </p:sp>
            <p:grpSp>
              <p:nvGrpSpPr>
                <p:cNvPr id="44061" name="Group 36">
                  <a:extLst>
                    <a:ext uri="{FF2B5EF4-FFF2-40B4-BE49-F238E27FC236}">
                      <a16:creationId xmlns:a16="http://schemas.microsoft.com/office/drawing/2014/main" id="{B0C1BCA6-9158-4A9C-BFA1-598D0D59E8D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46" y="2847"/>
                  <a:ext cx="195" cy="141"/>
                  <a:chOff x="946" y="2847"/>
                  <a:chExt cx="195" cy="141"/>
                </a:xfrm>
              </p:grpSpPr>
              <p:sp>
                <p:nvSpPr>
                  <p:cNvPr id="44078" name="Oval 37">
                    <a:extLst>
                      <a:ext uri="{FF2B5EF4-FFF2-40B4-BE49-F238E27FC236}">
                        <a16:creationId xmlns:a16="http://schemas.microsoft.com/office/drawing/2014/main" id="{B5B03D43-25E2-439A-A26B-95E88B1D9C7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26" y="2847"/>
                    <a:ext cx="15" cy="15"/>
                  </a:xfrm>
                  <a:prstGeom prst="ellipse">
                    <a:avLst/>
                  </a:prstGeom>
                  <a:solidFill>
                    <a:srgbClr val="40404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è"/>
                      <a:defRPr sz="3200" b="1">
                        <a:solidFill>
                          <a:schemeClr val="tx1"/>
                        </a:solidFill>
                        <a:latin typeface="Bookman Old Style" panose="020506040505050202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ð"/>
                      <a:defRPr sz="32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à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»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it-IT" altLang="it-IT" sz="1800" b="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44079" name="Oval 38">
                    <a:extLst>
                      <a:ext uri="{FF2B5EF4-FFF2-40B4-BE49-F238E27FC236}">
                        <a16:creationId xmlns:a16="http://schemas.microsoft.com/office/drawing/2014/main" id="{B8BAE5CB-A96A-495D-ACA8-96149515663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96" y="2866"/>
                    <a:ext cx="15" cy="17"/>
                  </a:xfrm>
                  <a:prstGeom prst="ellipse">
                    <a:avLst/>
                  </a:prstGeom>
                  <a:solidFill>
                    <a:srgbClr val="40404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è"/>
                      <a:defRPr sz="3200" b="1">
                        <a:solidFill>
                          <a:schemeClr val="tx1"/>
                        </a:solidFill>
                        <a:latin typeface="Bookman Old Style" panose="020506040505050202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ð"/>
                      <a:defRPr sz="32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à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»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it-IT" altLang="it-IT" sz="1800" b="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44080" name="Oval 39">
                    <a:extLst>
                      <a:ext uri="{FF2B5EF4-FFF2-40B4-BE49-F238E27FC236}">
                        <a16:creationId xmlns:a16="http://schemas.microsoft.com/office/drawing/2014/main" id="{36FF50C5-B8A8-4913-B5AE-6C7B9A6D878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67" y="2887"/>
                    <a:ext cx="14" cy="15"/>
                  </a:xfrm>
                  <a:prstGeom prst="ellipse">
                    <a:avLst/>
                  </a:prstGeom>
                  <a:solidFill>
                    <a:srgbClr val="40404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è"/>
                      <a:defRPr sz="3200" b="1">
                        <a:solidFill>
                          <a:schemeClr val="tx1"/>
                        </a:solidFill>
                        <a:latin typeface="Bookman Old Style" panose="020506040505050202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ð"/>
                      <a:defRPr sz="32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à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»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it-IT" altLang="it-IT" sz="1800" b="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44081" name="Oval 40">
                    <a:extLst>
                      <a:ext uri="{FF2B5EF4-FFF2-40B4-BE49-F238E27FC236}">
                        <a16:creationId xmlns:a16="http://schemas.microsoft.com/office/drawing/2014/main" id="{C821B28C-776E-4D16-83DE-3AFA62929E7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36" y="2907"/>
                    <a:ext cx="15" cy="15"/>
                  </a:xfrm>
                  <a:prstGeom prst="ellipse">
                    <a:avLst/>
                  </a:prstGeom>
                  <a:solidFill>
                    <a:srgbClr val="40404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è"/>
                      <a:defRPr sz="3200" b="1">
                        <a:solidFill>
                          <a:schemeClr val="tx1"/>
                        </a:solidFill>
                        <a:latin typeface="Bookman Old Style" panose="020506040505050202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ð"/>
                      <a:defRPr sz="32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à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»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it-IT" altLang="it-IT" sz="1800" b="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44082" name="Oval 41">
                    <a:extLst>
                      <a:ext uri="{FF2B5EF4-FFF2-40B4-BE49-F238E27FC236}">
                        <a16:creationId xmlns:a16="http://schemas.microsoft.com/office/drawing/2014/main" id="{F93E54DD-1CAB-400A-AE88-B6054B409FF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06" y="2932"/>
                    <a:ext cx="15" cy="11"/>
                  </a:xfrm>
                  <a:prstGeom prst="ellipse">
                    <a:avLst/>
                  </a:prstGeom>
                  <a:solidFill>
                    <a:srgbClr val="40404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è"/>
                      <a:defRPr sz="3200" b="1">
                        <a:solidFill>
                          <a:schemeClr val="tx1"/>
                        </a:solidFill>
                        <a:latin typeface="Bookman Old Style" panose="020506040505050202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ð"/>
                      <a:defRPr sz="32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à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»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it-IT" altLang="it-IT" sz="1800" b="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44083" name="Oval 42">
                    <a:extLst>
                      <a:ext uri="{FF2B5EF4-FFF2-40B4-BE49-F238E27FC236}">
                        <a16:creationId xmlns:a16="http://schemas.microsoft.com/office/drawing/2014/main" id="{67C0F722-7D2B-4587-972E-86CB22DF575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77" y="2952"/>
                    <a:ext cx="14" cy="15"/>
                  </a:xfrm>
                  <a:prstGeom prst="ellipse">
                    <a:avLst/>
                  </a:prstGeom>
                  <a:solidFill>
                    <a:srgbClr val="40404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è"/>
                      <a:defRPr sz="3200" b="1">
                        <a:solidFill>
                          <a:schemeClr val="tx1"/>
                        </a:solidFill>
                        <a:latin typeface="Bookman Old Style" panose="020506040505050202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ð"/>
                      <a:defRPr sz="32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à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»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it-IT" altLang="it-IT" sz="1800" b="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44084" name="Oval 43">
                    <a:extLst>
                      <a:ext uri="{FF2B5EF4-FFF2-40B4-BE49-F238E27FC236}">
                        <a16:creationId xmlns:a16="http://schemas.microsoft.com/office/drawing/2014/main" id="{94C9BC06-8B4F-4EE8-85B2-A66363C15AD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46" y="2971"/>
                    <a:ext cx="16" cy="17"/>
                  </a:xfrm>
                  <a:prstGeom prst="ellipse">
                    <a:avLst/>
                  </a:prstGeom>
                  <a:solidFill>
                    <a:srgbClr val="40404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è"/>
                      <a:defRPr sz="3200" b="1">
                        <a:solidFill>
                          <a:schemeClr val="tx1"/>
                        </a:solidFill>
                        <a:latin typeface="Bookman Old Style" panose="020506040505050202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ð"/>
                      <a:defRPr sz="32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à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»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it-IT" altLang="it-IT" sz="1800" b="0">
                      <a:latin typeface="Arial Narrow" panose="020B0606020202030204" pitchFamily="34" charset="0"/>
                    </a:endParaRPr>
                  </a:p>
                </p:txBody>
              </p:sp>
            </p:grpSp>
            <p:grpSp>
              <p:nvGrpSpPr>
                <p:cNvPr id="44062" name="Group 44">
                  <a:extLst>
                    <a:ext uri="{FF2B5EF4-FFF2-40B4-BE49-F238E27FC236}">
                      <a16:creationId xmlns:a16="http://schemas.microsoft.com/office/drawing/2014/main" id="{DE04E764-47AD-4111-ADE4-02FE0B73636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62" y="2872"/>
                  <a:ext cx="195" cy="140"/>
                  <a:chOff x="962" y="2872"/>
                  <a:chExt cx="195" cy="140"/>
                </a:xfrm>
              </p:grpSpPr>
              <p:sp>
                <p:nvSpPr>
                  <p:cNvPr id="44071" name="Oval 45">
                    <a:extLst>
                      <a:ext uri="{FF2B5EF4-FFF2-40B4-BE49-F238E27FC236}">
                        <a16:creationId xmlns:a16="http://schemas.microsoft.com/office/drawing/2014/main" id="{31DA15BF-8329-4F28-8E06-81FFB4C255F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41" y="2872"/>
                    <a:ext cx="16" cy="15"/>
                  </a:xfrm>
                  <a:prstGeom prst="ellipse">
                    <a:avLst/>
                  </a:prstGeom>
                  <a:solidFill>
                    <a:srgbClr val="40404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è"/>
                      <a:defRPr sz="3200" b="1">
                        <a:solidFill>
                          <a:schemeClr val="tx1"/>
                        </a:solidFill>
                        <a:latin typeface="Bookman Old Style" panose="020506040505050202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ð"/>
                      <a:defRPr sz="32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à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»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it-IT" altLang="it-IT" sz="1800" b="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44072" name="Oval 46">
                    <a:extLst>
                      <a:ext uri="{FF2B5EF4-FFF2-40B4-BE49-F238E27FC236}">
                        <a16:creationId xmlns:a16="http://schemas.microsoft.com/office/drawing/2014/main" id="{E8FBE313-335A-4F7C-9BE5-CCEBDDFC466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11" y="2893"/>
                    <a:ext cx="15" cy="14"/>
                  </a:xfrm>
                  <a:prstGeom prst="ellipse">
                    <a:avLst/>
                  </a:prstGeom>
                  <a:solidFill>
                    <a:srgbClr val="40404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è"/>
                      <a:defRPr sz="3200" b="1">
                        <a:solidFill>
                          <a:schemeClr val="tx1"/>
                        </a:solidFill>
                        <a:latin typeface="Bookman Old Style" panose="020506040505050202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ð"/>
                      <a:defRPr sz="32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à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»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it-IT" altLang="it-IT" sz="1800" b="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44073" name="Oval 47">
                    <a:extLst>
                      <a:ext uri="{FF2B5EF4-FFF2-40B4-BE49-F238E27FC236}">
                        <a16:creationId xmlns:a16="http://schemas.microsoft.com/office/drawing/2014/main" id="{6B299ECD-6FC6-494E-8A20-C564C435D8A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81" y="2913"/>
                    <a:ext cx="15" cy="15"/>
                  </a:xfrm>
                  <a:prstGeom prst="ellipse">
                    <a:avLst/>
                  </a:prstGeom>
                  <a:solidFill>
                    <a:srgbClr val="40404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è"/>
                      <a:defRPr sz="3200" b="1">
                        <a:solidFill>
                          <a:schemeClr val="tx1"/>
                        </a:solidFill>
                        <a:latin typeface="Bookman Old Style" panose="020506040505050202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ð"/>
                      <a:defRPr sz="32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à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»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it-IT" altLang="it-IT" sz="1800" b="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44074" name="Oval 48">
                    <a:extLst>
                      <a:ext uri="{FF2B5EF4-FFF2-40B4-BE49-F238E27FC236}">
                        <a16:creationId xmlns:a16="http://schemas.microsoft.com/office/drawing/2014/main" id="{34F12A76-1660-426E-8DF0-6AE830F72EC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51" y="2932"/>
                    <a:ext cx="16" cy="15"/>
                  </a:xfrm>
                  <a:prstGeom prst="ellipse">
                    <a:avLst/>
                  </a:prstGeom>
                  <a:solidFill>
                    <a:srgbClr val="40404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è"/>
                      <a:defRPr sz="3200" b="1">
                        <a:solidFill>
                          <a:schemeClr val="tx1"/>
                        </a:solidFill>
                        <a:latin typeface="Bookman Old Style" panose="020506040505050202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ð"/>
                      <a:defRPr sz="32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à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»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it-IT" altLang="it-IT" sz="1800" b="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44075" name="Oval 49">
                    <a:extLst>
                      <a:ext uri="{FF2B5EF4-FFF2-40B4-BE49-F238E27FC236}">
                        <a16:creationId xmlns:a16="http://schemas.microsoft.com/office/drawing/2014/main" id="{0A82FC38-E078-45EA-9297-2AAA8DF4269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21" y="2952"/>
                    <a:ext cx="15" cy="15"/>
                  </a:xfrm>
                  <a:prstGeom prst="ellipse">
                    <a:avLst/>
                  </a:prstGeom>
                  <a:solidFill>
                    <a:srgbClr val="40404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è"/>
                      <a:defRPr sz="3200" b="1">
                        <a:solidFill>
                          <a:schemeClr val="tx1"/>
                        </a:solidFill>
                        <a:latin typeface="Bookman Old Style" panose="020506040505050202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ð"/>
                      <a:defRPr sz="32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à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»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it-IT" altLang="it-IT" sz="1800" b="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44076" name="Oval 50">
                    <a:extLst>
                      <a:ext uri="{FF2B5EF4-FFF2-40B4-BE49-F238E27FC236}">
                        <a16:creationId xmlns:a16="http://schemas.microsoft.com/office/drawing/2014/main" id="{19F6B738-2147-4868-A028-5B896609AAA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91" y="2977"/>
                    <a:ext cx="15" cy="15"/>
                  </a:xfrm>
                  <a:prstGeom prst="ellipse">
                    <a:avLst/>
                  </a:prstGeom>
                  <a:solidFill>
                    <a:srgbClr val="40404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è"/>
                      <a:defRPr sz="3200" b="1">
                        <a:solidFill>
                          <a:schemeClr val="tx1"/>
                        </a:solidFill>
                        <a:latin typeface="Bookman Old Style" panose="020506040505050202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ð"/>
                      <a:defRPr sz="32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à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»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it-IT" altLang="it-IT" sz="1800" b="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44077" name="Oval 51">
                    <a:extLst>
                      <a:ext uri="{FF2B5EF4-FFF2-40B4-BE49-F238E27FC236}">
                        <a16:creationId xmlns:a16="http://schemas.microsoft.com/office/drawing/2014/main" id="{F5FE50AF-E82F-41E2-A473-18A6FD7FB91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62" y="2998"/>
                    <a:ext cx="15" cy="14"/>
                  </a:xfrm>
                  <a:prstGeom prst="ellipse">
                    <a:avLst/>
                  </a:prstGeom>
                  <a:solidFill>
                    <a:srgbClr val="40404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è"/>
                      <a:defRPr sz="3200" b="1">
                        <a:solidFill>
                          <a:schemeClr val="tx1"/>
                        </a:solidFill>
                        <a:latin typeface="Bookman Old Style" panose="020506040505050202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ð"/>
                      <a:defRPr sz="32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à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»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it-IT" altLang="it-IT" sz="1800" b="0">
                      <a:latin typeface="Arial Narrow" panose="020B0606020202030204" pitchFamily="34" charset="0"/>
                    </a:endParaRPr>
                  </a:p>
                </p:txBody>
              </p:sp>
            </p:grpSp>
            <p:grpSp>
              <p:nvGrpSpPr>
                <p:cNvPr id="44063" name="Group 52">
                  <a:extLst>
                    <a:ext uri="{FF2B5EF4-FFF2-40B4-BE49-F238E27FC236}">
                      <a16:creationId xmlns:a16="http://schemas.microsoft.com/office/drawing/2014/main" id="{8CE380C4-E141-4A40-B7FC-B20D89EEC70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82" y="2898"/>
                  <a:ext cx="195" cy="139"/>
                  <a:chOff x="982" y="2898"/>
                  <a:chExt cx="195" cy="139"/>
                </a:xfrm>
              </p:grpSpPr>
              <p:sp>
                <p:nvSpPr>
                  <p:cNvPr id="44064" name="Oval 53">
                    <a:extLst>
                      <a:ext uri="{FF2B5EF4-FFF2-40B4-BE49-F238E27FC236}">
                        <a16:creationId xmlns:a16="http://schemas.microsoft.com/office/drawing/2014/main" id="{1B75A30A-DDB2-4BE5-AE8A-D20B0A2ABF5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62" y="2898"/>
                    <a:ext cx="15" cy="15"/>
                  </a:xfrm>
                  <a:prstGeom prst="ellipse">
                    <a:avLst/>
                  </a:prstGeom>
                  <a:solidFill>
                    <a:srgbClr val="40404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è"/>
                      <a:defRPr sz="3200" b="1">
                        <a:solidFill>
                          <a:schemeClr val="tx1"/>
                        </a:solidFill>
                        <a:latin typeface="Bookman Old Style" panose="020506040505050202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ð"/>
                      <a:defRPr sz="32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à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»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it-IT" altLang="it-IT" sz="1800" b="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44065" name="Oval 54">
                    <a:extLst>
                      <a:ext uri="{FF2B5EF4-FFF2-40B4-BE49-F238E27FC236}">
                        <a16:creationId xmlns:a16="http://schemas.microsoft.com/office/drawing/2014/main" id="{93DF891A-0F0A-4C08-90BD-9968485FEC0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30" y="2917"/>
                    <a:ext cx="15" cy="15"/>
                  </a:xfrm>
                  <a:prstGeom prst="ellipse">
                    <a:avLst/>
                  </a:prstGeom>
                  <a:solidFill>
                    <a:srgbClr val="40404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è"/>
                      <a:defRPr sz="3200" b="1">
                        <a:solidFill>
                          <a:schemeClr val="tx1"/>
                        </a:solidFill>
                        <a:latin typeface="Bookman Old Style" panose="020506040505050202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ð"/>
                      <a:defRPr sz="32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à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»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it-IT" altLang="it-IT" sz="1800" b="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44066" name="Oval 55">
                    <a:extLst>
                      <a:ext uri="{FF2B5EF4-FFF2-40B4-BE49-F238E27FC236}">
                        <a16:creationId xmlns:a16="http://schemas.microsoft.com/office/drawing/2014/main" id="{C8D9B16C-EE34-4E72-B4FE-69AF96E7360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02" y="2937"/>
                    <a:ext cx="15" cy="15"/>
                  </a:xfrm>
                  <a:prstGeom prst="ellipse">
                    <a:avLst/>
                  </a:prstGeom>
                  <a:solidFill>
                    <a:srgbClr val="40404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è"/>
                      <a:defRPr sz="3200" b="1">
                        <a:solidFill>
                          <a:schemeClr val="tx1"/>
                        </a:solidFill>
                        <a:latin typeface="Bookman Old Style" panose="020506040505050202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ð"/>
                      <a:defRPr sz="32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à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»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it-IT" altLang="it-IT" sz="1800" b="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44067" name="Oval 56">
                    <a:extLst>
                      <a:ext uri="{FF2B5EF4-FFF2-40B4-BE49-F238E27FC236}">
                        <a16:creationId xmlns:a16="http://schemas.microsoft.com/office/drawing/2014/main" id="{54244C2B-7F3E-4E8F-824A-549034C2C36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72" y="2958"/>
                    <a:ext cx="15" cy="13"/>
                  </a:xfrm>
                  <a:prstGeom prst="ellipse">
                    <a:avLst/>
                  </a:prstGeom>
                  <a:solidFill>
                    <a:srgbClr val="40404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è"/>
                      <a:defRPr sz="3200" b="1">
                        <a:solidFill>
                          <a:schemeClr val="tx1"/>
                        </a:solidFill>
                        <a:latin typeface="Bookman Old Style" panose="020506040505050202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ð"/>
                      <a:defRPr sz="32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à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»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it-IT" altLang="it-IT" sz="1800" b="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44068" name="Oval 57">
                    <a:extLst>
                      <a:ext uri="{FF2B5EF4-FFF2-40B4-BE49-F238E27FC236}">
                        <a16:creationId xmlns:a16="http://schemas.microsoft.com/office/drawing/2014/main" id="{D4AD9FF2-1370-47D8-B315-8E35181DA16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40" y="2982"/>
                    <a:ext cx="17" cy="10"/>
                  </a:xfrm>
                  <a:prstGeom prst="ellipse">
                    <a:avLst/>
                  </a:prstGeom>
                  <a:solidFill>
                    <a:srgbClr val="40404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è"/>
                      <a:defRPr sz="3200" b="1">
                        <a:solidFill>
                          <a:schemeClr val="tx1"/>
                        </a:solidFill>
                        <a:latin typeface="Bookman Old Style" panose="020506040505050202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ð"/>
                      <a:defRPr sz="32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à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»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it-IT" altLang="it-IT" sz="1800" b="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44069" name="Oval 58">
                    <a:extLst>
                      <a:ext uri="{FF2B5EF4-FFF2-40B4-BE49-F238E27FC236}">
                        <a16:creationId xmlns:a16="http://schemas.microsoft.com/office/drawing/2014/main" id="{D968E5A5-C446-42DF-85DB-9DDC09E1B9E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12" y="3003"/>
                    <a:ext cx="15" cy="15"/>
                  </a:xfrm>
                  <a:prstGeom prst="ellipse">
                    <a:avLst/>
                  </a:prstGeom>
                  <a:solidFill>
                    <a:srgbClr val="40404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è"/>
                      <a:defRPr sz="3200" b="1">
                        <a:solidFill>
                          <a:schemeClr val="tx1"/>
                        </a:solidFill>
                        <a:latin typeface="Bookman Old Style" panose="020506040505050202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ð"/>
                      <a:defRPr sz="32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à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»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it-IT" altLang="it-IT" sz="1800" b="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44070" name="Oval 59">
                    <a:extLst>
                      <a:ext uri="{FF2B5EF4-FFF2-40B4-BE49-F238E27FC236}">
                        <a16:creationId xmlns:a16="http://schemas.microsoft.com/office/drawing/2014/main" id="{9C055236-A38B-46DD-A801-1E7BDA8B58B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82" y="3022"/>
                    <a:ext cx="15" cy="15"/>
                  </a:xfrm>
                  <a:prstGeom prst="ellipse">
                    <a:avLst/>
                  </a:prstGeom>
                  <a:solidFill>
                    <a:srgbClr val="40404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è"/>
                      <a:defRPr sz="3200" b="1">
                        <a:solidFill>
                          <a:schemeClr val="tx1"/>
                        </a:solidFill>
                        <a:latin typeface="Bookman Old Style" panose="020506040505050202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ð"/>
                      <a:defRPr sz="32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à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»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it-IT" altLang="it-IT" sz="1800" b="0">
                      <a:latin typeface="Arial Narrow" panose="020B0606020202030204" pitchFamily="34" charset="0"/>
                    </a:endParaRPr>
                  </a:p>
                </p:txBody>
              </p:sp>
            </p:grpSp>
          </p:grpSp>
        </p:grpSp>
        <p:sp>
          <p:nvSpPr>
            <p:cNvPr id="44052" name="Text Box 60">
              <a:extLst>
                <a:ext uri="{FF2B5EF4-FFF2-40B4-BE49-F238E27FC236}">
                  <a16:creationId xmlns:a16="http://schemas.microsoft.com/office/drawing/2014/main" id="{F8B070B5-B1D2-4F39-A4BF-204C152831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" y="1296"/>
              <a:ext cx="31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2000">
                  <a:latin typeface="Arial Narrow" panose="020B0606020202030204" pitchFamily="34" charset="0"/>
                </a:rPr>
                <a:t>MS</a:t>
              </a:r>
            </a:p>
          </p:txBody>
        </p:sp>
        <p:sp>
          <p:nvSpPr>
            <p:cNvPr id="44053" name="AutoShape 61">
              <a:extLst>
                <a:ext uri="{FF2B5EF4-FFF2-40B4-BE49-F238E27FC236}">
                  <a16:creationId xmlns:a16="http://schemas.microsoft.com/office/drawing/2014/main" id="{BDF23729-654D-4F26-806E-ED4FD73B53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816"/>
              <a:ext cx="432" cy="720"/>
            </a:xfrm>
            <a:prstGeom prst="can">
              <a:avLst>
                <a:gd name="adj" fmla="val 28241"/>
              </a:avLst>
            </a:prstGeom>
            <a:solidFill>
              <a:srgbClr val="96F8F6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600">
                  <a:latin typeface="Times New Roman" panose="02020603050405020304" pitchFamily="18" charset="0"/>
                </a:rPr>
                <a:t>HN</a:t>
              </a:r>
            </a:p>
          </p:txBody>
        </p:sp>
      </p:grpSp>
      <p:sp>
        <p:nvSpPr>
          <p:cNvPr id="1223742" name="AutoShape 62">
            <a:extLst>
              <a:ext uri="{FF2B5EF4-FFF2-40B4-BE49-F238E27FC236}">
                <a16:creationId xmlns:a16="http://schemas.microsoft.com/office/drawing/2014/main" id="{5DEB12D0-FADB-4789-BC61-1AF24EA855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800" y="1447800"/>
            <a:ext cx="1447800" cy="533400"/>
          </a:xfrm>
          <a:prstGeom prst="rightArrow">
            <a:avLst>
              <a:gd name="adj1" fmla="val 50000"/>
              <a:gd name="adj2" fmla="val 67857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600">
                <a:latin typeface="Times New Roman" panose="02020603050405020304" pitchFamily="18" charset="0"/>
              </a:rPr>
              <a:t>IMSI, RAND</a:t>
            </a:r>
          </a:p>
        </p:txBody>
      </p:sp>
      <p:sp>
        <p:nvSpPr>
          <p:cNvPr id="1223743" name="AutoShape 63">
            <a:extLst>
              <a:ext uri="{FF2B5EF4-FFF2-40B4-BE49-F238E27FC236}">
                <a16:creationId xmlns:a16="http://schemas.microsoft.com/office/drawing/2014/main" id="{242DDCCE-7317-4209-A1A0-723C60744D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800" y="2057400"/>
            <a:ext cx="1371600" cy="457200"/>
          </a:xfrm>
          <a:prstGeom prst="leftArrow">
            <a:avLst>
              <a:gd name="adj1" fmla="val 50000"/>
              <a:gd name="adj2" fmla="val 75000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600">
                <a:latin typeface="Times New Roman" panose="02020603050405020304" pitchFamily="18" charset="0"/>
              </a:rPr>
              <a:t>SRES, Kc</a:t>
            </a:r>
          </a:p>
        </p:txBody>
      </p:sp>
      <p:grpSp>
        <p:nvGrpSpPr>
          <p:cNvPr id="14" name="Group 64">
            <a:extLst>
              <a:ext uri="{FF2B5EF4-FFF2-40B4-BE49-F238E27FC236}">
                <a16:creationId xmlns:a16="http://schemas.microsoft.com/office/drawing/2014/main" id="{9EDEAD7F-8E67-4C7F-BDAE-E8792FAAC66E}"/>
              </a:ext>
            </a:extLst>
          </p:cNvPr>
          <p:cNvGrpSpPr>
            <a:grpSpLocks/>
          </p:cNvGrpSpPr>
          <p:nvPr/>
        </p:nvGrpSpPr>
        <p:grpSpPr bwMode="auto">
          <a:xfrm>
            <a:off x="1905001" y="4873626"/>
            <a:ext cx="1668463" cy="1527175"/>
            <a:chOff x="624" y="2016"/>
            <a:chExt cx="1051" cy="1426"/>
          </a:xfrm>
        </p:grpSpPr>
        <p:sp>
          <p:nvSpPr>
            <p:cNvPr id="44043" name="Line 65">
              <a:extLst>
                <a:ext uri="{FF2B5EF4-FFF2-40B4-BE49-F238E27FC236}">
                  <a16:creationId xmlns:a16="http://schemas.microsoft.com/office/drawing/2014/main" id="{4C165C5F-9EF5-4476-BBB1-2B24E49245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225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4044" name="Line 66">
              <a:extLst>
                <a:ext uri="{FF2B5EF4-FFF2-40B4-BE49-F238E27FC236}">
                  <a16:creationId xmlns:a16="http://schemas.microsoft.com/office/drawing/2014/main" id="{D20BD29A-D243-4281-B08F-16152C0231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225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4045" name="Rectangle 67">
              <a:extLst>
                <a:ext uri="{FF2B5EF4-FFF2-40B4-BE49-F238E27FC236}">
                  <a16:creationId xmlns:a16="http://schemas.microsoft.com/office/drawing/2014/main" id="{9D4203DD-F5AF-4139-B10A-AEA0C1CE0A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2448"/>
              <a:ext cx="1008" cy="432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2000" b="0">
                  <a:latin typeface="Times New Roman" panose="02020603050405020304" pitchFamily="18" charset="0"/>
                </a:rPr>
                <a:t>A8</a:t>
              </a:r>
            </a:p>
          </p:txBody>
        </p:sp>
        <p:sp>
          <p:nvSpPr>
            <p:cNvPr id="44046" name="Line 68">
              <a:extLst>
                <a:ext uri="{FF2B5EF4-FFF2-40B4-BE49-F238E27FC236}">
                  <a16:creationId xmlns:a16="http://schemas.microsoft.com/office/drawing/2014/main" id="{93473351-05AD-4770-B8C9-959CCB8500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880"/>
              <a:ext cx="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4047" name="Text Box 69">
              <a:extLst>
                <a:ext uri="{FF2B5EF4-FFF2-40B4-BE49-F238E27FC236}">
                  <a16:creationId xmlns:a16="http://schemas.microsoft.com/office/drawing/2014/main" id="{8864DA9F-B943-42AF-8ECC-AD073735E6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016"/>
              <a:ext cx="571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2000" b="0">
                  <a:latin typeface="Times New Roman" panose="02020603050405020304" pitchFamily="18" charset="0"/>
                </a:rPr>
                <a:t>RAND</a:t>
              </a:r>
            </a:p>
          </p:txBody>
        </p:sp>
        <p:sp>
          <p:nvSpPr>
            <p:cNvPr id="44048" name="Text Box 70">
              <a:extLst>
                <a:ext uri="{FF2B5EF4-FFF2-40B4-BE49-F238E27FC236}">
                  <a16:creationId xmlns:a16="http://schemas.microsoft.com/office/drawing/2014/main" id="{6DCF2960-FD26-420D-8678-0C6B9F5AD6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016"/>
              <a:ext cx="276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2000" b="0">
                  <a:latin typeface="Times New Roman" panose="02020603050405020304" pitchFamily="18" charset="0"/>
                </a:rPr>
                <a:t>Ki</a:t>
              </a:r>
              <a:endParaRPr lang="it-IT" altLang="it-IT" sz="2000" b="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44049" name="Text Box 71">
              <a:extLst>
                <a:ext uri="{FF2B5EF4-FFF2-40B4-BE49-F238E27FC236}">
                  <a16:creationId xmlns:a16="http://schemas.microsoft.com/office/drawing/2014/main" id="{F162E032-52E5-40E8-9AAA-22312DC7FA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2" y="3071"/>
              <a:ext cx="383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2000" b="0">
                  <a:latin typeface="Times New Roman" panose="02020603050405020304" pitchFamily="18" charset="0"/>
                </a:rPr>
                <a:t>  Kc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23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23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3742" grpId="0" animBg="1" autoUpdateAnimBg="0"/>
      <p:bldP spid="1223743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778" name="Rectangle 2">
            <a:extLst>
              <a:ext uri="{FF2B5EF4-FFF2-40B4-BE49-F238E27FC236}">
                <a16:creationId xmlns:a16="http://schemas.microsoft.com/office/drawing/2014/main" id="{56C4C01B-3786-46C4-B441-53D8C465CA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sz="3200"/>
              <a:t>Triplets (Authentication Vector)</a:t>
            </a:r>
          </a:p>
        </p:txBody>
      </p:sp>
      <p:sp>
        <p:nvSpPr>
          <p:cNvPr id="46083" name="AutoShape 5">
            <a:extLst>
              <a:ext uri="{FF2B5EF4-FFF2-40B4-BE49-F238E27FC236}">
                <a16:creationId xmlns:a16="http://schemas.microsoft.com/office/drawing/2014/main" id="{E5A10100-E352-4F0D-903B-A826B3CB6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9263" y="1627188"/>
            <a:ext cx="762000" cy="1295400"/>
          </a:xfrm>
          <a:prstGeom prst="can">
            <a:avLst>
              <a:gd name="adj" fmla="val 33126"/>
            </a:avLst>
          </a:prstGeom>
          <a:solidFill>
            <a:srgbClr val="FF99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Times New Roman" panose="02020603050405020304" pitchFamily="18" charset="0"/>
              </a:rPr>
              <a:t>VLR</a:t>
            </a:r>
          </a:p>
        </p:txBody>
      </p:sp>
      <p:sp>
        <p:nvSpPr>
          <p:cNvPr id="46084" name="AutoShape 41">
            <a:extLst>
              <a:ext uri="{FF2B5EF4-FFF2-40B4-BE49-F238E27FC236}">
                <a16:creationId xmlns:a16="http://schemas.microsoft.com/office/drawing/2014/main" id="{94ED3729-175A-4CFB-88DD-5792196D71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0438" y="1557338"/>
            <a:ext cx="685800" cy="1143000"/>
          </a:xfrm>
          <a:prstGeom prst="can">
            <a:avLst>
              <a:gd name="adj" fmla="val 28241"/>
            </a:avLst>
          </a:prstGeom>
          <a:solidFill>
            <a:srgbClr val="96F8F6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600">
                <a:latin typeface="Times New Roman" panose="02020603050405020304" pitchFamily="18" charset="0"/>
              </a:rPr>
              <a:t>AuC</a:t>
            </a:r>
          </a:p>
        </p:txBody>
      </p:sp>
      <p:sp>
        <p:nvSpPr>
          <p:cNvPr id="1227818" name="AutoShape 42">
            <a:extLst>
              <a:ext uri="{FF2B5EF4-FFF2-40B4-BE49-F238E27FC236}">
                <a16:creationId xmlns:a16="http://schemas.microsoft.com/office/drawing/2014/main" id="{A0B5B0A7-F540-43A3-B7FC-3241A353FF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3663" y="1627188"/>
            <a:ext cx="3117850" cy="533400"/>
          </a:xfrm>
          <a:prstGeom prst="rightArrow">
            <a:avLst>
              <a:gd name="adj1" fmla="val 50000"/>
              <a:gd name="adj2" fmla="val 146131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600">
                <a:latin typeface="Times New Roman" panose="02020603050405020304" pitchFamily="18" charset="0"/>
              </a:rPr>
              <a:t>IMSI</a:t>
            </a:r>
          </a:p>
        </p:txBody>
      </p:sp>
      <p:sp>
        <p:nvSpPr>
          <p:cNvPr id="1227819" name="AutoShape 43">
            <a:extLst>
              <a:ext uri="{FF2B5EF4-FFF2-40B4-BE49-F238E27FC236}">
                <a16:creationId xmlns:a16="http://schemas.microsoft.com/office/drawing/2014/main" id="{DB0330FD-D9F2-4A21-99C1-B05794D23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3663" y="2236789"/>
            <a:ext cx="3046412" cy="579437"/>
          </a:xfrm>
          <a:prstGeom prst="leftArrow">
            <a:avLst>
              <a:gd name="adj1" fmla="val 50000"/>
              <a:gd name="adj2" fmla="val 131438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600">
                <a:latin typeface="Times New Roman" panose="02020603050405020304" pitchFamily="18" charset="0"/>
              </a:rPr>
              <a:t>&lt;RAND, SRES, Kc&gt; x N</a:t>
            </a:r>
          </a:p>
        </p:txBody>
      </p:sp>
      <p:sp>
        <p:nvSpPr>
          <p:cNvPr id="46087" name="Text Box 44">
            <a:extLst>
              <a:ext uri="{FF2B5EF4-FFF2-40B4-BE49-F238E27FC236}">
                <a16:creationId xmlns:a16="http://schemas.microsoft.com/office/drawing/2014/main" id="{7A143A71-8C67-4CD8-99B7-A8FAA7BE6D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1514" y="2871788"/>
            <a:ext cx="14366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Home operator</a:t>
            </a:r>
          </a:p>
        </p:txBody>
      </p:sp>
      <p:sp>
        <p:nvSpPr>
          <p:cNvPr id="46088" name="Text Box 45">
            <a:extLst>
              <a:ext uri="{FF2B5EF4-FFF2-40B4-BE49-F238E27FC236}">
                <a16:creationId xmlns:a16="http://schemas.microsoft.com/office/drawing/2014/main" id="{6519D2D6-2DD1-4D61-9FE6-FA0AD42506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3975" y="3033714"/>
            <a:ext cx="15875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Serving operator</a:t>
            </a:r>
          </a:p>
        </p:txBody>
      </p:sp>
      <p:sp>
        <p:nvSpPr>
          <p:cNvPr id="47113" name="Rectangle 46">
            <a:extLst>
              <a:ext uri="{FF2B5EF4-FFF2-40B4-BE49-F238E27FC236}">
                <a16:creationId xmlns:a16="http://schemas.microsoft.com/office/drawing/2014/main" id="{BA6E54EC-FE49-4A19-AE5A-1F38B18B5C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55913" y="3500438"/>
            <a:ext cx="5973762" cy="2628900"/>
          </a:xfrm>
          <a:noFill/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t-IT" altLang="it-IT" sz="1800"/>
              <a:t>Idea: once in a VLR area, autentication will need to be performed MANY times</a:t>
            </a:r>
          </a:p>
          <a:p>
            <a:pPr eaLnBrk="1" hangingPunct="1">
              <a:lnSpc>
                <a:spcPct val="80000"/>
              </a:lnSpc>
            </a:pPr>
            <a:endParaRPr lang="it-IT" altLang="it-IT" sz="1800"/>
          </a:p>
          <a:p>
            <a:pPr eaLnBrk="1" hangingPunct="1">
              <a:lnSpc>
                <a:spcPct val="80000"/>
              </a:lnSpc>
            </a:pPr>
            <a:r>
              <a:rPr lang="it-IT" altLang="it-IT" sz="1800"/>
              <a:t>Hence deliver N triplets, to be used for N distinct authentications</a:t>
            </a:r>
          </a:p>
          <a:p>
            <a:pPr eaLnBrk="1" hangingPunct="1">
              <a:lnSpc>
                <a:spcPct val="80000"/>
              </a:lnSpc>
            </a:pPr>
            <a:endParaRPr lang="it-IT" altLang="it-IT" sz="1800"/>
          </a:p>
          <a:p>
            <a:pPr eaLnBrk="1" hangingPunct="1">
              <a:lnSpc>
                <a:spcPct val="80000"/>
              </a:lnSpc>
            </a:pPr>
            <a:r>
              <a:rPr lang="it-IT" altLang="it-IT" sz="1800">
                <a:solidFill>
                  <a:srgbClr val="FF0000"/>
                </a:solidFill>
              </a:rPr>
              <a:t>IMPORTANT: VLR does NOT need to know authentication algo used (A3, A8)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1800"/>
              <a:t>Triplet contains computed result by AuC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1800"/>
              <a:t>A3, A8 run inside the SIM (given by operator)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27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27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7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71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71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71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71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7818" grpId="0" animBg="1" autoUpdateAnimBg="0"/>
      <p:bldP spid="1227819" grpId="0" animBg="1" autoUpdateAnimBg="0"/>
      <p:bldP spid="4711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730" name="Rectangle 2">
            <a:extLst>
              <a:ext uri="{FF2B5EF4-FFF2-40B4-BE49-F238E27FC236}">
                <a16:creationId xmlns:a16="http://schemas.microsoft.com/office/drawing/2014/main" id="{C2B5EE68-A405-4DE0-90B3-2CCCF77253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/>
              <a:t>Authentication: details</a:t>
            </a:r>
          </a:p>
        </p:txBody>
      </p:sp>
      <p:sp>
        <p:nvSpPr>
          <p:cNvPr id="49155" name="Line 5">
            <a:extLst>
              <a:ext uri="{FF2B5EF4-FFF2-40B4-BE49-F238E27FC236}">
                <a16:creationId xmlns:a16="http://schemas.microsoft.com/office/drawing/2014/main" id="{59D837B2-863B-4E6D-A2C9-8CDFD266697B}"/>
              </a:ext>
            </a:extLst>
          </p:cNvPr>
          <p:cNvSpPr>
            <a:spLocks noChangeShapeType="1"/>
          </p:cNvSpPr>
          <p:nvPr/>
        </p:nvSpPr>
        <p:spPr bwMode="auto">
          <a:xfrm>
            <a:off x="4143375" y="1749425"/>
            <a:ext cx="0" cy="2174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9156" name="Line 6">
            <a:extLst>
              <a:ext uri="{FF2B5EF4-FFF2-40B4-BE49-F238E27FC236}">
                <a16:creationId xmlns:a16="http://schemas.microsoft.com/office/drawing/2014/main" id="{9EC4CC9F-ABBC-40E1-A3E6-DDE33ADB2D3B}"/>
              </a:ext>
            </a:extLst>
          </p:cNvPr>
          <p:cNvSpPr>
            <a:spLocks noChangeShapeType="1"/>
          </p:cNvSpPr>
          <p:nvPr/>
        </p:nvSpPr>
        <p:spPr bwMode="auto">
          <a:xfrm>
            <a:off x="6640513" y="1749425"/>
            <a:ext cx="0" cy="2174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9157" name="Rectangle 7">
            <a:extLst>
              <a:ext uri="{FF2B5EF4-FFF2-40B4-BE49-F238E27FC236}">
                <a16:creationId xmlns:a16="http://schemas.microsoft.com/office/drawing/2014/main" id="{B80498F9-110C-453F-8DF6-D03F0C87E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7713" y="1966913"/>
            <a:ext cx="4514850" cy="487362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Times New Roman" panose="02020603050405020304" pitchFamily="18" charset="0"/>
              </a:rPr>
              <a:t>A38 = A3 and A8 at same time</a:t>
            </a:r>
          </a:p>
        </p:txBody>
      </p:sp>
      <p:sp>
        <p:nvSpPr>
          <p:cNvPr id="49158" name="Line 8">
            <a:extLst>
              <a:ext uri="{FF2B5EF4-FFF2-40B4-BE49-F238E27FC236}">
                <a16:creationId xmlns:a16="http://schemas.microsoft.com/office/drawing/2014/main" id="{37D996F5-2211-4BC5-B36E-BB710BDA1964}"/>
              </a:ext>
            </a:extLst>
          </p:cNvPr>
          <p:cNvSpPr>
            <a:spLocks noChangeShapeType="1"/>
          </p:cNvSpPr>
          <p:nvPr/>
        </p:nvSpPr>
        <p:spPr bwMode="auto">
          <a:xfrm>
            <a:off x="4125913" y="2454276"/>
            <a:ext cx="0" cy="269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9159" name="Text Box 9">
            <a:extLst>
              <a:ext uri="{FF2B5EF4-FFF2-40B4-BE49-F238E27FC236}">
                <a16:creationId xmlns:a16="http://schemas.microsoft.com/office/drawing/2014/main" id="{A0944E52-C2C8-4551-A16D-9BFECBCD28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8488" y="1089026"/>
            <a:ext cx="1930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Times New Roman" panose="02020603050405020304" pitchFamily="18" charset="0"/>
              </a:rPr>
              <a:t>RAND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Times New Roman" panose="02020603050405020304" pitchFamily="18" charset="0"/>
              </a:rPr>
              <a:t>128 bit challenge</a:t>
            </a:r>
          </a:p>
        </p:txBody>
      </p:sp>
      <p:sp>
        <p:nvSpPr>
          <p:cNvPr id="49160" name="Text Box 10">
            <a:extLst>
              <a:ext uri="{FF2B5EF4-FFF2-40B4-BE49-F238E27FC236}">
                <a16:creationId xmlns:a16="http://schemas.microsoft.com/office/drawing/2014/main" id="{C44BBE7D-D3A8-4138-AE36-87464BDB9F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2975" y="1089026"/>
            <a:ext cx="1549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Times New Roman" panose="02020603050405020304" pitchFamily="18" charset="0"/>
              </a:rPr>
              <a:t>Ki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Times New Roman" panose="02020603050405020304" pitchFamily="18" charset="0"/>
              </a:rPr>
              <a:t>128 bit secret</a:t>
            </a:r>
            <a:endParaRPr lang="it-IT" altLang="it-IT" sz="2000" b="0" baseline="-25000">
              <a:latin typeface="Times New Roman" panose="02020603050405020304" pitchFamily="18" charset="0"/>
            </a:endParaRPr>
          </a:p>
        </p:txBody>
      </p:sp>
      <p:sp>
        <p:nvSpPr>
          <p:cNvPr id="49161" name="Text Box 11">
            <a:extLst>
              <a:ext uri="{FF2B5EF4-FFF2-40B4-BE49-F238E27FC236}">
                <a16:creationId xmlns:a16="http://schemas.microsoft.com/office/drawing/2014/main" id="{0FEF72F5-007A-41BC-A1C5-6D7CE72BF1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9038" y="2670176"/>
            <a:ext cx="79216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Times New Roman" panose="02020603050405020304" pitchFamily="18" charset="0"/>
              </a:rPr>
              <a:t>SRES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Times New Roman" panose="02020603050405020304" pitchFamily="18" charset="0"/>
              </a:rPr>
              <a:t>32 bit</a:t>
            </a:r>
          </a:p>
        </p:txBody>
      </p:sp>
      <p:sp>
        <p:nvSpPr>
          <p:cNvPr id="49162" name="Line 20">
            <a:extLst>
              <a:ext uri="{FF2B5EF4-FFF2-40B4-BE49-F238E27FC236}">
                <a16:creationId xmlns:a16="http://schemas.microsoft.com/office/drawing/2014/main" id="{0D6103A2-889C-456C-AE35-701F032A8005}"/>
              </a:ext>
            </a:extLst>
          </p:cNvPr>
          <p:cNvSpPr>
            <a:spLocks noChangeShapeType="1"/>
          </p:cNvSpPr>
          <p:nvPr/>
        </p:nvSpPr>
        <p:spPr bwMode="auto">
          <a:xfrm>
            <a:off x="6654800" y="2457451"/>
            <a:ext cx="0" cy="257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9163" name="Text Box 21">
            <a:extLst>
              <a:ext uri="{FF2B5EF4-FFF2-40B4-BE49-F238E27FC236}">
                <a16:creationId xmlns:a16="http://schemas.microsoft.com/office/drawing/2014/main" id="{91EC40FE-0CD2-409B-A147-68A52FB668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8114" y="2662239"/>
            <a:ext cx="278447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Times New Roman" panose="02020603050405020304" pitchFamily="18" charset="0"/>
              </a:rPr>
              <a:t>  Kc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Times New Roman" panose="02020603050405020304" pitchFamily="18" charset="0"/>
              </a:rPr>
              <a:t>64 bits (well, 54 + ten 0s)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Times New Roman" panose="02020603050405020304" pitchFamily="18" charset="0"/>
              </a:rPr>
              <a:t>Deliberately weak?</a:t>
            </a:r>
          </a:p>
        </p:txBody>
      </p:sp>
      <p:sp>
        <p:nvSpPr>
          <p:cNvPr id="49164" name="Rectangle 22">
            <a:extLst>
              <a:ext uri="{FF2B5EF4-FFF2-40B4-BE49-F238E27FC236}">
                <a16:creationId xmlns:a16="http://schemas.microsoft.com/office/drawing/2014/main" id="{27D2D456-3E66-4BFF-B0A5-030EAE547D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55913" y="3933826"/>
            <a:ext cx="5973762" cy="2195513"/>
          </a:xfrm>
          <a:noFill/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t-IT" altLang="it-IT" sz="2800"/>
              <a:t>Challenge response with: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800"/>
              <a:t>Challenge 		</a:t>
            </a:r>
            <a:r>
              <a:rPr lang="it-IT" altLang="it-IT" sz="2800">
                <a:sym typeface="Wingdings" panose="05000000000000000000" pitchFamily="2" charset="2"/>
              </a:rPr>
              <a:t> RAND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800">
                <a:sym typeface="Wingdings" panose="05000000000000000000" pitchFamily="2" charset="2"/>
              </a:rPr>
              <a:t>Secret			 Ki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800">
                <a:sym typeface="Wingdings" panose="05000000000000000000" pitchFamily="2" charset="2"/>
              </a:rPr>
              <a:t>Hash			 A3 algorithm</a:t>
            </a:r>
            <a:endParaRPr lang="it-IT" altLang="it-IT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91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91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91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9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9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9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9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9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9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9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9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9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7" grpId="0" animBg="1"/>
      <p:bldP spid="49159" grpId="0"/>
      <p:bldP spid="49160" grpId="0"/>
      <p:bldP spid="49161" grpId="0"/>
      <p:bldP spid="49163" grpId="0"/>
      <p:bldP spid="49164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754" name="Rectangle 2">
            <a:extLst>
              <a:ext uri="{FF2B5EF4-FFF2-40B4-BE49-F238E27FC236}">
                <a16:creationId xmlns:a16="http://schemas.microsoft.com/office/drawing/2014/main" id="{988908A4-8569-47E6-AB43-6D05A3F581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/>
              <a:t>On the A3/A8 algorithms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624855B9-62D1-4592-B03E-D6CC3B5ACC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1344" y="944564"/>
            <a:ext cx="11521280" cy="5437187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t-IT" altLang="it-IT" sz="2400" dirty="0"/>
              <a:t>Security by </a:t>
            </a:r>
            <a:r>
              <a:rPr lang="it-IT" altLang="it-IT" sz="2400" dirty="0" err="1"/>
              <a:t>obscurity</a:t>
            </a:r>
            <a:endParaRPr lang="it-IT" altLang="it-IT" sz="2400" dirty="0"/>
          </a:p>
          <a:p>
            <a:pPr lvl="1" eaLnBrk="1" hangingPunct="1">
              <a:lnSpc>
                <a:spcPct val="80000"/>
              </a:lnSpc>
            </a:pPr>
            <a:r>
              <a:rPr lang="it-IT" altLang="it-IT" sz="2400" dirty="0"/>
              <a:t>A3 </a:t>
            </a:r>
            <a:r>
              <a:rPr lang="it-IT" altLang="it-IT" sz="2400" dirty="0" err="1"/>
              <a:t>algorithm</a:t>
            </a:r>
            <a:r>
              <a:rPr lang="it-IT" altLang="it-IT" sz="2400" dirty="0"/>
              <a:t> CAN BE operator-</a:t>
            </a:r>
            <a:r>
              <a:rPr lang="it-IT" altLang="it-IT" sz="2400" dirty="0" err="1"/>
              <a:t>specific</a:t>
            </a:r>
            <a:r>
              <a:rPr lang="it-IT" altLang="it-IT" sz="2400" dirty="0"/>
              <a:t>!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 dirty="0" err="1"/>
              <a:t>But</a:t>
            </a:r>
            <a:r>
              <a:rPr lang="it-IT" altLang="it-IT" sz="2400" dirty="0"/>
              <a:t> </a:t>
            </a:r>
            <a:r>
              <a:rPr lang="it-IT" altLang="it-IT" sz="2400" dirty="0" err="1"/>
              <a:t>most</a:t>
            </a:r>
            <a:r>
              <a:rPr lang="it-IT" altLang="it-IT" sz="2400" dirty="0"/>
              <a:t> </a:t>
            </a:r>
            <a:r>
              <a:rPr lang="it-IT" altLang="it-IT" sz="2400" dirty="0" err="1"/>
              <a:t>vendors</a:t>
            </a:r>
            <a:r>
              <a:rPr lang="it-IT" altLang="it-IT" sz="2400" dirty="0"/>
              <a:t> </a:t>
            </a:r>
            <a:r>
              <a:rPr lang="it-IT" altLang="it-IT" sz="2400" dirty="0" err="1"/>
              <a:t>originally</a:t>
            </a:r>
            <a:r>
              <a:rPr lang="it-IT" altLang="it-IT" sz="2400" dirty="0"/>
              <a:t> </a:t>
            </a:r>
            <a:r>
              <a:rPr lang="it-IT" altLang="it-IT" sz="2400" dirty="0" err="1"/>
              <a:t>used</a:t>
            </a:r>
            <a:r>
              <a:rPr lang="it-IT" altLang="it-IT" sz="2400" dirty="0"/>
              <a:t> </a:t>
            </a:r>
            <a:r>
              <a:rPr lang="it-IT" altLang="it-IT" sz="2400" dirty="0" err="1"/>
              <a:t>algo</a:t>
            </a:r>
            <a:r>
              <a:rPr lang="it-IT" altLang="it-IT" sz="2400" dirty="0"/>
              <a:t> </a:t>
            </a:r>
            <a:r>
              <a:rPr lang="it-IT" altLang="it-IT" sz="2400" dirty="0" err="1"/>
              <a:t>today</a:t>
            </a:r>
            <a:r>
              <a:rPr lang="it-IT" altLang="it-IT" sz="2400" dirty="0"/>
              <a:t> </a:t>
            </a:r>
            <a:r>
              <a:rPr lang="it-IT" altLang="it-IT" sz="2400" dirty="0" err="1"/>
              <a:t>called</a:t>
            </a:r>
            <a:r>
              <a:rPr lang="it-IT" altLang="it-IT" sz="2400" dirty="0"/>
              <a:t> COMP128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 dirty="0"/>
              <a:t>Non </a:t>
            </a:r>
            <a:r>
              <a:rPr lang="it-IT" altLang="it-IT" sz="2400" dirty="0" err="1"/>
              <a:t>disclosed</a:t>
            </a:r>
            <a:r>
              <a:rPr lang="it-IT" altLang="it-IT" sz="2400" dirty="0"/>
              <a:t> </a:t>
            </a:r>
            <a:r>
              <a:rPr lang="it-IT" altLang="it-IT" sz="2400" dirty="0" err="1"/>
              <a:t>but</a:t>
            </a:r>
            <a:r>
              <a:rPr lang="it-IT" altLang="it-IT" sz="2400" dirty="0"/>
              <a:t>…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2000" dirty="0"/>
              <a:t>Reverse </a:t>
            </a:r>
            <a:r>
              <a:rPr lang="it-IT" altLang="it-IT" sz="2000" dirty="0" err="1"/>
              <a:t>engineered</a:t>
            </a:r>
            <a:r>
              <a:rPr lang="it-IT" altLang="it-IT" sz="2000" dirty="0"/>
              <a:t>? </a:t>
            </a:r>
            <a:r>
              <a:rPr lang="it-IT" altLang="it-IT" sz="2000" dirty="0" err="1"/>
              <a:t>Leaked</a:t>
            </a:r>
            <a:r>
              <a:rPr lang="it-IT" altLang="it-IT" sz="2000" dirty="0"/>
              <a:t> out?</a:t>
            </a:r>
          </a:p>
          <a:p>
            <a:pPr eaLnBrk="1" hangingPunct="1">
              <a:lnSpc>
                <a:spcPct val="80000"/>
              </a:lnSpc>
            </a:pPr>
            <a:r>
              <a:rPr lang="it-IT" altLang="it-IT" sz="2400" dirty="0"/>
              <a:t>COMP128 </a:t>
            </a:r>
            <a:r>
              <a:rPr lang="it-IT" altLang="it-IT" sz="2400" dirty="0" err="1"/>
              <a:t>broken</a:t>
            </a:r>
            <a:r>
              <a:rPr lang="it-IT" altLang="it-IT" sz="2400" dirty="0"/>
              <a:t> in 1998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2000" dirty="0">
                <a:hlinkClick r:id="rId3"/>
              </a:rPr>
              <a:t>http://www.isaac.cs.berkeley.edu/isaac/gsm-faq.html</a:t>
            </a:r>
            <a:endParaRPr lang="it-IT" altLang="it-IT" sz="2000" dirty="0"/>
          </a:p>
          <a:p>
            <a:pPr lvl="1" eaLnBrk="1" hangingPunct="1">
              <a:lnSpc>
                <a:spcPct val="80000"/>
              </a:lnSpc>
            </a:pPr>
            <a:r>
              <a:rPr lang="it-IT" altLang="it-IT" sz="2400" dirty="0" err="1"/>
              <a:t>Chosen</a:t>
            </a:r>
            <a:r>
              <a:rPr lang="it-IT" altLang="it-IT" sz="2400" dirty="0"/>
              <a:t> challenge </a:t>
            </a:r>
            <a:r>
              <a:rPr lang="it-IT" altLang="it-IT" sz="2400" dirty="0" err="1"/>
              <a:t>attack</a:t>
            </a:r>
            <a:r>
              <a:rPr lang="it-IT" altLang="it-IT" sz="2400" dirty="0"/>
              <a:t> [1998, </a:t>
            </a:r>
            <a:r>
              <a:rPr lang="it-IT" altLang="it-IT" sz="2400" dirty="0" err="1"/>
              <a:t>Briceno</a:t>
            </a:r>
            <a:r>
              <a:rPr lang="it-IT" altLang="it-IT" sz="2400" dirty="0"/>
              <a:t>, Goldberg, Wagner] 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2000" dirty="0" err="1"/>
              <a:t>Ki</a:t>
            </a:r>
            <a:r>
              <a:rPr lang="it-IT" altLang="it-IT" sz="2000" dirty="0"/>
              <a:t> </a:t>
            </a:r>
            <a:r>
              <a:rPr lang="it-IT" altLang="it-IT" sz="2000" dirty="0" err="1"/>
              <a:t>disclosed</a:t>
            </a:r>
            <a:r>
              <a:rPr lang="it-IT" altLang="it-IT" sz="2000" dirty="0"/>
              <a:t> </a:t>
            </a:r>
            <a:r>
              <a:rPr lang="it-IT" altLang="it-IT" sz="2000" dirty="0" err="1"/>
              <a:t>through</a:t>
            </a:r>
            <a:r>
              <a:rPr lang="it-IT" altLang="it-IT" sz="2000" dirty="0"/>
              <a:t> </a:t>
            </a:r>
            <a:r>
              <a:rPr lang="it-IT" altLang="it-IT" sz="2000" dirty="0" err="1"/>
              <a:t>about</a:t>
            </a:r>
            <a:r>
              <a:rPr lang="it-IT" altLang="it-IT" sz="2000" dirty="0"/>
              <a:t> 150.000 queries with </a:t>
            </a:r>
            <a:r>
              <a:rPr lang="it-IT" altLang="it-IT" sz="2000" dirty="0" err="1"/>
              <a:t>suitably</a:t>
            </a:r>
            <a:r>
              <a:rPr lang="it-IT" altLang="it-IT" sz="2000" dirty="0"/>
              <a:t> </a:t>
            </a:r>
            <a:r>
              <a:rPr lang="it-IT" altLang="it-IT" sz="2000" dirty="0" err="1"/>
              <a:t>selected</a:t>
            </a:r>
            <a:r>
              <a:rPr lang="it-IT" altLang="it-IT" sz="2000" dirty="0"/>
              <a:t> challenges </a:t>
            </a:r>
            <a:r>
              <a:rPr lang="it-IT" altLang="it-IT" sz="2000" dirty="0">
                <a:sym typeface="Wingdings" panose="05000000000000000000" pitchFamily="2" charset="2"/>
              </a:rPr>
              <a:t> </a:t>
            </a:r>
            <a:r>
              <a:rPr lang="it-IT" altLang="it-IT" sz="2000" dirty="0" err="1">
                <a:sym typeface="Wingdings" panose="05000000000000000000" pitchFamily="2" charset="2"/>
              </a:rPr>
              <a:t>approx</a:t>
            </a:r>
            <a:r>
              <a:rPr lang="it-IT" altLang="it-IT" sz="2000" dirty="0">
                <a:sym typeface="Wingdings" panose="05000000000000000000" pitchFamily="2" charset="2"/>
              </a:rPr>
              <a:t> 8h in 1998</a:t>
            </a:r>
            <a:endParaRPr lang="it-IT" altLang="it-IT" sz="2000" dirty="0"/>
          </a:p>
          <a:p>
            <a:pPr lvl="2" eaLnBrk="1" hangingPunct="1">
              <a:lnSpc>
                <a:spcPct val="80000"/>
              </a:lnSpc>
            </a:pPr>
            <a:r>
              <a:rPr lang="it-IT" altLang="it-IT" sz="2000" dirty="0" err="1"/>
              <a:t>Having</a:t>
            </a:r>
            <a:r>
              <a:rPr lang="it-IT" altLang="it-IT" sz="2000" dirty="0"/>
              <a:t> </a:t>
            </a:r>
            <a:r>
              <a:rPr lang="it-IT" altLang="it-IT" sz="2000" dirty="0" err="1"/>
              <a:t>Ki</a:t>
            </a:r>
            <a:r>
              <a:rPr lang="it-IT" altLang="it-IT" sz="2000" dirty="0"/>
              <a:t> </a:t>
            </a:r>
            <a:r>
              <a:rPr lang="it-IT" altLang="it-IT" sz="2000" dirty="0" err="1"/>
              <a:t>means</a:t>
            </a:r>
            <a:r>
              <a:rPr lang="it-IT" altLang="it-IT" sz="2000" dirty="0"/>
              <a:t> </a:t>
            </a:r>
            <a:r>
              <a:rPr lang="it-IT" altLang="it-IT" sz="2000" dirty="0" err="1"/>
              <a:t>cloning</a:t>
            </a:r>
            <a:r>
              <a:rPr lang="it-IT" altLang="it-IT" sz="2000" dirty="0"/>
              <a:t> the card!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 dirty="0"/>
              <a:t>Better </a:t>
            </a:r>
            <a:r>
              <a:rPr lang="it-IT" altLang="it-IT" sz="2400" dirty="0" err="1"/>
              <a:t>attack</a:t>
            </a:r>
            <a:r>
              <a:rPr lang="it-IT" altLang="it-IT" sz="2400" dirty="0"/>
              <a:t> [2002, Rao, </a:t>
            </a:r>
            <a:r>
              <a:rPr lang="it-IT" altLang="it-IT" sz="2400" dirty="0" err="1">
                <a:hlinkClick r:id="rId4"/>
              </a:rPr>
              <a:t>Rohatgi</a:t>
            </a:r>
            <a:r>
              <a:rPr lang="it-IT" altLang="it-IT" sz="2400" dirty="0"/>
              <a:t>, </a:t>
            </a:r>
            <a:r>
              <a:rPr lang="it-IT" altLang="it-IT" sz="2400" dirty="0" err="1">
                <a:hlinkClick r:id="rId5"/>
              </a:rPr>
              <a:t>Scherzer</a:t>
            </a:r>
            <a:r>
              <a:rPr lang="it-IT" altLang="it-IT" sz="2400" dirty="0"/>
              <a:t>, </a:t>
            </a:r>
            <a:r>
              <a:rPr lang="it-IT" altLang="it-IT" sz="2400" dirty="0">
                <a:hlinkClick r:id="rId6"/>
              </a:rPr>
              <a:t>Tinguely</a:t>
            </a:r>
            <a:r>
              <a:rPr lang="it-IT" altLang="it-IT" sz="2400" dirty="0"/>
              <a:t>]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2000" dirty="0" err="1"/>
              <a:t>Less</a:t>
            </a:r>
            <a:r>
              <a:rPr lang="it-IT" altLang="it-IT" sz="2000" dirty="0"/>
              <a:t> </a:t>
            </a:r>
            <a:r>
              <a:rPr lang="it-IT" altLang="it-IT" sz="2000" dirty="0" err="1"/>
              <a:t>than</a:t>
            </a:r>
            <a:r>
              <a:rPr lang="it-IT" altLang="it-IT" sz="2000" dirty="0"/>
              <a:t> 1 minute! </a:t>
            </a:r>
          </a:p>
          <a:p>
            <a:pPr eaLnBrk="1" hangingPunct="1">
              <a:lnSpc>
                <a:spcPct val="80000"/>
              </a:lnSpc>
            </a:pPr>
            <a:r>
              <a:rPr lang="it-IT" altLang="it-IT" sz="2400" dirty="0"/>
              <a:t>Lesson </a:t>
            </a:r>
            <a:r>
              <a:rPr lang="it-IT" altLang="it-IT" sz="2400" dirty="0" err="1"/>
              <a:t>learned</a:t>
            </a:r>
            <a:r>
              <a:rPr lang="it-IT" altLang="it-IT" sz="2400" dirty="0"/>
              <a:t>: 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 dirty="0"/>
              <a:t>Security by </a:t>
            </a:r>
            <a:r>
              <a:rPr lang="it-IT" altLang="it-IT" sz="2400" dirty="0" err="1"/>
              <a:t>obscurity</a:t>
            </a:r>
            <a:r>
              <a:rPr lang="it-IT" altLang="it-IT" sz="2400" dirty="0"/>
              <a:t> </a:t>
            </a:r>
            <a:r>
              <a:rPr lang="it-IT" altLang="it-IT" sz="2400" dirty="0" err="1"/>
              <a:t>does</a:t>
            </a:r>
            <a:r>
              <a:rPr lang="it-IT" altLang="it-IT" sz="2400" dirty="0"/>
              <a:t> NOT work!! </a:t>
            </a:r>
            <a:r>
              <a:rPr lang="it-IT" altLang="it-IT" sz="2400" dirty="0" err="1"/>
              <a:t>Leave</a:t>
            </a:r>
            <a:r>
              <a:rPr lang="it-IT" altLang="it-IT" sz="2400" dirty="0"/>
              <a:t> </a:t>
            </a:r>
            <a:r>
              <a:rPr lang="it-IT" altLang="it-IT" sz="2400" dirty="0" err="1"/>
              <a:t>hash</a:t>
            </a:r>
            <a:r>
              <a:rPr lang="it-IT" altLang="it-IT" sz="2400" dirty="0"/>
              <a:t> design to </a:t>
            </a:r>
            <a:r>
              <a:rPr lang="it-IT" altLang="it-IT" sz="2400" dirty="0" err="1"/>
              <a:t>crypto</a:t>
            </a:r>
            <a:r>
              <a:rPr lang="it-IT" altLang="it-IT" sz="2400" dirty="0"/>
              <a:t> </a:t>
            </a:r>
            <a:r>
              <a:rPr lang="it-IT" altLang="it-IT" sz="2400" dirty="0" err="1"/>
              <a:t>experts</a:t>
            </a:r>
            <a:endParaRPr lang="it-IT" altLang="it-IT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1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1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1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14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14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14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14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02" name="Rectangle 2">
            <a:extLst>
              <a:ext uri="{FF2B5EF4-FFF2-40B4-BE49-F238E27FC236}">
                <a16:creationId xmlns:a16="http://schemas.microsoft.com/office/drawing/2014/main" id="{1BC723A8-45C2-4AA4-972D-5024CA5939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/>
              <a:t>Over the air attach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510701BB-EC35-47EC-BDED-387B0E44EE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No mutual authentication!</a:t>
            </a:r>
          </a:p>
          <a:p>
            <a:pPr eaLnBrk="1" hangingPunct="1"/>
            <a:endParaRPr lang="it-IT" altLang="it-IT"/>
          </a:p>
          <a:p>
            <a:pPr eaLnBrk="1" hangingPunct="1"/>
            <a:r>
              <a:rPr lang="it-IT" altLang="it-IT"/>
              <a:t>Rogue BTS may easily perform the attach </a:t>
            </a:r>
          </a:p>
          <a:p>
            <a:pPr lvl="1" eaLnBrk="1" hangingPunct="1"/>
            <a:r>
              <a:rPr lang="it-IT" altLang="it-IT"/>
              <a:t>run it for sufficient time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826" name="Rectangle 2">
            <a:extLst>
              <a:ext uri="{FF2B5EF4-FFF2-40B4-BE49-F238E27FC236}">
                <a16:creationId xmlns:a16="http://schemas.microsoft.com/office/drawing/2014/main" id="{B92E2452-FE57-4252-BC05-4825219E720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sz="3200" dirty="0"/>
              <a:t>3G/4G/5G authentication: AKA</a:t>
            </a:r>
            <a:br>
              <a:rPr lang="it-IT" sz="3200" dirty="0"/>
            </a:br>
            <a:r>
              <a:rPr lang="it-IT" sz="3200" dirty="0"/>
              <a:t>Authentication and Key Agreement</a:t>
            </a:r>
            <a:br>
              <a:rPr lang="it-IT" sz="3200" dirty="0"/>
            </a:br>
            <a:br>
              <a:rPr lang="it-IT" sz="3200" dirty="0"/>
            </a:br>
            <a:r>
              <a:rPr lang="it-IT" sz="2400" dirty="0"/>
              <a:t>(STRONGLY </a:t>
            </a:r>
            <a:r>
              <a:rPr lang="it-IT" sz="2400" dirty="0" err="1"/>
              <a:t>Simplified</a:t>
            </a:r>
            <a:r>
              <a:rPr lang="it-IT" sz="2400" dirty="0"/>
              <a:t> for </a:t>
            </a:r>
            <a:r>
              <a:rPr lang="it-IT" sz="2400" dirty="0" err="1"/>
              <a:t>our</a:t>
            </a:r>
            <a:r>
              <a:rPr lang="it-IT" sz="2400" dirty="0"/>
              <a:t> </a:t>
            </a:r>
            <a:r>
              <a:rPr lang="it-IT" sz="2400" dirty="0" err="1"/>
              <a:t>purposes</a:t>
            </a:r>
            <a:r>
              <a:rPr lang="it-IT" sz="2400" dirty="0"/>
              <a:t>; 3G </a:t>
            </a:r>
            <a:r>
              <a:rPr lang="it-IT" sz="2400" dirty="0" err="1"/>
              <a:t>terminology</a:t>
            </a:r>
            <a:r>
              <a:rPr lang="it-IT" sz="2400" dirty="0"/>
              <a:t>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610" name="Rectangle 2">
            <a:extLst>
              <a:ext uri="{FF2B5EF4-FFF2-40B4-BE49-F238E27FC236}">
                <a16:creationId xmlns:a16="http://schemas.microsoft.com/office/drawing/2014/main" id="{B98EEE59-D974-4AB5-B542-3F7FC393B9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dirty="0"/>
              <a:t>Major </a:t>
            </a:r>
            <a:r>
              <a:rPr lang="it-IT" dirty="0" err="1"/>
              <a:t>differences</a:t>
            </a:r>
            <a:r>
              <a:rPr lang="it-IT" dirty="0"/>
              <a:t> with 2G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55825655-70E1-4D67-B4C1-EDCE13F57D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124744"/>
            <a:ext cx="10726216" cy="4970462"/>
          </a:xfrm>
        </p:spPr>
        <p:txBody>
          <a:bodyPr/>
          <a:lstStyle/>
          <a:p>
            <a:pPr eaLnBrk="1" hangingPunct="1"/>
            <a:r>
              <a:rPr lang="it-IT" altLang="it-IT" sz="2800" dirty="0" err="1"/>
              <a:t>Mutual</a:t>
            </a:r>
            <a:r>
              <a:rPr lang="it-IT" altLang="it-IT" sz="2800" dirty="0"/>
              <a:t> authentication!</a:t>
            </a:r>
          </a:p>
          <a:p>
            <a:pPr lvl="1" eaLnBrk="1" hangingPunct="1"/>
            <a:r>
              <a:rPr lang="it-IT" altLang="it-IT" sz="2800" dirty="0" err="1"/>
              <a:t>Optimized</a:t>
            </a:r>
            <a:r>
              <a:rPr lang="it-IT" altLang="it-IT" sz="2800" dirty="0"/>
              <a:t>…</a:t>
            </a:r>
          </a:p>
          <a:p>
            <a:pPr lvl="1" eaLnBrk="1" hangingPunct="1"/>
            <a:r>
              <a:rPr lang="it-IT" altLang="it-IT" sz="2800" dirty="0" err="1"/>
              <a:t>Guaranteed</a:t>
            </a:r>
            <a:r>
              <a:rPr lang="it-IT" altLang="it-IT" sz="2800" dirty="0"/>
              <a:t> </a:t>
            </a:r>
            <a:r>
              <a:rPr lang="it-IT" altLang="it-IT" sz="2800" dirty="0" err="1"/>
              <a:t>freshness</a:t>
            </a:r>
            <a:r>
              <a:rPr lang="it-IT" altLang="it-IT" sz="2800" dirty="0"/>
              <a:t> for </a:t>
            </a:r>
            <a:r>
              <a:rPr lang="it-IT" altLang="it-IT" sz="2800" dirty="0" err="1"/>
              <a:t>auth</a:t>
            </a:r>
            <a:r>
              <a:rPr lang="it-IT" altLang="it-IT" sz="2800" dirty="0"/>
              <a:t> </a:t>
            </a:r>
            <a:r>
              <a:rPr lang="it-IT" altLang="it-IT" sz="2800" dirty="0" err="1"/>
              <a:t>parameters</a:t>
            </a:r>
            <a:endParaRPr lang="it-IT" altLang="it-IT" sz="2800" dirty="0"/>
          </a:p>
          <a:p>
            <a:pPr eaLnBrk="1" hangingPunct="1"/>
            <a:r>
              <a:rPr lang="it-IT" altLang="it-IT" sz="2800" dirty="0"/>
              <a:t>More </a:t>
            </a:r>
            <a:r>
              <a:rPr lang="it-IT" altLang="it-IT" sz="2800" dirty="0" err="1"/>
              <a:t>comprehensive</a:t>
            </a:r>
            <a:r>
              <a:rPr lang="it-IT" altLang="it-IT" sz="2800" dirty="0"/>
              <a:t> security</a:t>
            </a:r>
          </a:p>
          <a:p>
            <a:pPr lvl="1" eaLnBrk="1" hangingPunct="1"/>
            <a:r>
              <a:rPr lang="it-IT" altLang="it-IT" sz="2800" dirty="0"/>
              <a:t>More keys and </a:t>
            </a:r>
            <a:r>
              <a:rPr lang="it-IT" altLang="it-IT" sz="2800" dirty="0" err="1"/>
              <a:t>several</a:t>
            </a:r>
            <a:r>
              <a:rPr lang="it-IT" altLang="it-IT" sz="2800" dirty="0"/>
              <a:t> extra </a:t>
            </a:r>
            <a:r>
              <a:rPr lang="it-IT" altLang="it-IT" sz="2800" dirty="0" err="1"/>
              <a:t>details</a:t>
            </a:r>
            <a:endParaRPr lang="it-IT" altLang="it-IT" sz="2800" dirty="0"/>
          </a:p>
          <a:p>
            <a:pPr lvl="2" eaLnBrk="1" hangingPunct="1"/>
            <a:r>
              <a:rPr lang="it-IT" altLang="it-IT" sz="2400" dirty="0"/>
              <a:t>(</a:t>
            </a:r>
            <a:r>
              <a:rPr lang="it-IT" altLang="it-IT" sz="2400" dirty="0" err="1"/>
              <a:t>we</a:t>
            </a:r>
            <a:r>
              <a:rPr lang="it-IT" altLang="it-IT" sz="2400" dirty="0"/>
              <a:t> </a:t>
            </a:r>
            <a:r>
              <a:rPr lang="it-IT" altLang="it-IT" sz="2400" dirty="0" err="1"/>
              <a:t>will</a:t>
            </a:r>
            <a:r>
              <a:rPr lang="it-IT" altLang="it-IT" sz="2400" dirty="0"/>
              <a:t> </a:t>
            </a:r>
            <a:r>
              <a:rPr lang="it-IT" altLang="it-IT" sz="2400" dirty="0" err="1"/>
              <a:t>not</a:t>
            </a:r>
            <a:r>
              <a:rPr lang="it-IT" altLang="it-IT" sz="2400" dirty="0"/>
              <a:t> focus on </a:t>
            </a:r>
            <a:r>
              <a:rPr lang="it-IT" altLang="it-IT" sz="2400" dirty="0" err="1"/>
              <a:t>this</a:t>
            </a:r>
            <a:r>
              <a:rPr lang="it-IT" altLang="it-IT" sz="2400" dirty="0"/>
              <a:t>)</a:t>
            </a:r>
          </a:p>
          <a:p>
            <a:pPr eaLnBrk="1" hangingPunct="1"/>
            <a:r>
              <a:rPr lang="it-IT" altLang="it-IT" sz="2800" dirty="0" err="1"/>
              <a:t>Algorithms</a:t>
            </a:r>
            <a:r>
              <a:rPr lang="it-IT" altLang="it-IT" sz="2800" dirty="0"/>
              <a:t> FIRST </a:t>
            </a:r>
            <a:r>
              <a:rPr lang="it-IT" altLang="it-IT" sz="2800" dirty="0" err="1"/>
              <a:t>scrutinized</a:t>
            </a:r>
            <a:r>
              <a:rPr lang="it-IT" altLang="it-IT" sz="2800" dirty="0"/>
              <a:t> by </a:t>
            </a:r>
            <a:r>
              <a:rPr lang="it-IT" altLang="it-IT" sz="2800" dirty="0" err="1"/>
              <a:t>research</a:t>
            </a:r>
            <a:r>
              <a:rPr lang="it-IT" altLang="it-IT" sz="2800" dirty="0"/>
              <a:t> community, THEN </a:t>
            </a:r>
            <a:r>
              <a:rPr lang="it-IT" altLang="it-IT" sz="2800" dirty="0" err="1"/>
              <a:t>selected</a:t>
            </a:r>
            <a:endParaRPr lang="it-IT" altLang="it-IT" sz="2800" dirty="0"/>
          </a:p>
          <a:p>
            <a:pPr lvl="1" eaLnBrk="1" hangingPunct="1"/>
            <a:r>
              <a:rPr lang="it-IT" altLang="it-IT" sz="2800" dirty="0"/>
              <a:t>The opposite of security by </a:t>
            </a:r>
            <a:r>
              <a:rPr lang="it-IT" altLang="it-IT" sz="2800" dirty="0" err="1"/>
              <a:t>obscurity</a:t>
            </a:r>
            <a:r>
              <a:rPr lang="it-IT" altLang="it-IT" sz="2800" dirty="0"/>
              <a:t> </a:t>
            </a:r>
            <a:r>
              <a:rPr lang="it-IT" altLang="it-IT" sz="2800" dirty="0">
                <a:sym typeface="Wingdings" panose="05000000000000000000" pitchFamily="2" charset="2"/>
              </a:rPr>
              <a:t></a:t>
            </a:r>
            <a:endParaRPr lang="it-IT" altLang="it-IT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7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7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7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7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7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850" name="Rectangle 2">
            <a:extLst>
              <a:ext uri="{FF2B5EF4-FFF2-40B4-BE49-F238E27FC236}">
                <a16:creationId xmlns:a16="http://schemas.microsoft.com/office/drawing/2014/main" id="{6C674890-5C63-469D-A6C8-8DE226475B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/>
              <a:t>Authentication Vector</a:t>
            </a:r>
          </a:p>
        </p:txBody>
      </p:sp>
      <p:sp>
        <p:nvSpPr>
          <p:cNvPr id="58371" name="AutoShape 5">
            <a:extLst>
              <a:ext uri="{FF2B5EF4-FFF2-40B4-BE49-F238E27FC236}">
                <a16:creationId xmlns:a16="http://schemas.microsoft.com/office/drawing/2014/main" id="{6A31895F-3559-48CC-9F9A-4318C6DEF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3225" y="1952625"/>
            <a:ext cx="762000" cy="1295400"/>
          </a:xfrm>
          <a:prstGeom prst="can">
            <a:avLst>
              <a:gd name="adj" fmla="val 33126"/>
            </a:avLst>
          </a:prstGeom>
          <a:solidFill>
            <a:srgbClr val="FF99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Times New Roman" panose="02020603050405020304" pitchFamily="18" charset="0"/>
              </a:rPr>
              <a:t>VLR</a:t>
            </a:r>
          </a:p>
        </p:txBody>
      </p:sp>
      <p:grpSp>
        <p:nvGrpSpPr>
          <p:cNvPr id="58372" name="Group 7">
            <a:extLst>
              <a:ext uri="{FF2B5EF4-FFF2-40B4-BE49-F238E27FC236}">
                <a16:creationId xmlns:a16="http://schemas.microsoft.com/office/drawing/2014/main" id="{28193542-7EF9-48F3-AA0E-EE57418B3C84}"/>
              </a:ext>
            </a:extLst>
          </p:cNvPr>
          <p:cNvGrpSpPr>
            <a:grpSpLocks/>
          </p:cNvGrpSpPr>
          <p:nvPr/>
        </p:nvGrpSpPr>
        <p:grpSpPr bwMode="auto">
          <a:xfrm>
            <a:off x="2124076" y="2781301"/>
            <a:ext cx="377825" cy="314325"/>
            <a:chOff x="1198" y="2592"/>
            <a:chExt cx="387" cy="253"/>
          </a:xfrm>
        </p:grpSpPr>
        <p:sp>
          <p:nvSpPr>
            <p:cNvPr id="58412" name="Freeform 8">
              <a:extLst>
                <a:ext uri="{FF2B5EF4-FFF2-40B4-BE49-F238E27FC236}">
                  <a16:creationId xmlns:a16="http://schemas.microsoft.com/office/drawing/2014/main" id="{2F795029-CBF7-41E5-B79C-F4CB43DCB8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8" y="2592"/>
              <a:ext cx="387" cy="250"/>
            </a:xfrm>
            <a:custGeom>
              <a:avLst/>
              <a:gdLst>
                <a:gd name="T0" fmla="*/ 385 w 387"/>
                <a:gd name="T1" fmla="*/ 0 h 250"/>
                <a:gd name="T2" fmla="*/ 202 w 387"/>
                <a:gd name="T3" fmla="*/ 120 h 250"/>
                <a:gd name="T4" fmla="*/ 198 w 387"/>
                <a:gd name="T5" fmla="*/ 118 h 250"/>
                <a:gd name="T6" fmla="*/ 0 w 387"/>
                <a:gd name="T7" fmla="*/ 249 h 250"/>
                <a:gd name="T8" fmla="*/ 21 w 387"/>
                <a:gd name="T9" fmla="*/ 249 h 250"/>
                <a:gd name="T10" fmla="*/ 202 w 387"/>
                <a:gd name="T11" fmla="*/ 130 h 250"/>
                <a:gd name="T12" fmla="*/ 205 w 387"/>
                <a:gd name="T13" fmla="*/ 124 h 250"/>
                <a:gd name="T14" fmla="*/ 386 w 387"/>
                <a:gd name="T15" fmla="*/ 2 h 250"/>
                <a:gd name="T16" fmla="*/ 385 w 387"/>
                <a:gd name="T17" fmla="*/ 0 h 25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87"/>
                <a:gd name="T28" fmla="*/ 0 h 250"/>
                <a:gd name="T29" fmla="*/ 387 w 387"/>
                <a:gd name="T30" fmla="*/ 250 h 25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87" h="250">
                  <a:moveTo>
                    <a:pt x="385" y="0"/>
                  </a:moveTo>
                  <a:lnTo>
                    <a:pt x="202" y="120"/>
                  </a:lnTo>
                  <a:lnTo>
                    <a:pt x="198" y="118"/>
                  </a:lnTo>
                  <a:lnTo>
                    <a:pt x="0" y="249"/>
                  </a:lnTo>
                  <a:lnTo>
                    <a:pt x="21" y="249"/>
                  </a:lnTo>
                  <a:lnTo>
                    <a:pt x="202" y="130"/>
                  </a:lnTo>
                  <a:lnTo>
                    <a:pt x="205" y="124"/>
                  </a:lnTo>
                  <a:lnTo>
                    <a:pt x="386" y="2"/>
                  </a:lnTo>
                  <a:lnTo>
                    <a:pt x="385" y="0"/>
                  </a:lnTo>
                </a:path>
              </a:pathLst>
            </a:custGeom>
            <a:solidFill>
              <a:srgbClr val="A0A0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58413" name="Oval 9">
              <a:extLst>
                <a:ext uri="{FF2B5EF4-FFF2-40B4-BE49-F238E27FC236}">
                  <a16:creationId xmlns:a16="http://schemas.microsoft.com/office/drawing/2014/main" id="{EF7BE4F7-609E-4B3D-B4E5-137BDB40DA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2" y="2821"/>
              <a:ext cx="20" cy="24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800" b="0">
                <a:latin typeface="Arial Narrow" panose="020B0606020202030204" pitchFamily="34" charset="0"/>
              </a:endParaRPr>
            </a:p>
          </p:txBody>
        </p:sp>
      </p:grpSp>
      <p:grpSp>
        <p:nvGrpSpPr>
          <p:cNvPr id="58373" name="Group 10">
            <a:extLst>
              <a:ext uri="{FF2B5EF4-FFF2-40B4-BE49-F238E27FC236}">
                <a16:creationId xmlns:a16="http://schemas.microsoft.com/office/drawing/2014/main" id="{60D54B81-6718-46AF-9DDB-9FE6F2320EF2}"/>
              </a:ext>
            </a:extLst>
          </p:cNvPr>
          <p:cNvGrpSpPr>
            <a:grpSpLocks/>
          </p:cNvGrpSpPr>
          <p:nvPr/>
        </p:nvGrpSpPr>
        <p:grpSpPr bwMode="auto">
          <a:xfrm>
            <a:off x="1739901" y="2943226"/>
            <a:ext cx="485775" cy="523875"/>
            <a:chOff x="806" y="2722"/>
            <a:chExt cx="496" cy="421"/>
          </a:xfrm>
        </p:grpSpPr>
        <p:sp>
          <p:nvSpPr>
            <p:cNvPr id="58383" name="Freeform 11">
              <a:extLst>
                <a:ext uri="{FF2B5EF4-FFF2-40B4-BE49-F238E27FC236}">
                  <a16:creationId xmlns:a16="http://schemas.microsoft.com/office/drawing/2014/main" id="{285D4932-9042-41D3-B965-AD28A8E2E68B}"/>
                </a:ext>
              </a:extLst>
            </p:cNvPr>
            <p:cNvSpPr>
              <a:spLocks/>
            </p:cNvSpPr>
            <p:nvPr/>
          </p:nvSpPr>
          <p:spPr bwMode="auto">
            <a:xfrm>
              <a:off x="806" y="2722"/>
              <a:ext cx="496" cy="421"/>
            </a:xfrm>
            <a:custGeom>
              <a:avLst/>
              <a:gdLst>
                <a:gd name="T0" fmla="*/ 386 w 496"/>
                <a:gd name="T1" fmla="*/ 15 h 421"/>
                <a:gd name="T2" fmla="*/ 312 w 496"/>
                <a:gd name="T3" fmla="*/ 89 h 421"/>
                <a:gd name="T4" fmla="*/ 104 w 496"/>
                <a:gd name="T5" fmla="*/ 247 h 421"/>
                <a:gd name="T6" fmla="*/ 0 w 496"/>
                <a:gd name="T7" fmla="*/ 301 h 421"/>
                <a:gd name="T8" fmla="*/ 64 w 496"/>
                <a:gd name="T9" fmla="*/ 420 h 421"/>
                <a:gd name="T10" fmla="*/ 89 w 496"/>
                <a:gd name="T11" fmla="*/ 415 h 421"/>
                <a:gd name="T12" fmla="*/ 168 w 496"/>
                <a:gd name="T13" fmla="*/ 366 h 421"/>
                <a:gd name="T14" fmla="*/ 401 w 496"/>
                <a:gd name="T15" fmla="*/ 193 h 421"/>
                <a:gd name="T16" fmla="*/ 495 w 496"/>
                <a:gd name="T17" fmla="*/ 94 h 421"/>
                <a:gd name="T18" fmla="*/ 421 w 496"/>
                <a:gd name="T19" fmla="*/ 0 h 421"/>
                <a:gd name="T20" fmla="*/ 386 w 496"/>
                <a:gd name="T21" fmla="*/ 15 h 42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496"/>
                <a:gd name="T34" fmla="*/ 0 h 421"/>
                <a:gd name="T35" fmla="*/ 496 w 496"/>
                <a:gd name="T36" fmla="*/ 421 h 421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496" h="421">
                  <a:moveTo>
                    <a:pt x="386" y="15"/>
                  </a:moveTo>
                  <a:lnTo>
                    <a:pt x="312" y="89"/>
                  </a:lnTo>
                  <a:lnTo>
                    <a:pt x="104" y="247"/>
                  </a:lnTo>
                  <a:lnTo>
                    <a:pt x="0" y="301"/>
                  </a:lnTo>
                  <a:lnTo>
                    <a:pt x="64" y="420"/>
                  </a:lnTo>
                  <a:lnTo>
                    <a:pt x="89" y="415"/>
                  </a:lnTo>
                  <a:lnTo>
                    <a:pt x="168" y="366"/>
                  </a:lnTo>
                  <a:lnTo>
                    <a:pt x="401" y="193"/>
                  </a:lnTo>
                  <a:lnTo>
                    <a:pt x="495" y="94"/>
                  </a:lnTo>
                  <a:lnTo>
                    <a:pt x="421" y="0"/>
                  </a:lnTo>
                  <a:lnTo>
                    <a:pt x="386" y="15"/>
                  </a:lnTo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58384" name="Freeform 12">
              <a:extLst>
                <a:ext uri="{FF2B5EF4-FFF2-40B4-BE49-F238E27FC236}">
                  <a16:creationId xmlns:a16="http://schemas.microsoft.com/office/drawing/2014/main" id="{5D73BD4C-65F3-4738-853C-105E2A0822A5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" y="3033"/>
              <a:ext cx="70" cy="106"/>
            </a:xfrm>
            <a:custGeom>
              <a:avLst/>
              <a:gdLst>
                <a:gd name="T0" fmla="*/ 14 w 70"/>
                <a:gd name="T1" fmla="*/ 0 h 106"/>
                <a:gd name="T2" fmla="*/ 0 w 70"/>
                <a:gd name="T3" fmla="*/ 0 h 106"/>
                <a:gd name="T4" fmla="*/ 51 w 70"/>
                <a:gd name="T5" fmla="*/ 105 h 106"/>
                <a:gd name="T6" fmla="*/ 69 w 70"/>
                <a:gd name="T7" fmla="*/ 100 h 106"/>
                <a:gd name="T8" fmla="*/ 14 w 70"/>
                <a:gd name="T9" fmla="*/ 0 h 1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"/>
                <a:gd name="T16" fmla="*/ 0 h 106"/>
                <a:gd name="T17" fmla="*/ 70 w 70"/>
                <a:gd name="T18" fmla="*/ 106 h 1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" h="106">
                  <a:moveTo>
                    <a:pt x="14" y="0"/>
                  </a:moveTo>
                  <a:lnTo>
                    <a:pt x="0" y="0"/>
                  </a:lnTo>
                  <a:lnTo>
                    <a:pt x="51" y="105"/>
                  </a:lnTo>
                  <a:lnTo>
                    <a:pt x="69" y="100"/>
                  </a:lnTo>
                  <a:lnTo>
                    <a:pt x="14" y="0"/>
                  </a:lnTo>
                </a:path>
              </a:pathLst>
            </a:cu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58385" name="Freeform 13">
              <a:extLst>
                <a:ext uri="{FF2B5EF4-FFF2-40B4-BE49-F238E27FC236}">
                  <a16:creationId xmlns:a16="http://schemas.microsoft.com/office/drawing/2014/main" id="{85788AEE-8CE6-445E-8AE7-D21A6A1CA169}"/>
                </a:ext>
              </a:extLst>
            </p:cNvPr>
            <p:cNvSpPr>
              <a:spLocks/>
            </p:cNvSpPr>
            <p:nvPr/>
          </p:nvSpPr>
          <p:spPr bwMode="auto">
            <a:xfrm>
              <a:off x="841" y="2988"/>
              <a:ext cx="131" cy="140"/>
            </a:xfrm>
            <a:custGeom>
              <a:avLst/>
              <a:gdLst>
                <a:gd name="T0" fmla="*/ 0 w 131"/>
                <a:gd name="T1" fmla="*/ 43 h 140"/>
                <a:gd name="T2" fmla="*/ 53 w 131"/>
                <a:gd name="T3" fmla="*/ 139 h 140"/>
                <a:gd name="T4" fmla="*/ 130 w 131"/>
                <a:gd name="T5" fmla="*/ 86 h 140"/>
                <a:gd name="T6" fmla="*/ 77 w 131"/>
                <a:gd name="T7" fmla="*/ 0 h 140"/>
                <a:gd name="T8" fmla="*/ 0 w 131"/>
                <a:gd name="T9" fmla="*/ 43 h 1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1"/>
                <a:gd name="T16" fmla="*/ 0 h 140"/>
                <a:gd name="T17" fmla="*/ 131 w 131"/>
                <a:gd name="T18" fmla="*/ 140 h 1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1" h="140">
                  <a:moveTo>
                    <a:pt x="0" y="43"/>
                  </a:moveTo>
                  <a:lnTo>
                    <a:pt x="53" y="139"/>
                  </a:lnTo>
                  <a:lnTo>
                    <a:pt x="130" y="86"/>
                  </a:lnTo>
                  <a:lnTo>
                    <a:pt x="77" y="0"/>
                  </a:lnTo>
                  <a:lnTo>
                    <a:pt x="0" y="43"/>
                  </a:lnTo>
                </a:path>
              </a:pathLst>
            </a:cu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58386" name="Freeform 14">
              <a:extLst>
                <a:ext uri="{FF2B5EF4-FFF2-40B4-BE49-F238E27FC236}">
                  <a16:creationId xmlns:a16="http://schemas.microsoft.com/office/drawing/2014/main" id="{083354A8-7E98-49BE-8B83-6BA5A492E6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5" y="2733"/>
              <a:ext cx="142" cy="161"/>
            </a:xfrm>
            <a:custGeom>
              <a:avLst/>
              <a:gdLst>
                <a:gd name="T0" fmla="*/ 78 w 142"/>
                <a:gd name="T1" fmla="*/ 0 h 161"/>
                <a:gd name="T2" fmla="*/ 0 w 142"/>
                <a:gd name="T3" fmla="*/ 78 h 161"/>
                <a:gd name="T4" fmla="*/ 68 w 142"/>
                <a:gd name="T5" fmla="*/ 160 h 161"/>
                <a:gd name="T6" fmla="*/ 141 w 142"/>
                <a:gd name="T7" fmla="*/ 82 h 161"/>
                <a:gd name="T8" fmla="*/ 78 w 142"/>
                <a:gd name="T9" fmla="*/ 0 h 1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2"/>
                <a:gd name="T16" fmla="*/ 0 h 161"/>
                <a:gd name="T17" fmla="*/ 142 w 142"/>
                <a:gd name="T18" fmla="*/ 161 h 16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2" h="161">
                  <a:moveTo>
                    <a:pt x="78" y="0"/>
                  </a:moveTo>
                  <a:lnTo>
                    <a:pt x="0" y="78"/>
                  </a:lnTo>
                  <a:lnTo>
                    <a:pt x="68" y="160"/>
                  </a:lnTo>
                  <a:lnTo>
                    <a:pt x="141" y="82"/>
                  </a:lnTo>
                  <a:lnTo>
                    <a:pt x="78" y="0"/>
                  </a:lnTo>
                </a:path>
              </a:pathLst>
            </a:cu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58387" name="Freeform 15">
              <a:extLst>
                <a:ext uri="{FF2B5EF4-FFF2-40B4-BE49-F238E27FC236}">
                  <a16:creationId xmlns:a16="http://schemas.microsoft.com/office/drawing/2014/main" id="{658B89CF-565F-4AE1-A1E7-B64A3F2C3565}"/>
                </a:ext>
              </a:extLst>
            </p:cNvPr>
            <p:cNvSpPr>
              <a:spLocks/>
            </p:cNvSpPr>
            <p:nvPr/>
          </p:nvSpPr>
          <p:spPr bwMode="auto">
            <a:xfrm>
              <a:off x="931" y="2827"/>
              <a:ext cx="271" cy="241"/>
            </a:xfrm>
            <a:custGeom>
              <a:avLst/>
              <a:gdLst>
                <a:gd name="T0" fmla="*/ 0 w 271"/>
                <a:gd name="T1" fmla="*/ 147 h 241"/>
                <a:gd name="T2" fmla="*/ 54 w 271"/>
                <a:gd name="T3" fmla="*/ 240 h 241"/>
                <a:gd name="T4" fmla="*/ 270 w 271"/>
                <a:gd name="T5" fmla="*/ 73 h 241"/>
                <a:gd name="T6" fmla="*/ 206 w 271"/>
                <a:gd name="T7" fmla="*/ 0 h 241"/>
                <a:gd name="T8" fmla="*/ 0 w 271"/>
                <a:gd name="T9" fmla="*/ 147 h 2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1"/>
                <a:gd name="T16" fmla="*/ 0 h 241"/>
                <a:gd name="T17" fmla="*/ 271 w 271"/>
                <a:gd name="T18" fmla="*/ 241 h 2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1" h="241">
                  <a:moveTo>
                    <a:pt x="0" y="147"/>
                  </a:moveTo>
                  <a:lnTo>
                    <a:pt x="54" y="240"/>
                  </a:lnTo>
                  <a:lnTo>
                    <a:pt x="270" y="73"/>
                  </a:lnTo>
                  <a:lnTo>
                    <a:pt x="206" y="0"/>
                  </a:lnTo>
                  <a:lnTo>
                    <a:pt x="0" y="147"/>
                  </a:lnTo>
                </a:path>
              </a:pathLst>
            </a:cu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grpSp>
          <p:nvGrpSpPr>
            <p:cNvPr id="58388" name="Group 16">
              <a:extLst>
                <a:ext uri="{FF2B5EF4-FFF2-40B4-BE49-F238E27FC236}">
                  <a16:creationId xmlns:a16="http://schemas.microsoft.com/office/drawing/2014/main" id="{4991849F-51D1-4E48-9121-EF8C1B9D01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46" y="2847"/>
              <a:ext cx="195" cy="141"/>
              <a:chOff x="946" y="2847"/>
              <a:chExt cx="195" cy="141"/>
            </a:xfrm>
          </p:grpSpPr>
          <p:sp>
            <p:nvSpPr>
              <p:cNvPr id="58405" name="Oval 17">
                <a:extLst>
                  <a:ext uri="{FF2B5EF4-FFF2-40B4-BE49-F238E27FC236}">
                    <a16:creationId xmlns:a16="http://schemas.microsoft.com/office/drawing/2014/main" id="{44AB4BE7-9330-4783-B67E-73CC6CB6B7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6" y="2847"/>
                <a:ext cx="15" cy="15"/>
              </a:xfrm>
              <a:prstGeom prst="ellipse">
                <a:avLst/>
              </a:pr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anose="020506040505050202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it-IT" altLang="it-IT" sz="1800" b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58406" name="Oval 18">
                <a:extLst>
                  <a:ext uri="{FF2B5EF4-FFF2-40B4-BE49-F238E27FC236}">
                    <a16:creationId xmlns:a16="http://schemas.microsoft.com/office/drawing/2014/main" id="{76627FAC-9909-4F20-95ED-6BA7414C54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96" y="2866"/>
                <a:ext cx="15" cy="17"/>
              </a:xfrm>
              <a:prstGeom prst="ellipse">
                <a:avLst/>
              </a:pr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anose="020506040505050202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it-IT" altLang="it-IT" sz="1800" b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58407" name="Oval 19">
                <a:extLst>
                  <a:ext uri="{FF2B5EF4-FFF2-40B4-BE49-F238E27FC236}">
                    <a16:creationId xmlns:a16="http://schemas.microsoft.com/office/drawing/2014/main" id="{10EFF09F-02A4-4E51-BFD4-F2FE292BD5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7" y="2887"/>
                <a:ext cx="14" cy="15"/>
              </a:xfrm>
              <a:prstGeom prst="ellipse">
                <a:avLst/>
              </a:pr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anose="020506040505050202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it-IT" altLang="it-IT" sz="1800" b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58408" name="Oval 20">
                <a:extLst>
                  <a:ext uri="{FF2B5EF4-FFF2-40B4-BE49-F238E27FC236}">
                    <a16:creationId xmlns:a16="http://schemas.microsoft.com/office/drawing/2014/main" id="{6876296B-8FAA-494F-A86C-C0357CE473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" y="2907"/>
                <a:ext cx="15" cy="15"/>
              </a:xfrm>
              <a:prstGeom prst="ellipse">
                <a:avLst/>
              </a:pr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anose="020506040505050202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it-IT" altLang="it-IT" sz="1800" b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58409" name="Oval 21">
                <a:extLst>
                  <a:ext uri="{FF2B5EF4-FFF2-40B4-BE49-F238E27FC236}">
                    <a16:creationId xmlns:a16="http://schemas.microsoft.com/office/drawing/2014/main" id="{DF1BCB35-8F33-4C31-9737-0CB9EF45CA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6" y="2932"/>
                <a:ext cx="15" cy="11"/>
              </a:xfrm>
              <a:prstGeom prst="ellipse">
                <a:avLst/>
              </a:pr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anose="020506040505050202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it-IT" altLang="it-IT" sz="1800" b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58410" name="Oval 22">
                <a:extLst>
                  <a:ext uri="{FF2B5EF4-FFF2-40B4-BE49-F238E27FC236}">
                    <a16:creationId xmlns:a16="http://schemas.microsoft.com/office/drawing/2014/main" id="{CFAE639F-5BD5-46B9-BFD8-69F08E53C6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7" y="2952"/>
                <a:ext cx="14" cy="15"/>
              </a:xfrm>
              <a:prstGeom prst="ellipse">
                <a:avLst/>
              </a:pr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anose="020506040505050202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it-IT" altLang="it-IT" sz="1800" b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58411" name="Oval 23">
                <a:extLst>
                  <a:ext uri="{FF2B5EF4-FFF2-40B4-BE49-F238E27FC236}">
                    <a16:creationId xmlns:a16="http://schemas.microsoft.com/office/drawing/2014/main" id="{1A4DCE69-5355-4DE3-84F1-625D0174DB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6" y="2971"/>
                <a:ext cx="16" cy="17"/>
              </a:xfrm>
              <a:prstGeom prst="ellipse">
                <a:avLst/>
              </a:pr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anose="020506040505050202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it-IT" altLang="it-IT" sz="1800" b="0">
                  <a:latin typeface="Arial Narrow" panose="020B0606020202030204" pitchFamily="34" charset="0"/>
                </a:endParaRPr>
              </a:p>
            </p:txBody>
          </p:sp>
        </p:grpSp>
        <p:grpSp>
          <p:nvGrpSpPr>
            <p:cNvPr id="58389" name="Group 24">
              <a:extLst>
                <a:ext uri="{FF2B5EF4-FFF2-40B4-BE49-F238E27FC236}">
                  <a16:creationId xmlns:a16="http://schemas.microsoft.com/office/drawing/2014/main" id="{198998DC-E7FF-4AC3-A589-BC0E257D4D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2" y="2872"/>
              <a:ext cx="195" cy="140"/>
              <a:chOff x="962" y="2872"/>
              <a:chExt cx="195" cy="140"/>
            </a:xfrm>
          </p:grpSpPr>
          <p:sp>
            <p:nvSpPr>
              <p:cNvPr id="58398" name="Oval 25">
                <a:extLst>
                  <a:ext uri="{FF2B5EF4-FFF2-40B4-BE49-F238E27FC236}">
                    <a16:creationId xmlns:a16="http://schemas.microsoft.com/office/drawing/2014/main" id="{0C66646C-9D2C-43B3-BAB2-64D694A748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1" y="2872"/>
                <a:ext cx="16" cy="15"/>
              </a:xfrm>
              <a:prstGeom prst="ellipse">
                <a:avLst/>
              </a:pr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anose="020506040505050202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it-IT" altLang="it-IT" sz="1800" b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58399" name="Oval 26">
                <a:extLst>
                  <a:ext uri="{FF2B5EF4-FFF2-40B4-BE49-F238E27FC236}">
                    <a16:creationId xmlns:a16="http://schemas.microsoft.com/office/drawing/2014/main" id="{C8337B58-454D-4AD0-A391-89FBABB66E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1" y="2893"/>
                <a:ext cx="15" cy="14"/>
              </a:xfrm>
              <a:prstGeom prst="ellipse">
                <a:avLst/>
              </a:pr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anose="020506040505050202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it-IT" altLang="it-IT" sz="1800" b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58400" name="Oval 27">
                <a:extLst>
                  <a:ext uri="{FF2B5EF4-FFF2-40B4-BE49-F238E27FC236}">
                    <a16:creationId xmlns:a16="http://schemas.microsoft.com/office/drawing/2014/main" id="{92AA8047-6514-4AFB-B1C0-927A1972C1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" y="2913"/>
                <a:ext cx="15" cy="15"/>
              </a:xfrm>
              <a:prstGeom prst="ellipse">
                <a:avLst/>
              </a:pr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anose="020506040505050202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it-IT" altLang="it-IT" sz="1800" b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58401" name="Oval 28">
                <a:extLst>
                  <a:ext uri="{FF2B5EF4-FFF2-40B4-BE49-F238E27FC236}">
                    <a16:creationId xmlns:a16="http://schemas.microsoft.com/office/drawing/2014/main" id="{122113A5-FAF5-4E24-9FA4-B58C1BCC9D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1" y="2932"/>
                <a:ext cx="16" cy="15"/>
              </a:xfrm>
              <a:prstGeom prst="ellipse">
                <a:avLst/>
              </a:pr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anose="020506040505050202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it-IT" altLang="it-IT" sz="1800" b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58402" name="Oval 29">
                <a:extLst>
                  <a:ext uri="{FF2B5EF4-FFF2-40B4-BE49-F238E27FC236}">
                    <a16:creationId xmlns:a16="http://schemas.microsoft.com/office/drawing/2014/main" id="{FDDE6167-4478-4B25-94BF-6599416771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1" y="2952"/>
                <a:ext cx="15" cy="15"/>
              </a:xfrm>
              <a:prstGeom prst="ellipse">
                <a:avLst/>
              </a:pr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anose="020506040505050202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it-IT" altLang="it-IT" sz="1800" b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58403" name="Oval 30">
                <a:extLst>
                  <a:ext uri="{FF2B5EF4-FFF2-40B4-BE49-F238E27FC236}">
                    <a16:creationId xmlns:a16="http://schemas.microsoft.com/office/drawing/2014/main" id="{B39F93FC-3BD5-4CB5-80B7-7D529AB3D6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1" y="2977"/>
                <a:ext cx="15" cy="15"/>
              </a:xfrm>
              <a:prstGeom prst="ellipse">
                <a:avLst/>
              </a:pr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anose="020506040505050202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it-IT" altLang="it-IT" sz="1800" b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58404" name="Oval 31">
                <a:extLst>
                  <a:ext uri="{FF2B5EF4-FFF2-40B4-BE49-F238E27FC236}">
                    <a16:creationId xmlns:a16="http://schemas.microsoft.com/office/drawing/2014/main" id="{82B1AC18-F203-40C3-96A7-C981D2F4FE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2" y="2998"/>
                <a:ext cx="15" cy="14"/>
              </a:xfrm>
              <a:prstGeom prst="ellipse">
                <a:avLst/>
              </a:pr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anose="020506040505050202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it-IT" altLang="it-IT" sz="1800" b="0">
                  <a:latin typeface="Arial Narrow" panose="020B0606020202030204" pitchFamily="34" charset="0"/>
                </a:endParaRPr>
              </a:p>
            </p:txBody>
          </p:sp>
        </p:grpSp>
        <p:grpSp>
          <p:nvGrpSpPr>
            <p:cNvPr id="58390" name="Group 32">
              <a:extLst>
                <a:ext uri="{FF2B5EF4-FFF2-40B4-BE49-F238E27FC236}">
                  <a16:creationId xmlns:a16="http://schemas.microsoft.com/office/drawing/2014/main" id="{B8AD40D5-27F4-44E1-A2EB-FB0F95B2B6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82" y="2898"/>
              <a:ext cx="195" cy="139"/>
              <a:chOff x="982" y="2898"/>
              <a:chExt cx="195" cy="139"/>
            </a:xfrm>
          </p:grpSpPr>
          <p:sp>
            <p:nvSpPr>
              <p:cNvPr id="58391" name="Oval 33">
                <a:extLst>
                  <a:ext uri="{FF2B5EF4-FFF2-40B4-BE49-F238E27FC236}">
                    <a16:creationId xmlns:a16="http://schemas.microsoft.com/office/drawing/2014/main" id="{C6D1AAB9-5D4D-41A5-8B19-87E756ED43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2" y="2898"/>
                <a:ext cx="15" cy="15"/>
              </a:xfrm>
              <a:prstGeom prst="ellipse">
                <a:avLst/>
              </a:pr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anose="020506040505050202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it-IT" altLang="it-IT" sz="1800" b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58392" name="Oval 34">
                <a:extLst>
                  <a:ext uri="{FF2B5EF4-FFF2-40B4-BE49-F238E27FC236}">
                    <a16:creationId xmlns:a16="http://schemas.microsoft.com/office/drawing/2014/main" id="{697465B6-28B0-495C-8ED8-F3A6605B39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0" y="2917"/>
                <a:ext cx="15" cy="15"/>
              </a:xfrm>
              <a:prstGeom prst="ellipse">
                <a:avLst/>
              </a:pr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anose="020506040505050202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it-IT" altLang="it-IT" sz="1800" b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58393" name="Oval 35">
                <a:extLst>
                  <a:ext uri="{FF2B5EF4-FFF2-40B4-BE49-F238E27FC236}">
                    <a16:creationId xmlns:a16="http://schemas.microsoft.com/office/drawing/2014/main" id="{FDFA8078-2F55-454F-AFAE-B0D1E4BE1B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2" y="2937"/>
                <a:ext cx="15" cy="15"/>
              </a:xfrm>
              <a:prstGeom prst="ellipse">
                <a:avLst/>
              </a:pr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anose="020506040505050202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it-IT" altLang="it-IT" sz="1800" b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58394" name="Oval 36">
                <a:extLst>
                  <a:ext uri="{FF2B5EF4-FFF2-40B4-BE49-F238E27FC236}">
                    <a16:creationId xmlns:a16="http://schemas.microsoft.com/office/drawing/2014/main" id="{A6A67AFD-C206-4A21-9DAA-35FF217C08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2" y="2958"/>
                <a:ext cx="15" cy="13"/>
              </a:xfrm>
              <a:prstGeom prst="ellipse">
                <a:avLst/>
              </a:pr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anose="020506040505050202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it-IT" altLang="it-IT" sz="1800" b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58395" name="Oval 37">
                <a:extLst>
                  <a:ext uri="{FF2B5EF4-FFF2-40B4-BE49-F238E27FC236}">
                    <a16:creationId xmlns:a16="http://schemas.microsoft.com/office/drawing/2014/main" id="{8AB9F52C-23FF-4F55-AD46-4F199E4896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0" y="2982"/>
                <a:ext cx="17" cy="10"/>
              </a:xfrm>
              <a:prstGeom prst="ellipse">
                <a:avLst/>
              </a:pr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anose="020506040505050202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it-IT" altLang="it-IT" sz="1800" b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58396" name="Oval 38">
                <a:extLst>
                  <a:ext uri="{FF2B5EF4-FFF2-40B4-BE49-F238E27FC236}">
                    <a16:creationId xmlns:a16="http://schemas.microsoft.com/office/drawing/2014/main" id="{9A7F7C69-AE37-477B-B2BA-D6BDBB2899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2" y="3003"/>
                <a:ext cx="15" cy="15"/>
              </a:xfrm>
              <a:prstGeom prst="ellipse">
                <a:avLst/>
              </a:pr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anose="020506040505050202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it-IT" altLang="it-IT" sz="1800" b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58397" name="Oval 39">
                <a:extLst>
                  <a:ext uri="{FF2B5EF4-FFF2-40B4-BE49-F238E27FC236}">
                    <a16:creationId xmlns:a16="http://schemas.microsoft.com/office/drawing/2014/main" id="{83F67A80-548F-4757-96D2-DD27E31507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2" y="3022"/>
                <a:ext cx="15" cy="15"/>
              </a:xfrm>
              <a:prstGeom prst="ellipse">
                <a:avLst/>
              </a:pr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anose="020506040505050202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it-IT" altLang="it-IT" sz="1800" b="0">
                  <a:latin typeface="Arial Narrow" panose="020B0606020202030204" pitchFamily="34" charset="0"/>
                </a:endParaRPr>
              </a:p>
            </p:txBody>
          </p:sp>
        </p:grpSp>
      </p:grpSp>
      <p:sp>
        <p:nvSpPr>
          <p:cNvPr id="58374" name="Text Box 40">
            <a:extLst>
              <a:ext uri="{FF2B5EF4-FFF2-40B4-BE49-F238E27FC236}">
                <a16:creationId xmlns:a16="http://schemas.microsoft.com/office/drawing/2014/main" id="{709D12F4-74E9-4644-A061-C4D2C67978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2540001"/>
            <a:ext cx="4968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latin typeface="Arial Narrow" panose="020B0606020202030204" pitchFamily="34" charset="0"/>
              </a:rPr>
              <a:t>MS</a:t>
            </a:r>
          </a:p>
        </p:txBody>
      </p:sp>
      <p:sp>
        <p:nvSpPr>
          <p:cNvPr id="58375" name="AutoShape 41">
            <a:extLst>
              <a:ext uri="{FF2B5EF4-FFF2-40B4-BE49-F238E27FC236}">
                <a16:creationId xmlns:a16="http://schemas.microsoft.com/office/drawing/2014/main" id="{C3E296FB-2412-450D-8313-CB0039782B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25013" y="1998663"/>
            <a:ext cx="685800" cy="1143000"/>
          </a:xfrm>
          <a:prstGeom prst="can">
            <a:avLst>
              <a:gd name="adj" fmla="val 28241"/>
            </a:avLst>
          </a:prstGeom>
          <a:solidFill>
            <a:srgbClr val="96F8F6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600">
                <a:latin typeface="Times New Roman" panose="02020603050405020304" pitchFamily="18" charset="0"/>
              </a:rPr>
              <a:t>HLR /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600">
                <a:latin typeface="Times New Roman" panose="02020603050405020304" pitchFamily="18" charset="0"/>
              </a:rPr>
              <a:t> AUC</a:t>
            </a:r>
          </a:p>
        </p:txBody>
      </p:sp>
      <p:sp>
        <p:nvSpPr>
          <p:cNvPr id="1230890" name="AutoShape 42">
            <a:extLst>
              <a:ext uri="{FF2B5EF4-FFF2-40B4-BE49-F238E27FC236}">
                <a16:creationId xmlns:a16="http://schemas.microsoft.com/office/drawing/2014/main" id="{7C8582EB-95E4-43C2-B85F-6087EE2FAC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3338" y="2024063"/>
            <a:ext cx="3117850" cy="533400"/>
          </a:xfrm>
          <a:prstGeom prst="rightArrow">
            <a:avLst>
              <a:gd name="adj1" fmla="val 50000"/>
              <a:gd name="adj2" fmla="val 146131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600">
                <a:latin typeface="Times New Roman" panose="02020603050405020304" pitchFamily="18" charset="0"/>
              </a:rPr>
              <a:t>IMSI</a:t>
            </a:r>
          </a:p>
        </p:txBody>
      </p:sp>
      <p:sp>
        <p:nvSpPr>
          <p:cNvPr id="1230891" name="AutoShape 43">
            <a:extLst>
              <a:ext uri="{FF2B5EF4-FFF2-40B4-BE49-F238E27FC236}">
                <a16:creationId xmlns:a16="http://schemas.microsoft.com/office/drawing/2014/main" id="{0E00A964-2C53-4DB9-A226-9D5952C644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3338" y="2633664"/>
            <a:ext cx="3046412" cy="579437"/>
          </a:xfrm>
          <a:prstGeom prst="leftArrow">
            <a:avLst>
              <a:gd name="adj1" fmla="val 50000"/>
              <a:gd name="adj2" fmla="val 131438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600">
                <a:latin typeface="Times New Roman" panose="02020603050405020304" pitchFamily="18" charset="0"/>
              </a:rPr>
              <a:t>N x Auth Vector</a:t>
            </a:r>
          </a:p>
        </p:txBody>
      </p:sp>
      <p:sp>
        <p:nvSpPr>
          <p:cNvPr id="59402" name="Text Box 44">
            <a:extLst>
              <a:ext uri="{FF2B5EF4-FFF2-40B4-BE49-F238E27FC236}">
                <a16:creationId xmlns:a16="http://schemas.microsoft.com/office/drawing/2014/main" id="{5F5142F1-5FFB-4960-8C13-47C212C0FD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2401" y="3446463"/>
            <a:ext cx="5122863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Authentication Vector: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	- XRES (expected result)	as GSM SRES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	- RAND			as GSM RAND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	- AUTN (Netw. Auth. token)	- - -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	- CK (cipher key)		as GSM Kc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	- IK (integrity key)		- - -	</a:t>
            </a:r>
          </a:p>
        </p:txBody>
      </p:sp>
      <p:sp>
        <p:nvSpPr>
          <p:cNvPr id="1230893" name="AutoShape 45">
            <a:extLst>
              <a:ext uri="{FF2B5EF4-FFF2-40B4-BE49-F238E27FC236}">
                <a16:creationId xmlns:a16="http://schemas.microsoft.com/office/drawing/2014/main" id="{59A8F7C4-6B91-404A-A1DB-0CD8A680B5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1088" y="2994025"/>
            <a:ext cx="3046412" cy="579438"/>
          </a:xfrm>
          <a:prstGeom prst="leftArrow">
            <a:avLst>
              <a:gd name="adj1" fmla="val 50000"/>
              <a:gd name="adj2" fmla="val 131438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600">
                <a:latin typeface="Times New Roman" panose="02020603050405020304" pitchFamily="18" charset="0"/>
              </a:rPr>
              <a:t>RAND, AUTN</a:t>
            </a:r>
          </a:p>
        </p:txBody>
      </p:sp>
      <p:sp>
        <p:nvSpPr>
          <p:cNvPr id="1230894" name="AutoShape 46">
            <a:extLst>
              <a:ext uri="{FF2B5EF4-FFF2-40B4-BE49-F238E27FC236}">
                <a16:creationId xmlns:a16="http://schemas.microsoft.com/office/drawing/2014/main" id="{0ED696F8-8FA2-4C3B-8255-9BECDD4F3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651" y="4365625"/>
            <a:ext cx="2447925" cy="533400"/>
          </a:xfrm>
          <a:prstGeom prst="rightArrow">
            <a:avLst>
              <a:gd name="adj1" fmla="val 50000"/>
              <a:gd name="adj2" fmla="val 114732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600">
                <a:latin typeface="Times New Roman" panose="02020603050405020304" pitchFamily="18" charset="0"/>
              </a:rPr>
              <a:t>RES</a:t>
            </a:r>
          </a:p>
        </p:txBody>
      </p:sp>
      <p:sp>
        <p:nvSpPr>
          <p:cNvPr id="1230896" name="AutoShape 48">
            <a:extLst>
              <a:ext uri="{FF2B5EF4-FFF2-40B4-BE49-F238E27FC236}">
                <a16:creationId xmlns:a16="http://schemas.microsoft.com/office/drawing/2014/main" id="{0A098D82-F7EF-4607-B4C2-0EDFC97D1A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2038" y="3968750"/>
            <a:ext cx="1403350" cy="1277938"/>
          </a:xfrm>
          <a:prstGeom prst="flowChartDecision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Times New Roman" panose="02020603050405020304" pitchFamily="18" charset="0"/>
              </a:rPr>
              <a:t>RES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Times New Roman" panose="02020603050405020304" pitchFamily="18" charset="0"/>
              </a:rPr>
              <a:t>=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Times New Roman" panose="02020603050405020304" pitchFamily="18" charset="0"/>
              </a:rPr>
              <a:t>XRES?</a:t>
            </a:r>
          </a:p>
        </p:txBody>
      </p:sp>
      <p:sp>
        <p:nvSpPr>
          <p:cNvPr id="1230900" name="AutoShape 52">
            <a:extLst>
              <a:ext uri="{FF2B5EF4-FFF2-40B4-BE49-F238E27FC236}">
                <a16:creationId xmlns:a16="http://schemas.microsoft.com/office/drawing/2014/main" id="{2C7A7643-0E75-41DE-B3D6-5F8CDD189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321050"/>
            <a:ext cx="1187450" cy="1277938"/>
          </a:xfrm>
          <a:prstGeom prst="flowChartDecision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Times New Roman" panose="02020603050405020304" pitchFamily="18" charset="0"/>
              </a:rPr>
              <a:t>Auth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Times New Roman" panose="02020603050405020304" pitchFamily="18" charset="0"/>
              </a:rPr>
              <a:t>Network!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30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30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9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30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230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230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230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0890" grpId="0" animBg="1" autoUpdateAnimBg="0"/>
      <p:bldP spid="1230891" grpId="0" animBg="1" autoUpdateAnimBg="0"/>
      <p:bldP spid="59402" grpId="0"/>
      <p:bldP spid="1230893" grpId="0" animBg="1" autoUpdateAnimBg="0"/>
      <p:bldP spid="1230894" grpId="0" animBg="1" autoUpdateAnimBg="0"/>
      <p:bldP spid="1230896" grpId="0" animBg="1" autoUpdateAnimBg="0"/>
      <p:bldP spid="1230900" grpId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874" name="Rectangle 2">
            <a:extLst>
              <a:ext uri="{FF2B5EF4-FFF2-40B4-BE49-F238E27FC236}">
                <a16:creationId xmlns:a16="http://schemas.microsoft.com/office/drawing/2014/main" id="{7FCEAB7F-7724-4CE3-B7AE-B947068261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/>
              <a:t>MS authentication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A44A8BB8-30A9-40AB-BA78-F162160474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Usual challenge response, but different (public) algorithm</a:t>
            </a:r>
          </a:p>
        </p:txBody>
      </p:sp>
      <p:sp>
        <p:nvSpPr>
          <p:cNvPr id="60420" name="Line 16">
            <a:extLst>
              <a:ext uri="{FF2B5EF4-FFF2-40B4-BE49-F238E27FC236}">
                <a16:creationId xmlns:a16="http://schemas.microsoft.com/office/drawing/2014/main" id="{BA46EB74-0D72-4FF4-AF56-01412B5D557D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6375" y="2936875"/>
            <a:ext cx="0" cy="2174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0421" name="Line 17">
            <a:extLst>
              <a:ext uri="{FF2B5EF4-FFF2-40B4-BE49-F238E27FC236}">
                <a16:creationId xmlns:a16="http://schemas.microsoft.com/office/drawing/2014/main" id="{B361382D-B6D6-421A-B742-3124F4974B9F}"/>
              </a:ext>
            </a:extLst>
          </p:cNvPr>
          <p:cNvSpPr>
            <a:spLocks noChangeShapeType="1"/>
          </p:cNvSpPr>
          <p:nvPr/>
        </p:nvSpPr>
        <p:spPr bwMode="auto">
          <a:xfrm>
            <a:off x="3660775" y="2936875"/>
            <a:ext cx="0" cy="2174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0422" name="Rectangle 18">
            <a:extLst>
              <a:ext uri="{FF2B5EF4-FFF2-40B4-BE49-F238E27FC236}">
                <a16:creationId xmlns:a16="http://schemas.microsoft.com/office/drawing/2014/main" id="{ED195A80-6C2F-468D-930F-3BCBF83D4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1575" y="3154363"/>
            <a:ext cx="1600200" cy="487362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Times New Roman" panose="02020603050405020304" pitchFamily="18" charset="0"/>
              </a:rPr>
              <a:t>f2</a:t>
            </a:r>
          </a:p>
        </p:txBody>
      </p:sp>
      <p:sp>
        <p:nvSpPr>
          <p:cNvPr id="60423" name="Line 19">
            <a:extLst>
              <a:ext uri="{FF2B5EF4-FFF2-40B4-BE49-F238E27FC236}">
                <a16:creationId xmlns:a16="http://schemas.microsoft.com/office/drawing/2014/main" id="{7AC60491-0843-474C-BA01-1C3F05AA31E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9775" y="3641726"/>
            <a:ext cx="0" cy="269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0424" name="Text Box 20">
            <a:extLst>
              <a:ext uri="{FF2B5EF4-FFF2-40B4-BE49-F238E27FC236}">
                <a16:creationId xmlns:a16="http://schemas.microsoft.com/office/drawing/2014/main" id="{A7F3CF5A-E015-4F7C-8D51-DE564D110B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3576" y="2600326"/>
            <a:ext cx="9064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Times New Roman" panose="02020603050405020304" pitchFamily="18" charset="0"/>
              </a:rPr>
              <a:t>RAND</a:t>
            </a:r>
          </a:p>
        </p:txBody>
      </p:sp>
      <p:sp>
        <p:nvSpPr>
          <p:cNvPr id="60425" name="Text Box 21">
            <a:extLst>
              <a:ext uri="{FF2B5EF4-FFF2-40B4-BE49-F238E27FC236}">
                <a16:creationId xmlns:a16="http://schemas.microsoft.com/office/drawing/2014/main" id="{BF9A557D-C256-45B2-A725-AB1B7A33B2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7775" y="2600326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Times New Roman" panose="02020603050405020304" pitchFamily="18" charset="0"/>
              </a:rPr>
              <a:t>K</a:t>
            </a:r>
            <a:endParaRPr lang="it-IT" altLang="it-IT" sz="2000" b="0" baseline="-25000">
              <a:latin typeface="Times New Roman" panose="02020603050405020304" pitchFamily="18" charset="0"/>
            </a:endParaRPr>
          </a:p>
        </p:txBody>
      </p:sp>
      <p:sp>
        <p:nvSpPr>
          <p:cNvPr id="60426" name="Text Box 22">
            <a:extLst>
              <a:ext uri="{FF2B5EF4-FFF2-40B4-BE49-F238E27FC236}">
                <a16:creationId xmlns:a16="http://schemas.microsoft.com/office/drawing/2014/main" id="{EC33135E-7249-4F44-9665-D6EE3B6BC5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9" y="3857626"/>
            <a:ext cx="12334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Times New Roman" panose="02020603050405020304" pitchFamily="18" charset="0"/>
              </a:rPr>
              <a:t>RES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Times New Roman" panose="02020603050405020304" pitchFamily="18" charset="0"/>
              </a:rPr>
              <a:t>32-128 bit</a:t>
            </a:r>
          </a:p>
        </p:txBody>
      </p:sp>
      <p:sp>
        <p:nvSpPr>
          <p:cNvPr id="60427" name="Line 23">
            <a:extLst>
              <a:ext uri="{FF2B5EF4-FFF2-40B4-BE49-F238E27FC236}">
                <a16:creationId xmlns:a16="http://schemas.microsoft.com/office/drawing/2014/main" id="{BFA56224-A88B-4133-B21B-BE499168E586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2088" y="2936875"/>
            <a:ext cx="0" cy="2174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0428" name="Line 24">
            <a:extLst>
              <a:ext uri="{FF2B5EF4-FFF2-40B4-BE49-F238E27FC236}">
                <a16:creationId xmlns:a16="http://schemas.microsoft.com/office/drawing/2014/main" id="{26BFF6E9-2B50-46C1-AAEF-7C781361E3E0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6488" y="2936875"/>
            <a:ext cx="0" cy="2174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0429" name="Rectangle 25">
            <a:extLst>
              <a:ext uri="{FF2B5EF4-FFF2-40B4-BE49-F238E27FC236}">
                <a16:creationId xmlns:a16="http://schemas.microsoft.com/office/drawing/2014/main" id="{E84EC738-E2AC-4ED5-B9D3-7962DDDB7C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7288" y="3154363"/>
            <a:ext cx="1600200" cy="487362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Times New Roman" panose="02020603050405020304" pitchFamily="18" charset="0"/>
              </a:rPr>
              <a:t>f3</a:t>
            </a:r>
          </a:p>
        </p:txBody>
      </p:sp>
      <p:sp>
        <p:nvSpPr>
          <p:cNvPr id="60430" name="Line 26">
            <a:extLst>
              <a:ext uri="{FF2B5EF4-FFF2-40B4-BE49-F238E27FC236}">
                <a16:creationId xmlns:a16="http://schemas.microsoft.com/office/drawing/2014/main" id="{75582109-71D2-460A-A046-66BC947336F0}"/>
              </a:ext>
            </a:extLst>
          </p:cNvPr>
          <p:cNvSpPr>
            <a:spLocks noChangeShapeType="1"/>
          </p:cNvSpPr>
          <p:nvPr/>
        </p:nvSpPr>
        <p:spPr bwMode="auto">
          <a:xfrm>
            <a:off x="5805488" y="3641726"/>
            <a:ext cx="0" cy="269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0431" name="Text Box 27">
            <a:extLst>
              <a:ext uri="{FF2B5EF4-FFF2-40B4-BE49-F238E27FC236}">
                <a16:creationId xmlns:a16="http://schemas.microsoft.com/office/drawing/2014/main" id="{864B5760-ADDA-492E-A07A-B99A6627D4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9288" y="2600326"/>
            <a:ext cx="9064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Times New Roman" panose="02020603050405020304" pitchFamily="18" charset="0"/>
              </a:rPr>
              <a:t>RAND</a:t>
            </a:r>
          </a:p>
        </p:txBody>
      </p:sp>
      <p:sp>
        <p:nvSpPr>
          <p:cNvPr id="60432" name="Text Box 28">
            <a:extLst>
              <a:ext uri="{FF2B5EF4-FFF2-40B4-BE49-F238E27FC236}">
                <a16:creationId xmlns:a16="http://schemas.microsoft.com/office/drawing/2014/main" id="{EFC6DF0A-6EC9-4F11-85DA-EE57247F17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3488" y="2600326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Times New Roman" panose="02020603050405020304" pitchFamily="18" charset="0"/>
              </a:rPr>
              <a:t>K</a:t>
            </a:r>
            <a:endParaRPr lang="it-IT" altLang="it-IT" sz="2000" b="0" baseline="-25000">
              <a:latin typeface="Times New Roman" panose="02020603050405020304" pitchFamily="18" charset="0"/>
            </a:endParaRPr>
          </a:p>
        </p:txBody>
      </p:sp>
      <p:sp>
        <p:nvSpPr>
          <p:cNvPr id="60433" name="Text Box 29">
            <a:extLst>
              <a:ext uri="{FF2B5EF4-FFF2-40B4-BE49-F238E27FC236}">
                <a16:creationId xmlns:a16="http://schemas.microsoft.com/office/drawing/2014/main" id="{A279FE36-0DA0-43A3-929C-99EA33E0A6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5726" y="3857626"/>
            <a:ext cx="130492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Times New Roman" panose="02020603050405020304" pitchFamily="18" charset="0"/>
              </a:rPr>
              <a:t>CK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Times New Roman" panose="02020603050405020304" pitchFamily="18" charset="0"/>
              </a:rPr>
              <a:t>Cipher key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Times New Roman" panose="02020603050405020304" pitchFamily="18" charset="0"/>
              </a:rPr>
              <a:t>128 bit</a:t>
            </a:r>
          </a:p>
        </p:txBody>
      </p:sp>
      <p:sp>
        <p:nvSpPr>
          <p:cNvPr id="60434" name="Line 30">
            <a:extLst>
              <a:ext uri="{FF2B5EF4-FFF2-40B4-BE49-F238E27FC236}">
                <a16:creationId xmlns:a16="http://schemas.microsoft.com/office/drawing/2014/main" id="{51BC8583-F445-4565-96A8-952A41F4438A}"/>
              </a:ext>
            </a:extLst>
          </p:cNvPr>
          <p:cNvSpPr>
            <a:spLocks noChangeShapeType="1"/>
          </p:cNvSpPr>
          <p:nvPr/>
        </p:nvSpPr>
        <p:spPr bwMode="auto">
          <a:xfrm>
            <a:off x="7793038" y="2936875"/>
            <a:ext cx="0" cy="2174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0435" name="Line 31">
            <a:extLst>
              <a:ext uri="{FF2B5EF4-FFF2-40B4-BE49-F238E27FC236}">
                <a16:creationId xmlns:a16="http://schemas.microsoft.com/office/drawing/2014/main" id="{CDD5765E-E1D3-4B27-874F-83B7748C1855}"/>
              </a:ext>
            </a:extLst>
          </p:cNvPr>
          <p:cNvSpPr>
            <a:spLocks noChangeShapeType="1"/>
          </p:cNvSpPr>
          <p:nvPr/>
        </p:nvSpPr>
        <p:spPr bwMode="auto">
          <a:xfrm>
            <a:off x="8707438" y="2936875"/>
            <a:ext cx="0" cy="2174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0436" name="Rectangle 32">
            <a:extLst>
              <a:ext uri="{FF2B5EF4-FFF2-40B4-BE49-F238E27FC236}">
                <a16:creationId xmlns:a16="http://schemas.microsoft.com/office/drawing/2014/main" id="{9B831087-7286-4152-80D4-C01EFA8D0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8238" y="3154363"/>
            <a:ext cx="1600200" cy="487362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Times New Roman" panose="02020603050405020304" pitchFamily="18" charset="0"/>
              </a:rPr>
              <a:t>f4</a:t>
            </a:r>
          </a:p>
        </p:txBody>
      </p:sp>
      <p:sp>
        <p:nvSpPr>
          <p:cNvPr id="60437" name="Line 33">
            <a:extLst>
              <a:ext uri="{FF2B5EF4-FFF2-40B4-BE49-F238E27FC236}">
                <a16:creationId xmlns:a16="http://schemas.microsoft.com/office/drawing/2014/main" id="{A01DFBAC-55D8-42EA-9BDB-A64A55166D51}"/>
              </a:ext>
            </a:extLst>
          </p:cNvPr>
          <p:cNvSpPr>
            <a:spLocks noChangeShapeType="1"/>
          </p:cNvSpPr>
          <p:nvPr/>
        </p:nvSpPr>
        <p:spPr bwMode="auto">
          <a:xfrm>
            <a:off x="8326438" y="3641726"/>
            <a:ext cx="0" cy="269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0438" name="Text Box 34">
            <a:extLst>
              <a:ext uri="{FF2B5EF4-FFF2-40B4-BE49-F238E27FC236}">
                <a16:creationId xmlns:a16="http://schemas.microsoft.com/office/drawing/2014/main" id="{B0ADF461-49F7-456B-AE35-E218AC2F85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0238" y="2600326"/>
            <a:ext cx="9064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Times New Roman" panose="02020603050405020304" pitchFamily="18" charset="0"/>
              </a:rPr>
              <a:t>RAND</a:t>
            </a:r>
          </a:p>
        </p:txBody>
      </p:sp>
      <p:sp>
        <p:nvSpPr>
          <p:cNvPr id="60439" name="Text Box 35">
            <a:extLst>
              <a:ext uri="{FF2B5EF4-FFF2-40B4-BE49-F238E27FC236}">
                <a16:creationId xmlns:a16="http://schemas.microsoft.com/office/drawing/2014/main" id="{DB3F3B6E-6FAB-4F72-8539-3AB62E123A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4438" y="2600326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Times New Roman" panose="02020603050405020304" pitchFamily="18" charset="0"/>
              </a:rPr>
              <a:t>K</a:t>
            </a:r>
            <a:endParaRPr lang="it-IT" altLang="it-IT" sz="2000" b="0" baseline="-25000">
              <a:latin typeface="Times New Roman" panose="02020603050405020304" pitchFamily="18" charset="0"/>
            </a:endParaRPr>
          </a:p>
        </p:txBody>
      </p:sp>
      <p:sp>
        <p:nvSpPr>
          <p:cNvPr id="60440" name="Text Box 36">
            <a:extLst>
              <a:ext uri="{FF2B5EF4-FFF2-40B4-BE49-F238E27FC236}">
                <a16:creationId xmlns:a16="http://schemas.microsoft.com/office/drawing/2014/main" id="{C62EED8B-03C1-4DEB-9303-DA43FE6D42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7613" y="3857626"/>
            <a:ext cx="154305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Times New Roman" panose="02020603050405020304" pitchFamily="18" charset="0"/>
              </a:rPr>
              <a:t>IK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Times New Roman" panose="02020603050405020304" pitchFamily="18" charset="0"/>
              </a:rPr>
              <a:t>Integrity Key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Times New Roman" panose="02020603050405020304" pitchFamily="18" charset="0"/>
              </a:rPr>
              <a:t>128 bit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898" name="Rectangle 2">
            <a:extLst>
              <a:ext uri="{FF2B5EF4-FFF2-40B4-BE49-F238E27FC236}">
                <a16:creationId xmlns:a16="http://schemas.microsoft.com/office/drawing/2014/main" id="{360F58B0-CF08-436E-94C1-AE4D818F78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/>
              <a:t>Network Authentication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BF48CCCE-9E9C-40D6-93E1-46F8AA58F4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51384" y="1125539"/>
            <a:ext cx="11125236" cy="29876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it-IT" sz="2800" dirty="0"/>
              <a:t>MS </a:t>
            </a:r>
            <a:r>
              <a:rPr lang="it-IT" altLang="it-IT" sz="2800" dirty="0" err="1"/>
              <a:t>should</a:t>
            </a:r>
            <a:r>
              <a:rPr lang="it-IT" altLang="it-IT" sz="2800" dirty="0"/>
              <a:t> </a:t>
            </a:r>
            <a:r>
              <a:rPr lang="it-IT" altLang="it-IT" sz="2800" dirty="0" err="1"/>
              <a:t>send</a:t>
            </a:r>
            <a:r>
              <a:rPr lang="it-IT" altLang="it-IT" sz="2800" dirty="0"/>
              <a:t> a </a:t>
            </a:r>
            <a:r>
              <a:rPr lang="it-IT" altLang="it-IT" sz="2800" dirty="0" err="1"/>
              <a:t>nonce</a:t>
            </a:r>
            <a:r>
              <a:rPr lang="it-IT" altLang="it-IT" sz="2800" dirty="0"/>
              <a:t>…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sz="2800" dirty="0"/>
              <a:t>1 extra </a:t>
            </a:r>
            <a:r>
              <a:rPr lang="it-IT" altLang="it-IT" sz="2800" dirty="0" err="1"/>
              <a:t>message</a:t>
            </a:r>
            <a:endParaRPr lang="it-IT" altLang="it-IT" sz="2800" dirty="0"/>
          </a:p>
          <a:p>
            <a:pPr eaLnBrk="1" hangingPunct="1">
              <a:lnSpc>
                <a:spcPct val="90000"/>
              </a:lnSpc>
            </a:pPr>
            <a:r>
              <a:rPr lang="it-IT" altLang="it-IT" sz="2800" dirty="0"/>
              <a:t>Bright idea: use </a:t>
            </a:r>
            <a:r>
              <a:rPr lang="it-IT" altLang="it-IT" sz="2800" dirty="0" err="1"/>
              <a:t>Sequence</a:t>
            </a:r>
            <a:r>
              <a:rPr lang="it-IT" altLang="it-IT" sz="2800" dirty="0"/>
              <a:t> </a:t>
            </a:r>
            <a:r>
              <a:rPr lang="it-IT" altLang="it-IT" sz="2800" dirty="0" err="1"/>
              <a:t>number</a:t>
            </a:r>
            <a:r>
              <a:rPr lang="it-IT" altLang="it-IT" sz="2800" dirty="0"/>
              <a:t> </a:t>
            </a:r>
            <a:r>
              <a:rPr lang="it-IT" altLang="it-IT" sz="2800" dirty="0" err="1"/>
              <a:t>as</a:t>
            </a:r>
            <a:r>
              <a:rPr lang="it-IT" altLang="it-IT" sz="2800" dirty="0"/>
              <a:t> “</a:t>
            </a:r>
            <a:r>
              <a:rPr lang="it-IT" altLang="it-IT" sz="2800" dirty="0" err="1"/>
              <a:t>implicit</a:t>
            </a:r>
            <a:r>
              <a:rPr lang="it-IT" altLang="it-IT" sz="2800" dirty="0"/>
              <a:t>” </a:t>
            </a:r>
            <a:r>
              <a:rPr lang="it-IT" altLang="it-IT" sz="2800" dirty="0" err="1"/>
              <a:t>nonce</a:t>
            </a:r>
            <a:r>
              <a:rPr lang="it-IT" altLang="it-IT" sz="2800" dirty="0"/>
              <a:t>!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sz="2800" dirty="0" err="1"/>
              <a:t>Issue</a:t>
            </a:r>
            <a:r>
              <a:rPr lang="it-IT" altLang="it-IT" sz="2800" dirty="0"/>
              <a:t>: MS and </a:t>
            </a:r>
            <a:r>
              <a:rPr lang="it-IT" altLang="it-IT" sz="2800" dirty="0" err="1"/>
              <a:t>AuC</a:t>
            </a:r>
            <a:r>
              <a:rPr lang="it-IT" altLang="it-IT" sz="2800" dirty="0"/>
              <a:t> must be (</a:t>
            </a:r>
            <a:r>
              <a:rPr lang="it-IT" altLang="it-IT" sz="2800" dirty="0" err="1"/>
              <a:t>approx</a:t>
            </a:r>
            <a:r>
              <a:rPr lang="it-IT" altLang="it-IT" sz="2800" dirty="0"/>
              <a:t>) </a:t>
            </a:r>
            <a:r>
              <a:rPr lang="it-IT" altLang="it-IT" sz="2800" dirty="0" err="1"/>
              <a:t>synchronized</a:t>
            </a:r>
            <a:endParaRPr lang="it-IT" altLang="it-IT" sz="2800" dirty="0"/>
          </a:p>
          <a:p>
            <a:pPr lvl="1" eaLnBrk="1" hangingPunct="1">
              <a:lnSpc>
                <a:spcPct val="90000"/>
              </a:lnSpc>
            </a:pPr>
            <a:r>
              <a:rPr lang="it-IT" altLang="it-IT" sz="2800" dirty="0"/>
              <a:t>And </a:t>
            </a:r>
            <a:r>
              <a:rPr lang="it-IT" altLang="it-IT" sz="2800" dirty="0" err="1"/>
              <a:t>robust</a:t>
            </a:r>
            <a:r>
              <a:rPr lang="it-IT" altLang="it-IT" sz="2800" dirty="0"/>
              <a:t> </a:t>
            </a:r>
            <a:r>
              <a:rPr lang="it-IT" altLang="it-IT" sz="2800" dirty="0" err="1"/>
              <a:t>procedures</a:t>
            </a:r>
            <a:r>
              <a:rPr lang="it-IT" altLang="it-IT" sz="2800" dirty="0"/>
              <a:t> for </a:t>
            </a:r>
            <a:r>
              <a:rPr lang="it-IT" altLang="it-IT" sz="2800" dirty="0" err="1"/>
              <a:t>resync</a:t>
            </a:r>
            <a:r>
              <a:rPr lang="it-IT" altLang="it-IT" sz="2800" dirty="0"/>
              <a:t> must be </a:t>
            </a:r>
            <a:r>
              <a:rPr lang="it-IT" altLang="it-IT" sz="2800" dirty="0" err="1"/>
              <a:t>specified</a:t>
            </a:r>
            <a:endParaRPr lang="it-IT" altLang="it-IT" sz="2800" dirty="0"/>
          </a:p>
        </p:txBody>
      </p:sp>
      <p:sp>
        <p:nvSpPr>
          <p:cNvPr id="62468" name="AutoShape 4">
            <a:extLst>
              <a:ext uri="{FF2B5EF4-FFF2-40B4-BE49-F238E27FC236}">
                <a16:creationId xmlns:a16="http://schemas.microsoft.com/office/drawing/2014/main" id="{B39B2CDA-6B24-4BC9-A6F3-2FE362541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6338" y="4149725"/>
            <a:ext cx="685800" cy="1143000"/>
          </a:xfrm>
          <a:prstGeom prst="can">
            <a:avLst>
              <a:gd name="adj" fmla="val 28241"/>
            </a:avLst>
          </a:prstGeom>
          <a:solidFill>
            <a:srgbClr val="96F8F6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600">
                <a:latin typeface="Times New Roman" panose="02020603050405020304" pitchFamily="18" charset="0"/>
              </a:rPr>
              <a:t>HLR /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600">
                <a:latin typeface="Times New Roman" panose="02020603050405020304" pitchFamily="18" charset="0"/>
              </a:rPr>
              <a:t> AUC</a:t>
            </a:r>
          </a:p>
        </p:txBody>
      </p:sp>
      <p:grpSp>
        <p:nvGrpSpPr>
          <p:cNvPr id="62469" name="Group 5">
            <a:extLst>
              <a:ext uri="{FF2B5EF4-FFF2-40B4-BE49-F238E27FC236}">
                <a16:creationId xmlns:a16="http://schemas.microsoft.com/office/drawing/2014/main" id="{62021ED4-4165-4687-9AE9-CE8EC47634CC}"/>
              </a:ext>
            </a:extLst>
          </p:cNvPr>
          <p:cNvGrpSpPr>
            <a:grpSpLocks/>
          </p:cNvGrpSpPr>
          <p:nvPr/>
        </p:nvGrpSpPr>
        <p:grpSpPr bwMode="auto">
          <a:xfrm>
            <a:off x="2838451" y="4364039"/>
            <a:ext cx="377825" cy="314325"/>
            <a:chOff x="1198" y="2592"/>
            <a:chExt cx="387" cy="253"/>
          </a:xfrm>
        </p:grpSpPr>
        <p:sp>
          <p:nvSpPr>
            <p:cNvPr id="62506" name="Freeform 6">
              <a:extLst>
                <a:ext uri="{FF2B5EF4-FFF2-40B4-BE49-F238E27FC236}">
                  <a16:creationId xmlns:a16="http://schemas.microsoft.com/office/drawing/2014/main" id="{DB13A481-AF08-4632-A707-F66ED482C4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8" y="2592"/>
              <a:ext cx="387" cy="250"/>
            </a:xfrm>
            <a:custGeom>
              <a:avLst/>
              <a:gdLst>
                <a:gd name="T0" fmla="*/ 385 w 387"/>
                <a:gd name="T1" fmla="*/ 0 h 250"/>
                <a:gd name="T2" fmla="*/ 202 w 387"/>
                <a:gd name="T3" fmla="*/ 120 h 250"/>
                <a:gd name="T4" fmla="*/ 198 w 387"/>
                <a:gd name="T5" fmla="*/ 118 h 250"/>
                <a:gd name="T6" fmla="*/ 0 w 387"/>
                <a:gd name="T7" fmla="*/ 249 h 250"/>
                <a:gd name="T8" fmla="*/ 21 w 387"/>
                <a:gd name="T9" fmla="*/ 249 h 250"/>
                <a:gd name="T10" fmla="*/ 202 w 387"/>
                <a:gd name="T11" fmla="*/ 130 h 250"/>
                <a:gd name="T12" fmla="*/ 205 w 387"/>
                <a:gd name="T13" fmla="*/ 124 h 250"/>
                <a:gd name="T14" fmla="*/ 386 w 387"/>
                <a:gd name="T15" fmla="*/ 2 h 250"/>
                <a:gd name="T16" fmla="*/ 385 w 387"/>
                <a:gd name="T17" fmla="*/ 0 h 25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87"/>
                <a:gd name="T28" fmla="*/ 0 h 250"/>
                <a:gd name="T29" fmla="*/ 387 w 387"/>
                <a:gd name="T30" fmla="*/ 250 h 25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87" h="250">
                  <a:moveTo>
                    <a:pt x="385" y="0"/>
                  </a:moveTo>
                  <a:lnTo>
                    <a:pt x="202" y="120"/>
                  </a:lnTo>
                  <a:lnTo>
                    <a:pt x="198" y="118"/>
                  </a:lnTo>
                  <a:lnTo>
                    <a:pt x="0" y="249"/>
                  </a:lnTo>
                  <a:lnTo>
                    <a:pt x="21" y="249"/>
                  </a:lnTo>
                  <a:lnTo>
                    <a:pt x="202" y="130"/>
                  </a:lnTo>
                  <a:lnTo>
                    <a:pt x="205" y="124"/>
                  </a:lnTo>
                  <a:lnTo>
                    <a:pt x="386" y="2"/>
                  </a:lnTo>
                  <a:lnTo>
                    <a:pt x="385" y="0"/>
                  </a:lnTo>
                </a:path>
              </a:pathLst>
            </a:custGeom>
            <a:solidFill>
              <a:srgbClr val="A0A0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62507" name="Oval 7">
              <a:extLst>
                <a:ext uri="{FF2B5EF4-FFF2-40B4-BE49-F238E27FC236}">
                  <a16:creationId xmlns:a16="http://schemas.microsoft.com/office/drawing/2014/main" id="{08B020E5-D63B-4C9E-8119-EDEC3018C3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2" y="2821"/>
              <a:ext cx="20" cy="24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800" b="0">
                <a:latin typeface="Arial Narrow" panose="020B0606020202030204" pitchFamily="34" charset="0"/>
              </a:endParaRPr>
            </a:p>
          </p:txBody>
        </p:sp>
      </p:grpSp>
      <p:grpSp>
        <p:nvGrpSpPr>
          <p:cNvPr id="62470" name="Group 8">
            <a:extLst>
              <a:ext uri="{FF2B5EF4-FFF2-40B4-BE49-F238E27FC236}">
                <a16:creationId xmlns:a16="http://schemas.microsoft.com/office/drawing/2014/main" id="{ACFD8504-26BF-49DF-9256-385935D7AC9A}"/>
              </a:ext>
            </a:extLst>
          </p:cNvPr>
          <p:cNvGrpSpPr>
            <a:grpSpLocks/>
          </p:cNvGrpSpPr>
          <p:nvPr/>
        </p:nvGrpSpPr>
        <p:grpSpPr bwMode="auto">
          <a:xfrm>
            <a:off x="2454276" y="4525964"/>
            <a:ext cx="485775" cy="523875"/>
            <a:chOff x="806" y="2722"/>
            <a:chExt cx="496" cy="421"/>
          </a:xfrm>
        </p:grpSpPr>
        <p:sp>
          <p:nvSpPr>
            <p:cNvPr id="62477" name="Freeform 9">
              <a:extLst>
                <a:ext uri="{FF2B5EF4-FFF2-40B4-BE49-F238E27FC236}">
                  <a16:creationId xmlns:a16="http://schemas.microsoft.com/office/drawing/2014/main" id="{62B06173-F3F8-4AEA-9BEC-FB0026DAB8E8}"/>
                </a:ext>
              </a:extLst>
            </p:cNvPr>
            <p:cNvSpPr>
              <a:spLocks/>
            </p:cNvSpPr>
            <p:nvPr/>
          </p:nvSpPr>
          <p:spPr bwMode="auto">
            <a:xfrm>
              <a:off x="806" y="2722"/>
              <a:ext cx="496" cy="421"/>
            </a:xfrm>
            <a:custGeom>
              <a:avLst/>
              <a:gdLst>
                <a:gd name="T0" fmla="*/ 386 w 496"/>
                <a:gd name="T1" fmla="*/ 15 h 421"/>
                <a:gd name="T2" fmla="*/ 312 w 496"/>
                <a:gd name="T3" fmla="*/ 89 h 421"/>
                <a:gd name="T4" fmla="*/ 104 w 496"/>
                <a:gd name="T5" fmla="*/ 247 h 421"/>
                <a:gd name="T6" fmla="*/ 0 w 496"/>
                <a:gd name="T7" fmla="*/ 301 h 421"/>
                <a:gd name="T8" fmla="*/ 64 w 496"/>
                <a:gd name="T9" fmla="*/ 420 h 421"/>
                <a:gd name="T10" fmla="*/ 89 w 496"/>
                <a:gd name="T11" fmla="*/ 415 h 421"/>
                <a:gd name="T12" fmla="*/ 168 w 496"/>
                <a:gd name="T13" fmla="*/ 366 h 421"/>
                <a:gd name="T14" fmla="*/ 401 w 496"/>
                <a:gd name="T15" fmla="*/ 193 h 421"/>
                <a:gd name="T16" fmla="*/ 495 w 496"/>
                <a:gd name="T17" fmla="*/ 94 h 421"/>
                <a:gd name="T18" fmla="*/ 421 w 496"/>
                <a:gd name="T19" fmla="*/ 0 h 421"/>
                <a:gd name="T20" fmla="*/ 386 w 496"/>
                <a:gd name="T21" fmla="*/ 15 h 42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496"/>
                <a:gd name="T34" fmla="*/ 0 h 421"/>
                <a:gd name="T35" fmla="*/ 496 w 496"/>
                <a:gd name="T36" fmla="*/ 421 h 421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496" h="421">
                  <a:moveTo>
                    <a:pt x="386" y="15"/>
                  </a:moveTo>
                  <a:lnTo>
                    <a:pt x="312" y="89"/>
                  </a:lnTo>
                  <a:lnTo>
                    <a:pt x="104" y="247"/>
                  </a:lnTo>
                  <a:lnTo>
                    <a:pt x="0" y="301"/>
                  </a:lnTo>
                  <a:lnTo>
                    <a:pt x="64" y="420"/>
                  </a:lnTo>
                  <a:lnTo>
                    <a:pt x="89" y="415"/>
                  </a:lnTo>
                  <a:lnTo>
                    <a:pt x="168" y="366"/>
                  </a:lnTo>
                  <a:lnTo>
                    <a:pt x="401" y="193"/>
                  </a:lnTo>
                  <a:lnTo>
                    <a:pt x="495" y="94"/>
                  </a:lnTo>
                  <a:lnTo>
                    <a:pt x="421" y="0"/>
                  </a:lnTo>
                  <a:lnTo>
                    <a:pt x="386" y="15"/>
                  </a:lnTo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62478" name="Freeform 10">
              <a:extLst>
                <a:ext uri="{FF2B5EF4-FFF2-40B4-BE49-F238E27FC236}">
                  <a16:creationId xmlns:a16="http://schemas.microsoft.com/office/drawing/2014/main" id="{00F43B15-5292-4FDA-B5C2-90DC20AB7B83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" y="3033"/>
              <a:ext cx="70" cy="106"/>
            </a:xfrm>
            <a:custGeom>
              <a:avLst/>
              <a:gdLst>
                <a:gd name="T0" fmla="*/ 14 w 70"/>
                <a:gd name="T1" fmla="*/ 0 h 106"/>
                <a:gd name="T2" fmla="*/ 0 w 70"/>
                <a:gd name="T3" fmla="*/ 0 h 106"/>
                <a:gd name="T4" fmla="*/ 51 w 70"/>
                <a:gd name="T5" fmla="*/ 105 h 106"/>
                <a:gd name="T6" fmla="*/ 69 w 70"/>
                <a:gd name="T7" fmla="*/ 100 h 106"/>
                <a:gd name="T8" fmla="*/ 14 w 70"/>
                <a:gd name="T9" fmla="*/ 0 h 1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"/>
                <a:gd name="T16" fmla="*/ 0 h 106"/>
                <a:gd name="T17" fmla="*/ 70 w 70"/>
                <a:gd name="T18" fmla="*/ 106 h 1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" h="106">
                  <a:moveTo>
                    <a:pt x="14" y="0"/>
                  </a:moveTo>
                  <a:lnTo>
                    <a:pt x="0" y="0"/>
                  </a:lnTo>
                  <a:lnTo>
                    <a:pt x="51" y="105"/>
                  </a:lnTo>
                  <a:lnTo>
                    <a:pt x="69" y="100"/>
                  </a:lnTo>
                  <a:lnTo>
                    <a:pt x="14" y="0"/>
                  </a:lnTo>
                </a:path>
              </a:pathLst>
            </a:cu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62479" name="Freeform 11">
              <a:extLst>
                <a:ext uri="{FF2B5EF4-FFF2-40B4-BE49-F238E27FC236}">
                  <a16:creationId xmlns:a16="http://schemas.microsoft.com/office/drawing/2014/main" id="{A040B2B1-D822-499B-9CDA-39084C9AE323}"/>
                </a:ext>
              </a:extLst>
            </p:cNvPr>
            <p:cNvSpPr>
              <a:spLocks/>
            </p:cNvSpPr>
            <p:nvPr/>
          </p:nvSpPr>
          <p:spPr bwMode="auto">
            <a:xfrm>
              <a:off x="841" y="2988"/>
              <a:ext cx="131" cy="140"/>
            </a:xfrm>
            <a:custGeom>
              <a:avLst/>
              <a:gdLst>
                <a:gd name="T0" fmla="*/ 0 w 131"/>
                <a:gd name="T1" fmla="*/ 43 h 140"/>
                <a:gd name="T2" fmla="*/ 53 w 131"/>
                <a:gd name="T3" fmla="*/ 139 h 140"/>
                <a:gd name="T4" fmla="*/ 130 w 131"/>
                <a:gd name="T5" fmla="*/ 86 h 140"/>
                <a:gd name="T6" fmla="*/ 77 w 131"/>
                <a:gd name="T7" fmla="*/ 0 h 140"/>
                <a:gd name="T8" fmla="*/ 0 w 131"/>
                <a:gd name="T9" fmla="*/ 43 h 1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1"/>
                <a:gd name="T16" fmla="*/ 0 h 140"/>
                <a:gd name="T17" fmla="*/ 131 w 131"/>
                <a:gd name="T18" fmla="*/ 140 h 1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1" h="140">
                  <a:moveTo>
                    <a:pt x="0" y="43"/>
                  </a:moveTo>
                  <a:lnTo>
                    <a:pt x="53" y="139"/>
                  </a:lnTo>
                  <a:lnTo>
                    <a:pt x="130" y="86"/>
                  </a:lnTo>
                  <a:lnTo>
                    <a:pt x="77" y="0"/>
                  </a:lnTo>
                  <a:lnTo>
                    <a:pt x="0" y="43"/>
                  </a:lnTo>
                </a:path>
              </a:pathLst>
            </a:cu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62480" name="Freeform 12">
              <a:extLst>
                <a:ext uri="{FF2B5EF4-FFF2-40B4-BE49-F238E27FC236}">
                  <a16:creationId xmlns:a16="http://schemas.microsoft.com/office/drawing/2014/main" id="{F4E7A84A-DCF5-4876-BFAE-8287B33117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5" y="2733"/>
              <a:ext cx="142" cy="161"/>
            </a:xfrm>
            <a:custGeom>
              <a:avLst/>
              <a:gdLst>
                <a:gd name="T0" fmla="*/ 78 w 142"/>
                <a:gd name="T1" fmla="*/ 0 h 161"/>
                <a:gd name="T2" fmla="*/ 0 w 142"/>
                <a:gd name="T3" fmla="*/ 78 h 161"/>
                <a:gd name="T4" fmla="*/ 68 w 142"/>
                <a:gd name="T5" fmla="*/ 160 h 161"/>
                <a:gd name="T6" fmla="*/ 141 w 142"/>
                <a:gd name="T7" fmla="*/ 82 h 161"/>
                <a:gd name="T8" fmla="*/ 78 w 142"/>
                <a:gd name="T9" fmla="*/ 0 h 1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2"/>
                <a:gd name="T16" fmla="*/ 0 h 161"/>
                <a:gd name="T17" fmla="*/ 142 w 142"/>
                <a:gd name="T18" fmla="*/ 161 h 16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2" h="161">
                  <a:moveTo>
                    <a:pt x="78" y="0"/>
                  </a:moveTo>
                  <a:lnTo>
                    <a:pt x="0" y="78"/>
                  </a:lnTo>
                  <a:lnTo>
                    <a:pt x="68" y="160"/>
                  </a:lnTo>
                  <a:lnTo>
                    <a:pt x="141" y="82"/>
                  </a:lnTo>
                  <a:lnTo>
                    <a:pt x="78" y="0"/>
                  </a:lnTo>
                </a:path>
              </a:pathLst>
            </a:cu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62481" name="Freeform 13">
              <a:extLst>
                <a:ext uri="{FF2B5EF4-FFF2-40B4-BE49-F238E27FC236}">
                  <a16:creationId xmlns:a16="http://schemas.microsoft.com/office/drawing/2014/main" id="{7DAA1413-E2F6-4A88-9192-DE6DE08BCCF7}"/>
                </a:ext>
              </a:extLst>
            </p:cNvPr>
            <p:cNvSpPr>
              <a:spLocks/>
            </p:cNvSpPr>
            <p:nvPr/>
          </p:nvSpPr>
          <p:spPr bwMode="auto">
            <a:xfrm>
              <a:off x="931" y="2827"/>
              <a:ext cx="271" cy="241"/>
            </a:xfrm>
            <a:custGeom>
              <a:avLst/>
              <a:gdLst>
                <a:gd name="T0" fmla="*/ 0 w 271"/>
                <a:gd name="T1" fmla="*/ 147 h 241"/>
                <a:gd name="T2" fmla="*/ 54 w 271"/>
                <a:gd name="T3" fmla="*/ 240 h 241"/>
                <a:gd name="T4" fmla="*/ 270 w 271"/>
                <a:gd name="T5" fmla="*/ 73 h 241"/>
                <a:gd name="T6" fmla="*/ 206 w 271"/>
                <a:gd name="T7" fmla="*/ 0 h 241"/>
                <a:gd name="T8" fmla="*/ 0 w 271"/>
                <a:gd name="T9" fmla="*/ 147 h 2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1"/>
                <a:gd name="T16" fmla="*/ 0 h 241"/>
                <a:gd name="T17" fmla="*/ 271 w 271"/>
                <a:gd name="T18" fmla="*/ 241 h 2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1" h="241">
                  <a:moveTo>
                    <a:pt x="0" y="147"/>
                  </a:moveTo>
                  <a:lnTo>
                    <a:pt x="54" y="240"/>
                  </a:lnTo>
                  <a:lnTo>
                    <a:pt x="270" y="73"/>
                  </a:lnTo>
                  <a:lnTo>
                    <a:pt x="206" y="0"/>
                  </a:lnTo>
                  <a:lnTo>
                    <a:pt x="0" y="147"/>
                  </a:lnTo>
                </a:path>
              </a:pathLst>
            </a:cu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grpSp>
          <p:nvGrpSpPr>
            <p:cNvPr id="62482" name="Group 14">
              <a:extLst>
                <a:ext uri="{FF2B5EF4-FFF2-40B4-BE49-F238E27FC236}">
                  <a16:creationId xmlns:a16="http://schemas.microsoft.com/office/drawing/2014/main" id="{80F3999F-B904-4046-87DD-419B988FC3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46" y="2847"/>
              <a:ext cx="195" cy="141"/>
              <a:chOff x="946" y="2847"/>
              <a:chExt cx="195" cy="141"/>
            </a:xfrm>
          </p:grpSpPr>
          <p:sp>
            <p:nvSpPr>
              <p:cNvPr id="62499" name="Oval 15">
                <a:extLst>
                  <a:ext uri="{FF2B5EF4-FFF2-40B4-BE49-F238E27FC236}">
                    <a16:creationId xmlns:a16="http://schemas.microsoft.com/office/drawing/2014/main" id="{AA13F908-EC0B-4EDC-BB01-475151A568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6" y="2847"/>
                <a:ext cx="15" cy="15"/>
              </a:xfrm>
              <a:prstGeom prst="ellipse">
                <a:avLst/>
              </a:pr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anose="020506040505050202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it-IT" altLang="it-IT" sz="1800" b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62500" name="Oval 16">
                <a:extLst>
                  <a:ext uri="{FF2B5EF4-FFF2-40B4-BE49-F238E27FC236}">
                    <a16:creationId xmlns:a16="http://schemas.microsoft.com/office/drawing/2014/main" id="{A68608A5-1F52-46E5-829F-BF08A84828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96" y="2866"/>
                <a:ext cx="15" cy="17"/>
              </a:xfrm>
              <a:prstGeom prst="ellipse">
                <a:avLst/>
              </a:pr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anose="020506040505050202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it-IT" altLang="it-IT" sz="1800" b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62501" name="Oval 17">
                <a:extLst>
                  <a:ext uri="{FF2B5EF4-FFF2-40B4-BE49-F238E27FC236}">
                    <a16:creationId xmlns:a16="http://schemas.microsoft.com/office/drawing/2014/main" id="{FCAFC2F8-5D94-4E4B-8CDD-514701F388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7" y="2887"/>
                <a:ext cx="14" cy="15"/>
              </a:xfrm>
              <a:prstGeom prst="ellipse">
                <a:avLst/>
              </a:pr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anose="020506040505050202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it-IT" altLang="it-IT" sz="1800" b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62502" name="Oval 18">
                <a:extLst>
                  <a:ext uri="{FF2B5EF4-FFF2-40B4-BE49-F238E27FC236}">
                    <a16:creationId xmlns:a16="http://schemas.microsoft.com/office/drawing/2014/main" id="{144EDEDB-2E64-43A9-AA34-638E06AF5E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" y="2907"/>
                <a:ext cx="15" cy="15"/>
              </a:xfrm>
              <a:prstGeom prst="ellipse">
                <a:avLst/>
              </a:pr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anose="020506040505050202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it-IT" altLang="it-IT" sz="1800" b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62503" name="Oval 19">
                <a:extLst>
                  <a:ext uri="{FF2B5EF4-FFF2-40B4-BE49-F238E27FC236}">
                    <a16:creationId xmlns:a16="http://schemas.microsoft.com/office/drawing/2014/main" id="{7EF7E8F5-2E8B-44D4-959A-556A9ECB6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6" y="2932"/>
                <a:ext cx="15" cy="11"/>
              </a:xfrm>
              <a:prstGeom prst="ellipse">
                <a:avLst/>
              </a:pr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anose="020506040505050202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it-IT" altLang="it-IT" sz="1800" b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62504" name="Oval 20">
                <a:extLst>
                  <a:ext uri="{FF2B5EF4-FFF2-40B4-BE49-F238E27FC236}">
                    <a16:creationId xmlns:a16="http://schemas.microsoft.com/office/drawing/2014/main" id="{58BE253D-5A05-49CD-B646-0DC882B0B1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7" y="2952"/>
                <a:ext cx="14" cy="15"/>
              </a:xfrm>
              <a:prstGeom prst="ellipse">
                <a:avLst/>
              </a:pr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anose="020506040505050202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it-IT" altLang="it-IT" sz="1800" b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62505" name="Oval 21">
                <a:extLst>
                  <a:ext uri="{FF2B5EF4-FFF2-40B4-BE49-F238E27FC236}">
                    <a16:creationId xmlns:a16="http://schemas.microsoft.com/office/drawing/2014/main" id="{7FCF9E76-1231-4576-928F-D28BF6C5B1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6" y="2971"/>
                <a:ext cx="16" cy="17"/>
              </a:xfrm>
              <a:prstGeom prst="ellipse">
                <a:avLst/>
              </a:pr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anose="020506040505050202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it-IT" altLang="it-IT" sz="1800" b="0">
                  <a:latin typeface="Arial Narrow" panose="020B0606020202030204" pitchFamily="34" charset="0"/>
                </a:endParaRPr>
              </a:p>
            </p:txBody>
          </p:sp>
        </p:grpSp>
        <p:grpSp>
          <p:nvGrpSpPr>
            <p:cNvPr id="62483" name="Group 22">
              <a:extLst>
                <a:ext uri="{FF2B5EF4-FFF2-40B4-BE49-F238E27FC236}">
                  <a16:creationId xmlns:a16="http://schemas.microsoft.com/office/drawing/2014/main" id="{96C90340-386E-47CD-9BD2-53395C65C6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2" y="2872"/>
              <a:ext cx="195" cy="140"/>
              <a:chOff x="962" y="2872"/>
              <a:chExt cx="195" cy="140"/>
            </a:xfrm>
          </p:grpSpPr>
          <p:sp>
            <p:nvSpPr>
              <p:cNvPr id="62492" name="Oval 23">
                <a:extLst>
                  <a:ext uri="{FF2B5EF4-FFF2-40B4-BE49-F238E27FC236}">
                    <a16:creationId xmlns:a16="http://schemas.microsoft.com/office/drawing/2014/main" id="{C1FC241B-63CC-454E-9A3B-D760A00628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1" y="2872"/>
                <a:ext cx="16" cy="15"/>
              </a:xfrm>
              <a:prstGeom prst="ellipse">
                <a:avLst/>
              </a:pr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anose="020506040505050202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it-IT" altLang="it-IT" sz="1800" b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62493" name="Oval 24">
                <a:extLst>
                  <a:ext uri="{FF2B5EF4-FFF2-40B4-BE49-F238E27FC236}">
                    <a16:creationId xmlns:a16="http://schemas.microsoft.com/office/drawing/2014/main" id="{3B8B3B5B-4347-4A31-8695-C9F15E02E5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1" y="2893"/>
                <a:ext cx="15" cy="14"/>
              </a:xfrm>
              <a:prstGeom prst="ellipse">
                <a:avLst/>
              </a:pr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anose="020506040505050202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it-IT" altLang="it-IT" sz="1800" b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62494" name="Oval 25">
                <a:extLst>
                  <a:ext uri="{FF2B5EF4-FFF2-40B4-BE49-F238E27FC236}">
                    <a16:creationId xmlns:a16="http://schemas.microsoft.com/office/drawing/2014/main" id="{1B44855B-7B05-4C3B-A842-C5A8B01DB0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" y="2913"/>
                <a:ext cx="15" cy="15"/>
              </a:xfrm>
              <a:prstGeom prst="ellipse">
                <a:avLst/>
              </a:pr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anose="020506040505050202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it-IT" altLang="it-IT" sz="1800" b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62495" name="Oval 26">
                <a:extLst>
                  <a:ext uri="{FF2B5EF4-FFF2-40B4-BE49-F238E27FC236}">
                    <a16:creationId xmlns:a16="http://schemas.microsoft.com/office/drawing/2014/main" id="{8DA991CD-903E-4EE5-8EA1-68EB76DD8B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1" y="2932"/>
                <a:ext cx="16" cy="15"/>
              </a:xfrm>
              <a:prstGeom prst="ellipse">
                <a:avLst/>
              </a:pr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anose="020506040505050202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it-IT" altLang="it-IT" sz="1800" b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62496" name="Oval 27">
                <a:extLst>
                  <a:ext uri="{FF2B5EF4-FFF2-40B4-BE49-F238E27FC236}">
                    <a16:creationId xmlns:a16="http://schemas.microsoft.com/office/drawing/2014/main" id="{FB23ED88-6149-4522-A30E-E3A14627E0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1" y="2952"/>
                <a:ext cx="15" cy="15"/>
              </a:xfrm>
              <a:prstGeom prst="ellipse">
                <a:avLst/>
              </a:pr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anose="020506040505050202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it-IT" altLang="it-IT" sz="1800" b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62497" name="Oval 28">
                <a:extLst>
                  <a:ext uri="{FF2B5EF4-FFF2-40B4-BE49-F238E27FC236}">
                    <a16:creationId xmlns:a16="http://schemas.microsoft.com/office/drawing/2014/main" id="{D27BC20F-354D-43E0-871A-2C7A06B7C7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1" y="2977"/>
                <a:ext cx="15" cy="15"/>
              </a:xfrm>
              <a:prstGeom prst="ellipse">
                <a:avLst/>
              </a:pr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anose="020506040505050202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it-IT" altLang="it-IT" sz="1800" b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62498" name="Oval 29">
                <a:extLst>
                  <a:ext uri="{FF2B5EF4-FFF2-40B4-BE49-F238E27FC236}">
                    <a16:creationId xmlns:a16="http://schemas.microsoft.com/office/drawing/2014/main" id="{1030D3BA-509D-41A6-ADEC-4422EAF15A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2" y="2998"/>
                <a:ext cx="15" cy="14"/>
              </a:xfrm>
              <a:prstGeom prst="ellipse">
                <a:avLst/>
              </a:pr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anose="020506040505050202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it-IT" altLang="it-IT" sz="1800" b="0">
                  <a:latin typeface="Arial Narrow" panose="020B0606020202030204" pitchFamily="34" charset="0"/>
                </a:endParaRPr>
              </a:p>
            </p:txBody>
          </p:sp>
        </p:grpSp>
        <p:grpSp>
          <p:nvGrpSpPr>
            <p:cNvPr id="62484" name="Group 30">
              <a:extLst>
                <a:ext uri="{FF2B5EF4-FFF2-40B4-BE49-F238E27FC236}">
                  <a16:creationId xmlns:a16="http://schemas.microsoft.com/office/drawing/2014/main" id="{5D76215B-73FF-42A3-B711-9F4D93E52C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82" y="2898"/>
              <a:ext cx="195" cy="139"/>
              <a:chOff x="982" y="2898"/>
              <a:chExt cx="195" cy="139"/>
            </a:xfrm>
          </p:grpSpPr>
          <p:sp>
            <p:nvSpPr>
              <p:cNvPr id="62485" name="Oval 31">
                <a:extLst>
                  <a:ext uri="{FF2B5EF4-FFF2-40B4-BE49-F238E27FC236}">
                    <a16:creationId xmlns:a16="http://schemas.microsoft.com/office/drawing/2014/main" id="{D985F3E7-7E9E-496C-95FD-A6A3CC6A65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2" y="2898"/>
                <a:ext cx="15" cy="15"/>
              </a:xfrm>
              <a:prstGeom prst="ellipse">
                <a:avLst/>
              </a:pr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anose="020506040505050202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it-IT" altLang="it-IT" sz="1800" b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62486" name="Oval 32">
                <a:extLst>
                  <a:ext uri="{FF2B5EF4-FFF2-40B4-BE49-F238E27FC236}">
                    <a16:creationId xmlns:a16="http://schemas.microsoft.com/office/drawing/2014/main" id="{F43ACABF-A69F-4F95-B0FF-ACC9BF84D3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0" y="2917"/>
                <a:ext cx="15" cy="15"/>
              </a:xfrm>
              <a:prstGeom prst="ellipse">
                <a:avLst/>
              </a:pr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anose="020506040505050202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it-IT" altLang="it-IT" sz="1800" b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62487" name="Oval 33">
                <a:extLst>
                  <a:ext uri="{FF2B5EF4-FFF2-40B4-BE49-F238E27FC236}">
                    <a16:creationId xmlns:a16="http://schemas.microsoft.com/office/drawing/2014/main" id="{750E6432-AD6D-4150-B085-362517585A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2" y="2937"/>
                <a:ext cx="15" cy="15"/>
              </a:xfrm>
              <a:prstGeom prst="ellipse">
                <a:avLst/>
              </a:pr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anose="020506040505050202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it-IT" altLang="it-IT" sz="1800" b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62488" name="Oval 34">
                <a:extLst>
                  <a:ext uri="{FF2B5EF4-FFF2-40B4-BE49-F238E27FC236}">
                    <a16:creationId xmlns:a16="http://schemas.microsoft.com/office/drawing/2014/main" id="{B348C2A3-CAAA-4BEF-AA37-B4E3541E9D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2" y="2958"/>
                <a:ext cx="15" cy="13"/>
              </a:xfrm>
              <a:prstGeom prst="ellipse">
                <a:avLst/>
              </a:pr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anose="020506040505050202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it-IT" altLang="it-IT" sz="1800" b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62489" name="Oval 35">
                <a:extLst>
                  <a:ext uri="{FF2B5EF4-FFF2-40B4-BE49-F238E27FC236}">
                    <a16:creationId xmlns:a16="http://schemas.microsoft.com/office/drawing/2014/main" id="{65D30BC5-06D5-45B3-876A-14411E1C36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0" y="2982"/>
                <a:ext cx="17" cy="10"/>
              </a:xfrm>
              <a:prstGeom prst="ellipse">
                <a:avLst/>
              </a:pr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anose="020506040505050202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it-IT" altLang="it-IT" sz="1800" b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62490" name="Oval 36">
                <a:extLst>
                  <a:ext uri="{FF2B5EF4-FFF2-40B4-BE49-F238E27FC236}">
                    <a16:creationId xmlns:a16="http://schemas.microsoft.com/office/drawing/2014/main" id="{48BA6479-F419-4A52-B6EB-4814147425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2" y="3003"/>
                <a:ext cx="15" cy="15"/>
              </a:xfrm>
              <a:prstGeom prst="ellipse">
                <a:avLst/>
              </a:pr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anose="020506040505050202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it-IT" altLang="it-IT" sz="1800" b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62491" name="Oval 37">
                <a:extLst>
                  <a:ext uri="{FF2B5EF4-FFF2-40B4-BE49-F238E27FC236}">
                    <a16:creationId xmlns:a16="http://schemas.microsoft.com/office/drawing/2014/main" id="{E8D72331-8885-42D5-B385-AD8E3B288B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2" y="3022"/>
                <a:ext cx="15" cy="15"/>
              </a:xfrm>
              <a:prstGeom prst="ellipse">
                <a:avLst/>
              </a:pr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anose="020506040505050202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it-IT" altLang="it-IT" sz="1800" b="0">
                  <a:latin typeface="Arial Narrow" panose="020B0606020202030204" pitchFamily="34" charset="0"/>
                </a:endParaRPr>
              </a:p>
            </p:txBody>
          </p:sp>
        </p:grpSp>
      </p:grpSp>
      <p:sp>
        <p:nvSpPr>
          <p:cNvPr id="62471" name="Text Box 38">
            <a:extLst>
              <a:ext uri="{FF2B5EF4-FFF2-40B4-BE49-F238E27FC236}">
                <a16:creationId xmlns:a16="http://schemas.microsoft.com/office/drawing/2014/main" id="{0E036C25-EB0F-4641-A923-C726BB9765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4275" y="4122739"/>
            <a:ext cx="4968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latin typeface="Arial Narrow" panose="020B0606020202030204" pitchFamily="34" charset="0"/>
              </a:rPr>
              <a:t>MS</a:t>
            </a:r>
          </a:p>
        </p:txBody>
      </p:sp>
      <p:sp>
        <p:nvSpPr>
          <p:cNvPr id="63496" name="Text Box 39">
            <a:extLst>
              <a:ext uri="{FF2B5EF4-FFF2-40B4-BE49-F238E27FC236}">
                <a16:creationId xmlns:a16="http://schemas.microsoft.com/office/drawing/2014/main" id="{FD167022-88E7-4CED-90F6-FCA9C334F2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4238" y="5175251"/>
            <a:ext cx="933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SQN-MS</a:t>
            </a:r>
          </a:p>
        </p:txBody>
      </p:sp>
      <p:sp>
        <p:nvSpPr>
          <p:cNvPr id="63497" name="Text Box 40">
            <a:extLst>
              <a:ext uri="{FF2B5EF4-FFF2-40B4-BE49-F238E27FC236}">
                <a16:creationId xmlns:a16="http://schemas.microsoft.com/office/drawing/2014/main" id="{E0D982AE-FB00-4F3C-A633-0A2D79DA22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8388" y="5475288"/>
            <a:ext cx="91281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SQN-HE</a:t>
            </a:r>
          </a:p>
        </p:txBody>
      </p:sp>
      <p:sp>
        <p:nvSpPr>
          <p:cNvPr id="62474" name="AutoShape 41">
            <a:extLst>
              <a:ext uri="{FF2B5EF4-FFF2-40B4-BE49-F238E27FC236}">
                <a16:creationId xmlns:a16="http://schemas.microsoft.com/office/drawing/2014/main" id="{F3E52D32-9854-4469-A787-D9A22D410A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0713" y="4113213"/>
            <a:ext cx="762000" cy="1295400"/>
          </a:xfrm>
          <a:prstGeom prst="can">
            <a:avLst>
              <a:gd name="adj" fmla="val 33126"/>
            </a:avLst>
          </a:prstGeom>
          <a:solidFill>
            <a:srgbClr val="FF99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Times New Roman" panose="02020603050405020304" pitchFamily="18" charset="0"/>
              </a:rPr>
              <a:t>VLR</a:t>
            </a:r>
          </a:p>
        </p:txBody>
      </p:sp>
      <p:sp>
        <p:nvSpPr>
          <p:cNvPr id="63499" name="Text Box 42">
            <a:extLst>
              <a:ext uri="{FF2B5EF4-FFF2-40B4-BE49-F238E27FC236}">
                <a16:creationId xmlns:a16="http://schemas.microsoft.com/office/drawing/2014/main" id="{B732B895-AD6C-425E-A0C5-3D4A9BD5D5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7388" y="5481638"/>
            <a:ext cx="590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SQN</a:t>
            </a:r>
          </a:p>
        </p:txBody>
      </p:sp>
      <p:sp>
        <p:nvSpPr>
          <p:cNvPr id="63500" name="Line 43">
            <a:extLst>
              <a:ext uri="{FF2B5EF4-FFF2-40B4-BE49-F238E27FC236}">
                <a16:creationId xmlns:a16="http://schemas.microsoft.com/office/drawing/2014/main" id="{96CF21DC-7D95-401C-B0A4-8C7CE1021B9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27800" y="5661025"/>
            <a:ext cx="2089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3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3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3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3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uiExpand="1" build="p"/>
      <p:bldP spid="63496" grpId="0"/>
      <p:bldP spid="63497" grpId="0"/>
      <p:bldP spid="6349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922" name="Rectangle 2">
            <a:extLst>
              <a:ext uri="{FF2B5EF4-FFF2-40B4-BE49-F238E27FC236}">
                <a16:creationId xmlns:a16="http://schemas.microsoft.com/office/drawing/2014/main" id="{C82DB89C-36FD-4E24-8438-F1F3F0980D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/>
              <a:t>SEQ as nonce: idea</a:t>
            </a:r>
          </a:p>
        </p:txBody>
      </p:sp>
      <p:sp>
        <p:nvSpPr>
          <p:cNvPr id="65539" name="Line 4">
            <a:extLst>
              <a:ext uri="{FF2B5EF4-FFF2-40B4-BE49-F238E27FC236}">
                <a16:creationId xmlns:a16="http://schemas.microsoft.com/office/drawing/2014/main" id="{3957AF1C-6647-4035-86AB-7F7A132A6B4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80025" y="3357563"/>
            <a:ext cx="38163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5540" name="Text Box 5">
            <a:extLst>
              <a:ext uri="{FF2B5EF4-FFF2-40B4-BE49-F238E27FC236}">
                <a16:creationId xmlns:a16="http://schemas.microsoft.com/office/drawing/2014/main" id="{363ADCA9-06F4-4F60-8BBC-95404FD320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3165" y="1233489"/>
            <a:ext cx="217559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>
                <a:latin typeface="Arial Narrow" panose="020B0606020202030204" pitchFamily="34" charset="0"/>
              </a:rPr>
              <a:t>Current SQN-MS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>
                <a:latin typeface="Arial Narrow" panose="020B0606020202030204" pitchFamily="34" charset="0"/>
              </a:rPr>
              <a:t>stored</a:t>
            </a:r>
          </a:p>
        </p:txBody>
      </p:sp>
      <p:sp>
        <p:nvSpPr>
          <p:cNvPr id="65541" name="Text Box 6">
            <a:extLst>
              <a:ext uri="{FF2B5EF4-FFF2-40B4-BE49-F238E27FC236}">
                <a16:creationId xmlns:a16="http://schemas.microsoft.com/office/drawing/2014/main" id="{0AF05B10-2596-443F-915B-7F20D102E9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6614" y="2922589"/>
            <a:ext cx="2066925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>
                <a:latin typeface="Arial Narrow" panose="020B0606020202030204" pitchFamily="34" charset="0"/>
              </a:rPr>
              <a:t>SQN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latin typeface="Arial Narrow" panose="020B0606020202030204" pitchFamily="34" charset="0"/>
              </a:rPr>
              <a:t>(included in AUTN)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latin typeface="Arial Narrow" panose="020B0606020202030204" pitchFamily="34" charset="0"/>
              </a:rPr>
              <a:t>(given by AuC)</a:t>
            </a:r>
          </a:p>
        </p:txBody>
      </p:sp>
      <p:sp>
        <p:nvSpPr>
          <p:cNvPr id="65542" name="Text Box 7">
            <a:extLst>
              <a:ext uri="{FF2B5EF4-FFF2-40B4-BE49-F238E27FC236}">
                <a16:creationId xmlns:a16="http://schemas.microsoft.com/office/drawing/2014/main" id="{11A33105-7868-4A21-AF98-73B18660F7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7314" y="2349500"/>
            <a:ext cx="2541587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>
                <a:latin typeface="Arial Narrow" panose="020B0606020202030204" pitchFamily="34" charset="0"/>
              </a:rPr>
              <a:t>Check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>
                <a:latin typeface="Arial Narrow" panose="020B0606020202030204" pitchFamily="34" charset="0"/>
              </a:rPr>
              <a:t>SQN = SQN-MS + 1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>
                <a:latin typeface="Arial Narrow" panose="020B0606020202030204" pitchFamily="34" charset="0"/>
              </a:rPr>
              <a:t>(or in appropriate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>
                <a:latin typeface="Arial Narrow" panose="020B0606020202030204" pitchFamily="34" charset="0"/>
              </a:rPr>
              <a:t>Tolerance range to</a:t>
            </a:r>
            <a:br>
              <a:rPr lang="it-IT" altLang="it-IT" sz="2400">
                <a:latin typeface="Arial Narrow" panose="020B0606020202030204" pitchFamily="34" charset="0"/>
              </a:rPr>
            </a:br>
            <a:r>
              <a:rPr lang="it-IT" altLang="it-IT" sz="2400">
                <a:latin typeface="Arial Narrow" panose="020B0606020202030204" pitchFamily="34" charset="0"/>
              </a:rPr>
              <a:t>cope with lost msg)</a:t>
            </a:r>
          </a:p>
        </p:txBody>
      </p:sp>
      <p:sp>
        <p:nvSpPr>
          <p:cNvPr id="65543" name="Text Box 8">
            <a:extLst>
              <a:ext uri="{FF2B5EF4-FFF2-40B4-BE49-F238E27FC236}">
                <a16:creationId xmlns:a16="http://schemas.microsoft.com/office/drawing/2014/main" id="{48045953-C5F6-4A97-B1EC-62B659805C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949" y="4406901"/>
            <a:ext cx="272702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>
                <a:latin typeface="Arial Narrow" panose="020B0606020202030204" pitchFamily="34" charset="0"/>
              </a:rPr>
              <a:t>Use SQN as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>
                <a:latin typeface="Arial Narrow" panose="020B0606020202030204" pitchFamily="34" charset="0"/>
              </a:rPr>
              <a:t>“implicit” challenge!!</a:t>
            </a:r>
          </a:p>
        </p:txBody>
      </p:sp>
      <p:sp>
        <p:nvSpPr>
          <p:cNvPr id="65544" name="Text Box 9">
            <a:extLst>
              <a:ext uri="{FF2B5EF4-FFF2-40B4-BE49-F238E27FC236}">
                <a16:creationId xmlns:a16="http://schemas.microsoft.com/office/drawing/2014/main" id="{16C5875C-0F40-400E-BA9A-1C45F7345C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8976" y="5492750"/>
            <a:ext cx="4067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>
                <a:latin typeface="Arial Narrow" panose="020B0606020202030204" pitchFamily="34" charset="0"/>
              </a:rPr>
              <a:t>Once auth OK, update local SQN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5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5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5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5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5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0" grpId="0"/>
      <p:bldP spid="65541" grpId="0"/>
      <p:bldP spid="65542" grpId="0"/>
      <p:bldP spid="65543" grpId="0"/>
      <p:bldP spid="6554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946" name="Rectangle 2">
            <a:extLst>
              <a:ext uri="{FF2B5EF4-FFF2-40B4-BE49-F238E27FC236}">
                <a16:creationId xmlns:a16="http://schemas.microsoft.com/office/drawing/2014/main" id="{0D3A115A-E5D6-4636-97D3-6FFD705BD6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sz="3200"/>
              <a:t>Network authentication:</a:t>
            </a:r>
            <a:br>
              <a:rPr lang="it-IT" sz="3200"/>
            </a:br>
            <a:r>
              <a:rPr lang="it-IT" sz="3200"/>
              <a:t>AUTN format</a:t>
            </a:r>
          </a:p>
        </p:txBody>
      </p:sp>
      <p:sp>
        <p:nvSpPr>
          <p:cNvPr id="67587" name="Rectangle 4">
            <a:extLst>
              <a:ext uri="{FF2B5EF4-FFF2-40B4-BE49-F238E27FC236}">
                <a16:creationId xmlns:a16="http://schemas.microsoft.com/office/drawing/2014/main" id="{A109F6EB-CE52-4785-8C9C-AED861F76A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5551" y="1484314"/>
            <a:ext cx="2195513" cy="828675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latin typeface="Arial Narrow" panose="020B0606020202030204" pitchFamily="34" charset="0"/>
              </a:rPr>
              <a:t>SQN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latin typeface="Arial Narrow" panose="020B0606020202030204" pitchFamily="34" charset="0"/>
              </a:rPr>
              <a:t>Sequence number</a:t>
            </a:r>
          </a:p>
        </p:txBody>
      </p:sp>
      <p:sp>
        <p:nvSpPr>
          <p:cNvPr id="67588" name="Rectangle 5">
            <a:extLst>
              <a:ext uri="{FF2B5EF4-FFF2-40B4-BE49-F238E27FC236}">
                <a16:creationId xmlns:a16="http://schemas.microsoft.com/office/drawing/2014/main" id="{F6439106-26DF-4D18-94DB-51042C4F6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1064" y="1484314"/>
            <a:ext cx="2592387" cy="828675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latin typeface="Arial Narrow" panose="020B0606020202030204" pitchFamily="34" charset="0"/>
              </a:rPr>
              <a:t>AMF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latin typeface="Arial Narrow" panose="020B0606020202030204" pitchFamily="34" charset="0"/>
              </a:rPr>
              <a:t>Auth &amp; key mgmt field</a:t>
            </a:r>
          </a:p>
        </p:txBody>
      </p:sp>
      <p:sp>
        <p:nvSpPr>
          <p:cNvPr id="67589" name="Rectangle 6">
            <a:extLst>
              <a:ext uri="{FF2B5EF4-FFF2-40B4-BE49-F238E27FC236}">
                <a16:creationId xmlns:a16="http://schemas.microsoft.com/office/drawing/2014/main" id="{85D8E566-B545-4374-9D28-E8DB0DBB9C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3450" y="1484314"/>
            <a:ext cx="2592388" cy="828675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latin typeface="Arial Narrow" panose="020B0606020202030204" pitchFamily="34" charset="0"/>
              </a:rPr>
              <a:t>MAC-A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latin typeface="Arial Narrow" panose="020B0606020202030204" pitchFamily="34" charset="0"/>
              </a:rPr>
              <a:t>Message Auth code</a:t>
            </a:r>
          </a:p>
        </p:txBody>
      </p:sp>
      <p:sp>
        <p:nvSpPr>
          <p:cNvPr id="67590" name="Text Box 7">
            <a:extLst>
              <a:ext uri="{FF2B5EF4-FFF2-40B4-BE49-F238E27FC236}">
                <a16:creationId xmlns:a16="http://schemas.microsoft.com/office/drawing/2014/main" id="{D4C1C971-5772-4B20-9FA7-E33078FA16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3576" y="2547938"/>
            <a:ext cx="6969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48 bit </a:t>
            </a:r>
          </a:p>
        </p:txBody>
      </p:sp>
      <p:sp>
        <p:nvSpPr>
          <p:cNvPr id="67591" name="Text Box 8">
            <a:extLst>
              <a:ext uri="{FF2B5EF4-FFF2-40B4-BE49-F238E27FC236}">
                <a16:creationId xmlns:a16="http://schemas.microsoft.com/office/drawing/2014/main" id="{A8A78952-FFE1-4E7D-8420-B3EF2C60A9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5863" y="2511426"/>
            <a:ext cx="2093912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16 bit: carries info on </a:t>
            </a:r>
            <a:br>
              <a:rPr lang="it-IT" altLang="it-IT" sz="1800" b="0">
                <a:latin typeface="Arial Narrow" panose="020B0606020202030204" pitchFamily="34" charset="0"/>
              </a:rPr>
            </a:br>
            <a:r>
              <a:rPr lang="it-IT" altLang="it-IT" sz="1800" b="0">
                <a:latin typeface="Arial Narrow" panose="020B0606020202030204" pitchFamily="34" charset="0"/>
              </a:rPr>
              <a:t>which algo or key to</a:t>
            </a:r>
            <a:br>
              <a:rPr lang="it-IT" altLang="it-IT" sz="1800" b="0">
                <a:latin typeface="Arial Narrow" panose="020B0606020202030204" pitchFamily="34" charset="0"/>
              </a:rPr>
            </a:br>
            <a:r>
              <a:rPr lang="it-IT" altLang="it-IT" sz="1800" b="0">
                <a:latin typeface="Arial Narrow" panose="020B0606020202030204" pitchFamily="34" charset="0"/>
              </a:rPr>
              <a:t>use if choice available,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sync window, etc</a:t>
            </a:r>
            <a:br>
              <a:rPr lang="it-IT" altLang="it-IT" sz="1800" b="0">
                <a:latin typeface="Arial Narrow" panose="020B0606020202030204" pitchFamily="34" charset="0"/>
              </a:rPr>
            </a:br>
            <a:r>
              <a:rPr lang="it-IT" altLang="it-IT" sz="1800" b="0">
                <a:latin typeface="Arial Narrow" panose="020B0606020202030204" pitchFamily="34" charset="0"/>
              </a:rPr>
              <a:t>(signalling info)</a:t>
            </a:r>
          </a:p>
        </p:txBody>
      </p:sp>
      <p:sp>
        <p:nvSpPr>
          <p:cNvPr id="67592" name="Text Box 9">
            <a:extLst>
              <a:ext uri="{FF2B5EF4-FFF2-40B4-BE49-F238E27FC236}">
                <a16:creationId xmlns:a16="http://schemas.microsoft.com/office/drawing/2014/main" id="{0143F305-CCEE-4415-BABC-FDB620ED52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4763" y="2547939"/>
            <a:ext cx="1897062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64 bit: allows MS to </a:t>
            </a:r>
            <a:br>
              <a:rPr lang="it-IT" altLang="it-IT" sz="1800" b="0">
                <a:latin typeface="Arial Narrow" panose="020B0606020202030204" pitchFamily="34" charset="0"/>
              </a:rPr>
            </a:br>
            <a:r>
              <a:rPr lang="it-IT" altLang="it-IT" sz="1800" b="0">
                <a:latin typeface="Arial Narrow" panose="020B0606020202030204" pitchFamily="34" charset="0"/>
              </a:rPr>
              <a:t>verify authenticity of </a:t>
            </a:r>
            <a:br>
              <a:rPr lang="it-IT" altLang="it-IT" sz="1800" b="0">
                <a:latin typeface="Arial Narrow" panose="020B0606020202030204" pitchFamily="34" charset="0"/>
              </a:rPr>
            </a:br>
            <a:r>
              <a:rPr lang="it-IT" altLang="it-IT" sz="1800" b="0">
                <a:latin typeface="Arial Narrow" panose="020B0606020202030204" pitchFamily="34" charset="0"/>
              </a:rPr>
              <a:t>Network!</a:t>
            </a:r>
          </a:p>
        </p:txBody>
      </p:sp>
      <p:sp>
        <p:nvSpPr>
          <p:cNvPr id="67593" name="Line 10">
            <a:extLst>
              <a:ext uri="{FF2B5EF4-FFF2-40B4-BE49-F238E27FC236}">
                <a16:creationId xmlns:a16="http://schemas.microsoft.com/office/drawing/2014/main" id="{BD715496-7225-43A8-96BD-11BE67E196E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24613" y="4270375"/>
            <a:ext cx="0" cy="2174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7594" name="Line 11">
            <a:extLst>
              <a:ext uri="{FF2B5EF4-FFF2-40B4-BE49-F238E27FC236}">
                <a16:creationId xmlns:a16="http://schemas.microsoft.com/office/drawing/2014/main" id="{AD42B519-ACE2-4577-801B-FCB329CED64A}"/>
              </a:ext>
            </a:extLst>
          </p:cNvPr>
          <p:cNvSpPr>
            <a:spLocks noChangeShapeType="1"/>
          </p:cNvSpPr>
          <p:nvPr/>
        </p:nvSpPr>
        <p:spPr bwMode="auto">
          <a:xfrm>
            <a:off x="9721850" y="4270375"/>
            <a:ext cx="0" cy="2174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7595" name="Rectangle 12">
            <a:extLst>
              <a:ext uri="{FF2B5EF4-FFF2-40B4-BE49-F238E27FC236}">
                <a16:creationId xmlns:a16="http://schemas.microsoft.com/office/drawing/2014/main" id="{35ECD6CE-9E41-44A1-9E53-3C1D7A3A1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9814" y="4487863"/>
            <a:ext cx="3971925" cy="487362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Times New Roman" panose="02020603050405020304" pitchFamily="18" charset="0"/>
              </a:rPr>
              <a:t>f1</a:t>
            </a:r>
          </a:p>
        </p:txBody>
      </p:sp>
      <p:sp>
        <p:nvSpPr>
          <p:cNvPr id="67596" name="Line 13">
            <a:extLst>
              <a:ext uri="{FF2B5EF4-FFF2-40B4-BE49-F238E27FC236}">
                <a16:creationId xmlns:a16="http://schemas.microsoft.com/office/drawing/2014/main" id="{CEB093D6-8CDA-4911-9A98-FCBA03A6E7CC}"/>
              </a:ext>
            </a:extLst>
          </p:cNvPr>
          <p:cNvSpPr>
            <a:spLocks noChangeShapeType="1"/>
          </p:cNvSpPr>
          <p:nvPr/>
        </p:nvSpPr>
        <p:spPr bwMode="auto">
          <a:xfrm>
            <a:off x="8059738" y="4975226"/>
            <a:ext cx="0" cy="269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7597" name="Text Box 14">
            <a:extLst>
              <a:ext uri="{FF2B5EF4-FFF2-40B4-BE49-F238E27FC236}">
                <a16:creationId xmlns:a16="http://schemas.microsoft.com/office/drawing/2014/main" id="{594D2C0D-85C9-4EAF-8207-7EEC115793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64651" y="3933826"/>
            <a:ext cx="9064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Times New Roman" panose="02020603050405020304" pitchFamily="18" charset="0"/>
              </a:rPr>
              <a:t>RAND</a:t>
            </a:r>
          </a:p>
        </p:txBody>
      </p:sp>
      <p:sp>
        <p:nvSpPr>
          <p:cNvPr id="67598" name="Text Box 15">
            <a:extLst>
              <a:ext uri="{FF2B5EF4-FFF2-40B4-BE49-F238E27FC236}">
                <a16:creationId xmlns:a16="http://schemas.microsoft.com/office/drawing/2014/main" id="{4E96E3B0-63CB-4DA5-8259-BE2FE0474C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6013" y="3933826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Times New Roman" panose="02020603050405020304" pitchFamily="18" charset="0"/>
              </a:rPr>
              <a:t>K</a:t>
            </a:r>
            <a:endParaRPr lang="it-IT" altLang="it-IT" sz="2000" b="0" baseline="-25000">
              <a:latin typeface="Times New Roman" panose="02020603050405020304" pitchFamily="18" charset="0"/>
            </a:endParaRPr>
          </a:p>
        </p:txBody>
      </p:sp>
      <p:sp>
        <p:nvSpPr>
          <p:cNvPr id="67599" name="Text Box 16">
            <a:extLst>
              <a:ext uri="{FF2B5EF4-FFF2-40B4-BE49-F238E27FC236}">
                <a16:creationId xmlns:a16="http://schemas.microsoft.com/office/drawing/2014/main" id="{A2B6E492-53E3-460C-9CF5-BC712A1D07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4914" y="5191126"/>
            <a:ext cx="10318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Times New Roman" panose="02020603050405020304" pitchFamily="18" charset="0"/>
              </a:rPr>
              <a:t>MAC-A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Times New Roman" panose="02020603050405020304" pitchFamily="18" charset="0"/>
              </a:rPr>
              <a:t>64 bit</a:t>
            </a:r>
          </a:p>
        </p:txBody>
      </p:sp>
      <p:sp>
        <p:nvSpPr>
          <p:cNvPr id="67600" name="Line 17">
            <a:extLst>
              <a:ext uri="{FF2B5EF4-FFF2-40B4-BE49-F238E27FC236}">
                <a16:creationId xmlns:a16="http://schemas.microsoft.com/office/drawing/2014/main" id="{B46AF7BE-8234-4439-97E7-8F053B812389}"/>
              </a:ext>
            </a:extLst>
          </p:cNvPr>
          <p:cNvSpPr>
            <a:spLocks noChangeShapeType="1"/>
          </p:cNvSpPr>
          <p:nvPr/>
        </p:nvSpPr>
        <p:spPr bwMode="auto">
          <a:xfrm>
            <a:off x="8605838" y="4270375"/>
            <a:ext cx="0" cy="2174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7601" name="Text Box 18">
            <a:extLst>
              <a:ext uri="{FF2B5EF4-FFF2-40B4-BE49-F238E27FC236}">
                <a16:creationId xmlns:a16="http://schemas.microsoft.com/office/drawing/2014/main" id="{567215C6-5B88-4239-8419-9F5F84904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8638" y="3933826"/>
            <a:ext cx="7350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Times New Roman" panose="02020603050405020304" pitchFamily="18" charset="0"/>
              </a:rPr>
              <a:t>AMF</a:t>
            </a:r>
          </a:p>
        </p:txBody>
      </p:sp>
      <p:sp>
        <p:nvSpPr>
          <p:cNvPr id="67602" name="Line 19">
            <a:extLst>
              <a:ext uri="{FF2B5EF4-FFF2-40B4-BE49-F238E27FC236}">
                <a16:creationId xmlns:a16="http://schemas.microsoft.com/office/drawing/2014/main" id="{F1A9CDC6-4BA2-4169-827D-816818D6C275}"/>
              </a:ext>
            </a:extLst>
          </p:cNvPr>
          <p:cNvSpPr>
            <a:spLocks noChangeShapeType="1"/>
          </p:cNvSpPr>
          <p:nvPr/>
        </p:nvSpPr>
        <p:spPr bwMode="auto">
          <a:xfrm>
            <a:off x="7510463" y="4270375"/>
            <a:ext cx="0" cy="2174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7603" name="Text Box 20">
            <a:extLst>
              <a:ext uri="{FF2B5EF4-FFF2-40B4-BE49-F238E27FC236}">
                <a16:creationId xmlns:a16="http://schemas.microsoft.com/office/drawing/2014/main" id="{8C0C33D3-1F66-4104-A3DE-0A3BA6C1FE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3264" y="3933826"/>
            <a:ext cx="6937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Times New Roman" panose="02020603050405020304" pitchFamily="18" charset="0"/>
              </a:rPr>
              <a:t>SQN</a:t>
            </a:r>
          </a:p>
        </p:txBody>
      </p:sp>
      <p:sp>
        <p:nvSpPr>
          <p:cNvPr id="67604" name="Text Box 21">
            <a:extLst>
              <a:ext uri="{FF2B5EF4-FFF2-40B4-BE49-F238E27FC236}">
                <a16:creationId xmlns:a16="http://schemas.microsoft.com/office/drawing/2014/main" id="{A712EF70-8EFB-45C6-94FA-BA762BCABD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1339" y="4473576"/>
            <a:ext cx="4149725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latin typeface="Arial Narrow" panose="020B0606020202030204" pitchFamily="34" charset="0"/>
              </a:rPr>
              <a:t>MS: has all info needed to check </a:t>
            </a:r>
            <a:br>
              <a:rPr lang="it-IT" altLang="it-IT" sz="2000">
                <a:latin typeface="Arial Narrow" panose="020B0606020202030204" pitchFamily="34" charset="0"/>
              </a:rPr>
            </a:br>
            <a:r>
              <a:rPr lang="it-IT" altLang="it-IT" sz="2000">
                <a:latin typeface="Arial Narrow" panose="020B0606020202030204" pitchFamily="34" charset="0"/>
              </a:rPr>
              <a:t>that MAC-A transmitted by network</a:t>
            </a:r>
            <a:br>
              <a:rPr lang="it-IT" altLang="it-IT" sz="2000">
                <a:latin typeface="Arial Narrow" panose="020B0606020202030204" pitchFamily="34" charset="0"/>
              </a:rPr>
            </a:br>
            <a:r>
              <a:rPr lang="it-IT" altLang="it-IT" sz="2000">
                <a:latin typeface="Arial Narrow" panose="020B0606020202030204" pitchFamily="34" charset="0"/>
              </a:rPr>
              <a:t>is the same of MAC-A locally computed!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latin typeface="Arial Narrow" panose="020B0606020202030204" pitchFamily="34" charset="0"/>
              </a:rPr>
              <a:t>SQN guarantees defense against replay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7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7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7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7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7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7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7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7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7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7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7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7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7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7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7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7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7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7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7" grpId="0" animBg="1"/>
      <p:bldP spid="67588" grpId="0" animBg="1"/>
      <p:bldP spid="67589" grpId="0" animBg="1"/>
      <p:bldP spid="67590" grpId="0"/>
      <p:bldP spid="67591" grpId="0"/>
      <p:bldP spid="67592" grpId="0"/>
      <p:bldP spid="67595" grpId="0" animBg="1"/>
      <p:bldP spid="67597" grpId="0"/>
      <p:bldP spid="67598" grpId="0"/>
      <p:bldP spid="67599" grpId="0"/>
      <p:bldP spid="67601" grpId="0"/>
      <p:bldP spid="67603" grpId="0"/>
      <p:bldP spid="6760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970" name="Rectangle 2">
            <a:extLst>
              <a:ext uri="{FF2B5EF4-FFF2-40B4-BE49-F238E27FC236}">
                <a16:creationId xmlns:a16="http://schemas.microsoft.com/office/drawing/2014/main" id="{30DB7402-02E3-4D81-B074-CF70C67F89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/>
              <a:t>Minor detail: protecting SQN!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D2709E01-26C1-4C71-B8BA-CCF49F5AA6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1125539"/>
            <a:ext cx="7696200" cy="19081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it-IT" sz="2400"/>
              <a:t>A privacy problem: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sz="2400"/>
              <a:t>By looking at SQN (stepwise increasing), eavesdropper may discriminate and track user!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 sz="2400"/>
              <a:t>Solution: mask SQN with Anonymity Key</a:t>
            </a:r>
          </a:p>
        </p:txBody>
      </p:sp>
      <p:sp>
        <p:nvSpPr>
          <p:cNvPr id="69636" name="Rectangle 4">
            <a:extLst>
              <a:ext uri="{FF2B5EF4-FFF2-40B4-BE49-F238E27FC236}">
                <a16:creationId xmlns:a16="http://schemas.microsoft.com/office/drawing/2014/main" id="{F9AB1BF4-0C0C-45B3-A117-920A4A4222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5551" y="2816226"/>
            <a:ext cx="2195513" cy="828675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latin typeface="Arial Narrow" panose="020B0606020202030204" pitchFamily="34" charset="0"/>
              </a:rPr>
              <a:t>SQN xor AK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latin typeface="Arial Narrow" panose="020B0606020202030204" pitchFamily="34" charset="0"/>
              </a:rPr>
              <a:t>Sequence number</a:t>
            </a:r>
          </a:p>
        </p:txBody>
      </p:sp>
      <p:sp>
        <p:nvSpPr>
          <p:cNvPr id="69637" name="Rectangle 5">
            <a:extLst>
              <a:ext uri="{FF2B5EF4-FFF2-40B4-BE49-F238E27FC236}">
                <a16:creationId xmlns:a16="http://schemas.microsoft.com/office/drawing/2014/main" id="{ED467C6A-7D1D-4150-AF32-8084F732F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1064" y="2816226"/>
            <a:ext cx="2592387" cy="828675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latin typeface="Arial Narrow" panose="020B0606020202030204" pitchFamily="34" charset="0"/>
              </a:rPr>
              <a:t>AMF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latin typeface="Arial Narrow" panose="020B0606020202030204" pitchFamily="34" charset="0"/>
              </a:rPr>
              <a:t>Auth &amp; key mgmt field</a:t>
            </a:r>
          </a:p>
        </p:txBody>
      </p:sp>
      <p:sp>
        <p:nvSpPr>
          <p:cNvPr id="69638" name="Rectangle 6">
            <a:extLst>
              <a:ext uri="{FF2B5EF4-FFF2-40B4-BE49-F238E27FC236}">
                <a16:creationId xmlns:a16="http://schemas.microsoft.com/office/drawing/2014/main" id="{063DE6BC-AC95-40E0-A8D4-8657DD38F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3450" y="2816226"/>
            <a:ext cx="2592388" cy="828675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latin typeface="Arial Narrow" panose="020B0606020202030204" pitchFamily="34" charset="0"/>
              </a:rPr>
              <a:t>MAC-A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latin typeface="Arial Narrow" panose="020B0606020202030204" pitchFamily="34" charset="0"/>
              </a:rPr>
              <a:t>Message Auth code</a:t>
            </a:r>
          </a:p>
        </p:txBody>
      </p:sp>
      <p:sp>
        <p:nvSpPr>
          <p:cNvPr id="69639" name="Line 7">
            <a:extLst>
              <a:ext uri="{FF2B5EF4-FFF2-40B4-BE49-F238E27FC236}">
                <a16:creationId xmlns:a16="http://schemas.microsoft.com/office/drawing/2014/main" id="{75EABEA7-2153-4575-B780-707B833D6BB3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4310064"/>
            <a:ext cx="0" cy="2174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9640" name="Line 8">
            <a:extLst>
              <a:ext uri="{FF2B5EF4-FFF2-40B4-BE49-F238E27FC236}">
                <a16:creationId xmlns:a16="http://schemas.microsoft.com/office/drawing/2014/main" id="{281BE6C8-853D-4D45-9A82-20044DB6584A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4310064"/>
            <a:ext cx="0" cy="2174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9641" name="Rectangle 9">
            <a:extLst>
              <a:ext uri="{FF2B5EF4-FFF2-40B4-BE49-F238E27FC236}">
                <a16:creationId xmlns:a16="http://schemas.microsoft.com/office/drawing/2014/main" id="{2258B23D-708C-4E07-B3A5-3CA2A79935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4527551"/>
            <a:ext cx="1600200" cy="48736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Times New Roman" panose="02020603050405020304" pitchFamily="18" charset="0"/>
              </a:rPr>
              <a:t>f5</a:t>
            </a:r>
          </a:p>
        </p:txBody>
      </p:sp>
      <p:sp>
        <p:nvSpPr>
          <p:cNvPr id="69642" name="Line 10">
            <a:extLst>
              <a:ext uri="{FF2B5EF4-FFF2-40B4-BE49-F238E27FC236}">
                <a16:creationId xmlns:a16="http://schemas.microsoft.com/office/drawing/2014/main" id="{598E275E-16CB-4203-A136-43F2096F0991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5014914"/>
            <a:ext cx="0" cy="269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9643" name="Text Box 11">
            <a:extLst>
              <a:ext uri="{FF2B5EF4-FFF2-40B4-BE49-F238E27FC236}">
                <a16:creationId xmlns:a16="http://schemas.microsoft.com/office/drawing/2014/main" id="{77120A46-F6FB-4730-829E-CE4684BC28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1" y="3973514"/>
            <a:ext cx="9064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Times New Roman" panose="02020603050405020304" pitchFamily="18" charset="0"/>
              </a:rPr>
              <a:t>RAND</a:t>
            </a:r>
          </a:p>
        </p:txBody>
      </p:sp>
      <p:sp>
        <p:nvSpPr>
          <p:cNvPr id="69644" name="Text Box 12">
            <a:extLst>
              <a:ext uri="{FF2B5EF4-FFF2-40B4-BE49-F238E27FC236}">
                <a16:creationId xmlns:a16="http://schemas.microsoft.com/office/drawing/2014/main" id="{2BB730E9-B124-4B31-AE66-7B3A468C1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3973514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Times New Roman" panose="02020603050405020304" pitchFamily="18" charset="0"/>
              </a:rPr>
              <a:t>K</a:t>
            </a:r>
            <a:endParaRPr lang="it-IT" altLang="it-IT" sz="2000" b="0" baseline="-25000">
              <a:latin typeface="Times New Roman" panose="02020603050405020304" pitchFamily="18" charset="0"/>
            </a:endParaRPr>
          </a:p>
        </p:txBody>
      </p:sp>
      <p:sp>
        <p:nvSpPr>
          <p:cNvPr id="69645" name="Text Box 13">
            <a:extLst>
              <a:ext uri="{FF2B5EF4-FFF2-40B4-BE49-F238E27FC236}">
                <a16:creationId xmlns:a16="http://schemas.microsoft.com/office/drawing/2014/main" id="{E4B0C289-0CEA-407B-84FB-AB69F86BD5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7488" y="5230814"/>
            <a:ext cx="1827212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Times New Roman" panose="02020603050405020304" pitchFamily="18" charset="0"/>
              </a:rPr>
              <a:t>AK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Times New Roman" panose="02020603050405020304" pitchFamily="18" charset="0"/>
              </a:rPr>
              <a:t>Anonymity Key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Times New Roman" panose="02020603050405020304" pitchFamily="18" charset="0"/>
              </a:rPr>
              <a:t>48 bit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9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9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9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9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9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9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9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9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9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9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5" grpId="0" build="p"/>
      <p:bldP spid="69636" grpId="0" animBg="1"/>
      <p:bldP spid="69637" grpId="0" animBg="1"/>
      <p:bldP spid="69638" grpId="0" animBg="1"/>
      <p:bldP spid="69641" grpId="0" animBg="1"/>
      <p:bldP spid="69643" grpId="0"/>
      <p:bldP spid="69644" grpId="0"/>
      <p:bldP spid="69645" grpId="0"/>
    </p:bldLst>
  </p:timing>
</p:sld>
</file>

<file path=ppt/theme/theme1.xml><?xml version="1.0" encoding="utf-8"?>
<a:theme xmlns:a="http://schemas.openxmlformats.org/drawingml/2006/main" name="214templ">
  <a:themeElements>
    <a:clrScheme name="">
      <a:dk1>
        <a:srgbClr val="000000"/>
      </a:dk1>
      <a:lt1>
        <a:srgbClr val="FFFFFF"/>
      </a:lt1>
      <a:dk2>
        <a:srgbClr val="000000"/>
      </a:dk2>
      <a:lt2>
        <a:srgbClr val="CECECE"/>
      </a:lt2>
      <a:accent1>
        <a:srgbClr val="474747"/>
      </a:accent1>
      <a:accent2>
        <a:srgbClr val="DADADA"/>
      </a:accent2>
      <a:accent3>
        <a:srgbClr val="FFFFFF"/>
      </a:accent3>
      <a:accent4>
        <a:srgbClr val="000000"/>
      </a:accent4>
      <a:accent5>
        <a:srgbClr val="B1B1B1"/>
      </a:accent5>
      <a:accent6>
        <a:srgbClr val="C5C5C5"/>
      </a:accent6>
      <a:hlink>
        <a:srgbClr val="000000"/>
      </a:hlink>
      <a:folHlink>
        <a:srgbClr val="919191"/>
      </a:folHlink>
    </a:clrScheme>
    <a:fontScheme name="214templ">
      <a:majorFont>
        <a:latin typeface="Bookman Old Style"/>
        <a:ea typeface=""/>
        <a:cs typeface=""/>
      </a:majorFont>
      <a:minorFont>
        <a:latin typeface="Bookman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>
            <a:alpha val="50000"/>
          </a:srgbClr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>
            <a:alpha val="50000"/>
          </a:srgbClr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lnDef>
  </a:objectDefaults>
  <a:extraClrSchemeLst>
    <a:extraClrScheme>
      <a:clrScheme name="214temp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4templ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3E8458D254D7543B8EE0336155E759B" ma:contentTypeVersion="6" ma:contentTypeDescription="Creare un nuovo documento." ma:contentTypeScope="" ma:versionID="634e05960707776122f6c34782d58d55">
  <xsd:schema xmlns:xsd="http://www.w3.org/2001/XMLSchema" xmlns:xs="http://www.w3.org/2001/XMLSchema" xmlns:p="http://schemas.microsoft.com/office/2006/metadata/properties" xmlns:ns2="2154ac9b-a8e0-4f77-b94d-78f05534efde" targetNamespace="http://schemas.microsoft.com/office/2006/metadata/properties" ma:root="true" ma:fieldsID="550181c30c827cd1adfb638e20e39b69" ns2:_="">
    <xsd:import namespace="2154ac9b-a8e0-4f77-b94d-78f05534ef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54ac9b-a8e0-4f77-b94d-78f05534ef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549C974-C61D-4CD2-8D4D-CD96138D9E14}"/>
</file>

<file path=customXml/itemProps2.xml><?xml version="1.0" encoding="utf-8"?>
<ds:datastoreItem xmlns:ds="http://schemas.openxmlformats.org/officeDocument/2006/customXml" ds:itemID="{80C91907-B0F8-4726-88A5-3C440A5F6105}"/>
</file>

<file path=customXml/itemProps3.xml><?xml version="1.0" encoding="utf-8"?>
<ds:datastoreItem xmlns:ds="http://schemas.openxmlformats.org/officeDocument/2006/customXml" ds:itemID="{0CD6A531-2E18-4C0B-BB85-4304882A2DA3}"/>
</file>

<file path=docProps/app.xml><?xml version="1.0" encoding="utf-8"?>
<Properties xmlns="http://schemas.openxmlformats.org/officeDocument/2006/extended-properties" xmlns:vt="http://schemas.openxmlformats.org/officeDocument/2006/docPropsVTypes">
  <Template>c:\214\214templ.ppt</Template>
  <TotalTime>0</TotalTime>
  <Pages>22</Pages>
  <Words>1501</Words>
  <Application>Microsoft Office PowerPoint</Application>
  <PresentationFormat>Widescreen</PresentationFormat>
  <Paragraphs>342</Paragraphs>
  <Slides>24</Slides>
  <Notes>17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24</vt:i4>
      </vt:variant>
    </vt:vector>
  </HeadingPairs>
  <TitlesOfParts>
    <vt:vector size="32" baseType="lpstr">
      <vt:lpstr>Arial</vt:lpstr>
      <vt:lpstr>Arial Narrow</vt:lpstr>
      <vt:lpstr>Book Antiqua</vt:lpstr>
      <vt:lpstr>Bookman Old Style</vt:lpstr>
      <vt:lpstr>Times New Roman</vt:lpstr>
      <vt:lpstr>Trebuchet MS</vt:lpstr>
      <vt:lpstr>Wingdings</vt:lpstr>
      <vt:lpstr>214templ</vt:lpstr>
      <vt:lpstr>Security in Wireless Cellular systems  (focus limited to authentication, at this stage)</vt:lpstr>
      <vt:lpstr>Architecture of wireless cellular systems (abstracted)</vt:lpstr>
      <vt:lpstr>Security in 1G</vt:lpstr>
      <vt:lpstr>Security in 2G</vt:lpstr>
      <vt:lpstr>Security in 3G</vt:lpstr>
      <vt:lpstr>Security in 4G</vt:lpstr>
      <vt:lpstr>Security in 4G and 5G</vt:lpstr>
      <vt:lpstr>5G Security Architecture - Components</vt:lpstr>
      <vt:lpstr>But systems are way more complex</vt:lpstr>
      <vt:lpstr>Challenge-Response authentication  in Wireless Cellular systems</vt:lpstr>
      <vt:lpstr>Authentication: when (e.g. 2/3G)</vt:lpstr>
      <vt:lpstr>Authentication in 2G (unilateral)</vt:lpstr>
      <vt:lpstr>Triplets (Authentication Vector)</vt:lpstr>
      <vt:lpstr>Authentication: details</vt:lpstr>
      <vt:lpstr>On the A3/A8 algorithms</vt:lpstr>
      <vt:lpstr>Over the air attach</vt:lpstr>
      <vt:lpstr>3G/4G/5G authentication: AKA Authentication and Key Agreement  (STRONGLY Simplified for our purposes; 3G terminology)</vt:lpstr>
      <vt:lpstr>Major differences with 2G</vt:lpstr>
      <vt:lpstr>Authentication Vector</vt:lpstr>
      <vt:lpstr>MS authentication</vt:lpstr>
      <vt:lpstr>Network Authentication</vt:lpstr>
      <vt:lpstr>SEQ as nonce: idea</vt:lpstr>
      <vt:lpstr>Network authentication: AUTN format</vt:lpstr>
      <vt:lpstr>Minor detail: protecting SQN!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101</dc:title>
  <dc:subject>Lecture</dc:subject>
  <dc:creator>Giuseppe Bianchi</dc:creator>
  <cp:keywords/>
  <dc:description/>
  <cp:lastModifiedBy>Giuseppe Bianchi</cp:lastModifiedBy>
  <cp:revision>386</cp:revision>
  <cp:lastPrinted>1998-04-09T13:49:28Z</cp:lastPrinted>
  <dcterms:created xsi:type="dcterms:W3CDTF">1996-09-11T22:41:56Z</dcterms:created>
  <dcterms:modified xsi:type="dcterms:W3CDTF">2023-10-09T11:51:26Z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0x010100E3E8458D254D7543B8EE0336155E759B</vt:lpwstr>
  </property>
</Properties>
</file>