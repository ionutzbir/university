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511" r:id="rId2"/>
    <p:sldId id="808" r:id="rId3"/>
    <p:sldId id="809" r:id="rId4"/>
    <p:sldId id="535" r:id="rId5"/>
    <p:sldId id="816" r:id="rId6"/>
    <p:sldId id="817" r:id="rId7"/>
    <p:sldId id="536" r:id="rId8"/>
    <p:sldId id="818" r:id="rId9"/>
    <p:sldId id="917" r:id="rId10"/>
    <p:sldId id="918" r:id="rId11"/>
    <p:sldId id="826" r:id="rId12"/>
    <p:sldId id="842" r:id="rId13"/>
    <p:sldId id="920" r:id="rId14"/>
    <p:sldId id="919" r:id="rId15"/>
    <p:sldId id="921" r:id="rId16"/>
    <p:sldId id="821" r:id="rId17"/>
    <p:sldId id="822" r:id="rId18"/>
    <p:sldId id="831" r:id="rId19"/>
    <p:sldId id="823" r:id="rId20"/>
    <p:sldId id="581" r:id="rId21"/>
    <p:sldId id="480" r:id="rId22"/>
    <p:sldId id="482" r:id="rId23"/>
    <p:sldId id="484" r:id="rId24"/>
    <p:sldId id="489" r:id="rId25"/>
    <p:sldId id="922" r:id="rId26"/>
    <p:sldId id="486" r:id="rId27"/>
    <p:sldId id="490" r:id="rId28"/>
    <p:sldId id="487" r:id="rId29"/>
    <p:sldId id="488" r:id="rId30"/>
    <p:sldId id="492" r:id="rId31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6600"/>
    <a:srgbClr val="53D810"/>
    <a:srgbClr val="33840A"/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9122" autoAdjust="0"/>
  </p:normalViewPr>
  <p:slideViewPr>
    <p:cSldViewPr showGuides="1">
      <p:cViewPr varScale="1">
        <p:scale>
          <a:sx n="69" d="100"/>
          <a:sy n="69" d="100"/>
        </p:scale>
        <p:origin x="1204" y="40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38" d="100"/>
          <a:sy n="38" d="100"/>
        </p:scale>
        <p:origin x="-1446" y="-84"/>
      </p:cViewPr>
      <p:guideLst>
        <p:guide orient="horz" pos="3222"/>
        <p:guide pos="2236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868C6031-B23B-49E2-B686-0C6F8E4E4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9380538"/>
            <a:ext cx="5810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84E92E02-3560-4FE3-B5A2-C698779368CB}" type="slidenum">
              <a:rPr lang="en-US" altLang="it-IT" sz="2500">
                <a:latin typeface="Book Antiqua" panose="02040602050305030304" pitchFamily="18" charset="0"/>
              </a:rPr>
              <a:pPr/>
              <a:t>‹N›</a:t>
            </a:fld>
            <a:endParaRPr lang="en-US" altLang="it-IT" sz="250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ED47522-9886-4AFC-8367-36DD5720447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63558A0-C411-4CD7-B675-EC7B80A1927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CB0376FE-2022-4BAB-8D2E-5DCD52A07B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3963855C-759F-445F-8F26-2C80C59588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B61F5D3F-4DA3-4B22-BE63-CBA554E6E0F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E3B3D68-DF0E-468C-92FA-F5AE6DA12E68}" type="slidenum">
              <a:rPr lang="en-US" altLang="it-IT" sz="1800">
                <a:latin typeface="Arial Narrow" panose="020B0606020202030204" pitchFamily="34" charset="0"/>
              </a:rPr>
              <a:pPr eaLnBrk="1" hangingPunct="1">
                <a:spcBef>
                  <a:spcPct val="0"/>
                </a:spcBef>
              </a:pPr>
              <a:t>4</a:t>
            </a:fld>
            <a:endParaRPr lang="en-US" altLang="it-IT" sz="1800">
              <a:latin typeface="Arial Narrow" panose="020B060602020203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BBE8D55B-0FA9-498B-A0DD-7B6818A602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A69DB325-35E1-4E32-A729-4EB2018A3D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83482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10369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2539743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egnaposto immagine diapositiva 1">
            <a:extLst>
              <a:ext uri="{FF2B5EF4-FFF2-40B4-BE49-F238E27FC236}">
                <a16:creationId xmlns:a16="http://schemas.microsoft.com/office/drawing/2014/main" id="{F975227F-8C7C-4CF2-B04D-17B6927391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Segnaposto note 2">
            <a:extLst>
              <a:ext uri="{FF2B5EF4-FFF2-40B4-BE49-F238E27FC236}">
                <a16:creationId xmlns:a16="http://schemas.microsoft.com/office/drawing/2014/main" id="{49EE1BAE-AE8B-4290-8A3E-CEB5BD610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egnaposto immagine diapositiva 1">
            <a:extLst>
              <a:ext uri="{FF2B5EF4-FFF2-40B4-BE49-F238E27FC236}">
                <a16:creationId xmlns:a16="http://schemas.microsoft.com/office/drawing/2014/main" id="{E7A62229-D702-411C-AEC9-E9CCEC5A4C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Segnaposto note 2">
            <a:extLst>
              <a:ext uri="{FF2B5EF4-FFF2-40B4-BE49-F238E27FC236}">
                <a16:creationId xmlns:a16="http://schemas.microsoft.com/office/drawing/2014/main" id="{B96DE341-E3CD-44AC-81D3-B8AB6AFEA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egnaposto immagine diapositiva 1">
            <a:extLst>
              <a:ext uri="{FF2B5EF4-FFF2-40B4-BE49-F238E27FC236}">
                <a16:creationId xmlns:a16="http://schemas.microsoft.com/office/drawing/2014/main" id="{BDB8AF2A-43C1-4548-8D0A-508AB095C3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Segnaposto note 2">
            <a:extLst>
              <a:ext uri="{FF2B5EF4-FFF2-40B4-BE49-F238E27FC236}">
                <a16:creationId xmlns:a16="http://schemas.microsoft.com/office/drawing/2014/main" id="{81AA7299-877D-442A-83FC-E5A16C071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egnaposto immagine diapositiva 1">
            <a:extLst>
              <a:ext uri="{FF2B5EF4-FFF2-40B4-BE49-F238E27FC236}">
                <a16:creationId xmlns:a16="http://schemas.microsoft.com/office/drawing/2014/main" id="{23DB4088-3924-4008-8C20-BD80029729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Segnaposto note 2">
            <a:extLst>
              <a:ext uri="{FF2B5EF4-FFF2-40B4-BE49-F238E27FC236}">
                <a16:creationId xmlns:a16="http://schemas.microsoft.com/office/drawing/2014/main" id="{0F5FA7D2-F9B6-445C-AA6A-E494E7C90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egnaposto immagine diapositiva 1">
            <a:extLst>
              <a:ext uri="{FF2B5EF4-FFF2-40B4-BE49-F238E27FC236}">
                <a16:creationId xmlns:a16="http://schemas.microsoft.com/office/drawing/2014/main" id="{0B6D9502-9EFD-7549-75AF-E6DD46DFF0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Segnaposto note 2">
            <a:extLst>
              <a:ext uri="{FF2B5EF4-FFF2-40B4-BE49-F238E27FC236}">
                <a16:creationId xmlns:a16="http://schemas.microsoft.com/office/drawing/2014/main" id="{FBF88A71-960F-3B4B-4233-58FA7A3BC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egnaposto immagine diapositiva 1">
            <a:extLst>
              <a:ext uri="{FF2B5EF4-FFF2-40B4-BE49-F238E27FC236}">
                <a16:creationId xmlns:a16="http://schemas.microsoft.com/office/drawing/2014/main" id="{F18C3BC9-4FCE-332C-3F71-13F590E153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Segnaposto note 2">
            <a:extLst>
              <a:ext uri="{FF2B5EF4-FFF2-40B4-BE49-F238E27FC236}">
                <a16:creationId xmlns:a16="http://schemas.microsoft.com/office/drawing/2014/main" id="{9BF282CB-C4DC-C303-FC1E-E2546BDB7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egnaposto immagine diapositiva 1">
            <a:extLst>
              <a:ext uri="{FF2B5EF4-FFF2-40B4-BE49-F238E27FC236}">
                <a16:creationId xmlns:a16="http://schemas.microsoft.com/office/drawing/2014/main" id="{D5238CC4-433C-4CAD-BCA5-CAA5064B0B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Segnaposto note 2">
            <a:extLst>
              <a:ext uri="{FF2B5EF4-FFF2-40B4-BE49-F238E27FC236}">
                <a16:creationId xmlns:a16="http://schemas.microsoft.com/office/drawing/2014/main" id="{0F245C54-3DDC-4E7C-A83F-91F284266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egnaposto immagine diapositiva 1">
            <a:extLst>
              <a:ext uri="{FF2B5EF4-FFF2-40B4-BE49-F238E27FC236}">
                <a16:creationId xmlns:a16="http://schemas.microsoft.com/office/drawing/2014/main" id="{3CADE493-5DE4-4D72-8BB3-8EBF474B0D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Segnaposto note 2">
            <a:extLst>
              <a:ext uri="{FF2B5EF4-FFF2-40B4-BE49-F238E27FC236}">
                <a16:creationId xmlns:a16="http://schemas.microsoft.com/office/drawing/2014/main" id="{C0055C0B-2AFC-4903-81A0-2B6F7561C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egnaposto immagine diapositiva 1">
            <a:extLst>
              <a:ext uri="{FF2B5EF4-FFF2-40B4-BE49-F238E27FC236}">
                <a16:creationId xmlns:a16="http://schemas.microsoft.com/office/drawing/2014/main" id="{13A0E47E-25C3-4B4C-A3F1-778E5EB837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Segnaposto note 2">
            <a:extLst>
              <a:ext uri="{FF2B5EF4-FFF2-40B4-BE49-F238E27FC236}">
                <a16:creationId xmlns:a16="http://schemas.microsoft.com/office/drawing/2014/main" id="{880CBB14-C102-40F8-887A-B61ADC02C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egnaposto immagine diapositiva 1">
            <a:extLst>
              <a:ext uri="{FF2B5EF4-FFF2-40B4-BE49-F238E27FC236}">
                <a16:creationId xmlns:a16="http://schemas.microsoft.com/office/drawing/2014/main" id="{076E1AD2-1B4A-43E2-8B04-F816E4FA02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Segnaposto note 2">
            <a:extLst>
              <a:ext uri="{FF2B5EF4-FFF2-40B4-BE49-F238E27FC236}">
                <a16:creationId xmlns:a16="http://schemas.microsoft.com/office/drawing/2014/main" id="{1F2AC712-8A93-4C82-A159-A4F1042F3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egnaposto immagine diapositiva 1">
            <a:extLst>
              <a:ext uri="{FF2B5EF4-FFF2-40B4-BE49-F238E27FC236}">
                <a16:creationId xmlns:a16="http://schemas.microsoft.com/office/drawing/2014/main" id="{2932A5FE-9205-406D-927F-5EA72F8A29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Segnaposto note 2">
            <a:extLst>
              <a:ext uri="{FF2B5EF4-FFF2-40B4-BE49-F238E27FC236}">
                <a16:creationId xmlns:a16="http://schemas.microsoft.com/office/drawing/2014/main" id="{02FF49D7-7013-4AD5-9161-1BB1D90B4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812598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97307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2620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87337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79181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153921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355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844647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382238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87272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9547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0BDDA2F3-B2A3-4EC6-BA5F-4CBB72DCCF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7A9A4BE-5582-4936-B0F1-EC4A40F9C4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D31482C-A1F6-4166-B546-CF64F2881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>
                <a:latin typeface="Arial" pitchFamily="34" charset="0"/>
              </a:rPr>
              <a:t>Giuseppe Bianchi </a:t>
            </a:r>
          </a:p>
        </p:txBody>
      </p:sp>
      <p:sp>
        <p:nvSpPr>
          <p:cNvPr id="1029" name="Line 6">
            <a:extLst>
              <a:ext uri="{FF2B5EF4-FFF2-40B4-BE49-F238E27FC236}">
                <a16:creationId xmlns:a16="http://schemas.microsoft.com/office/drawing/2014/main" id="{B1033944-562F-4FFA-9AB1-72CF28AFA4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59526E1E-64DB-432B-AA75-CC7A21065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>
            <a:extLst>
              <a:ext uri="{FF2B5EF4-FFF2-40B4-BE49-F238E27FC236}">
                <a16:creationId xmlns:a16="http://schemas.microsoft.com/office/drawing/2014/main" id="{3A111F61-6129-4250-B164-D853692ACFC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>
            <a:extLst>
              <a:ext uri="{FF2B5EF4-FFF2-40B4-BE49-F238E27FC236}">
                <a16:creationId xmlns:a16="http://schemas.microsoft.com/office/drawing/2014/main" id="{D4B98BE5-C35C-4CA9-89CE-5B71FB55E9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2.wmf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w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w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6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050" name="Rectangle 2">
            <a:extLst>
              <a:ext uri="{FF2B5EF4-FFF2-40B4-BE49-F238E27FC236}">
                <a16:creationId xmlns:a16="http://schemas.microsoft.com/office/drawing/2014/main" id="{7B62C0E0-5F43-4852-986F-525FAD5B9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(user) authentication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BB7E1979-DB3D-445B-A999-CC84F3DBFEEA}"/>
              </a:ext>
            </a:extLst>
          </p:cNvPr>
          <p:cNvSpPr txBox="1">
            <a:spLocks/>
          </p:cNvSpPr>
          <p:nvPr/>
        </p:nvSpPr>
        <p:spPr bwMode="auto">
          <a:xfrm>
            <a:off x="685800" y="79412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defRPr>
            </a:lvl9pPr>
          </a:lstStyle>
          <a:p>
            <a:r>
              <a:rPr lang="it-IT" kern="0"/>
              <a:t>User authentication</a:t>
            </a:r>
            <a:endParaRPr lang="it-IT" kern="0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43EF800-E560-4116-8D61-5174A6B9AFDF}"/>
              </a:ext>
            </a:extLst>
          </p:cNvPr>
          <p:cNvSpPr txBox="1">
            <a:spLocks/>
          </p:cNvSpPr>
          <p:nvPr/>
        </p:nvSpPr>
        <p:spPr bwMode="auto">
          <a:xfrm>
            <a:off x="-72008" y="728700"/>
            <a:ext cx="9324528" cy="5580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it-IT" kern="0" dirty="0"/>
              <a:t>Prove </a:t>
            </a:r>
            <a:r>
              <a:rPr lang="it-IT" kern="0" dirty="0" err="1"/>
              <a:t>you</a:t>
            </a:r>
            <a:r>
              <a:rPr lang="it-IT" kern="0" dirty="0"/>
              <a:t> are </a:t>
            </a:r>
            <a:r>
              <a:rPr lang="it-IT" kern="0" dirty="0" err="1"/>
              <a:t>really</a:t>
            </a:r>
            <a:r>
              <a:rPr lang="it-IT" kern="0" dirty="0"/>
              <a:t> the one </a:t>
            </a:r>
            <a:r>
              <a:rPr lang="it-IT" kern="0" dirty="0" err="1"/>
              <a:t>you</a:t>
            </a:r>
            <a:r>
              <a:rPr lang="it-IT" kern="0" dirty="0"/>
              <a:t> claim to be</a:t>
            </a:r>
          </a:p>
          <a:p>
            <a:pPr lvl="1"/>
            <a:r>
              <a:rPr lang="it-IT" kern="0" dirty="0"/>
              <a:t>Do </a:t>
            </a:r>
            <a:r>
              <a:rPr lang="it-IT" kern="0" dirty="0" err="1"/>
              <a:t>not</a:t>
            </a:r>
            <a:r>
              <a:rPr lang="it-IT" kern="0" dirty="0"/>
              <a:t> confuse:</a:t>
            </a:r>
          </a:p>
          <a:p>
            <a:pPr lvl="2"/>
            <a:r>
              <a:rPr lang="it-IT" b="1" kern="0" dirty="0" err="1">
                <a:solidFill>
                  <a:srgbClr val="FF0000"/>
                </a:solidFill>
              </a:rPr>
              <a:t>Identification</a:t>
            </a:r>
            <a:r>
              <a:rPr lang="it-IT" b="1" kern="0" dirty="0">
                <a:solidFill>
                  <a:srgbClr val="FF0000"/>
                </a:solidFill>
              </a:rPr>
              <a:t> </a:t>
            </a:r>
            <a:r>
              <a:rPr lang="it-IT" b="1" kern="0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it-IT" b="1" kern="0" dirty="0">
                <a:solidFill>
                  <a:srgbClr val="FF0000"/>
                </a:solidFill>
              </a:rPr>
              <a:t>show</a:t>
            </a:r>
            <a:r>
              <a:rPr lang="it-IT" kern="0" dirty="0"/>
              <a:t> </a:t>
            </a:r>
            <a:r>
              <a:rPr lang="it-IT" kern="0" dirty="0" err="1"/>
              <a:t>your</a:t>
            </a:r>
            <a:r>
              <a:rPr lang="it-IT" kern="0" dirty="0"/>
              <a:t> «</a:t>
            </a:r>
            <a:r>
              <a:rPr lang="it-IT" kern="0" dirty="0" err="1"/>
              <a:t>digital</a:t>
            </a:r>
            <a:r>
              <a:rPr lang="it-IT" kern="0" dirty="0"/>
              <a:t> </a:t>
            </a:r>
            <a:r>
              <a:rPr lang="it-IT" kern="0" dirty="0" err="1"/>
              <a:t>identity</a:t>
            </a:r>
            <a:r>
              <a:rPr lang="it-IT" kern="0" dirty="0"/>
              <a:t>» (email, ID)</a:t>
            </a:r>
          </a:p>
          <a:p>
            <a:pPr lvl="2"/>
            <a:r>
              <a:rPr lang="it-IT" b="1" kern="0" dirty="0">
                <a:solidFill>
                  <a:srgbClr val="FF0000"/>
                </a:solidFill>
              </a:rPr>
              <a:t>Authentication </a:t>
            </a:r>
            <a:r>
              <a:rPr lang="it-IT" b="1" kern="0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it-IT" kern="0" dirty="0"/>
              <a:t> </a:t>
            </a:r>
            <a:r>
              <a:rPr lang="it-IT" b="1" kern="0" dirty="0">
                <a:solidFill>
                  <a:srgbClr val="FF0000"/>
                </a:solidFill>
              </a:rPr>
              <a:t>prove</a:t>
            </a:r>
            <a:r>
              <a:rPr lang="it-IT" kern="0" dirty="0"/>
              <a:t> </a:t>
            </a:r>
            <a:r>
              <a:rPr lang="it-IT" kern="0" dirty="0" err="1"/>
              <a:t>your</a:t>
            </a:r>
            <a:r>
              <a:rPr lang="it-IT" kern="0" dirty="0"/>
              <a:t> </a:t>
            </a:r>
            <a:r>
              <a:rPr lang="it-IT" kern="0" dirty="0" err="1"/>
              <a:t>digital</a:t>
            </a:r>
            <a:r>
              <a:rPr lang="it-IT" kern="0" dirty="0"/>
              <a:t> </a:t>
            </a:r>
            <a:r>
              <a:rPr lang="it-IT" kern="0" dirty="0" err="1"/>
              <a:t>identity</a:t>
            </a:r>
            <a:r>
              <a:rPr lang="it-IT" kern="0" dirty="0"/>
              <a:t> </a:t>
            </a:r>
            <a:r>
              <a:rPr lang="it-IT" kern="0" dirty="0" err="1"/>
              <a:t>is</a:t>
            </a:r>
            <a:r>
              <a:rPr lang="it-IT" kern="0" dirty="0"/>
              <a:t> </a:t>
            </a:r>
            <a:r>
              <a:rPr lang="it-IT" kern="0" dirty="0" err="1"/>
              <a:t>controlled</a:t>
            </a:r>
            <a:r>
              <a:rPr lang="it-IT" kern="0" dirty="0"/>
              <a:t> by </a:t>
            </a:r>
            <a:r>
              <a:rPr lang="it-IT" kern="0" dirty="0" err="1"/>
              <a:t>you</a:t>
            </a:r>
            <a:r>
              <a:rPr lang="it-IT" kern="0" dirty="0"/>
              <a:t> (e.g. </a:t>
            </a:r>
            <a:r>
              <a:rPr lang="it-IT" kern="0" dirty="0" err="1"/>
              <a:t>you</a:t>
            </a:r>
            <a:r>
              <a:rPr lang="it-IT" kern="0" dirty="0"/>
              <a:t> know a secret password)</a:t>
            </a:r>
          </a:p>
          <a:p>
            <a:pPr lvl="7"/>
            <a:endParaRPr lang="it-IT" kern="0" dirty="0"/>
          </a:p>
          <a:p>
            <a:r>
              <a:rPr lang="it-IT" kern="0" dirty="0" err="1"/>
              <a:t>Actually</a:t>
            </a:r>
            <a:r>
              <a:rPr lang="it-IT" kern="0" dirty="0"/>
              <a:t>, </a:t>
            </a:r>
            <a:r>
              <a:rPr lang="it-IT" kern="0" dirty="0" err="1"/>
              <a:t>not</a:t>
            </a:r>
            <a:r>
              <a:rPr lang="it-IT" kern="0" dirty="0"/>
              <a:t> so </a:t>
            </a:r>
            <a:r>
              <a:rPr lang="it-IT" kern="0" dirty="0" err="1"/>
              <a:t>simple</a:t>
            </a:r>
            <a:r>
              <a:rPr lang="it-IT" kern="0" dirty="0"/>
              <a:t>… </a:t>
            </a:r>
          </a:p>
          <a:p>
            <a:pPr lvl="1"/>
            <a:r>
              <a:rPr lang="en-US" kern="0" dirty="0"/>
              <a:t>There might be no requirement to link identifier to a real-life identity</a:t>
            </a:r>
          </a:p>
          <a:p>
            <a:pPr lvl="2"/>
            <a:r>
              <a:rPr lang="en-US" kern="0" dirty="0"/>
              <a:t>Successful authentication = I’m reasonably assured that </a:t>
            </a:r>
            <a:r>
              <a:rPr lang="en-US" b="1" kern="0" dirty="0"/>
              <a:t>the subject accessing the service today is the same as the one which accessed the service in the past</a:t>
            </a:r>
            <a:r>
              <a:rPr lang="en-US" kern="0" dirty="0"/>
              <a:t>. </a:t>
            </a:r>
            <a:endParaRPr lang="it-IT" kern="0" dirty="0"/>
          </a:p>
          <a:p>
            <a:pPr lvl="1"/>
            <a:r>
              <a:rPr lang="it-IT" kern="0" dirty="0"/>
              <a:t>NIST SP 800-63-3 </a:t>
            </a:r>
            <a:r>
              <a:rPr lang="it-IT" kern="0" dirty="0" err="1"/>
              <a:t>definition</a:t>
            </a:r>
            <a:r>
              <a:rPr lang="it-IT" kern="0" dirty="0"/>
              <a:t> for </a:t>
            </a:r>
            <a:r>
              <a:rPr lang="it-IT" kern="0" dirty="0" err="1"/>
              <a:t>digital</a:t>
            </a:r>
            <a:r>
              <a:rPr lang="it-IT" kern="0" dirty="0"/>
              <a:t> user authentication: </a:t>
            </a:r>
            <a:r>
              <a:rPr lang="en-US" kern="0" dirty="0">
                <a:solidFill>
                  <a:srgbClr val="FF0000"/>
                </a:solidFill>
              </a:rPr>
              <a:t>the process of </a:t>
            </a:r>
            <a:r>
              <a:rPr lang="en-US" u="sng" kern="0" dirty="0">
                <a:solidFill>
                  <a:srgbClr val="FF0000"/>
                </a:solidFill>
              </a:rPr>
              <a:t>establishing confidence</a:t>
            </a:r>
            <a:r>
              <a:rPr lang="en-US" kern="0" dirty="0">
                <a:solidFill>
                  <a:srgbClr val="FF0000"/>
                </a:solidFill>
              </a:rPr>
              <a:t> in user identities that are presented electronically to an information system</a:t>
            </a:r>
            <a:endParaRPr lang="it-IT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32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F34ACA59-F733-4167-BA2B-1E4B38339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5425"/>
            <a:ext cx="7696200" cy="649288"/>
          </a:xfrm>
        </p:spPr>
        <p:txBody>
          <a:bodyPr/>
          <a:lstStyle/>
          <a:p>
            <a:r>
              <a:rPr lang="en-US" dirty="0"/>
              <a:t>Authentication Means</a:t>
            </a:r>
            <a:endParaRPr lang="it-IT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54ECD3C5-810D-42FB-9309-53E560A79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08720"/>
            <a:ext cx="7696200" cy="49704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Something you (and only you) know</a:t>
            </a:r>
          </a:p>
          <a:p>
            <a:pPr lvl="1"/>
            <a:r>
              <a:rPr lang="en-US" dirty="0"/>
              <a:t>Password, PIN, secret key, answer to a pre-arranged question, …</a:t>
            </a:r>
          </a:p>
          <a:p>
            <a:r>
              <a:rPr lang="en-US" dirty="0"/>
              <a:t>Something you (and only you) have</a:t>
            </a:r>
          </a:p>
          <a:p>
            <a:pPr lvl="1"/>
            <a:r>
              <a:rPr lang="en-US" dirty="0"/>
              <a:t>Smart card, Physical devices (tokens)</a:t>
            </a:r>
          </a:p>
          <a:p>
            <a:pPr lvl="2"/>
            <a:r>
              <a:rPr lang="en-US" dirty="0"/>
              <a:t>Very interesting area: “authentication” based on HW uniqueness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FF0000"/>
                </a:solidFill>
              </a:rPr>
              <a:t>PUF (Physically </a:t>
            </a:r>
            <a:r>
              <a:rPr lang="en-US" dirty="0" err="1">
                <a:solidFill>
                  <a:srgbClr val="FF0000"/>
                </a:solidFill>
              </a:rPr>
              <a:t>Unclonable</a:t>
            </a:r>
            <a:r>
              <a:rPr lang="en-US" dirty="0">
                <a:solidFill>
                  <a:srgbClr val="FF0000"/>
                </a:solidFill>
              </a:rPr>
              <a:t> Function)</a:t>
            </a:r>
          </a:p>
          <a:p>
            <a:r>
              <a:rPr lang="en-US" dirty="0"/>
              <a:t>Something you are (static biometrics)</a:t>
            </a:r>
          </a:p>
          <a:p>
            <a:pPr lvl="1"/>
            <a:r>
              <a:rPr lang="en-US" dirty="0"/>
              <a:t>retina, fingerprint, face, … </a:t>
            </a:r>
          </a:p>
          <a:p>
            <a:pPr lvl="2"/>
            <a:r>
              <a:rPr lang="en-US" dirty="0"/>
              <a:t>Privacy? And what about DNA (Remember </a:t>
            </a:r>
            <a:r>
              <a:rPr lang="en-US" dirty="0" err="1"/>
              <a:t>Gattaca</a:t>
            </a:r>
            <a:r>
              <a:rPr lang="en-US" dirty="0"/>
              <a:t>?)?</a:t>
            </a:r>
          </a:p>
          <a:p>
            <a:r>
              <a:rPr lang="en-US" dirty="0"/>
              <a:t>Something you do (dynamic biometrics a.k.a. behavioral authentication)</a:t>
            </a:r>
          </a:p>
          <a:p>
            <a:pPr lvl="1"/>
            <a:r>
              <a:rPr lang="en-US" dirty="0"/>
              <a:t>Voice recognition, hand writing, typing characteristics</a:t>
            </a:r>
          </a:p>
          <a:p>
            <a:pPr lvl="2"/>
            <a:r>
              <a:rPr lang="en-US" dirty="0"/>
              <a:t>… even Mouse Movements!! </a:t>
            </a:r>
          </a:p>
          <a:p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0E508C4-12FB-44A9-9EE1-D70110AEE9F6}"/>
              </a:ext>
            </a:extLst>
          </p:cNvPr>
          <p:cNvSpPr txBox="1"/>
          <p:nvPr/>
        </p:nvSpPr>
        <p:spPr>
          <a:xfrm>
            <a:off x="-6135" y="5914437"/>
            <a:ext cx="93666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But</a:t>
            </a: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there</a:t>
            </a: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are </a:t>
            </a:r>
            <a:r>
              <a:rPr kumimoji="0" lang="it-IT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also</a:t>
            </a: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other</a:t>
            </a: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specific</a:t>
            </a: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means</a:t>
            </a: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harder</a:t>
            </a: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to </a:t>
            </a:r>
            <a:r>
              <a:rPr kumimoji="0" lang="it-IT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classify</a:t>
            </a: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, e.g. location-</a:t>
            </a:r>
            <a:r>
              <a:rPr kumimoji="0" lang="it-IT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based</a:t>
            </a: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auth</a:t>
            </a:r>
            <a:endParaRPr kumimoji="0" lang="it-IT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766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16753BC1-5112-4E86-8716-2FB22881A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defRPr/>
            </a:pPr>
            <a:r>
              <a:rPr lang="en-US" dirty="0"/>
              <a:t>Authentication: “proof of…”</a:t>
            </a:r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190ABBAA-ACB5-405A-AADC-02B17C480E9C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609600" y="1524000"/>
            <a:ext cx="8001000" cy="4495800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en-US" dirty="0"/>
              <a:t>To “prove” I know a password does NOT necessarily imply revealing it </a:t>
            </a:r>
          </a:p>
          <a:p>
            <a:pPr lvl="1">
              <a:defRPr/>
            </a:pPr>
            <a:r>
              <a:rPr lang="en-US" sz="2500" dirty="0"/>
              <a:t>Though revealing the password is ONE POSSIBLE approach</a:t>
            </a:r>
          </a:p>
          <a:p>
            <a:pPr lvl="2">
              <a:defRPr/>
            </a:pPr>
            <a:r>
              <a:rPr lang="en-US" sz="2100" dirty="0"/>
              <a:t>Passwd Authentication Protocol - PAP</a:t>
            </a:r>
          </a:p>
          <a:p>
            <a:pPr lvl="1">
              <a:defRPr/>
            </a:pPr>
            <a:endParaRPr lang="en-US" sz="1600" b="1" u="sng" dirty="0">
              <a:latin typeface="Tahoma" pitchFamily="34" charset="0"/>
            </a:endParaRPr>
          </a:p>
          <a:p>
            <a:pPr>
              <a:defRPr/>
            </a:pPr>
            <a:r>
              <a:rPr lang="en-US" dirty="0"/>
              <a:t>Different techniques </a:t>
            </a:r>
            <a:r>
              <a:rPr lang="en-US" dirty="0">
                <a:sym typeface="Wingdings" panose="05000000000000000000" pitchFamily="2" charset="2"/>
              </a:rPr>
              <a:t> different levels of information disclosure</a:t>
            </a:r>
          </a:p>
          <a:p>
            <a:pPr lvl="1">
              <a:defRPr/>
            </a:pPr>
            <a:r>
              <a:rPr lang="en-US" sz="2500" dirty="0"/>
              <a:t>PAP = full disclosure</a:t>
            </a:r>
          </a:p>
          <a:p>
            <a:pPr lvl="1">
              <a:defRPr/>
            </a:pPr>
            <a:r>
              <a:rPr lang="en-US" sz="2500" dirty="0"/>
              <a:t>CHAP = some information leaks</a:t>
            </a:r>
          </a:p>
          <a:p>
            <a:pPr lvl="1">
              <a:defRPr/>
            </a:pPr>
            <a:r>
              <a:rPr lang="en-US" sz="2500" dirty="0"/>
              <a:t>ZKP = no information leakage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0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0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0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0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225425"/>
            <a:ext cx="9144000" cy="649288"/>
          </a:xfrm>
        </p:spPr>
        <p:txBody>
          <a:bodyPr/>
          <a:lstStyle/>
          <a:p>
            <a:r>
              <a:rPr lang="it-IT" sz="3200" dirty="0"/>
              <a:t>User authentication – </a:t>
            </a:r>
            <a:r>
              <a:rPr lang="it-IT" sz="3200" dirty="0" err="1"/>
              <a:t>recap</a:t>
            </a:r>
            <a:r>
              <a:rPr lang="it-IT" sz="3200" dirty="0"/>
              <a:t>:</a:t>
            </a:r>
            <a:br>
              <a:rPr lang="it-IT" sz="3200" dirty="0"/>
            </a:br>
            <a:r>
              <a:rPr lang="it-IT" sz="3200" dirty="0"/>
              <a:t>Password Authentication </a:t>
            </a:r>
            <a:r>
              <a:rPr lang="it-IT" sz="3200" dirty="0" err="1"/>
              <a:t>protocol</a:t>
            </a:r>
            <a:endParaRPr lang="it-IT" sz="3200" dirty="0"/>
          </a:p>
        </p:txBody>
      </p:sp>
      <p:graphicFrame>
        <p:nvGraphicFramePr>
          <p:cNvPr id="4" name="Object 4"/>
          <p:cNvGraphicFramePr>
            <a:graphicFrameLocks/>
          </p:cNvGraphicFramePr>
          <p:nvPr/>
        </p:nvGraphicFramePr>
        <p:xfrm>
          <a:off x="1445543" y="3111224"/>
          <a:ext cx="1038225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2" imgW="1390650" imgH="1362075" progId="MS_ClipArt_Gallery.2">
                  <p:embed/>
                </p:oleObj>
              </mc:Choice>
              <mc:Fallback>
                <p:oleObj name="ClipArt" r:id="rId2" imgW="1390650" imgH="1362075" progId="MS_ClipArt_Gallery.2">
                  <p:embed/>
                  <p:pic>
                    <p:nvPicPr>
                      <p:cNvPr id="4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5543" y="3111224"/>
                        <a:ext cx="1038225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176963" y="2655624"/>
          <a:ext cx="795337" cy="176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4" imgW="1562100" imgH="5059363" progId="MS_ClipArt_Gallery.2">
                  <p:embed/>
                </p:oleObj>
              </mc:Choice>
              <mc:Fallback>
                <p:oleObj name="ClipArt" r:id="rId4" imgW="1562100" imgH="5059363" progId="MS_ClipArt_Gallery.2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6963" y="2655624"/>
                        <a:ext cx="795337" cy="176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1908175" y="2241820"/>
            <a:ext cx="4718050" cy="812800"/>
          </a:xfrm>
          <a:prstGeom prst="curvedDownArrow">
            <a:avLst>
              <a:gd name="adj1" fmla="val 116094"/>
              <a:gd name="adj2" fmla="val 232188"/>
              <a:gd name="adj3" fmla="val 33333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alt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627313" y="3073137"/>
            <a:ext cx="3287712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{GB, </a:t>
            </a:r>
            <a:r>
              <a:rPr kumimoji="0" lang="it-IT" altLang="it-IT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pippo</a:t>
            </a:r>
            <a:r>
              <a:rPr kumimoji="0" lang="it-IT" altLang="it-IT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}</a:t>
            </a:r>
            <a:endParaRPr kumimoji="0" lang="it-IT" altLang="it-IT" sz="2300" b="0" i="0" u="none" strike="noStrike" kern="1200" cap="none" spc="0" normalizeH="0" baseline="0" noProof="0" dirty="0">
              <a:ln>
                <a:noFill/>
              </a:ln>
              <a:solidFill>
                <a:srgbClr val="0B0014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 flipH="1">
            <a:off x="1173163" y="4367374"/>
            <a:ext cx="5230812" cy="1185862"/>
          </a:xfrm>
          <a:prstGeom prst="curvedUpArrow">
            <a:avLst>
              <a:gd name="adj1" fmla="val 88220"/>
              <a:gd name="adj2" fmla="val 176439"/>
              <a:gd name="adj3" fmla="val 33333"/>
            </a:avLst>
          </a:prstGeom>
          <a:solidFill>
            <a:srgbClr val="00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alt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519363" y="4314760"/>
            <a:ext cx="3244850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OK, </a:t>
            </a:r>
            <a:r>
              <a:rPr kumimoji="0" lang="it-IT" altLang="it-IT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you’re</a:t>
            </a:r>
            <a:r>
              <a:rPr kumimoji="0" lang="it-IT" altLang="it-IT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in!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719138" y="2384162"/>
            <a:ext cx="1477962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300" b="0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User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775202" y="2355140"/>
            <a:ext cx="1973262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Authenticator</a:t>
            </a:r>
            <a:endParaRPr kumimoji="0" lang="it-IT" altLang="it-IT" sz="2400" b="0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7164388" y="3183232"/>
            <a:ext cx="1368425" cy="753504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User Database</a:t>
            </a:r>
          </a:p>
          <a:p>
            <a:pPr marL="0" marR="0" lvl="0" indent="0" algn="ctr" defTabSz="914400" rtl="0" eaLnBrk="1" fontAlgn="base" latinLnBrk="0" hangingPunct="1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altLang="it-IT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UID      PW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7164388" y="3939912"/>
            <a:ext cx="684212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…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7848600" y="3938324"/>
            <a:ext cx="684213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…</a:t>
            </a: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7164388" y="4335199"/>
            <a:ext cx="684212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GB</a:t>
            </a: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7848600" y="4333612"/>
            <a:ext cx="684213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pippo</a:t>
            </a:r>
            <a:endParaRPr kumimoji="0" lang="it-IT" alt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7164388" y="4732074"/>
            <a:ext cx="684212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…</a:t>
            </a: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7848600" y="4730487"/>
            <a:ext cx="684213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…</a:t>
            </a: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35496" y="2931204"/>
            <a:ext cx="17996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User_ID</a:t>
            </a:r>
            <a:r>
              <a:rPr kumimoji="0" lang="it-IT" alt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: GB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Passwd</a:t>
            </a:r>
            <a:r>
              <a:rPr kumimoji="0" lang="it-IT" alt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: </a:t>
            </a:r>
            <a:r>
              <a:rPr kumimoji="0" lang="it-IT" alt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pippo</a:t>
            </a:r>
            <a:endParaRPr kumimoji="0" lang="it-IT" alt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1" name="CasellaDiTesto 20"/>
          <p:cNvSpPr txBox="1"/>
          <p:nvPr/>
        </p:nvSpPr>
        <p:spPr>
          <a:xfrm>
            <a:off x="935323" y="1293991"/>
            <a:ext cx="6966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Prove </a:t>
            </a:r>
            <a:r>
              <a:rPr kumimoji="0" lang="it-IT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you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know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your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password by… </a:t>
            </a:r>
            <a:r>
              <a:rPr kumimoji="0" lang="it-IT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showing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it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in </a:t>
            </a:r>
            <a:r>
              <a:rPr kumimoji="0" lang="it-IT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clear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!</a:t>
            </a:r>
          </a:p>
        </p:txBody>
      </p:sp>
      <p:pic>
        <p:nvPicPr>
          <p:cNvPr id="22" name="Picture 111" descr="Check-Mark-t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609013" y="4351419"/>
            <a:ext cx="382799" cy="359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1963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8620"/>
            <a:ext cx="9143999" cy="752475"/>
          </a:xfrm>
        </p:spPr>
        <p:txBody>
          <a:bodyPr/>
          <a:lstStyle/>
          <a:p>
            <a:pPr eaLnBrk="1" hangingPunct="1">
              <a:defRPr/>
            </a:pPr>
            <a:r>
              <a:rPr lang="it-IT" sz="2800" dirty="0"/>
              <a:t>User authentication – </a:t>
            </a:r>
            <a:r>
              <a:rPr lang="it-IT" sz="2800" dirty="0" err="1"/>
              <a:t>recap</a:t>
            </a:r>
            <a:r>
              <a:rPr lang="it-IT" sz="2800" dirty="0"/>
              <a:t>:</a:t>
            </a:r>
            <a:br>
              <a:rPr lang="it-IT" sz="2800" dirty="0"/>
            </a:br>
            <a:r>
              <a:rPr lang="it-IT" sz="2800" dirty="0"/>
              <a:t>Challenge-</a:t>
            </a:r>
            <a:r>
              <a:rPr lang="it-IT" sz="2800" dirty="0" err="1"/>
              <a:t>Handshake</a:t>
            </a:r>
            <a:r>
              <a:rPr lang="it-IT" sz="2800" dirty="0"/>
              <a:t> </a:t>
            </a:r>
            <a:r>
              <a:rPr lang="it-IT" sz="2800" dirty="0" err="1"/>
              <a:t>Auth</a:t>
            </a:r>
            <a:r>
              <a:rPr lang="it-IT" sz="2800" dirty="0"/>
              <a:t> </a:t>
            </a:r>
            <a:r>
              <a:rPr lang="it-IT" sz="2800" dirty="0" err="1"/>
              <a:t>Protocol</a:t>
            </a:r>
            <a:r>
              <a:rPr lang="it-IT" sz="2800" dirty="0"/>
              <a:t> (CHAP)</a:t>
            </a:r>
          </a:p>
        </p:txBody>
      </p:sp>
      <p:graphicFrame>
        <p:nvGraphicFramePr>
          <p:cNvPr id="27651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1553911"/>
              </p:ext>
            </p:extLst>
          </p:nvPr>
        </p:nvGraphicFramePr>
        <p:xfrm>
          <a:off x="687388" y="3285517"/>
          <a:ext cx="116522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3" imgW="1390650" imgH="1362075" progId="MS_ClipArt_Gallery.2">
                  <p:embed/>
                </p:oleObj>
              </mc:Choice>
              <mc:Fallback>
                <p:oleObj name="ClipArt" r:id="rId3" imgW="1390650" imgH="1362075" progId="MS_ClipArt_Gallery.2">
                  <p:embed/>
                  <p:pic>
                    <p:nvPicPr>
                      <p:cNvPr id="27651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3285517"/>
                        <a:ext cx="1165225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788865"/>
              </p:ext>
            </p:extLst>
          </p:nvPr>
        </p:nvGraphicFramePr>
        <p:xfrm>
          <a:off x="5916613" y="2871180"/>
          <a:ext cx="895350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5" imgW="1562100" imgH="5059363" progId="MS_ClipArt_Gallery.2">
                  <p:embed/>
                </p:oleObj>
              </mc:Choice>
              <mc:Fallback>
                <p:oleObj name="ClipArt" r:id="rId5" imgW="1562100" imgH="5059363" progId="MS_ClipArt_Gallery.2">
                  <p:embed/>
                  <p:pic>
                    <p:nvPicPr>
                      <p:cNvPr id="276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6613" y="2871180"/>
                        <a:ext cx="895350" cy="153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AutoShape 5"/>
          <p:cNvSpPr>
            <a:spLocks noChangeArrowheads="1"/>
          </p:cNvSpPr>
          <p:nvPr/>
        </p:nvSpPr>
        <p:spPr bwMode="auto">
          <a:xfrm>
            <a:off x="1196975" y="2044092"/>
            <a:ext cx="5102225" cy="1123950"/>
          </a:xfrm>
          <a:prstGeom prst="curvedDownArrow">
            <a:avLst>
              <a:gd name="adj1" fmla="val 90791"/>
              <a:gd name="adj2" fmla="val 181582"/>
              <a:gd name="adj3" fmla="val 33333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359532" y="1575780"/>
            <a:ext cx="7956884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2300" b="0" dirty="0">
                <a:solidFill>
                  <a:srgbClr val="0B0014"/>
                </a:solidFill>
                <a:latin typeface="Tahoma" panose="020B0604030504040204" pitchFamily="34" charset="0"/>
              </a:rPr>
              <a:t>2) </a:t>
            </a:r>
            <a:r>
              <a:rPr lang="it-IT" altLang="it-IT" sz="2300" b="0" dirty="0">
                <a:latin typeface="Tahoma" panose="020B0604030504040204" pitchFamily="34" charset="0"/>
              </a:rPr>
              <a:t>UID, RES = SECURE_FUNCTION(Challenge, </a:t>
            </a:r>
            <a:r>
              <a:rPr lang="it-IT" altLang="it-IT" sz="2300" b="0" dirty="0" err="1">
                <a:latin typeface="Tahoma" panose="020B0604030504040204" pitchFamily="34" charset="0"/>
              </a:rPr>
              <a:t>Pw</a:t>
            </a:r>
            <a:r>
              <a:rPr lang="it-IT" altLang="it-IT" sz="2300" b="0" dirty="0">
                <a:latin typeface="Tahoma" panose="020B0604030504040204" pitchFamily="34" charset="0"/>
              </a:rPr>
              <a:t>, </a:t>
            </a:r>
            <a:r>
              <a:rPr lang="it-IT" altLang="it-IT" sz="2300" b="0" dirty="0" err="1">
                <a:latin typeface="Tahoma" panose="020B0604030504040204" pitchFamily="34" charset="0"/>
              </a:rPr>
              <a:t>etc</a:t>
            </a:r>
            <a:r>
              <a:rPr lang="it-IT" altLang="it-IT" sz="2300" b="0" dirty="0">
                <a:latin typeface="Tahoma" panose="020B0604030504040204" pitchFamily="34" charset="0"/>
              </a:rPr>
              <a:t>)</a:t>
            </a:r>
            <a:endParaRPr lang="it-IT" altLang="it-IT" sz="2300" b="0" dirty="0">
              <a:solidFill>
                <a:srgbClr val="0B0014"/>
              </a:solidFill>
              <a:latin typeface="Tahoma" panose="020B0604030504040204" pitchFamily="34" charset="0"/>
            </a:endParaRPr>
          </a:p>
        </p:txBody>
      </p:sp>
      <p:sp>
        <p:nvSpPr>
          <p:cNvPr id="27655" name="AutoShape 7"/>
          <p:cNvSpPr>
            <a:spLocks noChangeArrowheads="1"/>
          </p:cNvSpPr>
          <p:nvPr/>
        </p:nvSpPr>
        <p:spPr bwMode="auto">
          <a:xfrm flipH="1">
            <a:off x="1006474" y="4204680"/>
            <a:ext cx="5038725" cy="971599"/>
          </a:xfrm>
          <a:prstGeom prst="curvedUpArrow">
            <a:avLst>
              <a:gd name="adj1" fmla="val 85208"/>
              <a:gd name="adj2" fmla="val 170416"/>
              <a:gd name="adj3" fmla="val 33333"/>
            </a:avLst>
          </a:prstGeom>
          <a:solidFill>
            <a:srgbClr val="00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2051050" y="5212283"/>
            <a:ext cx="3125788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2300" b="0" dirty="0">
                <a:latin typeface="Tahoma" panose="020B0604030504040204" pitchFamily="34" charset="0"/>
              </a:rPr>
              <a:t>3) Success, </a:t>
            </a:r>
            <a:r>
              <a:rPr lang="it-IT" altLang="it-IT" sz="2300" b="0" dirty="0" err="1">
                <a:latin typeface="Tahoma" panose="020B0604030504040204" pitchFamily="34" charset="0"/>
              </a:rPr>
              <a:t>Failure</a:t>
            </a:r>
            <a:endParaRPr lang="it-IT" altLang="it-IT" sz="2300" b="0" dirty="0">
              <a:latin typeface="Tahoma" panose="020B0604030504040204" pitchFamily="34" charset="0"/>
            </a:endParaRPr>
          </a:p>
        </p:txBody>
      </p:sp>
      <p:sp>
        <p:nvSpPr>
          <p:cNvPr id="27657" name="AutoShape 9"/>
          <p:cNvSpPr>
            <a:spLocks noChangeArrowheads="1"/>
          </p:cNvSpPr>
          <p:nvPr/>
        </p:nvSpPr>
        <p:spPr bwMode="auto">
          <a:xfrm>
            <a:off x="1963738" y="3580792"/>
            <a:ext cx="3508375" cy="473075"/>
          </a:xfrm>
          <a:prstGeom prst="leftArrow">
            <a:avLst>
              <a:gd name="adj1" fmla="val 50000"/>
              <a:gd name="adj2" fmla="val 185403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2921000" y="3283930"/>
            <a:ext cx="2295525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2300" b="0">
                <a:latin typeface="Tahoma" panose="020B0604030504040204" pitchFamily="34" charset="0"/>
              </a:rPr>
              <a:t>1) Challenge</a:t>
            </a:r>
            <a:endParaRPr lang="it-IT" altLang="it-IT" sz="2300" b="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-1588" y="2663217"/>
            <a:ext cx="1276351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2300" b="0">
                <a:solidFill>
                  <a:srgbClr val="FF0066"/>
                </a:solidFill>
                <a:latin typeface="Tahoma" panose="020B0604030504040204" pitchFamily="34" charset="0"/>
              </a:rPr>
              <a:t>Remote</a:t>
            </a:r>
            <a:br>
              <a:rPr lang="it-IT" altLang="it-IT" sz="2300" b="0">
                <a:solidFill>
                  <a:srgbClr val="FF0066"/>
                </a:solidFill>
                <a:latin typeface="Tahoma" panose="020B0604030504040204" pitchFamily="34" charset="0"/>
              </a:rPr>
            </a:br>
            <a:r>
              <a:rPr lang="it-IT" altLang="it-IT" sz="2300" b="0">
                <a:solidFill>
                  <a:srgbClr val="FF0066"/>
                </a:solidFill>
                <a:latin typeface="Tahoma" panose="020B0604030504040204" pitchFamily="34" charset="0"/>
              </a:rPr>
              <a:t>User</a:t>
            </a:r>
          </a:p>
        </p:txBody>
      </p:sp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5662613" y="2398105"/>
            <a:ext cx="2112962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2300" b="0">
                <a:solidFill>
                  <a:srgbClr val="FF0066"/>
                </a:solidFill>
                <a:latin typeface="Tahoma" panose="020B0604030504040204" pitchFamily="34" charset="0"/>
              </a:rPr>
              <a:t>Authenticator</a:t>
            </a:r>
            <a:endParaRPr lang="it-IT" altLang="it-IT" sz="2400" b="0">
              <a:solidFill>
                <a:srgbClr val="FF0066"/>
              </a:solidFill>
              <a:latin typeface="Tahoma" panose="020B0604030504040204" pitchFamily="34" charset="0"/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7524750" y="2979130"/>
            <a:ext cx="1368425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User Database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7524750" y="3376005"/>
            <a:ext cx="684213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8208963" y="3374417"/>
            <a:ext cx="684212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7524750" y="3771292"/>
            <a:ext cx="684213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UID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8208963" y="3769705"/>
            <a:ext cx="684212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pass</a:t>
            </a: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7524750" y="4168167"/>
            <a:ext cx="684213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8208963" y="4166580"/>
            <a:ext cx="684212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  <p:sp>
        <p:nvSpPr>
          <p:cNvPr id="21" name="AutoShape 5"/>
          <p:cNvSpPr>
            <a:spLocks noChangeArrowheads="1"/>
          </p:cNvSpPr>
          <p:nvPr/>
        </p:nvSpPr>
        <p:spPr bwMode="auto">
          <a:xfrm>
            <a:off x="6300788" y="3142642"/>
            <a:ext cx="2335212" cy="412750"/>
          </a:xfrm>
          <a:prstGeom prst="curvedDownArrow">
            <a:avLst>
              <a:gd name="adj1" fmla="val 90759"/>
              <a:gd name="adj2" fmla="val 181544"/>
              <a:gd name="adj3" fmla="val 33333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" name="CasellaDiTesto 1"/>
          <p:cNvSpPr txBox="1">
            <a:spLocks noChangeArrowheads="1"/>
          </p:cNvSpPr>
          <p:nvPr/>
        </p:nvSpPr>
        <p:spPr bwMode="auto">
          <a:xfrm>
            <a:off x="6444260" y="5269892"/>
            <a:ext cx="258861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>
                <a:latin typeface="Arial Narrow" panose="020B0606020202030204" pitchFamily="34" charset="0"/>
              </a:rPr>
              <a:t>XRES=F(Challenge, pass,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etc</a:t>
            </a:r>
            <a:r>
              <a:rPr lang="it-IT" altLang="it-IT" sz="1600" b="0" dirty="0">
                <a:latin typeface="Arial Narrow" panose="020B0606020202030204" pitchFamily="34" charset="0"/>
              </a:rPr>
              <a:t>)</a:t>
            </a:r>
          </a:p>
        </p:txBody>
      </p:sp>
      <p:sp>
        <p:nvSpPr>
          <p:cNvPr id="24" name="AutoShape 9"/>
          <p:cNvSpPr>
            <a:spLocks noChangeArrowheads="1"/>
          </p:cNvSpPr>
          <p:nvPr/>
        </p:nvSpPr>
        <p:spPr bwMode="auto">
          <a:xfrm rot="-5400000">
            <a:off x="7904163" y="4555517"/>
            <a:ext cx="955675" cy="473075"/>
          </a:xfrm>
          <a:prstGeom prst="leftArrow">
            <a:avLst>
              <a:gd name="adj1" fmla="val 50000"/>
              <a:gd name="adj2" fmla="val 67403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5" name="CasellaDiTesto 24"/>
          <p:cNvSpPr txBox="1">
            <a:spLocks noChangeArrowheads="1"/>
          </p:cNvSpPr>
          <p:nvPr/>
        </p:nvSpPr>
        <p:spPr bwMode="auto">
          <a:xfrm>
            <a:off x="6054905" y="4304692"/>
            <a:ext cx="2333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0000"/>
                </a:solidFill>
                <a:latin typeface="Arial Narrow" panose="020B0606020202030204" pitchFamily="34" charset="0"/>
              </a:rPr>
              <a:t>RES=XRES??</a:t>
            </a:r>
          </a:p>
        </p:txBody>
      </p:sp>
      <p:sp>
        <p:nvSpPr>
          <p:cNvPr id="26" name="AutoShape 9"/>
          <p:cNvSpPr>
            <a:spLocks noChangeArrowheads="1"/>
          </p:cNvSpPr>
          <p:nvPr/>
        </p:nvSpPr>
        <p:spPr bwMode="auto">
          <a:xfrm rot="2359930">
            <a:off x="6773863" y="4698392"/>
            <a:ext cx="974725" cy="473075"/>
          </a:xfrm>
          <a:prstGeom prst="leftArrow">
            <a:avLst>
              <a:gd name="adj1" fmla="val 50000"/>
              <a:gd name="adj2" fmla="val 67306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777AAD2-464F-8A25-9BBF-5C4AF847853E}"/>
              </a:ext>
            </a:extLst>
          </p:cNvPr>
          <p:cNvSpPr txBox="1"/>
          <p:nvPr/>
        </p:nvSpPr>
        <p:spPr>
          <a:xfrm>
            <a:off x="798380" y="908720"/>
            <a:ext cx="7545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Prove </a:t>
            </a:r>
            <a:r>
              <a:rPr kumimoji="0" lang="it-IT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you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know </a:t>
            </a:r>
            <a:r>
              <a:rPr kumimoji="0" lang="it-IT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your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password by… </a:t>
            </a:r>
            <a:r>
              <a:rPr lang="it-IT" b="1" dirty="0" err="1">
                <a:solidFill>
                  <a:srgbClr val="FF0000"/>
                </a:solidFill>
              </a:rPr>
              <a:t>sending</a:t>
            </a:r>
            <a:r>
              <a:rPr lang="it-IT" b="1" dirty="0">
                <a:solidFill>
                  <a:srgbClr val="FF0000"/>
                </a:solidFill>
              </a:rPr>
              <a:t> the </a:t>
            </a:r>
            <a:r>
              <a:rPr lang="it-IT" b="1" dirty="0" err="1">
                <a:solidFill>
                  <a:srgbClr val="FF0000"/>
                </a:solidFill>
              </a:rPr>
              <a:t>result</a:t>
            </a:r>
            <a:r>
              <a:rPr lang="it-IT" b="1" dirty="0">
                <a:solidFill>
                  <a:srgbClr val="FF0000"/>
                </a:solidFill>
              </a:rPr>
              <a:t> of a secure </a:t>
            </a:r>
            <a:r>
              <a:rPr lang="it-IT" b="1" dirty="0" err="1">
                <a:solidFill>
                  <a:srgbClr val="FF0000"/>
                </a:solidFill>
              </a:rPr>
              <a:t>computation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!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800" b="1" dirty="0">
                <a:solidFill>
                  <a:srgbClr val="FF0000"/>
                </a:solidFill>
              </a:rPr>
              <a:t>(</a:t>
            </a:r>
            <a:r>
              <a:rPr lang="it-IT" sz="1800" b="1" dirty="0" err="1">
                <a:solidFill>
                  <a:srgbClr val="FF0000"/>
                </a:solidFill>
              </a:rPr>
              <a:t>usually</a:t>
            </a:r>
            <a:r>
              <a:rPr lang="it-IT" sz="1800" b="1" dirty="0">
                <a:solidFill>
                  <a:srgbClr val="FF0000"/>
                </a:solidFill>
              </a:rPr>
              <a:t> hash </a:t>
            </a:r>
            <a:r>
              <a:rPr lang="it-IT" sz="1800" b="1" dirty="0" err="1">
                <a:solidFill>
                  <a:srgbClr val="FF0000"/>
                </a:solidFill>
              </a:rPr>
              <a:t>function</a:t>
            </a:r>
            <a:r>
              <a:rPr lang="it-IT" sz="1800" b="1" dirty="0">
                <a:solidFill>
                  <a:srgbClr val="FF0000"/>
                </a:solidFill>
              </a:rPr>
              <a:t> </a:t>
            </a:r>
            <a:r>
              <a:rPr lang="it-IT" sz="1800" b="1" dirty="0" err="1">
                <a:solidFill>
                  <a:srgbClr val="FF0000"/>
                </a:solidFill>
              </a:rPr>
              <a:t>but</a:t>
            </a:r>
            <a:r>
              <a:rPr lang="it-IT" sz="1800" b="1" dirty="0">
                <a:solidFill>
                  <a:srgbClr val="FF0000"/>
                </a:solidFill>
              </a:rPr>
              <a:t> </a:t>
            </a:r>
            <a:r>
              <a:rPr lang="it-IT" sz="1800" b="1" dirty="0" err="1">
                <a:solidFill>
                  <a:srgbClr val="FF0000"/>
                </a:solidFill>
              </a:rPr>
              <a:t>not</a:t>
            </a:r>
            <a:r>
              <a:rPr lang="it-IT" sz="1800" b="1" dirty="0">
                <a:solidFill>
                  <a:srgbClr val="FF0000"/>
                </a:solidFill>
              </a:rPr>
              <a:t> </a:t>
            </a:r>
            <a:r>
              <a:rPr lang="it-IT" sz="1800" b="1" dirty="0" err="1">
                <a:solidFill>
                  <a:srgbClr val="FF0000"/>
                </a:solidFill>
              </a:rPr>
              <a:t>necessarily</a:t>
            </a:r>
            <a:r>
              <a:rPr lang="it-IT" sz="1800" b="1" dirty="0">
                <a:solidFill>
                  <a:srgbClr val="FF0000"/>
                </a:solidFill>
              </a:rPr>
              <a:t> – more </a:t>
            </a:r>
            <a:r>
              <a:rPr lang="it-IT" sz="1800" b="1" dirty="0" err="1">
                <a:solidFill>
                  <a:srgbClr val="FF0000"/>
                </a:solidFill>
              </a:rPr>
              <a:t>later</a:t>
            </a:r>
            <a:r>
              <a:rPr lang="it-IT" sz="1800" b="1" dirty="0">
                <a:solidFill>
                  <a:srgbClr val="FF0000"/>
                </a:solidFill>
              </a:rPr>
              <a:t>)</a:t>
            </a: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896CEF-FCFA-8768-A396-5178484C7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8" y="5723532"/>
            <a:ext cx="9145587" cy="714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en-GB" altLang="it-IT" sz="2800" kern="0" dirty="0"/>
              <a:t>Secret passwd never transmitted in clear - Hash is the usual approach, but </a:t>
            </a:r>
            <a:r>
              <a:rPr lang="en-GB" altLang="it-IT" sz="2800" kern="0" dirty="0">
                <a:solidFill>
                  <a:srgbClr val="FF0000"/>
                </a:solidFill>
              </a:rPr>
              <a:t>it is NOT the only one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GB" altLang="it-IT" sz="2000" kern="0" dirty="0">
                <a:solidFill>
                  <a:srgbClr val="FF0000"/>
                </a:solidFill>
              </a:rPr>
              <a:t>Other common approach: encrypt challenge using P as secret key. But requires more care! More later.</a:t>
            </a:r>
          </a:p>
        </p:txBody>
      </p:sp>
    </p:spTree>
    <p:extLst>
      <p:ext uri="{BB962C8B-B14F-4D97-AF65-F5344CB8AC3E}">
        <p14:creationId xmlns:p14="http://schemas.microsoft.com/office/powerpoint/2010/main" val="63366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animBg="1"/>
      <p:bldP spid="27654" grpId="0"/>
      <p:bldP spid="27655" grpId="0" animBg="1"/>
      <p:bldP spid="27656" grpId="0"/>
      <p:bldP spid="27657" grpId="0" animBg="1"/>
      <p:bldP spid="27658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" grpId="0"/>
      <p:bldP spid="24" grpId="0" animBg="1"/>
      <p:bldP spid="25" grpId="0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888BD1-D469-4695-AE78-1A248A725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16" y="225425"/>
            <a:ext cx="8892988" cy="649288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Remark</a:t>
            </a:r>
            <a:r>
              <a:rPr lang="it-IT" dirty="0"/>
              <a:t>: Password or secret key?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F3131A-AAB1-4735-8002-6A6A550CD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/>
              <a:t>Authentication</a:t>
            </a:r>
          </a:p>
          <a:p>
            <a:pPr lvl="1">
              <a:defRPr/>
            </a:pPr>
            <a:r>
              <a:rPr lang="it-IT" dirty="0"/>
              <a:t>Prove I know a password or a secret</a:t>
            </a:r>
          </a:p>
          <a:p>
            <a:pPr lvl="1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Passwd</a:t>
            </a:r>
            <a:r>
              <a:rPr lang="it-IT" dirty="0"/>
              <a:t> or secret? </a:t>
            </a:r>
            <a:r>
              <a:rPr lang="it-IT" dirty="0" err="1"/>
              <a:t>conceptually</a:t>
            </a:r>
            <a:r>
              <a:rPr lang="it-IT" dirty="0"/>
              <a:t> the </a:t>
            </a:r>
            <a:r>
              <a:rPr lang="it-IT" dirty="0" err="1"/>
              <a:t>same</a:t>
            </a:r>
            <a:endParaRPr lang="it-IT" dirty="0"/>
          </a:p>
          <a:p>
            <a:pPr lvl="1">
              <a:defRPr/>
            </a:pPr>
            <a:r>
              <a:rPr lang="it-IT" dirty="0"/>
              <a:t>A password </a:t>
            </a:r>
            <a:r>
              <a:rPr lang="it-IT" dirty="0" err="1"/>
              <a:t>is</a:t>
            </a:r>
            <a:r>
              <a:rPr lang="it-IT" dirty="0"/>
              <a:t> (</a:t>
            </a:r>
            <a:r>
              <a:rPr lang="it-IT" dirty="0" err="1"/>
              <a:t>should</a:t>
            </a:r>
            <a:r>
              <a:rPr lang="it-IT" dirty="0"/>
              <a:t> be) a secret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Practically</a:t>
            </a:r>
            <a:r>
              <a:rPr lang="it-IT" dirty="0"/>
              <a:t>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HUGE </a:t>
            </a:r>
            <a:r>
              <a:rPr lang="it-IT" dirty="0" err="1"/>
              <a:t>difference</a:t>
            </a:r>
            <a:endParaRPr lang="it-IT" dirty="0"/>
          </a:p>
          <a:p>
            <a:pPr lvl="1">
              <a:defRPr/>
            </a:pPr>
            <a:r>
              <a:rPr lang="it-IT" dirty="0"/>
              <a:t>Secret </a:t>
            </a:r>
            <a:r>
              <a:rPr lang="it-IT" dirty="0" err="1"/>
              <a:t>ley</a:t>
            </a:r>
            <a:r>
              <a:rPr lang="it-IT" dirty="0"/>
              <a:t>: a random </a:t>
            </a:r>
            <a:r>
              <a:rPr lang="it-IT" dirty="0" err="1"/>
              <a:t>string</a:t>
            </a:r>
            <a:r>
              <a:rPr lang="it-IT" dirty="0"/>
              <a:t> of N bit</a:t>
            </a:r>
          </a:p>
          <a:p>
            <a:pPr lvl="2">
              <a:defRPr/>
            </a:pPr>
            <a:r>
              <a:rPr lang="it-IT" dirty="0" err="1"/>
              <a:t>Probability</a:t>
            </a:r>
            <a:r>
              <a:rPr lang="it-IT" dirty="0"/>
              <a:t> to </a:t>
            </a:r>
            <a:r>
              <a:rPr lang="it-IT" dirty="0" err="1"/>
              <a:t>guess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= 1 out of 2</a:t>
            </a:r>
            <a:r>
              <a:rPr lang="it-IT" baseline="30000" dirty="0"/>
              <a:t>N</a:t>
            </a:r>
          </a:p>
          <a:p>
            <a:pPr lvl="1">
              <a:defRPr/>
            </a:pPr>
            <a:r>
              <a:rPr lang="it-IT" dirty="0"/>
              <a:t>Password: a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low-entropy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dirty="0" err="1"/>
              <a:t>string</a:t>
            </a:r>
            <a:r>
              <a:rPr lang="it-IT" dirty="0"/>
              <a:t>!!</a:t>
            </a:r>
          </a:p>
          <a:p>
            <a:pPr lvl="2">
              <a:defRPr/>
            </a:pPr>
            <a:r>
              <a:rPr lang="it-IT" dirty="0" err="1"/>
              <a:t>Probability</a:t>
            </a:r>
            <a:r>
              <a:rPr lang="it-IT" dirty="0"/>
              <a:t> to </a:t>
            </a:r>
            <a:r>
              <a:rPr lang="it-IT" dirty="0" err="1"/>
              <a:t>guess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/>
              <a:t>MUUUUCH </a:t>
            </a:r>
            <a:r>
              <a:rPr lang="it-IT" dirty="0" err="1"/>
              <a:t>lower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n  = 1 out of 2</a:t>
            </a:r>
            <a:r>
              <a:rPr lang="it-IT" baseline="30000" dirty="0"/>
              <a:t>N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3900" y="980728"/>
            <a:ext cx="7696200" cy="649288"/>
          </a:xfrm>
        </p:spPr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best?</a:t>
            </a:r>
            <a:br>
              <a:rPr lang="it-IT" dirty="0"/>
            </a:br>
            <a:r>
              <a:rPr lang="it-IT" dirty="0"/>
              <a:t>CHAP or PAP?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BF38B7F-9A38-7799-F820-837A7FFE8025}"/>
              </a:ext>
            </a:extLst>
          </p:cNvPr>
          <p:cNvSpPr txBox="1"/>
          <p:nvPr/>
        </p:nvSpPr>
        <p:spPr>
          <a:xfrm>
            <a:off x="1951002" y="3059668"/>
            <a:ext cx="55050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Correct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answer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: DEPENDS!!!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it-IT" b="1" dirty="0">
              <a:solidFill>
                <a:srgbClr val="FF0000"/>
              </a:solidFill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(</a:t>
            </a:r>
            <a:r>
              <a:rPr kumimoji="0" lang="it-IT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depends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on </a:t>
            </a:r>
            <a:r>
              <a:rPr kumimoji="0" lang="it-IT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what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? </a:t>
            </a:r>
            <a:r>
              <a:rPr lang="it-IT" b="1" u="sng" dirty="0">
                <a:solidFill>
                  <a:srgbClr val="FF0000"/>
                </a:solidFill>
              </a:rPr>
              <a:t>On the </a:t>
            </a:r>
            <a:r>
              <a:rPr kumimoji="0" lang="it-IT" b="1" i="0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attacker’s</a:t>
            </a:r>
            <a:r>
              <a:rPr kumimoji="0" lang="it-IT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model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96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 </a:t>
            </a:r>
            <a:r>
              <a:rPr lang="it-IT" dirty="0" err="1"/>
              <a:t>main</a:t>
            </a:r>
            <a:r>
              <a:rPr lang="it-IT" dirty="0"/>
              <a:t> (*) </a:t>
            </a:r>
            <a:r>
              <a:rPr lang="it-IT" dirty="0" err="1"/>
              <a:t>attack</a:t>
            </a:r>
            <a:r>
              <a:rPr lang="it-IT" dirty="0"/>
              <a:t> </a:t>
            </a:r>
            <a:r>
              <a:rPr lang="it-IT" dirty="0" err="1"/>
              <a:t>models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03548" y="3275422"/>
            <a:ext cx="8283063" cy="3177914"/>
          </a:xfrm>
        </p:spPr>
        <p:txBody>
          <a:bodyPr>
            <a:normAutofit fontScale="70000" lnSpcReduction="20000"/>
          </a:bodyPr>
          <a:lstStyle/>
          <a:p>
            <a:r>
              <a:rPr lang="it-IT" dirty="0"/>
              <a:t>Attack to the </a:t>
            </a:r>
            <a:r>
              <a:rPr lang="it-IT" dirty="0" err="1"/>
              <a:t>communication</a:t>
            </a:r>
            <a:r>
              <a:rPr lang="it-IT" dirty="0"/>
              <a:t> </a:t>
            </a:r>
            <a:r>
              <a:rPr lang="it-IT" dirty="0" err="1"/>
              <a:t>channel</a:t>
            </a:r>
            <a:endParaRPr lang="it-IT" dirty="0"/>
          </a:p>
          <a:p>
            <a:pPr lvl="1"/>
            <a:r>
              <a:rPr lang="it-IT" dirty="0" err="1"/>
              <a:t>Eavesdropper</a:t>
            </a:r>
            <a:r>
              <a:rPr lang="it-IT" dirty="0"/>
              <a:t>, MITM, replay, …</a:t>
            </a:r>
          </a:p>
          <a:p>
            <a:pPr lvl="1"/>
            <a:r>
              <a:rPr lang="it-IT" dirty="0"/>
              <a:t>Game Over!</a:t>
            </a:r>
          </a:p>
          <a:p>
            <a:pPr lvl="2"/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use PAP, </a:t>
            </a:r>
            <a:r>
              <a:rPr lang="it-IT" dirty="0" err="1"/>
              <a:t>you</a:t>
            </a:r>
            <a:r>
              <a:rPr lang="it-IT" dirty="0"/>
              <a:t> MUST </a:t>
            </a:r>
            <a:r>
              <a:rPr lang="it-IT" dirty="0" err="1"/>
              <a:t>protect</a:t>
            </a:r>
            <a:r>
              <a:rPr lang="it-IT" dirty="0"/>
              <a:t> </a:t>
            </a:r>
            <a:r>
              <a:rPr lang="it-IT" dirty="0" err="1"/>
              <a:t>communication</a:t>
            </a:r>
            <a:r>
              <a:rPr lang="it-IT" dirty="0"/>
              <a:t> </a:t>
            </a:r>
            <a:r>
              <a:rPr lang="it-IT" dirty="0" err="1"/>
              <a:t>channel</a:t>
            </a:r>
            <a:endParaRPr lang="it-IT" dirty="0"/>
          </a:p>
          <a:p>
            <a:pPr lvl="2"/>
            <a:r>
              <a:rPr lang="it-IT" dirty="0"/>
              <a:t>E.g. online login via </a:t>
            </a:r>
            <a:r>
              <a:rPr lang="it-IT" dirty="0" err="1"/>
              <a:t>https</a:t>
            </a:r>
            <a:r>
              <a:rPr lang="it-IT" dirty="0"/>
              <a:t>, EAP-TTLS, </a:t>
            </a:r>
            <a:r>
              <a:rPr lang="it-IT" dirty="0" err="1"/>
              <a:t>etc</a:t>
            </a:r>
            <a:endParaRPr lang="it-IT" dirty="0"/>
          </a:p>
          <a:p>
            <a:r>
              <a:rPr lang="it-IT" dirty="0"/>
              <a:t>Attack to the </a:t>
            </a:r>
            <a:r>
              <a:rPr lang="it-IT" dirty="0" err="1"/>
              <a:t>backend</a:t>
            </a:r>
            <a:r>
              <a:rPr lang="it-IT" dirty="0"/>
              <a:t> UID-</a:t>
            </a:r>
            <a:r>
              <a:rPr lang="it-IT" dirty="0" err="1"/>
              <a:t>passwd</a:t>
            </a:r>
            <a:r>
              <a:rPr lang="it-IT" dirty="0"/>
              <a:t> database</a:t>
            </a:r>
          </a:p>
          <a:p>
            <a:pPr lvl="1"/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penetrates</a:t>
            </a:r>
            <a:r>
              <a:rPr lang="it-IT" dirty="0"/>
              <a:t> </a:t>
            </a:r>
            <a:r>
              <a:rPr lang="it-IT" dirty="0" err="1"/>
              <a:t>system</a:t>
            </a:r>
            <a:r>
              <a:rPr lang="it-IT" dirty="0"/>
              <a:t> and </a:t>
            </a:r>
            <a:r>
              <a:rPr lang="it-IT" dirty="0" err="1"/>
              <a:t>steals</a:t>
            </a:r>
            <a:r>
              <a:rPr lang="it-IT" dirty="0"/>
              <a:t> </a:t>
            </a:r>
            <a:r>
              <a:rPr lang="it-IT" dirty="0" err="1"/>
              <a:t>entire</a:t>
            </a:r>
            <a:r>
              <a:rPr lang="it-IT" dirty="0"/>
              <a:t> </a:t>
            </a:r>
            <a:r>
              <a:rPr lang="it-IT" dirty="0" err="1"/>
              <a:t>passwd</a:t>
            </a:r>
            <a:r>
              <a:rPr lang="it-IT" dirty="0"/>
              <a:t> DB</a:t>
            </a:r>
          </a:p>
          <a:p>
            <a:pPr lvl="1"/>
            <a:r>
              <a:rPr lang="it-IT" b="1" dirty="0" err="1"/>
              <a:t>Mitigation</a:t>
            </a:r>
            <a:r>
              <a:rPr lang="it-IT" b="1" dirty="0"/>
              <a:t>: </a:t>
            </a:r>
            <a:r>
              <a:rPr lang="it-IT" b="1" dirty="0" err="1"/>
              <a:t>hashed</a:t>
            </a:r>
            <a:r>
              <a:rPr lang="it-IT" b="1" dirty="0"/>
              <a:t> password database!</a:t>
            </a:r>
          </a:p>
        </p:txBody>
      </p:sp>
      <p:grpSp>
        <p:nvGrpSpPr>
          <p:cNvPr id="10" name="Gruppo 9"/>
          <p:cNvGrpSpPr/>
          <p:nvPr/>
        </p:nvGrpSpPr>
        <p:grpSpPr>
          <a:xfrm>
            <a:off x="1043608" y="908720"/>
            <a:ext cx="6832636" cy="2016224"/>
            <a:chOff x="1835696" y="1880828"/>
            <a:chExt cx="6832636" cy="2016224"/>
          </a:xfrm>
        </p:grpSpPr>
        <p:graphicFrame>
          <p:nvGraphicFramePr>
            <p:cNvPr id="4" name="Object 4"/>
            <p:cNvGraphicFramePr>
              <a:graphicFrameLocks/>
            </p:cNvGraphicFramePr>
            <p:nvPr/>
          </p:nvGraphicFramePr>
          <p:xfrm>
            <a:off x="1835696" y="2253742"/>
            <a:ext cx="1038225" cy="1211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Art" r:id="rId2" imgW="1390650" imgH="1362075" progId="MS_ClipArt_Gallery.2">
                    <p:embed/>
                  </p:oleObj>
                </mc:Choice>
                <mc:Fallback>
                  <p:oleObj name="ClipArt" r:id="rId2" imgW="1390650" imgH="1362075" progId="MS_ClipArt_Gallery.2">
                    <p:embed/>
                    <p:pic>
                      <p:nvPicPr>
                        <p:cNvPr id="4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696" y="2253742"/>
                          <a:ext cx="1038225" cy="1211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6264188" y="1880828"/>
            <a:ext cx="795337" cy="1760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Art" r:id="rId4" imgW="1562100" imgH="5059363" progId="MS_ClipArt_Gallery.2">
                    <p:embed/>
                  </p:oleObj>
                </mc:Choice>
                <mc:Fallback>
                  <p:oleObj name="ClipArt" r:id="rId4" imgW="1562100" imgH="5059363" progId="MS_ClipArt_Gallery.2">
                    <p:embed/>
                    <p:pic>
                      <p:nvPicPr>
                        <p:cNvPr id="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64188" y="1880828"/>
                          <a:ext cx="795337" cy="1760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" name="Gruppo 7"/>
            <p:cNvGrpSpPr/>
            <p:nvPr/>
          </p:nvGrpSpPr>
          <p:grpSpPr>
            <a:xfrm>
              <a:off x="7164287" y="2714048"/>
              <a:ext cx="1504045" cy="1183004"/>
              <a:chOff x="7164287" y="2714048"/>
              <a:chExt cx="1504045" cy="1183004"/>
            </a:xfrm>
          </p:grpSpPr>
          <p:sp>
            <p:nvSpPr>
              <p:cNvPr id="6" name="Disco magnetico 5"/>
              <p:cNvSpPr/>
              <p:nvPr/>
            </p:nvSpPr>
            <p:spPr bwMode="auto">
              <a:xfrm>
                <a:off x="7164287" y="2714048"/>
                <a:ext cx="1504045" cy="1183004"/>
              </a:xfrm>
              <a:prstGeom prst="flowChartMagneticDisk">
                <a:avLst/>
              </a:prstGeom>
              <a:solidFill>
                <a:srgbClr val="FFFF99">
                  <a:alpha val="50000"/>
                </a:srgb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it-IT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  <p:sp>
            <p:nvSpPr>
              <p:cNvPr id="7" name="CasellaDiTesto 6"/>
              <p:cNvSpPr txBox="1"/>
              <p:nvPr/>
            </p:nvSpPr>
            <p:spPr>
              <a:xfrm>
                <a:off x="7202812" y="3126303"/>
                <a:ext cx="1426994" cy="579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ts val="1900"/>
                  </a:lnSpc>
                </a:pPr>
                <a:r>
                  <a:rPr lang="it-IT" b="1" dirty="0"/>
                  <a:t>UID - </a:t>
                </a:r>
                <a:r>
                  <a:rPr lang="it-IT" b="1" dirty="0" err="1"/>
                  <a:t>passwd</a:t>
                </a:r>
                <a:r>
                  <a:rPr lang="it-IT" b="1" dirty="0"/>
                  <a:t> </a:t>
                </a:r>
              </a:p>
              <a:p>
                <a:pPr algn="ctr">
                  <a:lnSpc>
                    <a:spcPts val="1900"/>
                  </a:lnSpc>
                </a:pPr>
                <a:r>
                  <a:rPr lang="it-IT" b="1" dirty="0"/>
                  <a:t>database</a:t>
                </a:r>
              </a:p>
            </p:txBody>
          </p:sp>
        </p:grpSp>
        <p:sp>
          <p:nvSpPr>
            <p:cNvPr id="9" name="Freccia bidirezionale orizzontale 8"/>
            <p:cNvSpPr/>
            <p:nvPr/>
          </p:nvSpPr>
          <p:spPr bwMode="auto">
            <a:xfrm>
              <a:off x="3009075" y="2396449"/>
              <a:ext cx="3276364" cy="828092"/>
            </a:xfrm>
            <a:prstGeom prst="leftRightArrow">
              <a:avLst/>
            </a:prstGeom>
            <a:solidFill>
              <a:srgbClr val="F5AD2B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 b="1" dirty="0" err="1"/>
                <a:t>Communication</a:t>
              </a:r>
              <a:r>
                <a:rPr lang="it-IT" b="1" dirty="0"/>
                <a:t> </a:t>
              </a:r>
              <a:r>
                <a:rPr lang="it-IT" b="1" dirty="0" err="1"/>
                <a:t>channel</a:t>
              </a:r>
              <a:endParaRPr kumimoji="0" 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11" name="CasellaDiTesto 10"/>
          <p:cNvSpPr txBox="1"/>
          <p:nvPr/>
        </p:nvSpPr>
        <p:spPr>
          <a:xfrm>
            <a:off x="179512" y="6021288"/>
            <a:ext cx="882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(*) </a:t>
            </a:r>
            <a:r>
              <a:rPr lang="it-IT" b="1" dirty="0" err="1">
                <a:solidFill>
                  <a:srgbClr val="FF0000"/>
                </a:solidFill>
              </a:rPr>
              <a:t>other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system-level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attacks</a:t>
            </a:r>
            <a:r>
              <a:rPr lang="it-IT" b="1" dirty="0">
                <a:solidFill>
                  <a:srgbClr val="FF0000"/>
                </a:solidFill>
              </a:rPr>
              <a:t>: insiders, workstation </a:t>
            </a:r>
            <a:r>
              <a:rPr lang="it-IT" b="1" dirty="0" err="1">
                <a:solidFill>
                  <a:srgbClr val="FF0000"/>
                </a:solidFill>
              </a:rPr>
              <a:t>hijacking</a:t>
            </a:r>
            <a:r>
              <a:rPr lang="it-IT" b="1" dirty="0">
                <a:solidFill>
                  <a:srgbClr val="FF0000"/>
                </a:solidFill>
              </a:rPr>
              <a:t>, </a:t>
            </a:r>
            <a:r>
              <a:rPr lang="it-IT" b="1" dirty="0" err="1">
                <a:solidFill>
                  <a:srgbClr val="FF0000"/>
                </a:solidFill>
              </a:rPr>
              <a:t>key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loggers</a:t>
            </a:r>
            <a:r>
              <a:rPr lang="it-IT" b="1" dirty="0">
                <a:solidFill>
                  <a:srgbClr val="FF0000"/>
                </a:solidFill>
              </a:rPr>
              <a:t>, </a:t>
            </a:r>
            <a:r>
              <a:rPr lang="it-IT" b="1" dirty="0" err="1">
                <a:solidFill>
                  <a:srgbClr val="FF0000"/>
                </a:solidFill>
              </a:rPr>
              <a:t>fake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screens</a:t>
            </a:r>
            <a:r>
              <a:rPr lang="it-IT" b="1" dirty="0">
                <a:solidFill>
                  <a:srgbClr val="FF0000"/>
                </a:solidFill>
              </a:rPr>
              <a:t>, </a:t>
            </a:r>
            <a:r>
              <a:rPr lang="it-IT" b="1" dirty="0" err="1">
                <a:solidFill>
                  <a:srgbClr val="FF0000"/>
                </a:solidFill>
              </a:rPr>
              <a:t>etc</a:t>
            </a:r>
            <a:r>
              <a:rPr lang="it-IT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12" name="Picture 4" descr="http://previews.123rf.com/images/chromaco/chromaco1208/chromaco120800039/15208982-Cartoon-Vector-Illustration-of-a-Tough-Kid-Demon-or-Devil-with-Pitchfork-in-Hands-Stock-Vector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852" y="2113775"/>
            <a:ext cx="972108" cy="923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 descr="http://previews.123rf.com/images/chromaco/chromaco1208/chromaco120800039/15208982-Cartoon-Vector-Illustration-of-a-Tough-Kid-Demon-or-Devil-with-Pitchfork-in-Hands-Stock-Vector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642" y="1809875"/>
            <a:ext cx="972108" cy="923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003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59531" y="152636"/>
            <a:ext cx="8260409" cy="649288"/>
          </a:xfrm>
        </p:spPr>
        <p:txBody>
          <a:bodyPr/>
          <a:lstStyle/>
          <a:p>
            <a:r>
              <a:rPr lang="it-IT" dirty="0" err="1"/>
              <a:t>Hashed</a:t>
            </a:r>
            <a:r>
              <a:rPr lang="it-IT" dirty="0"/>
              <a:t> </a:t>
            </a:r>
            <a:r>
              <a:rPr lang="it-IT" dirty="0" err="1"/>
              <a:t>passwd</a:t>
            </a:r>
            <a:r>
              <a:rPr lang="it-IT" dirty="0"/>
              <a:t> database in PAP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43508" y="1125538"/>
            <a:ext cx="8532948" cy="5327798"/>
          </a:xfrm>
        </p:spPr>
        <p:txBody>
          <a:bodyPr>
            <a:normAutofit fontScale="85000" lnSpcReduction="10000"/>
          </a:bodyPr>
          <a:lstStyle/>
          <a:p>
            <a:r>
              <a:rPr lang="it-IT" dirty="0"/>
              <a:t>Idea: </a:t>
            </a:r>
            <a:r>
              <a:rPr lang="it-IT" dirty="0" err="1"/>
              <a:t>store</a:t>
            </a:r>
            <a:r>
              <a:rPr lang="it-IT" dirty="0"/>
              <a:t> H(</a:t>
            </a:r>
            <a:r>
              <a:rPr lang="it-IT" dirty="0" err="1"/>
              <a:t>passwd</a:t>
            </a:r>
            <a:r>
              <a:rPr lang="it-IT" dirty="0"/>
              <a:t>) </a:t>
            </a:r>
            <a:r>
              <a:rPr lang="it-IT" dirty="0" err="1"/>
              <a:t>instead</a:t>
            </a:r>
            <a:r>
              <a:rPr lang="it-IT" dirty="0"/>
              <a:t> of </a:t>
            </a:r>
            <a:r>
              <a:rPr lang="it-IT" dirty="0" err="1"/>
              <a:t>passwd</a:t>
            </a:r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 err="1"/>
              <a:t>Improved</a:t>
            </a:r>
            <a:r>
              <a:rPr lang="it-IT" dirty="0"/>
              <a:t> security: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steals</a:t>
            </a:r>
            <a:r>
              <a:rPr lang="it-IT" dirty="0"/>
              <a:t> DB, </a:t>
            </a:r>
            <a:r>
              <a:rPr lang="it-IT" dirty="0" err="1"/>
              <a:t>still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to «</a:t>
            </a:r>
            <a:r>
              <a:rPr lang="it-IT" dirty="0" err="1"/>
              <a:t>invert</a:t>
            </a:r>
            <a:r>
              <a:rPr lang="it-IT" dirty="0"/>
              <a:t>» </a:t>
            </a:r>
            <a:r>
              <a:rPr lang="it-IT" dirty="0" err="1"/>
              <a:t>passwd</a:t>
            </a:r>
            <a:endParaRPr lang="it-IT" dirty="0"/>
          </a:p>
          <a:p>
            <a:pPr lvl="1"/>
            <a:r>
              <a:rPr lang="it-IT" dirty="0" err="1">
                <a:sym typeface="Wingdings" panose="05000000000000000000" pitchFamily="2" charset="2"/>
              </a:rPr>
              <a:t>Good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hash</a:t>
            </a:r>
            <a:r>
              <a:rPr lang="it-IT" dirty="0">
                <a:sym typeface="Wingdings" panose="05000000000000000000" pitchFamily="2" charset="2"/>
              </a:rPr>
              <a:t> = </a:t>
            </a:r>
            <a:r>
              <a:rPr lang="it-IT" dirty="0" err="1">
                <a:sym typeface="Wingdings" panose="05000000000000000000" pitchFamily="2" charset="2"/>
              </a:rPr>
              <a:t>one</a:t>
            </a:r>
            <a:r>
              <a:rPr lang="it-IT" dirty="0">
                <a:sym typeface="Wingdings" panose="05000000000000000000" pitchFamily="2" charset="2"/>
              </a:rPr>
              <a:t>-way  </a:t>
            </a:r>
            <a:r>
              <a:rPr lang="it-IT" dirty="0" err="1">
                <a:sym typeface="Wingdings" panose="05000000000000000000" pitchFamily="2" charset="2"/>
              </a:rPr>
              <a:t>only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method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is</a:t>
            </a:r>
            <a:r>
              <a:rPr lang="it-IT" dirty="0">
                <a:sym typeface="Wingdings" panose="05000000000000000000" pitchFamily="2" charset="2"/>
              </a:rPr>
              <a:t> brute-force/</a:t>
            </a:r>
            <a:r>
              <a:rPr lang="it-IT" dirty="0" err="1">
                <a:sym typeface="Wingdings" panose="05000000000000000000" pitchFamily="2" charset="2"/>
              </a:rPr>
              <a:t>guess</a:t>
            </a:r>
            <a:endParaRPr lang="it-IT" dirty="0">
              <a:sym typeface="Wingdings" panose="05000000000000000000" pitchFamily="2" charset="2"/>
            </a:endParaRPr>
          </a:p>
          <a:p>
            <a:pPr lvl="2"/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Security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ultimately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depends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on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choosing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«strong»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passwd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</a:p>
        </p:txBody>
      </p:sp>
      <p:graphicFrame>
        <p:nvGraphicFramePr>
          <p:cNvPr id="4" name="Object 4"/>
          <p:cNvGraphicFramePr>
            <a:graphicFrameLocks/>
          </p:cNvGraphicFramePr>
          <p:nvPr/>
        </p:nvGraphicFramePr>
        <p:xfrm>
          <a:off x="1445543" y="2690665"/>
          <a:ext cx="1038225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2" imgW="1390650" imgH="1362075" progId="MS_ClipArt_Gallery.2">
                  <p:embed/>
                </p:oleObj>
              </mc:Choice>
              <mc:Fallback>
                <p:oleObj name="ClipArt" r:id="rId2" imgW="1390650" imgH="1362075" progId="MS_ClipArt_Gallery.2">
                  <p:embed/>
                  <p:pic>
                    <p:nvPicPr>
                      <p:cNvPr id="4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5543" y="2690665"/>
                        <a:ext cx="1038225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176963" y="2235065"/>
          <a:ext cx="795337" cy="176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4" imgW="1562100" imgH="5059363" progId="MS_ClipArt_Gallery.2">
                  <p:embed/>
                </p:oleObj>
              </mc:Choice>
              <mc:Fallback>
                <p:oleObj name="ClipArt" r:id="rId4" imgW="1562100" imgH="5059363" progId="MS_ClipArt_Gallery.2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6963" y="2235065"/>
                        <a:ext cx="795337" cy="176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2627313" y="2325317"/>
            <a:ext cx="3600871" cy="504056"/>
          </a:xfrm>
          <a:prstGeom prst="curvedDownArrow">
            <a:avLst>
              <a:gd name="adj1" fmla="val 116094"/>
              <a:gd name="adj2" fmla="val 232188"/>
              <a:gd name="adj3" fmla="val 33333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627313" y="2652578"/>
            <a:ext cx="3287712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2300" b="0" dirty="0">
                <a:latin typeface="Tahoma" panose="020B0604030504040204" pitchFamily="34" charset="0"/>
              </a:rPr>
              <a:t>{GB, </a:t>
            </a:r>
            <a:r>
              <a:rPr lang="it-IT" altLang="it-IT" sz="2300" b="0" dirty="0" err="1">
                <a:latin typeface="Tahoma" panose="020B0604030504040204" pitchFamily="34" charset="0"/>
              </a:rPr>
              <a:t>pippo</a:t>
            </a:r>
            <a:r>
              <a:rPr lang="it-IT" altLang="it-IT" sz="2300" b="0" dirty="0">
                <a:latin typeface="Tahoma" panose="020B0604030504040204" pitchFamily="34" charset="0"/>
              </a:rPr>
              <a:t>}</a:t>
            </a:r>
            <a:endParaRPr lang="it-IT" altLang="it-IT" sz="2300" b="0" dirty="0">
              <a:solidFill>
                <a:srgbClr val="0B0014"/>
              </a:solidFill>
              <a:latin typeface="Tahoma" panose="020B0604030504040204" pitchFamily="34" charset="0"/>
            </a:endParaRP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 flipH="1">
            <a:off x="2231740" y="3549453"/>
            <a:ext cx="3956210" cy="466734"/>
          </a:xfrm>
          <a:prstGeom prst="curvedUpArrow">
            <a:avLst>
              <a:gd name="adj1" fmla="val 88220"/>
              <a:gd name="adj2" fmla="val 176439"/>
              <a:gd name="adj3" fmla="val 33333"/>
            </a:avLst>
          </a:prstGeom>
          <a:solidFill>
            <a:srgbClr val="00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990832" y="3513449"/>
            <a:ext cx="688157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2300" b="0" dirty="0">
                <a:latin typeface="Tahoma" panose="020B0604030504040204" pitchFamily="34" charset="0"/>
              </a:rPr>
              <a:t>OK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246648" y="2204228"/>
            <a:ext cx="1477962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2300" b="0" dirty="0">
                <a:solidFill>
                  <a:srgbClr val="FF0066"/>
                </a:solidFill>
                <a:latin typeface="Tahoma" panose="020B0604030504040204" pitchFamily="34" charset="0"/>
              </a:rPr>
              <a:t>User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688124" y="1774151"/>
            <a:ext cx="1973262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2300" b="0" dirty="0" err="1">
                <a:solidFill>
                  <a:srgbClr val="FF0066"/>
                </a:solidFill>
                <a:latin typeface="Tahoma" panose="020B0604030504040204" pitchFamily="34" charset="0"/>
              </a:rPr>
              <a:t>Authenticator</a:t>
            </a:r>
            <a:endParaRPr lang="it-IT" altLang="it-IT" sz="2400" b="0" dirty="0">
              <a:solidFill>
                <a:srgbClr val="FF0066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35496" y="2510645"/>
            <a:ext cx="17996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buClrTx/>
              <a:buFontTx/>
              <a:buNone/>
            </a:pPr>
            <a:r>
              <a:rPr lang="it-IT" altLang="it-IT" sz="1800" b="0" dirty="0" err="1">
                <a:latin typeface="Tahoma" panose="020B0604030504040204" pitchFamily="34" charset="0"/>
              </a:rPr>
              <a:t>User_ID</a:t>
            </a:r>
            <a:r>
              <a:rPr lang="it-IT" altLang="it-IT" sz="1800" b="0" dirty="0">
                <a:latin typeface="Tahoma" panose="020B0604030504040204" pitchFamily="34" charset="0"/>
              </a:rPr>
              <a:t>: GB</a:t>
            </a:r>
          </a:p>
          <a:p>
            <a:pPr>
              <a:spcBef>
                <a:spcPts val="0"/>
              </a:spcBef>
              <a:buClrTx/>
              <a:buFontTx/>
              <a:buNone/>
            </a:pPr>
            <a:r>
              <a:rPr lang="it-IT" altLang="it-IT" sz="1800" b="0" dirty="0" err="1">
                <a:latin typeface="Tahoma" panose="020B0604030504040204" pitchFamily="34" charset="0"/>
              </a:rPr>
              <a:t>Passwd</a:t>
            </a:r>
            <a:r>
              <a:rPr lang="it-IT" altLang="it-IT" sz="1800" b="0" dirty="0">
                <a:latin typeface="Tahoma" panose="020B0604030504040204" pitchFamily="34" charset="0"/>
              </a:rPr>
              <a:t>: </a:t>
            </a:r>
            <a:r>
              <a:rPr lang="it-IT" altLang="it-IT" sz="1800" b="0" dirty="0" err="1">
                <a:latin typeface="Tahoma" panose="020B0604030504040204" pitchFamily="34" charset="0"/>
              </a:rPr>
              <a:t>pippo</a:t>
            </a:r>
            <a:endParaRPr lang="it-IT" altLang="it-IT" sz="1800" b="0" dirty="0">
              <a:latin typeface="Tahoma" panose="020B0604030504040204" pitchFamily="34" charset="0"/>
            </a:endParaRPr>
          </a:p>
        </p:txBody>
      </p:sp>
      <p:pic>
        <p:nvPicPr>
          <p:cNvPr id="20" name="Picture 111" descr="Check-Mark-t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44061" y="3169532"/>
            <a:ext cx="251074" cy="235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8" name="Gruppo 27"/>
          <p:cNvGrpSpPr/>
          <p:nvPr/>
        </p:nvGrpSpPr>
        <p:grpSpPr>
          <a:xfrm>
            <a:off x="7350771" y="3290112"/>
            <a:ext cx="1739579" cy="1183004"/>
            <a:chOff x="7121969" y="2714048"/>
            <a:chExt cx="1588687" cy="1183004"/>
          </a:xfrm>
        </p:grpSpPr>
        <p:sp>
          <p:nvSpPr>
            <p:cNvPr id="29" name="Disco magnetico 28"/>
            <p:cNvSpPr/>
            <p:nvPr/>
          </p:nvSpPr>
          <p:spPr bwMode="auto">
            <a:xfrm>
              <a:off x="7164287" y="2714048"/>
              <a:ext cx="1504045" cy="1183004"/>
            </a:xfrm>
            <a:prstGeom prst="flowChartMagneticDisk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" name="CasellaDiTesto 29"/>
            <p:cNvSpPr txBox="1"/>
            <p:nvPr/>
          </p:nvSpPr>
          <p:spPr>
            <a:xfrm>
              <a:off x="7121969" y="2978179"/>
              <a:ext cx="1588687" cy="9002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  <a:spcAft>
                  <a:spcPts val="600"/>
                </a:spcAft>
              </a:pPr>
              <a:r>
                <a:rPr lang="it-IT" b="1" dirty="0"/>
                <a:t>… … …</a:t>
              </a:r>
            </a:p>
            <a:p>
              <a:pPr algn="ctr">
                <a:lnSpc>
                  <a:spcPts val="1900"/>
                </a:lnSpc>
              </a:pPr>
              <a:r>
                <a:rPr lang="it-IT" b="1" dirty="0" err="1"/>
                <a:t>GB</a:t>
              </a:r>
              <a:r>
                <a:rPr lang="it-IT" b="1" dirty="0" err="1">
                  <a:sym typeface="Wingdings" panose="05000000000000000000" pitchFamily="2" charset="2"/>
                </a:rPr>
                <a:t></a:t>
              </a:r>
              <a:r>
                <a:rPr lang="it-IT" b="1" dirty="0" err="1">
                  <a:latin typeface="Symbol" panose="05050102010706020507" pitchFamily="18" charset="2"/>
                  <a:sym typeface="Wingdings" panose="05000000000000000000" pitchFamily="2" charset="2"/>
                </a:rPr>
                <a:t>b</a:t>
              </a:r>
              <a:r>
                <a:rPr lang="it-IT" b="1" dirty="0">
                  <a:sym typeface="Wingdings" panose="05000000000000000000" pitchFamily="2" charset="2"/>
                </a:rPr>
                <a:t>=</a:t>
              </a:r>
              <a:r>
                <a:rPr lang="it-IT" b="1" dirty="0"/>
                <a:t>H(</a:t>
              </a:r>
              <a:r>
                <a:rPr lang="it-IT" b="1" dirty="0" err="1"/>
                <a:t>pippo</a:t>
              </a:r>
              <a:r>
                <a:rPr lang="it-IT" b="1" dirty="0"/>
                <a:t>)</a:t>
              </a:r>
            </a:p>
            <a:p>
              <a:pPr algn="ctr">
                <a:lnSpc>
                  <a:spcPts val="1900"/>
                </a:lnSpc>
              </a:pPr>
              <a:r>
                <a:rPr lang="it-IT" b="1" dirty="0"/>
                <a:t>… … …</a:t>
              </a:r>
            </a:p>
          </p:txBody>
        </p:sp>
      </p:grp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6288844" y="2136005"/>
            <a:ext cx="32877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1800" b="0" dirty="0">
                <a:latin typeface="Tahoma" panose="020B0604030504040204" pitchFamily="34" charset="0"/>
              </a:rPr>
              <a:t>Compute </a:t>
            </a:r>
            <a:r>
              <a:rPr lang="it-IT" altLang="it-IT" sz="1800" b="0" dirty="0">
                <a:latin typeface="Symbol" panose="05050102010706020507" pitchFamily="18" charset="2"/>
              </a:rPr>
              <a:t>a</a:t>
            </a:r>
            <a:r>
              <a:rPr lang="it-IT" altLang="it-IT" sz="1800" b="0" dirty="0">
                <a:latin typeface="Tahoma" panose="020B0604030504040204" pitchFamily="34" charset="0"/>
              </a:rPr>
              <a:t>=H(</a:t>
            </a:r>
            <a:r>
              <a:rPr lang="it-IT" altLang="it-IT" sz="1800" b="0" dirty="0" err="1">
                <a:latin typeface="Tahoma" panose="020B0604030504040204" pitchFamily="34" charset="0"/>
              </a:rPr>
              <a:t>pippo</a:t>
            </a:r>
            <a:r>
              <a:rPr lang="it-IT" altLang="it-IT" sz="1800" b="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6732240" y="2505337"/>
            <a:ext cx="15174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1800" b="0" dirty="0" err="1">
                <a:latin typeface="Tahoma" panose="020B0604030504040204" pitchFamily="34" charset="0"/>
              </a:rPr>
              <a:t>Retrieve</a:t>
            </a:r>
            <a:r>
              <a:rPr lang="it-IT" altLang="it-IT" sz="1800" b="0" dirty="0">
                <a:latin typeface="Tahoma" panose="020B0604030504040204" pitchFamily="34" charset="0"/>
              </a:rPr>
              <a:t> </a:t>
            </a:r>
            <a:r>
              <a:rPr lang="it-IT" altLang="it-IT" sz="1800" b="0" dirty="0">
                <a:latin typeface="Symbol" panose="05050102010706020507" pitchFamily="18" charset="2"/>
              </a:rPr>
              <a:t>b</a:t>
            </a:r>
          </a:p>
        </p:txBody>
      </p:sp>
      <p:sp>
        <p:nvSpPr>
          <p:cNvPr id="33" name="Freccia angolare in su 32"/>
          <p:cNvSpPr/>
          <p:nvPr/>
        </p:nvSpPr>
        <p:spPr bwMode="auto">
          <a:xfrm rot="5400000">
            <a:off x="6558546" y="3405311"/>
            <a:ext cx="1305438" cy="278996"/>
          </a:xfrm>
          <a:prstGeom prst="bentUpArrow">
            <a:avLst>
              <a:gd name="adj1" fmla="val 25000"/>
              <a:gd name="adj2" fmla="val 50000"/>
              <a:gd name="adj3" fmla="val 30825"/>
            </a:avLst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4" name="Freccia angolare in su 33"/>
          <p:cNvSpPr/>
          <p:nvPr/>
        </p:nvSpPr>
        <p:spPr bwMode="auto">
          <a:xfrm rot="16200000">
            <a:off x="8319484" y="3309849"/>
            <a:ext cx="873454" cy="272539"/>
          </a:xfrm>
          <a:prstGeom prst="bentUpArrow">
            <a:avLst>
              <a:gd name="adj1" fmla="val 25000"/>
              <a:gd name="adj2" fmla="val 50000"/>
              <a:gd name="adj3" fmla="val 30825"/>
            </a:avLst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>
            <a:off x="7231063" y="2892089"/>
            <a:ext cx="15174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1800" b="0" dirty="0" err="1">
                <a:latin typeface="Tahoma" panose="020B0604030504040204" pitchFamily="34" charset="0"/>
              </a:rPr>
              <a:t>check</a:t>
            </a:r>
            <a:r>
              <a:rPr lang="it-IT" altLang="it-IT" sz="1800" b="0" dirty="0">
                <a:latin typeface="Tahoma" panose="020B0604030504040204" pitchFamily="34" charset="0"/>
              </a:rPr>
              <a:t> </a:t>
            </a:r>
            <a:r>
              <a:rPr lang="it-IT" altLang="it-IT" sz="1800" b="0" dirty="0">
                <a:latin typeface="Symbol" panose="05050102010706020507" pitchFamily="18" charset="2"/>
              </a:rPr>
              <a:t>a=b?</a:t>
            </a:r>
          </a:p>
        </p:txBody>
      </p:sp>
    </p:spTree>
    <p:extLst>
      <p:ext uri="{BB962C8B-B14F-4D97-AF65-F5344CB8AC3E}">
        <p14:creationId xmlns:p14="http://schemas.microsoft.com/office/powerpoint/2010/main" val="299919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/>
      <p:bldP spid="8" grpId="0" animBg="1"/>
      <p:bldP spid="9" grpId="0"/>
      <p:bldP spid="10" grpId="0"/>
      <p:bldP spid="11" grpId="0"/>
      <p:bldP spid="19" grpId="0"/>
      <p:bldP spid="31" grpId="0"/>
      <p:bldP spid="32" grpId="0"/>
      <p:bldP spid="33" grpId="0" animBg="1"/>
      <p:bldP spid="34" grpId="0" animBg="1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5496" y="152636"/>
            <a:ext cx="9001000" cy="649288"/>
          </a:xfrm>
        </p:spPr>
        <p:txBody>
          <a:bodyPr/>
          <a:lstStyle/>
          <a:p>
            <a:r>
              <a:rPr lang="it-IT" dirty="0"/>
              <a:t>(</a:t>
            </a:r>
            <a:r>
              <a:rPr lang="it-IT" dirty="0" err="1"/>
              <a:t>actually</a:t>
            </a:r>
            <a:r>
              <a:rPr lang="it-IT" dirty="0"/>
              <a:t>: «</a:t>
            </a:r>
            <a:r>
              <a:rPr lang="it-IT" dirty="0" err="1"/>
              <a:t>salted</a:t>
            </a:r>
            <a:r>
              <a:rPr lang="it-IT" dirty="0"/>
              <a:t>» hash)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3212976"/>
            <a:ext cx="8712967" cy="3338035"/>
          </a:xfrm>
        </p:spPr>
        <p:txBody>
          <a:bodyPr>
            <a:normAutofit fontScale="70000" lnSpcReduction="20000"/>
          </a:bodyPr>
          <a:lstStyle/>
          <a:p>
            <a:r>
              <a:rPr lang="it-IT" dirty="0"/>
              <a:t>Security: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hashed</a:t>
            </a:r>
            <a:r>
              <a:rPr lang="it-IT" dirty="0"/>
              <a:t> </a:t>
            </a:r>
            <a:r>
              <a:rPr lang="it-IT" dirty="0" err="1"/>
              <a:t>passwd</a:t>
            </a:r>
            <a:endParaRPr lang="it-IT" dirty="0"/>
          </a:p>
          <a:p>
            <a:pPr lvl="1"/>
            <a:r>
              <a:rPr lang="it-IT" dirty="0"/>
              <a:t>Salt in </a:t>
            </a:r>
            <a:r>
              <a:rPr lang="it-IT" dirty="0" err="1"/>
              <a:t>clear</a:t>
            </a:r>
            <a:r>
              <a:rPr lang="it-IT" dirty="0"/>
              <a:t>: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nearly</a:t>
            </a:r>
            <a:r>
              <a:rPr lang="it-IT" dirty="0"/>
              <a:t> an </a:t>
            </a:r>
            <a:r>
              <a:rPr lang="it-IT" dirty="0" err="1"/>
              <a:t>issue</a:t>
            </a:r>
            <a:r>
              <a:rPr lang="it-IT" dirty="0"/>
              <a:t> for </a:t>
            </a:r>
            <a:r>
              <a:rPr lang="it-IT" dirty="0" err="1"/>
              <a:t>crypto</a:t>
            </a:r>
            <a:r>
              <a:rPr lang="it-IT" dirty="0"/>
              <a:t> </a:t>
            </a:r>
            <a:r>
              <a:rPr lang="it-IT" dirty="0" err="1"/>
              <a:t>hash</a:t>
            </a:r>
            <a:r>
              <a:rPr lang="it-IT" dirty="0"/>
              <a:t>!</a:t>
            </a:r>
          </a:p>
          <a:p>
            <a:r>
              <a:rPr lang="it-IT" dirty="0" err="1"/>
              <a:t>advantages</a:t>
            </a:r>
            <a:endParaRPr lang="it-IT" dirty="0"/>
          </a:p>
          <a:p>
            <a:pPr lvl="1"/>
            <a:r>
              <a:rPr lang="it-IT" dirty="0" err="1"/>
              <a:t>Harder</a:t>
            </a:r>
            <a:r>
              <a:rPr lang="it-IT" dirty="0"/>
              <a:t> to crack </a:t>
            </a:r>
            <a:r>
              <a:rPr lang="it-IT" dirty="0" err="1"/>
              <a:t>against</a:t>
            </a:r>
            <a:r>
              <a:rPr lang="it-IT" dirty="0"/>
              <a:t> </a:t>
            </a:r>
            <a:r>
              <a:rPr lang="it-IT" dirty="0" err="1"/>
              <a:t>rainbow</a:t>
            </a:r>
            <a:r>
              <a:rPr lang="it-IT" dirty="0"/>
              <a:t> </a:t>
            </a:r>
            <a:r>
              <a:rPr lang="it-IT" dirty="0" err="1"/>
              <a:t>tables</a:t>
            </a:r>
            <a:r>
              <a:rPr lang="it-IT" dirty="0"/>
              <a:t>! (</a:t>
            </a:r>
            <a:r>
              <a:rPr lang="it-IT" dirty="0" err="1"/>
              <a:t>need</a:t>
            </a:r>
            <a:r>
              <a:rPr lang="it-IT" dirty="0"/>
              <a:t> one </a:t>
            </a:r>
            <a:r>
              <a:rPr lang="it-IT" dirty="0" err="1"/>
              <a:t>table</a:t>
            </a:r>
            <a:r>
              <a:rPr lang="it-IT" dirty="0"/>
              <a:t> per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salt</a:t>
            </a:r>
            <a:r>
              <a:rPr lang="it-IT" dirty="0"/>
              <a:t> </a:t>
            </a:r>
            <a:r>
              <a:rPr lang="it-IT" dirty="0" err="1"/>
              <a:t>value</a:t>
            </a:r>
            <a:r>
              <a:rPr lang="it-IT" dirty="0"/>
              <a:t>) </a:t>
            </a:r>
          </a:p>
          <a:p>
            <a:pPr lvl="2"/>
            <a:r>
              <a:rPr lang="it-IT" dirty="0"/>
              <a:t>12 bit </a:t>
            </a:r>
            <a:r>
              <a:rPr lang="it-IT" dirty="0" err="1"/>
              <a:t>salt</a:t>
            </a:r>
            <a:r>
              <a:rPr lang="it-IT" dirty="0"/>
              <a:t> = </a:t>
            </a:r>
            <a:r>
              <a:rPr lang="it-IT" dirty="0">
                <a:sym typeface="Wingdings" panose="05000000000000000000" pitchFamily="2" charset="2"/>
              </a:rPr>
              <a:t>2</a:t>
            </a:r>
            <a:r>
              <a:rPr lang="it-IT" baseline="30000" dirty="0">
                <a:sym typeface="Wingdings" panose="05000000000000000000" pitchFamily="2" charset="2"/>
              </a:rPr>
              <a:t>12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tables</a:t>
            </a:r>
            <a:r>
              <a:rPr lang="it-IT" dirty="0">
                <a:sym typeface="Wingdings" panose="05000000000000000000" pitchFamily="2" charset="2"/>
              </a:rPr>
              <a:t>, </a:t>
            </a:r>
            <a:r>
              <a:rPr lang="it-IT" dirty="0" err="1">
                <a:sym typeface="Wingdings" panose="05000000000000000000" pitchFamily="2" charset="2"/>
              </a:rPr>
              <a:t>huge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memory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requirements</a:t>
            </a:r>
            <a:r>
              <a:rPr lang="it-IT" dirty="0">
                <a:sym typeface="Wingdings" panose="05000000000000000000" pitchFamily="2" charset="2"/>
              </a:rPr>
              <a:t>!</a:t>
            </a:r>
          </a:p>
          <a:p>
            <a:pPr lvl="1"/>
            <a:r>
              <a:rPr lang="it-IT" dirty="0" err="1">
                <a:sym typeface="Wingdings" panose="05000000000000000000" pitchFamily="2" charset="2"/>
              </a:rPr>
              <a:t>Same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passwd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but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different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salt</a:t>
            </a:r>
            <a:r>
              <a:rPr lang="it-IT" dirty="0">
                <a:sym typeface="Wingdings" panose="05000000000000000000" pitchFamily="2" charset="2"/>
              </a:rPr>
              <a:t>  </a:t>
            </a:r>
            <a:r>
              <a:rPr lang="it-IT" dirty="0" err="1">
                <a:sym typeface="Wingdings" panose="05000000000000000000" pitchFamily="2" charset="2"/>
              </a:rPr>
              <a:t>different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hash</a:t>
            </a:r>
            <a:endParaRPr lang="it-IT" dirty="0">
              <a:sym typeface="Wingdings" panose="05000000000000000000" pitchFamily="2" charset="2"/>
            </a:endParaRPr>
          </a:p>
          <a:p>
            <a:pPr lvl="2"/>
            <a:r>
              <a:rPr lang="it-IT" dirty="0" err="1">
                <a:sym typeface="Wingdings" panose="05000000000000000000" pitchFamily="2" charset="2"/>
              </a:rPr>
              <a:t>Attacker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cannot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see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if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passwd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is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reused</a:t>
            </a:r>
            <a:r>
              <a:rPr lang="it-IT" dirty="0">
                <a:sym typeface="Wingdings" panose="05000000000000000000" pitchFamily="2" charset="2"/>
              </a:rPr>
              <a:t> – </a:t>
            </a:r>
            <a:r>
              <a:rPr lang="it-IT" dirty="0" err="1">
                <a:sym typeface="Wingdings" panose="05000000000000000000" pitchFamily="2" charset="2"/>
              </a:rPr>
              <a:t>two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cases</a:t>
            </a:r>
            <a:endParaRPr lang="it-IT" dirty="0">
              <a:sym typeface="Wingdings" panose="05000000000000000000" pitchFamily="2" charset="2"/>
            </a:endParaRPr>
          </a:p>
          <a:p>
            <a:pPr lvl="3"/>
            <a:r>
              <a:rPr lang="it-IT" dirty="0">
                <a:sym typeface="Wingdings" panose="05000000000000000000" pitchFamily="2" charset="2"/>
              </a:rPr>
              <a:t>Inside DB: </a:t>
            </a:r>
            <a:r>
              <a:rPr lang="it-IT" dirty="0" err="1">
                <a:sym typeface="Wingdings" panose="05000000000000000000" pitchFamily="2" charset="2"/>
              </a:rPr>
              <a:t>same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passwd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among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different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users</a:t>
            </a:r>
            <a:endParaRPr lang="it-IT" dirty="0">
              <a:sym typeface="Wingdings" panose="05000000000000000000" pitchFamily="2" charset="2"/>
            </a:endParaRPr>
          </a:p>
          <a:p>
            <a:pPr lvl="3"/>
            <a:r>
              <a:rPr lang="it-IT" dirty="0" err="1">
                <a:sym typeface="Wingdings" panose="05000000000000000000" pitchFamily="2" charset="2"/>
              </a:rPr>
              <a:t>Across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DBs</a:t>
            </a:r>
            <a:r>
              <a:rPr lang="it-IT" dirty="0">
                <a:sym typeface="Wingdings" panose="05000000000000000000" pitchFamily="2" charset="2"/>
              </a:rPr>
              <a:t>: </a:t>
            </a:r>
            <a:r>
              <a:rPr lang="it-IT" dirty="0" err="1">
                <a:sym typeface="Wingdings" panose="05000000000000000000" pitchFamily="2" charset="2"/>
              </a:rPr>
              <a:t>passwd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reused</a:t>
            </a:r>
            <a:r>
              <a:rPr lang="it-IT" dirty="0">
                <a:sym typeface="Wingdings" panose="05000000000000000000" pitchFamily="2" charset="2"/>
              </a:rPr>
              <a:t> by </a:t>
            </a:r>
            <a:r>
              <a:rPr lang="it-IT" dirty="0" err="1">
                <a:sym typeface="Wingdings" panose="05000000000000000000" pitchFamily="2" charset="2"/>
              </a:rPr>
              <a:t>same</a:t>
            </a:r>
            <a:r>
              <a:rPr lang="it-IT" dirty="0">
                <a:sym typeface="Wingdings" panose="05000000000000000000" pitchFamily="2" charset="2"/>
              </a:rPr>
              <a:t> user</a:t>
            </a:r>
          </a:p>
        </p:txBody>
      </p:sp>
      <p:graphicFrame>
        <p:nvGraphicFramePr>
          <p:cNvPr id="4" name="Tabella 3"/>
          <p:cNvGraphicFramePr>
            <a:graphicFrameLocks noGrp="1"/>
          </p:cNvGraphicFramePr>
          <p:nvPr/>
        </p:nvGraphicFramePr>
        <p:xfrm>
          <a:off x="1253208" y="872716"/>
          <a:ext cx="6847184" cy="1993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4576">
                  <a:extLst>
                    <a:ext uri="{9D8B030D-6E8A-4147-A177-3AD203B41FA5}">
                      <a16:colId xmlns:a16="http://schemas.microsoft.com/office/drawing/2014/main" val="2776605939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358047800"/>
                    </a:ext>
                  </a:extLst>
                </a:gridCol>
                <a:gridCol w="4644516">
                  <a:extLst>
                    <a:ext uri="{9D8B030D-6E8A-4147-A177-3AD203B41FA5}">
                      <a16:colId xmlns:a16="http://schemas.microsoft.com/office/drawing/2014/main" val="660698225"/>
                    </a:ext>
                  </a:extLst>
                </a:gridCol>
              </a:tblGrid>
              <a:tr h="18002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sz="2000" b="1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sz="2000" b="1" dirty="0"/>
                        <a:t>Salt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sz="2000" b="1" dirty="0" err="1"/>
                        <a:t>Hashed</a:t>
                      </a:r>
                      <a:r>
                        <a:rPr lang="it-IT" sz="2000" b="1" dirty="0"/>
                        <a:t> </a:t>
                      </a:r>
                      <a:r>
                        <a:rPr lang="it-IT" sz="2000" b="1" dirty="0" err="1"/>
                        <a:t>passwd</a:t>
                      </a:r>
                      <a:r>
                        <a:rPr lang="it-IT" sz="2000" b="1" dirty="0"/>
                        <a:t> = H(</a:t>
                      </a:r>
                      <a:r>
                        <a:rPr lang="it-IT" sz="2000" b="1" dirty="0" err="1"/>
                        <a:t>salt</a:t>
                      </a:r>
                      <a:r>
                        <a:rPr lang="it-IT" sz="2000" b="1" dirty="0"/>
                        <a:t>, </a:t>
                      </a:r>
                      <a:r>
                        <a:rPr lang="it-IT" sz="2000" b="1" dirty="0" err="1"/>
                        <a:t>passwd</a:t>
                      </a:r>
                      <a:r>
                        <a:rPr lang="it-IT" sz="2000" b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946747"/>
                  </a:ext>
                </a:extLst>
              </a:tr>
              <a:tr h="145091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dirty="0"/>
                        <a:t>Giuseppe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dirty="0"/>
                        <a:t>a31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dirty="0"/>
                        <a:t>d8578edf8458ce06fbc5bb76a58c5ca4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621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dirty="0"/>
                        <a:t>Letizia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dirty="0"/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dirty="0"/>
                        <a:t>a00e014ec1a1148986e05d0c151b92c4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036230"/>
                  </a:ext>
                </a:extLst>
              </a:tr>
              <a:tr h="189087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dirty="0"/>
                        <a:t>Ciro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dirty="0"/>
                        <a:t>1e8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dirty="0"/>
                        <a:t>f1ce609eb6591ecd3dc405282fef22f9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25362"/>
                  </a:ext>
                </a:extLst>
              </a:tr>
              <a:tr h="129067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dirty="0"/>
                        <a:t>Jasmine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dirty="0"/>
                        <a:t>f7d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dirty="0"/>
                        <a:t>5b4805eae94d66c1a422189a53f9f06a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271450"/>
                  </a:ext>
                </a:extLst>
              </a:tr>
              <a:tr h="390357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dirty="0"/>
                        <a:t>… … …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it-IT" dirty="0"/>
                        <a:t>… … …</a:t>
                      </a:r>
                      <a:r>
                        <a:rPr lang="it-IT" baseline="0" dirty="0"/>
                        <a:t> … … … … … … … … … … … …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612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4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47564" y="152636"/>
            <a:ext cx="7696200" cy="649288"/>
          </a:xfrm>
        </p:spPr>
        <p:txBody>
          <a:bodyPr/>
          <a:lstStyle/>
          <a:p>
            <a:r>
              <a:rPr lang="it-IT" dirty="0" err="1"/>
              <a:t>Autentication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salt</a:t>
            </a:r>
            <a:endParaRPr lang="it-IT" dirty="0"/>
          </a:p>
        </p:txBody>
      </p:sp>
      <p:graphicFrame>
        <p:nvGraphicFramePr>
          <p:cNvPr id="4" name="Object 4"/>
          <p:cNvGraphicFramePr>
            <a:graphicFrameLocks/>
          </p:cNvGraphicFramePr>
          <p:nvPr/>
        </p:nvGraphicFramePr>
        <p:xfrm>
          <a:off x="1445543" y="2462200"/>
          <a:ext cx="1038225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2" imgW="1390650" imgH="1362075" progId="MS_ClipArt_Gallery.2">
                  <p:embed/>
                </p:oleObj>
              </mc:Choice>
              <mc:Fallback>
                <p:oleObj name="ClipArt" r:id="rId2" imgW="1390650" imgH="1362075" progId="MS_ClipArt_Gallery.2">
                  <p:embed/>
                  <p:pic>
                    <p:nvPicPr>
                      <p:cNvPr id="4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5543" y="2462200"/>
                        <a:ext cx="1038225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5184068" y="2083736"/>
          <a:ext cx="795337" cy="176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4" imgW="1562100" imgH="5059363" progId="MS_ClipArt_Gallery.2">
                  <p:embed/>
                </p:oleObj>
              </mc:Choice>
              <mc:Fallback>
                <p:oleObj name="ClipArt" r:id="rId4" imgW="1562100" imgH="5059363" progId="MS_ClipArt_Gallery.2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4068" y="2083736"/>
                        <a:ext cx="795337" cy="176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2629359" y="1905466"/>
            <a:ext cx="2904827" cy="599326"/>
          </a:xfrm>
          <a:prstGeom prst="curvedDownArrow">
            <a:avLst>
              <a:gd name="adj1" fmla="val 116094"/>
              <a:gd name="adj2" fmla="val 232188"/>
              <a:gd name="adj3" fmla="val 33333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627313" y="2422039"/>
            <a:ext cx="2534794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2300" b="0" dirty="0">
                <a:latin typeface="Tahoma" panose="020B0604030504040204" pitchFamily="34" charset="0"/>
              </a:rPr>
              <a:t>{GB, </a:t>
            </a:r>
            <a:r>
              <a:rPr lang="it-IT" altLang="it-IT" sz="2300" b="0" dirty="0" err="1">
                <a:latin typeface="Tahoma" panose="020B0604030504040204" pitchFamily="34" charset="0"/>
              </a:rPr>
              <a:t>pippo</a:t>
            </a:r>
            <a:r>
              <a:rPr lang="it-IT" altLang="it-IT" sz="2300" b="0" dirty="0">
                <a:latin typeface="Tahoma" panose="020B0604030504040204" pitchFamily="34" charset="0"/>
              </a:rPr>
              <a:t>}</a:t>
            </a:r>
            <a:endParaRPr lang="it-IT" altLang="it-IT" sz="2300" b="0" dirty="0">
              <a:solidFill>
                <a:srgbClr val="0B0014"/>
              </a:solidFill>
              <a:latin typeface="Tahoma" panose="020B0604030504040204" pitchFamily="34" charset="0"/>
            </a:endParaRP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 flipH="1">
            <a:off x="2231738" y="3320988"/>
            <a:ext cx="3030791" cy="648072"/>
          </a:xfrm>
          <a:prstGeom prst="curvedUpArrow">
            <a:avLst>
              <a:gd name="adj1" fmla="val 88220"/>
              <a:gd name="adj2" fmla="val 176439"/>
              <a:gd name="adj3" fmla="val 33333"/>
            </a:avLst>
          </a:prstGeom>
          <a:solidFill>
            <a:srgbClr val="00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455876" y="3284984"/>
            <a:ext cx="688157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2300" b="0" dirty="0">
                <a:latin typeface="Tahoma" panose="020B0604030504040204" pitchFamily="34" charset="0"/>
              </a:rPr>
              <a:t>OK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246648" y="1975763"/>
            <a:ext cx="1477962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2300" b="0" dirty="0">
                <a:solidFill>
                  <a:srgbClr val="FF0066"/>
                </a:solidFill>
                <a:latin typeface="Tahoma" panose="020B0604030504040204" pitchFamily="34" charset="0"/>
              </a:rPr>
              <a:t>User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5292080" y="1622822"/>
            <a:ext cx="1973262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2300" b="0" dirty="0" err="1">
                <a:solidFill>
                  <a:srgbClr val="FF0066"/>
                </a:solidFill>
                <a:latin typeface="Tahoma" panose="020B0604030504040204" pitchFamily="34" charset="0"/>
              </a:rPr>
              <a:t>Authenticator</a:t>
            </a:r>
            <a:endParaRPr lang="it-IT" altLang="it-IT" sz="2400" b="0" dirty="0">
              <a:solidFill>
                <a:srgbClr val="FF0066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35496" y="2282180"/>
            <a:ext cx="17996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buClrTx/>
              <a:buFontTx/>
              <a:buNone/>
            </a:pPr>
            <a:r>
              <a:rPr lang="it-IT" altLang="it-IT" sz="1800" b="0" dirty="0" err="1">
                <a:latin typeface="Tahoma" panose="020B0604030504040204" pitchFamily="34" charset="0"/>
              </a:rPr>
              <a:t>User_ID</a:t>
            </a:r>
            <a:r>
              <a:rPr lang="it-IT" altLang="it-IT" sz="1800" b="0" dirty="0">
                <a:latin typeface="Tahoma" panose="020B0604030504040204" pitchFamily="34" charset="0"/>
              </a:rPr>
              <a:t>: GB</a:t>
            </a:r>
          </a:p>
          <a:p>
            <a:pPr>
              <a:spcBef>
                <a:spcPts val="0"/>
              </a:spcBef>
              <a:buClrTx/>
              <a:buFontTx/>
              <a:buNone/>
            </a:pPr>
            <a:r>
              <a:rPr lang="it-IT" altLang="it-IT" sz="1800" b="0" dirty="0" err="1">
                <a:latin typeface="Tahoma" panose="020B0604030504040204" pitchFamily="34" charset="0"/>
              </a:rPr>
              <a:t>Passwd</a:t>
            </a:r>
            <a:r>
              <a:rPr lang="it-IT" altLang="it-IT" sz="1800" b="0" dirty="0">
                <a:latin typeface="Tahoma" panose="020B0604030504040204" pitchFamily="34" charset="0"/>
              </a:rPr>
              <a:t>: </a:t>
            </a:r>
            <a:r>
              <a:rPr lang="it-IT" altLang="it-IT" sz="1800" b="0" dirty="0" err="1">
                <a:latin typeface="Tahoma" panose="020B0604030504040204" pitchFamily="34" charset="0"/>
              </a:rPr>
              <a:t>pippo</a:t>
            </a:r>
            <a:endParaRPr lang="it-IT" altLang="it-IT" sz="1800" b="0" dirty="0">
              <a:latin typeface="Tahoma" panose="020B0604030504040204" pitchFamily="34" charset="0"/>
            </a:endParaRPr>
          </a:p>
        </p:txBody>
      </p:sp>
      <p:pic>
        <p:nvPicPr>
          <p:cNvPr id="20" name="Picture 111" descr="Check-Mark-t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532015" y="4734755"/>
            <a:ext cx="356142" cy="33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8" name="Gruppo 27"/>
          <p:cNvGrpSpPr/>
          <p:nvPr/>
        </p:nvGrpSpPr>
        <p:grpSpPr>
          <a:xfrm>
            <a:off x="6363254" y="4154208"/>
            <a:ext cx="2169186" cy="1183004"/>
            <a:chOff x="6925797" y="2714048"/>
            <a:chExt cx="1981028" cy="1183004"/>
          </a:xfrm>
        </p:grpSpPr>
        <p:sp>
          <p:nvSpPr>
            <p:cNvPr id="29" name="Disco magnetico 28"/>
            <p:cNvSpPr/>
            <p:nvPr/>
          </p:nvSpPr>
          <p:spPr bwMode="auto">
            <a:xfrm>
              <a:off x="6965805" y="2714048"/>
              <a:ext cx="1899887" cy="1183004"/>
            </a:xfrm>
            <a:prstGeom prst="flowChartMagneticDisk">
              <a:avLst/>
            </a:prstGeom>
            <a:solidFill>
              <a:srgbClr val="FFFF99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" name="CasellaDiTesto 29"/>
            <p:cNvSpPr txBox="1"/>
            <p:nvPr/>
          </p:nvSpPr>
          <p:spPr>
            <a:xfrm>
              <a:off x="6925797" y="2978179"/>
              <a:ext cx="1981028" cy="9002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  <a:spcAft>
                  <a:spcPts val="600"/>
                </a:spcAft>
              </a:pPr>
              <a:r>
                <a:rPr lang="it-IT" b="1" dirty="0"/>
                <a:t>… … …</a:t>
              </a:r>
            </a:p>
            <a:p>
              <a:pPr algn="ctr">
                <a:lnSpc>
                  <a:spcPts val="1900"/>
                </a:lnSpc>
              </a:pPr>
              <a:r>
                <a:rPr lang="it-IT" b="1" dirty="0"/>
                <a:t>GB</a:t>
              </a:r>
              <a:r>
                <a:rPr lang="it-IT" b="1" dirty="0">
                  <a:sym typeface="Wingdings" panose="05000000000000000000" pitchFamily="2" charset="2"/>
                </a:rPr>
                <a:t>, 71, </a:t>
              </a:r>
              <a:r>
                <a:rPr lang="it-IT" b="1" dirty="0">
                  <a:latin typeface="Symbol" panose="05050102010706020507" pitchFamily="18" charset="2"/>
                  <a:sym typeface="Wingdings" panose="05000000000000000000" pitchFamily="2" charset="2"/>
                </a:rPr>
                <a:t>b</a:t>
              </a:r>
              <a:r>
                <a:rPr lang="it-IT" b="1" dirty="0">
                  <a:sym typeface="Wingdings" panose="05000000000000000000" pitchFamily="2" charset="2"/>
                </a:rPr>
                <a:t>=</a:t>
              </a:r>
              <a:r>
                <a:rPr lang="it-IT" b="1" dirty="0"/>
                <a:t>H(71,pippo)</a:t>
              </a:r>
            </a:p>
            <a:p>
              <a:pPr algn="ctr">
                <a:lnSpc>
                  <a:spcPts val="1900"/>
                </a:lnSpc>
              </a:pPr>
              <a:r>
                <a:rPr lang="it-IT" b="1" dirty="0"/>
                <a:t>… … …</a:t>
              </a:r>
            </a:p>
          </p:txBody>
        </p:sp>
      </p:grp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7245633" y="2564904"/>
            <a:ext cx="175485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1800" b="0" dirty="0">
                <a:latin typeface="Tahoma" panose="020B0604030504040204" pitchFamily="34" charset="0"/>
              </a:rPr>
              <a:t>Compute </a:t>
            </a:r>
            <a:br>
              <a:rPr lang="it-IT" altLang="it-IT" sz="1800" b="0" dirty="0">
                <a:latin typeface="Tahoma" panose="020B0604030504040204" pitchFamily="34" charset="0"/>
              </a:rPr>
            </a:br>
            <a:r>
              <a:rPr lang="it-IT" altLang="it-IT" sz="1800" b="0" dirty="0">
                <a:latin typeface="Symbol" panose="05050102010706020507" pitchFamily="18" charset="2"/>
              </a:rPr>
              <a:t>a</a:t>
            </a:r>
            <a:r>
              <a:rPr lang="it-IT" altLang="it-IT" sz="1800" b="0" dirty="0">
                <a:latin typeface="Tahoma" panose="020B0604030504040204" pitchFamily="34" charset="0"/>
              </a:rPr>
              <a:t>=H(71,pippo)</a:t>
            </a: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6264188" y="2401722"/>
            <a:ext cx="1172134" cy="52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ts val="1700"/>
              </a:lnSpc>
              <a:spcBef>
                <a:spcPct val="50000"/>
              </a:spcBef>
              <a:buClrTx/>
              <a:buFontTx/>
              <a:buNone/>
            </a:pPr>
            <a:r>
              <a:rPr lang="it-IT" altLang="it-IT" sz="1800" b="0" dirty="0" err="1">
                <a:latin typeface="Tahoma" panose="020B0604030504040204" pitchFamily="34" charset="0"/>
              </a:rPr>
              <a:t>Retrieve</a:t>
            </a:r>
            <a:r>
              <a:rPr lang="it-IT" altLang="it-IT" sz="1800" b="0" dirty="0">
                <a:latin typeface="Tahoma" panose="020B0604030504040204" pitchFamily="34" charset="0"/>
              </a:rPr>
              <a:t> </a:t>
            </a:r>
            <a:br>
              <a:rPr lang="it-IT" altLang="it-IT" sz="1800" b="0" dirty="0">
                <a:latin typeface="Tahoma" panose="020B0604030504040204" pitchFamily="34" charset="0"/>
              </a:rPr>
            </a:br>
            <a:r>
              <a:rPr lang="it-IT" altLang="it-IT" sz="1800" b="0" dirty="0" err="1">
                <a:latin typeface="Tahoma" panose="020B0604030504040204" pitchFamily="34" charset="0"/>
              </a:rPr>
              <a:t>salt</a:t>
            </a:r>
            <a:endParaRPr lang="it-IT" altLang="it-IT" sz="1800" b="0" dirty="0">
              <a:latin typeface="Symbol" panose="05050102010706020507" pitchFamily="18" charset="2"/>
            </a:endParaRPr>
          </a:p>
        </p:txBody>
      </p:sp>
      <p:sp>
        <p:nvSpPr>
          <p:cNvPr id="33" name="Freccia angolare in su 32"/>
          <p:cNvSpPr/>
          <p:nvPr/>
        </p:nvSpPr>
        <p:spPr bwMode="auto">
          <a:xfrm rot="5400000">
            <a:off x="4893292" y="3549321"/>
            <a:ext cx="2619002" cy="318973"/>
          </a:xfrm>
          <a:prstGeom prst="bentUpArrow">
            <a:avLst>
              <a:gd name="adj1" fmla="val 25000"/>
              <a:gd name="adj2" fmla="val 50000"/>
              <a:gd name="adj3" fmla="val 30825"/>
            </a:avLst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>
            <a:off x="7744319" y="3421455"/>
            <a:ext cx="94107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1800" b="0" dirty="0" err="1">
                <a:latin typeface="Tahoma" panose="020B0604030504040204" pitchFamily="34" charset="0"/>
              </a:rPr>
              <a:t>check</a:t>
            </a:r>
            <a:r>
              <a:rPr lang="it-IT" altLang="it-IT" sz="1800" b="0" dirty="0">
                <a:latin typeface="Tahoma" panose="020B0604030504040204" pitchFamily="34" charset="0"/>
              </a:rPr>
              <a:t> </a:t>
            </a:r>
            <a:br>
              <a:rPr lang="it-IT" altLang="it-IT" sz="1800" b="0" dirty="0">
                <a:latin typeface="Tahoma" panose="020B0604030504040204" pitchFamily="34" charset="0"/>
              </a:rPr>
            </a:br>
            <a:r>
              <a:rPr lang="it-IT" altLang="it-IT" sz="1800" b="0" dirty="0">
                <a:latin typeface="Symbol" panose="05050102010706020507" pitchFamily="18" charset="2"/>
              </a:rPr>
              <a:t>a=b?</a:t>
            </a: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5724128" y="2020680"/>
            <a:ext cx="13758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it-IT" altLang="it-IT" sz="1800" b="0" dirty="0" err="1">
                <a:latin typeface="Tahoma" panose="020B0604030504040204" pitchFamily="34" charset="0"/>
              </a:rPr>
              <a:t>Lookup</a:t>
            </a:r>
            <a:r>
              <a:rPr lang="it-IT" altLang="it-IT" sz="1800" b="0" dirty="0">
                <a:latin typeface="Tahoma" panose="020B0604030504040204" pitchFamily="34" charset="0"/>
              </a:rPr>
              <a:t> GB</a:t>
            </a:r>
          </a:p>
        </p:txBody>
      </p:sp>
      <p:sp>
        <p:nvSpPr>
          <p:cNvPr id="13" name="Freccia in giù 12"/>
          <p:cNvSpPr/>
          <p:nvPr/>
        </p:nvSpPr>
        <p:spPr bwMode="auto">
          <a:xfrm flipV="1">
            <a:off x="6792671" y="2894068"/>
            <a:ext cx="191597" cy="1795644"/>
          </a:xfrm>
          <a:prstGeom prst="downArrow">
            <a:avLst/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5" name="Freccia in giù 24"/>
          <p:cNvSpPr/>
          <p:nvPr/>
        </p:nvSpPr>
        <p:spPr bwMode="auto">
          <a:xfrm rot="5400000" flipH="1" flipV="1">
            <a:off x="7271970" y="2620688"/>
            <a:ext cx="195815" cy="378358"/>
          </a:xfrm>
          <a:prstGeom prst="downArrow">
            <a:avLst/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6" name="Freccia in giù 25"/>
          <p:cNvSpPr/>
          <p:nvPr/>
        </p:nvSpPr>
        <p:spPr bwMode="auto">
          <a:xfrm>
            <a:off x="7636841" y="3335032"/>
            <a:ext cx="197986" cy="969067"/>
          </a:xfrm>
          <a:prstGeom prst="downArrow">
            <a:avLst/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7" name="Segnaposto contenuto 2"/>
          <p:cNvSpPr>
            <a:spLocks noGrp="1"/>
          </p:cNvSpPr>
          <p:nvPr>
            <p:ph idx="1"/>
          </p:nvPr>
        </p:nvSpPr>
        <p:spPr>
          <a:xfrm>
            <a:off x="445661" y="4555305"/>
            <a:ext cx="4714292" cy="719286"/>
          </a:xfrm>
        </p:spPr>
        <p:txBody>
          <a:bodyPr/>
          <a:lstStyle/>
          <a:p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User-side: no </a:t>
            </a:r>
            <a:r>
              <a:rPr lang="it-IT" sz="2800" dirty="0" err="1">
                <a:latin typeface="Arial" panose="020B0604020202020204" pitchFamily="34" charset="0"/>
                <a:cs typeface="Arial" panose="020B0604020202020204" pitchFamily="34" charset="0"/>
              </a:rPr>
              <a:t>changes</a:t>
            </a:r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1800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9" grpId="0"/>
      <p:bldP spid="31" grpId="0"/>
      <p:bldP spid="32" grpId="0"/>
      <p:bldP spid="33" grpId="0" animBg="1"/>
      <p:bldP spid="35" grpId="0"/>
      <p:bldP spid="23" grpId="0"/>
      <p:bldP spid="13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/>
              <a:t>And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CHAP?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113213"/>
            <a:ext cx="7162564" cy="21955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 dirty="0"/>
              <a:t>No way to compute H(</a:t>
            </a:r>
            <a:r>
              <a:rPr lang="it-IT" altLang="it-IT" sz="2000" dirty="0" err="1"/>
              <a:t>pw</a:t>
            </a:r>
            <a:r>
              <a:rPr lang="it-IT" altLang="it-IT" sz="2000" dirty="0"/>
              <a:t>, </a:t>
            </a:r>
            <a:r>
              <a:rPr lang="it-IT" altLang="it-IT" sz="2000" dirty="0" err="1"/>
              <a:t>challenge</a:t>
            </a:r>
            <a:r>
              <a:rPr lang="it-IT" altLang="it-IT" sz="2000" dirty="0"/>
              <a:t>) </a:t>
            </a:r>
            <a:r>
              <a:rPr lang="it-IT" altLang="it-IT" sz="2000" dirty="0" err="1"/>
              <a:t>without</a:t>
            </a:r>
            <a:r>
              <a:rPr lang="it-IT" altLang="it-IT" sz="2000" dirty="0"/>
              <a:t> </a:t>
            </a:r>
            <a:r>
              <a:rPr lang="it-IT" altLang="it-IT" sz="2000" dirty="0" err="1"/>
              <a:t>having</a:t>
            </a:r>
            <a:r>
              <a:rPr lang="it-IT" altLang="it-IT" sz="2000" dirty="0"/>
              <a:t> </a:t>
            </a:r>
            <a:r>
              <a:rPr lang="it-IT" altLang="it-IT" sz="2000" dirty="0" err="1"/>
              <a:t>pw</a:t>
            </a:r>
            <a:r>
              <a:rPr lang="it-IT" altLang="it-IT" sz="2000" dirty="0"/>
              <a:t> in </a:t>
            </a:r>
            <a:r>
              <a:rPr lang="it-IT" altLang="it-IT" sz="2000" dirty="0" err="1"/>
              <a:t>clear</a:t>
            </a:r>
            <a:r>
              <a:rPr lang="it-IT" altLang="it-IT" sz="2000" dirty="0"/>
              <a:t>!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000" dirty="0" err="1"/>
              <a:t>Consequence</a:t>
            </a:r>
            <a:r>
              <a:rPr lang="it-IT" altLang="it-IT" sz="2000" dirty="0"/>
              <a:t>: </a:t>
            </a:r>
            <a:r>
              <a:rPr lang="it-IT" altLang="it-IT" sz="2000" dirty="0" err="1"/>
              <a:t>user</a:t>
            </a:r>
            <a:r>
              <a:rPr lang="it-IT" altLang="it-IT" sz="2000" dirty="0"/>
              <a:t> DB must </a:t>
            </a:r>
            <a:r>
              <a:rPr lang="it-IT" altLang="it-IT" sz="2000" dirty="0" err="1"/>
              <a:t>remain</a:t>
            </a:r>
            <a:r>
              <a:rPr lang="it-IT" altLang="it-IT" sz="2000" dirty="0"/>
              <a:t> in </a:t>
            </a:r>
            <a:r>
              <a:rPr lang="it-IT" altLang="it-IT" sz="2000" dirty="0" err="1"/>
              <a:t>clear</a:t>
            </a:r>
            <a:r>
              <a:rPr lang="it-IT" altLang="it-IT" sz="2000" dirty="0"/>
              <a:t> </a:t>
            </a:r>
            <a:r>
              <a:rPr lang="it-IT" altLang="it-IT" sz="2000" dirty="0">
                <a:sym typeface="Wingdings" panose="05000000000000000000" pitchFamily="2" charset="2"/>
              </a:rPr>
              <a:t> </a:t>
            </a:r>
            <a:r>
              <a:rPr lang="it-IT" altLang="it-IT" sz="2000" dirty="0" err="1"/>
              <a:t>straightforward</a:t>
            </a:r>
            <a:r>
              <a:rPr lang="it-IT" altLang="it-IT" sz="2000" dirty="0"/>
              <a:t> target for </a:t>
            </a:r>
            <a:r>
              <a:rPr lang="it-IT" altLang="it-IT" sz="2000" dirty="0" err="1"/>
              <a:t>attack</a:t>
            </a:r>
            <a:r>
              <a:rPr lang="it-IT" altLang="it-IT" sz="2000" dirty="0"/>
              <a:t>!</a:t>
            </a:r>
          </a:p>
          <a:p>
            <a:pPr eaLnBrk="1" hangingPunct="1">
              <a:lnSpc>
                <a:spcPct val="80000"/>
              </a:lnSpc>
            </a:pPr>
            <a:endParaRPr lang="it-IT" altLang="it-IT" sz="2000" dirty="0"/>
          </a:p>
          <a:p>
            <a:pPr eaLnBrk="1" hangingPunct="1">
              <a:lnSpc>
                <a:spcPct val="80000"/>
              </a:lnSpc>
            </a:pPr>
            <a:r>
              <a:rPr lang="it-IT" altLang="it-IT" sz="2000" dirty="0" err="1">
                <a:solidFill>
                  <a:srgbClr val="FF0000"/>
                </a:solidFill>
              </a:rPr>
              <a:t>Conclusion</a:t>
            </a:r>
            <a:r>
              <a:rPr lang="it-IT" altLang="it-IT" sz="2000" dirty="0">
                <a:solidFill>
                  <a:srgbClr val="FF0000"/>
                </a:solidFill>
              </a:rPr>
              <a:t>: CHAP </a:t>
            </a:r>
            <a:r>
              <a:rPr lang="it-IT" altLang="it-IT" sz="2000" dirty="0" err="1">
                <a:solidFill>
                  <a:srgbClr val="FF0000"/>
                </a:solidFill>
              </a:rPr>
              <a:t>is</a:t>
            </a:r>
            <a:r>
              <a:rPr lang="it-IT" altLang="it-IT" sz="2000" dirty="0">
                <a:solidFill>
                  <a:srgbClr val="FF0000"/>
                </a:solidFill>
              </a:rPr>
              <a:t> </a:t>
            </a:r>
            <a:r>
              <a:rPr lang="it-IT" altLang="it-IT" sz="2000" dirty="0" err="1">
                <a:solidFill>
                  <a:srgbClr val="FF0000"/>
                </a:solidFill>
              </a:rPr>
              <a:t>worse</a:t>
            </a:r>
            <a:r>
              <a:rPr lang="it-IT" altLang="it-IT" sz="2000" dirty="0">
                <a:solidFill>
                  <a:srgbClr val="FF0000"/>
                </a:solidFill>
              </a:rPr>
              <a:t> </a:t>
            </a:r>
            <a:r>
              <a:rPr lang="it-IT" altLang="it-IT" sz="2000" dirty="0" err="1">
                <a:solidFill>
                  <a:srgbClr val="FF0000"/>
                </a:solidFill>
              </a:rPr>
              <a:t>than</a:t>
            </a:r>
            <a:r>
              <a:rPr lang="it-IT" altLang="it-IT" sz="2000" dirty="0">
                <a:solidFill>
                  <a:srgbClr val="FF0000"/>
                </a:solidFill>
              </a:rPr>
              <a:t> PAP </a:t>
            </a:r>
            <a:r>
              <a:rPr lang="it-IT" altLang="it-IT" sz="2000" dirty="0" err="1">
                <a:solidFill>
                  <a:srgbClr val="FF0000"/>
                </a:solidFill>
              </a:rPr>
              <a:t>against</a:t>
            </a:r>
            <a:r>
              <a:rPr lang="it-IT" altLang="it-IT" sz="2000" dirty="0">
                <a:solidFill>
                  <a:srgbClr val="FF0000"/>
                </a:solidFill>
              </a:rPr>
              <a:t> a </a:t>
            </a:r>
            <a:r>
              <a:rPr lang="it-IT" altLang="it-IT" sz="2000" dirty="0" err="1">
                <a:solidFill>
                  <a:srgbClr val="FF0000"/>
                </a:solidFill>
              </a:rPr>
              <a:t>backend</a:t>
            </a:r>
            <a:r>
              <a:rPr lang="it-IT" altLang="it-IT" sz="2000" dirty="0">
                <a:solidFill>
                  <a:srgbClr val="FF0000"/>
                </a:solidFill>
              </a:rPr>
              <a:t> </a:t>
            </a:r>
            <a:r>
              <a:rPr lang="it-IT" altLang="it-IT" sz="2000" dirty="0" err="1">
                <a:solidFill>
                  <a:srgbClr val="FF0000"/>
                </a:solidFill>
              </a:rPr>
              <a:t>attack</a:t>
            </a:r>
            <a:r>
              <a:rPr lang="it-IT" altLang="it-IT" sz="2000" dirty="0">
                <a:solidFill>
                  <a:srgbClr val="FF0000"/>
                </a:solidFill>
              </a:rPr>
              <a:t> model!!</a:t>
            </a:r>
          </a:p>
        </p:txBody>
      </p:sp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6157528" y="1089025"/>
          <a:ext cx="1252538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3" imgW="1562100" imgH="5059363" progId="MS_ClipArt_Gallery.2">
                  <p:embed/>
                </p:oleObj>
              </mc:Choice>
              <mc:Fallback>
                <p:oleObj name="ClipArt" r:id="rId3" imgW="1562100" imgH="5059363" progId="MS_ClipArt_Gallery.2">
                  <p:embed/>
                  <p:pic>
                    <p:nvPicPr>
                      <p:cNvPr id="450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7528" y="1089025"/>
                        <a:ext cx="1252538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AutoShape 5"/>
          <p:cNvSpPr>
            <a:spLocks noChangeArrowheads="1"/>
          </p:cNvSpPr>
          <p:nvPr/>
        </p:nvSpPr>
        <p:spPr bwMode="auto">
          <a:xfrm flipH="1">
            <a:off x="1799841" y="1449388"/>
            <a:ext cx="4248150" cy="720725"/>
          </a:xfrm>
          <a:prstGeom prst="rightArrow">
            <a:avLst>
              <a:gd name="adj1" fmla="val 68463"/>
              <a:gd name="adj2" fmla="val 45953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CHALLENGE = 135623</a:t>
            </a:r>
          </a:p>
        </p:txBody>
      </p:sp>
      <p:pic>
        <p:nvPicPr>
          <p:cNvPr id="4506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16" y="1341438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3" name="AutoShape 7"/>
          <p:cNvSpPr>
            <a:spLocks noChangeArrowheads="1"/>
          </p:cNvSpPr>
          <p:nvPr/>
        </p:nvSpPr>
        <p:spPr bwMode="auto">
          <a:xfrm>
            <a:off x="1872866" y="2276475"/>
            <a:ext cx="4175125" cy="720725"/>
          </a:xfrm>
          <a:prstGeom prst="rightArrow">
            <a:avLst>
              <a:gd name="adj1" fmla="val 68463"/>
              <a:gd name="adj2" fmla="val 45164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anose="020B0606020202030204" pitchFamily="34" charset="0"/>
              </a:rPr>
              <a:t>RESPONSE = Flavia, H(</a:t>
            </a:r>
            <a:r>
              <a:rPr lang="it-IT" altLang="it-IT" sz="1800" dirty="0" err="1">
                <a:latin typeface="Arial Narrow" panose="020B0606020202030204" pitchFamily="34" charset="0"/>
              </a:rPr>
              <a:t>mypass</a:t>
            </a:r>
            <a:r>
              <a:rPr lang="it-IT" altLang="it-IT" sz="1800" dirty="0">
                <a:latin typeface="Arial Narrow" panose="020B0606020202030204" pitchFamily="34" charset="0"/>
              </a:rPr>
              <a:t> | 135623)</a:t>
            </a:r>
          </a:p>
        </p:txBody>
      </p:sp>
      <p:sp>
        <p:nvSpPr>
          <p:cNvPr id="45064" name="AutoShape 8"/>
          <p:cNvSpPr>
            <a:spLocks noChangeArrowheads="1"/>
          </p:cNvSpPr>
          <p:nvPr/>
        </p:nvSpPr>
        <p:spPr bwMode="auto">
          <a:xfrm flipH="1">
            <a:off x="1799841" y="3068638"/>
            <a:ext cx="4248150" cy="720725"/>
          </a:xfrm>
          <a:prstGeom prst="rightArrow">
            <a:avLst>
              <a:gd name="adj1" fmla="val 68463"/>
              <a:gd name="adj2" fmla="val 45953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ACK or NACK</a:t>
            </a:r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7596336" y="2348880"/>
            <a:ext cx="1368425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User Database</a:t>
            </a:r>
          </a:p>
        </p:txBody>
      </p:sp>
      <p:sp>
        <p:nvSpPr>
          <p:cNvPr id="45066" name="Rectangle 10"/>
          <p:cNvSpPr>
            <a:spLocks noChangeArrowheads="1"/>
          </p:cNvSpPr>
          <p:nvPr/>
        </p:nvSpPr>
        <p:spPr bwMode="auto">
          <a:xfrm>
            <a:off x="7596336" y="2745755"/>
            <a:ext cx="684212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  <p:sp>
        <p:nvSpPr>
          <p:cNvPr id="45067" name="Rectangle 11"/>
          <p:cNvSpPr>
            <a:spLocks noChangeArrowheads="1"/>
          </p:cNvSpPr>
          <p:nvPr/>
        </p:nvSpPr>
        <p:spPr bwMode="auto">
          <a:xfrm>
            <a:off x="8280548" y="2744168"/>
            <a:ext cx="684213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  <p:sp>
        <p:nvSpPr>
          <p:cNvPr id="45068" name="Rectangle 12"/>
          <p:cNvSpPr>
            <a:spLocks noChangeArrowheads="1"/>
          </p:cNvSpPr>
          <p:nvPr/>
        </p:nvSpPr>
        <p:spPr bwMode="auto">
          <a:xfrm>
            <a:off x="7596336" y="3141043"/>
            <a:ext cx="684212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flavia</a:t>
            </a:r>
          </a:p>
        </p:txBody>
      </p:sp>
      <p:sp>
        <p:nvSpPr>
          <p:cNvPr id="45069" name="Rectangle 13"/>
          <p:cNvSpPr>
            <a:spLocks noChangeArrowheads="1"/>
          </p:cNvSpPr>
          <p:nvPr/>
        </p:nvSpPr>
        <p:spPr bwMode="auto">
          <a:xfrm>
            <a:off x="8280548" y="3139455"/>
            <a:ext cx="684213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mypass</a:t>
            </a:r>
          </a:p>
        </p:txBody>
      </p:sp>
      <p:sp>
        <p:nvSpPr>
          <p:cNvPr id="45070" name="Rectangle 14"/>
          <p:cNvSpPr>
            <a:spLocks noChangeArrowheads="1"/>
          </p:cNvSpPr>
          <p:nvPr/>
        </p:nvSpPr>
        <p:spPr bwMode="auto">
          <a:xfrm>
            <a:off x="7596336" y="3537918"/>
            <a:ext cx="684212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  <p:sp>
        <p:nvSpPr>
          <p:cNvPr id="45071" name="Rectangle 15"/>
          <p:cNvSpPr>
            <a:spLocks noChangeArrowheads="1"/>
          </p:cNvSpPr>
          <p:nvPr/>
        </p:nvSpPr>
        <p:spPr bwMode="auto">
          <a:xfrm>
            <a:off x="8280548" y="3536330"/>
            <a:ext cx="684213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039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Take home:</a:t>
            </a:r>
            <a:br>
              <a:rPr lang="it-IT" dirty="0"/>
            </a:br>
            <a:r>
              <a:rPr lang="it-IT" sz="3200" dirty="0" err="1"/>
              <a:t>it</a:t>
            </a:r>
            <a:r>
              <a:rPr lang="it-IT" sz="3200" dirty="0"/>
              <a:t> </a:t>
            </a:r>
            <a:r>
              <a:rPr lang="it-IT" sz="3200" dirty="0" err="1"/>
              <a:t>all</a:t>
            </a:r>
            <a:r>
              <a:rPr lang="it-IT" sz="3200" dirty="0"/>
              <a:t> </a:t>
            </a:r>
            <a:r>
              <a:rPr lang="it-IT" sz="3200" dirty="0" err="1"/>
              <a:t>depends</a:t>
            </a:r>
            <a:r>
              <a:rPr lang="it-IT" sz="3200" dirty="0"/>
              <a:t> on </a:t>
            </a:r>
            <a:r>
              <a:rPr lang="it-IT" sz="3200" dirty="0" err="1"/>
              <a:t>attacker’s</a:t>
            </a:r>
            <a:r>
              <a:rPr lang="it-IT" sz="3200" dirty="0"/>
              <a:t> model!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772816"/>
            <a:ext cx="7956884" cy="3960440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In security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NO «best» </a:t>
            </a:r>
            <a:r>
              <a:rPr lang="it-IT" dirty="0" err="1"/>
              <a:t>algorithm</a:t>
            </a:r>
            <a:endParaRPr lang="it-IT" dirty="0"/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Solutions must be </a:t>
            </a:r>
            <a:r>
              <a:rPr lang="it-IT" b="1" dirty="0" err="1">
                <a:solidFill>
                  <a:srgbClr val="FF0000"/>
                </a:solidFill>
              </a:rPr>
              <a:t>adapted</a:t>
            </a:r>
            <a:r>
              <a:rPr lang="it-IT" b="1" dirty="0">
                <a:solidFill>
                  <a:srgbClr val="FF0000"/>
                </a:solidFill>
              </a:rPr>
              <a:t> to </a:t>
            </a:r>
            <a:r>
              <a:rPr lang="it-IT" b="1" dirty="0" err="1">
                <a:solidFill>
                  <a:srgbClr val="FF0000"/>
                </a:solidFill>
              </a:rPr>
              <a:t>threat</a:t>
            </a:r>
            <a:r>
              <a:rPr lang="it-IT" b="1" dirty="0">
                <a:solidFill>
                  <a:srgbClr val="FF0000"/>
                </a:solidFill>
              </a:rPr>
              <a:t> model</a:t>
            </a:r>
          </a:p>
          <a:p>
            <a:pPr lvl="5"/>
            <a:endParaRPr lang="it-IT" b="1" dirty="0">
              <a:solidFill>
                <a:srgbClr val="FF0000"/>
              </a:solidFill>
            </a:endParaRPr>
          </a:p>
          <a:p>
            <a:pPr lvl="5"/>
            <a:endParaRPr lang="it-IT" b="1" dirty="0">
              <a:solidFill>
                <a:srgbClr val="FF0000"/>
              </a:solidFill>
            </a:endParaRPr>
          </a:p>
          <a:p>
            <a:pPr lvl="5"/>
            <a:endParaRPr lang="it-IT" b="1" dirty="0">
              <a:solidFill>
                <a:srgbClr val="FF0000"/>
              </a:solidFill>
            </a:endParaRPr>
          </a:p>
          <a:p>
            <a:r>
              <a:rPr lang="it-IT" b="1" dirty="0" err="1"/>
              <a:t>If</a:t>
            </a:r>
            <a:r>
              <a:rPr lang="it-IT" b="1" dirty="0"/>
              <a:t> </a:t>
            </a:r>
            <a:r>
              <a:rPr lang="it-IT" b="1" dirty="0" err="1"/>
              <a:t>Attacker</a:t>
            </a:r>
            <a:r>
              <a:rPr lang="it-IT" b="1" dirty="0"/>
              <a:t> = </a:t>
            </a:r>
            <a:r>
              <a:rPr lang="it-IT" b="1" dirty="0" err="1"/>
              <a:t>eavesdropper</a:t>
            </a:r>
            <a:r>
              <a:rPr lang="it-IT" b="1" dirty="0"/>
              <a:t>, </a:t>
            </a:r>
            <a:r>
              <a:rPr lang="it-IT" b="1" dirty="0" err="1"/>
              <a:t>then</a:t>
            </a:r>
            <a:r>
              <a:rPr lang="it-IT" b="1" dirty="0"/>
              <a:t> CHAP </a:t>
            </a:r>
            <a:r>
              <a:rPr lang="it-IT" b="1" dirty="0" err="1"/>
              <a:t>better</a:t>
            </a:r>
            <a:endParaRPr lang="it-IT" b="1" dirty="0"/>
          </a:p>
          <a:p>
            <a:endParaRPr lang="it-IT" b="1" dirty="0"/>
          </a:p>
          <a:p>
            <a:r>
              <a:rPr lang="it-IT" b="1" dirty="0"/>
              <a:t>But </a:t>
            </a:r>
            <a:r>
              <a:rPr lang="it-IT" b="1" dirty="0" err="1"/>
              <a:t>if</a:t>
            </a:r>
            <a:r>
              <a:rPr lang="it-IT" b="1" dirty="0"/>
              <a:t> </a:t>
            </a:r>
            <a:r>
              <a:rPr lang="it-IT" b="1" dirty="0" err="1"/>
              <a:t>Attacker</a:t>
            </a:r>
            <a:r>
              <a:rPr lang="it-IT" b="1" dirty="0"/>
              <a:t> = </a:t>
            </a:r>
            <a:r>
              <a:rPr lang="it-IT" b="1" dirty="0" err="1"/>
              <a:t>backend</a:t>
            </a:r>
            <a:r>
              <a:rPr lang="it-IT" b="1" dirty="0"/>
              <a:t>, </a:t>
            </a:r>
            <a:r>
              <a:rPr lang="it-IT" b="1" dirty="0" err="1"/>
              <a:t>then</a:t>
            </a:r>
            <a:r>
              <a:rPr lang="it-IT" b="1" dirty="0"/>
              <a:t> PAP </a:t>
            </a:r>
            <a:r>
              <a:rPr lang="it-IT" b="1" dirty="0" err="1"/>
              <a:t>better</a:t>
            </a:r>
            <a:r>
              <a:rPr lang="it-IT" b="1" dirty="0"/>
              <a:t>!</a:t>
            </a:r>
          </a:p>
          <a:p>
            <a:endParaRPr lang="it-IT" b="1" dirty="0"/>
          </a:p>
          <a:p>
            <a:r>
              <a:rPr lang="it-IT" sz="2800" dirty="0" err="1">
                <a:solidFill>
                  <a:srgbClr val="FF0000"/>
                </a:solidFill>
              </a:rPr>
              <a:t>Hence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there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is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not</a:t>
            </a:r>
            <a:r>
              <a:rPr lang="it-IT" sz="2800" dirty="0">
                <a:solidFill>
                  <a:srgbClr val="FF0000"/>
                </a:solidFill>
              </a:rPr>
              <a:t> a «single» </a:t>
            </a:r>
            <a:r>
              <a:rPr lang="it-IT" sz="2800" dirty="0" err="1">
                <a:solidFill>
                  <a:srgbClr val="FF0000"/>
                </a:solidFill>
              </a:rPr>
              <a:t>solution</a:t>
            </a:r>
            <a:r>
              <a:rPr lang="it-IT" sz="2800" dirty="0">
                <a:solidFill>
                  <a:srgbClr val="FF0000"/>
                </a:solidFill>
              </a:rPr>
              <a:t>, </a:t>
            </a:r>
            <a:r>
              <a:rPr lang="it-IT" sz="2800" dirty="0" err="1">
                <a:solidFill>
                  <a:srgbClr val="FF0000"/>
                </a:solidFill>
              </a:rPr>
              <a:t>but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all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depends</a:t>
            </a:r>
            <a:r>
              <a:rPr lang="it-IT" sz="2800" dirty="0">
                <a:solidFill>
                  <a:srgbClr val="FF0000"/>
                </a:solidFill>
              </a:rPr>
              <a:t> on </a:t>
            </a:r>
            <a:r>
              <a:rPr lang="it-IT" sz="2800" dirty="0" err="1">
                <a:solidFill>
                  <a:srgbClr val="FF0000"/>
                </a:solidFill>
              </a:rPr>
              <a:t>which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attack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you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aim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at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defending</a:t>
            </a:r>
            <a:endParaRPr lang="it-IT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25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" y="225425"/>
            <a:ext cx="8239125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CHAP </a:t>
            </a:r>
            <a:r>
              <a:rPr lang="it-IT" dirty="0" err="1"/>
              <a:t>Mitigation</a:t>
            </a:r>
            <a:r>
              <a:rPr lang="it-IT" dirty="0"/>
              <a:t>: (explicit) “</a:t>
            </a:r>
            <a:r>
              <a:rPr lang="it-IT" dirty="0" err="1"/>
              <a:t>salt</a:t>
            </a:r>
            <a:r>
              <a:rPr lang="it-IT" dirty="0"/>
              <a:t>”</a:t>
            </a:r>
          </a:p>
        </p:txBody>
      </p:sp>
      <p:graphicFrame>
        <p:nvGraphicFramePr>
          <p:cNvPr id="46083" name="Object 4"/>
          <p:cNvGraphicFramePr>
            <a:graphicFrameLocks noChangeAspect="1"/>
          </p:cNvGraphicFramePr>
          <p:nvPr/>
        </p:nvGraphicFramePr>
        <p:xfrm>
          <a:off x="7748588" y="332656"/>
          <a:ext cx="1252537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3" imgW="1562100" imgH="5059363" progId="MS_ClipArt_Gallery.2">
                  <p:embed/>
                </p:oleObj>
              </mc:Choice>
              <mc:Fallback>
                <p:oleObj name="ClipArt" r:id="rId3" imgW="1562100" imgH="5059363" progId="MS_ClipArt_Gallery.2">
                  <p:embed/>
                  <p:pic>
                    <p:nvPicPr>
                      <p:cNvPr id="4608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8588" y="332656"/>
                        <a:ext cx="1252537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4" name="AutoShape 5"/>
          <p:cNvSpPr>
            <a:spLocks noChangeArrowheads="1"/>
          </p:cNvSpPr>
          <p:nvPr/>
        </p:nvSpPr>
        <p:spPr bwMode="auto">
          <a:xfrm flipH="1">
            <a:off x="1871663" y="1088740"/>
            <a:ext cx="5761037" cy="720725"/>
          </a:xfrm>
          <a:prstGeom prst="rightArrow">
            <a:avLst>
              <a:gd name="adj1" fmla="val 68463"/>
              <a:gd name="adj2" fmla="val 62319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CHALLENGE = 135623; SALT = 9876</a:t>
            </a:r>
          </a:p>
        </p:txBody>
      </p:sp>
      <p:pic>
        <p:nvPicPr>
          <p:cNvPr id="4608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1052513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6" name="AutoShape 7"/>
          <p:cNvSpPr>
            <a:spLocks noChangeArrowheads="1"/>
          </p:cNvSpPr>
          <p:nvPr/>
        </p:nvSpPr>
        <p:spPr bwMode="auto">
          <a:xfrm>
            <a:off x="1908175" y="1808820"/>
            <a:ext cx="5688013" cy="720725"/>
          </a:xfrm>
          <a:prstGeom prst="rightArrow">
            <a:avLst>
              <a:gd name="adj1" fmla="val 68463"/>
              <a:gd name="adj2" fmla="val 61529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anose="020B0606020202030204" pitchFamily="34" charset="0"/>
              </a:rPr>
              <a:t>RESPONSE = Flavia, H(H(9876,mypass) | 135623)</a:t>
            </a:r>
          </a:p>
        </p:txBody>
      </p:sp>
      <p:sp>
        <p:nvSpPr>
          <p:cNvPr id="46087" name="AutoShape 8"/>
          <p:cNvSpPr>
            <a:spLocks noChangeArrowheads="1"/>
          </p:cNvSpPr>
          <p:nvPr/>
        </p:nvSpPr>
        <p:spPr bwMode="auto">
          <a:xfrm flipH="1">
            <a:off x="1871663" y="2528900"/>
            <a:ext cx="5761037" cy="720725"/>
          </a:xfrm>
          <a:prstGeom prst="rightArrow">
            <a:avLst>
              <a:gd name="adj1" fmla="val 68463"/>
              <a:gd name="adj2" fmla="val 62319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ACK or NACK</a:t>
            </a:r>
          </a:p>
        </p:txBody>
      </p:sp>
      <p:sp>
        <p:nvSpPr>
          <p:cNvPr id="46088" name="Rectangle 9"/>
          <p:cNvSpPr>
            <a:spLocks noChangeArrowheads="1"/>
          </p:cNvSpPr>
          <p:nvPr/>
        </p:nvSpPr>
        <p:spPr bwMode="auto">
          <a:xfrm>
            <a:off x="6299522" y="3176972"/>
            <a:ext cx="2520950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User Database: SALT=9876</a:t>
            </a:r>
          </a:p>
        </p:txBody>
      </p:sp>
      <p:sp>
        <p:nvSpPr>
          <p:cNvPr id="46089" name="Rectangle 10"/>
          <p:cNvSpPr>
            <a:spLocks noChangeArrowheads="1"/>
          </p:cNvSpPr>
          <p:nvPr/>
        </p:nvSpPr>
        <p:spPr bwMode="auto">
          <a:xfrm>
            <a:off x="6299522" y="3573847"/>
            <a:ext cx="684212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  <p:sp>
        <p:nvSpPr>
          <p:cNvPr id="46090" name="Rectangle 11"/>
          <p:cNvSpPr>
            <a:spLocks noChangeArrowheads="1"/>
          </p:cNvSpPr>
          <p:nvPr/>
        </p:nvSpPr>
        <p:spPr bwMode="auto">
          <a:xfrm>
            <a:off x="6983734" y="3572260"/>
            <a:ext cx="1836738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  <p:sp>
        <p:nvSpPr>
          <p:cNvPr id="46091" name="Rectangle 12"/>
          <p:cNvSpPr>
            <a:spLocks noChangeArrowheads="1"/>
          </p:cNvSpPr>
          <p:nvPr/>
        </p:nvSpPr>
        <p:spPr bwMode="auto">
          <a:xfrm>
            <a:off x="6299522" y="3969135"/>
            <a:ext cx="684212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flavia</a:t>
            </a:r>
          </a:p>
        </p:txBody>
      </p:sp>
      <p:sp>
        <p:nvSpPr>
          <p:cNvPr id="46092" name="Rectangle 13"/>
          <p:cNvSpPr>
            <a:spLocks noChangeArrowheads="1"/>
          </p:cNvSpPr>
          <p:nvPr/>
        </p:nvSpPr>
        <p:spPr bwMode="auto">
          <a:xfrm>
            <a:off x="6983734" y="3967547"/>
            <a:ext cx="1836738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H(9876,mypass)</a:t>
            </a:r>
          </a:p>
        </p:txBody>
      </p:sp>
      <p:sp>
        <p:nvSpPr>
          <p:cNvPr id="46093" name="Rectangle 14"/>
          <p:cNvSpPr>
            <a:spLocks noChangeArrowheads="1"/>
          </p:cNvSpPr>
          <p:nvPr/>
        </p:nvSpPr>
        <p:spPr bwMode="auto">
          <a:xfrm>
            <a:off x="6299522" y="4366010"/>
            <a:ext cx="684212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  <p:sp>
        <p:nvSpPr>
          <p:cNvPr id="46094" name="Rectangle 15"/>
          <p:cNvSpPr>
            <a:spLocks noChangeArrowheads="1"/>
          </p:cNvSpPr>
          <p:nvPr/>
        </p:nvSpPr>
        <p:spPr bwMode="auto">
          <a:xfrm>
            <a:off x="6983734" y="4364422"/>
            <a:ext cx="1836738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  <p:sp>
        <p:nvSpPr>
          <p:cNvPr id="46095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107504" y="3537359"/>
            <a:ext cx="8784976" cy="2771775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 dirty="0"/>
              <a:t>Same idea </a:t>
            </a:r>
            <a:r>
              <a:rPr lang="it-IT" altLang="it-IT" sz="2400" dirty="0" err="1"/>
              <a:t>as</a:t>
            </a:r>
            <a:r>
              <a:rPr lang="it-IT" altLang="it-IT" sz="2400" dirty="0"/>
              <a:t> «</a:t>
            </a:r>
            <a:r>
              <a:rPr lang="it-IT" altLang="it-IT" sz="2400" dirty="0" err="1"/>
              <a:t>usual</a:t>
            </a:r>
            <a:r>
              <a:rPr lang="it-IT" altLang="it-IT" sz="2400" dirty="0"/>
              <a:t>» </a:t>
            </a:r>
            <a:r>
              <a:rPr lang="it-IT" altLang="it-IT" sz="2400" dirty="0" err="1"/>
              <a:t>salt</a:t>
            </a:r>
            <a:endParaRPr lang="it-IT" altLang="it-IT" sz="24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Salt </a:t>
            </a:r>
            <a:r>
              <a:rPr lang="it-IT" altLang="it-IT" sz="2400" dirty="0" err="1"/>
              <a:t>value</a:t>
            </a:r>
            <a:r>
              <a:rPr lang="it-IT" altLang="it-IT" sz="2400" dirty="0"/>
              <a:t> </a:t>
            </a:r>
            <a:r>
              <a:rPr lang="it-IT" altLang="it-IT" sz="2400" dirty="0" err="1"/>
              <a:t>is</a:t>
            </a:r>
            <a:r>
              <a:rPr lang="it-IT" altLang="it-IT" sz="2400" dirty="0"/>
              <a:t> in </a:t>
            </a:r>
            <a:r>
              <a:rPr lang="it-IT" altLang="it-IT" sz="2400" dirty="0" err="1"/>
              <a:t>clear</a:t>
            </a:r>
            <a:r>
              <a:rPr lang="it-IT" altLang="it-IT" sz="2400" dirty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 err="1"/>
              <a:t>Store</a:t>
            </a:r>
            <a:r>
              <a:rPr lang="it-IT" altLang="it-IT" sz="2400" dirty="0"/>
              <a:t> H(</a:t>
            </a:r>
            <a:r>
              <a:rPr lang="it-IT" altLang="it-IT" sz="2400" dirty="0" err="1"/>
              <a:t>salt</a:t>
            </a:r>
            <a:r>
              <a:rPr lang="it-IT" altLang="it-IT" sz="2400" dirty="0"/>
              <a:t>, </a:t>
            </a:r>
            <a:r>
              <a:rPr lang="it-IT" altLang="it-IT" sz="2400" dirty="0" err="1"/>
              <a:t>passwd</a:t>
            </a:r>
            <a:r>
              <a:rPr lang="it-IT" altLang="it-IT" sz="2400" dirty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 dirty="0" err="1"/>
              <a:t>very</a:t>
            </a:r>
            <a:r>
              <a:rPr lang="it-IT" altLang="it-IT" sz="2400" dirty="0"/>
              <a:t> </a:t>
            </a:r>
            <a:r>
              <a:rPr lang="it-IT" altLang="it-IT" sz="2400" dirty="0" err="1"/>
              <a:t>different</a:t>
            </a:r>
            <a:r>
              <a:rPr lang="it-IT" altLang="it-IT" sz="2400" dirty="0"/>
              <a:t> </a:t>
            </a:r>
            <a:r>
              <a:rPr lang="it-IT" altLang="it-IT" sz="2400" dirty="0" err="1"/>
              <a:t>reason</a:t>
            </a:r>
            <a:r>
              <a:rPr lang="it-IT" altLang="it-IT" sz="2400" dirty="0"/>
              <a:t> and use!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 err="1"/>
              <a:t>Attacker</a:t>
            </a:r>
            <a:r>
              <a:rPr lang="it-IT" altLang="it-IT" sz="2400" dirty="0"/>
              <a:t> </a:t>
            </a:r>
            <a:r>
              <a:rPr lang="it-IT" altLang="it-IT" sz="2400" dirty="0" err="1"/>
              <a:t>cannot</a:t>
            </a:r>
            <a:r>
              <a:rPr lang="it-IT" altLang="it-IT" sz="2400" dirty="0"/>
              <a:t> </a:t>
            </a:r>
            <a:r>
              <a:rPr lang="it-IT" altLang="it-IT" sz="2400" dirty="0" err="1"/>
              <a:t>anymore</a:t>
            </a:r>
            <a:r>
              <a:rPr lang="it-IT" altLang="it-IT" sz="2400" dirty="0"/>
              <a:t> «</a:t>
            </a:r>
            <a:r>
              <a:rPr lang="it-IT" altLang="it-IT" sz="2400" dirty="0" err="1"/>
              <a:t>reuse</a:t>
            </a:r>
            <a:r>
              <a:rPr lang="it-IT" altLang="it-IT" sz="2400" dirty="0"/>
              <a:t>» </a:t>
            </a:r>
            <a:r>
              <a:rPr lang="it-IT" altLang="it-IT" sz="2400" dirty="0" err="1"/>
              <a:t>stolen</a:t>
            </a:r>
            <a:r>
              <a:rPr lang="it-IT" altLang="it-IT" sz="2400" dirty="0"/>
              <a:t> </a:t>
            </a:r>
            <a:r>
              <a:rPr lang="it-IT" altLang="it-IT" sz="2400" dirty="0" err="1"/>
              <a:t>passwd</a:t>
            </a:r>
            <a:r>
              <a:rPr lang="it-IT" altLang="it-IT" sz="2400" dirty="0"/>
              <a:t>!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b="1" dirty="0" err="1">
                <a:solidFill>
                  <a:srgbClr val="FF0000"/>
                </a:solidFill>
              </a:rPr>
              <a:t>But</a:t>
            </a:r>
            <a:r>
              <a:rPr lang="it-IT" altLang="it-IT" sz="2000" b="1" dirty="0">
                <a:solidFill>
                  <a:srgbClr val="FF0000"/>
                </a:solidFill>
              </a:rPr>
              <a:t> of </a:t>
            </a:r>
            <a:r>
              <a:rPr lang="it-IT" altLang="it-IT" sz="2000" b="1" dirty="0" err="1">
                <a:solidFill>
                  <a:srgbClr val="FF0000"/>
                </a:solidFill>
              </a:rPr>
              <a:t>course</a:t>
            </a:r>
            <a:r>
              <a:rPr lang="it-IT" altLang="it-IT" sz="2000" b="1" dirty="0">
                <a:solidFill>
                  <a:srgbClr val="FF0000"/>
                </a:solidFill>
              </a:rPr>
              <a:t> </a:t>
            </a:r>
            <a:r>
              <a:rPr lang="it-IT" altLang="it-IT" sz="2000" b="1" dirty="0" err="1">
                <a:solidFill>
                  <a:srgbClr val="FF0000"/>
                </a:solidFill>
              </a:rPr>
              <a:t>passwd</a:t>
            </a:r>
            <a:r>
              <a:rPr lang="it-IT" altLang="it-IT" sz="2000" b="1" dirty="0">
                <a:solidFill>
                  <a:srgbClr val="FF0000"/>
                </a:solidFill>
              </a:rPr>
              <a:t> </a:t>
            </a:r>
            <a:r>
              <a:rPr lang="it-IT" altLang="it-IT" sz="2000" b="1" dirty="0" err="1">
                <a:solidFill>
                  <a:srgbClr val="FF0000"/>
                </a:solidFill>
              </a:rPr>
              <a:t>strength</a:t>
            </a:r>
            <a:r>
              <a:rPr lang="it-IT" altLang="it-IT" sz="2000" b="1" dirty="0">
                <a:solidFill>
                  <a:srgbClr val="FF0000"/>
                </a:solidFill>
              </a:rPr>
              <a:t> and </a:t>
            </a:r>
            <a:r>
              <a:rPr lang="it-IT" altLang="it-IT" sz="2000" b="1" dirty="0" err="1">
                <a:solidFill>
                  <a:srgbClr val="FF0000"/>
                </a:solidFill>
              </a:rPr>
              <a:t>dictionary</a:t>
            </a:r>
            <a:r>
              <a:rPr lang="it-IT" altLang="it-IT" sz="2000" b="1" dirty="0">
                <a:solidFill>
                  <a:srgbClr val="FF0000"/>
                </a:solidFill>
              </a:rPr>
              <a:t> </a:t>
            </a:r>
            <a:r>
              <a:rPr lang="it-IT" altLang="it-IT" sz="2000" b="1" dirty="0" err="1">
                <a:solidFill>
                  <a:srgbClr val="FF0000"/>
                </a:solidFill>
              </a:rPr>
              <a:t>attacks</a:t>
            </a:r>
            <a:r>
              <a:rPr lang="it-IT" altLang="it-IT" sz="2000" b="1" dirty="0">
                <a:solidFill>
                  <a:srgbClr val="FF0000"/>
                </a:solidFill>
              </a:rPr>
              <a:t> </a:t>
            </a:r>
            <a:r>
              <a:rPr lang="it-IT" altLang="it-IT" sz="2000" b="1" dirty="0" err="1">
                <a:solidFill>
                  <a:srgbClr val="FF0000"/>
                </a:solidFill>
              </a:rPr>
              <a:t>still</a:t>
            </a:r>
            <a:r>
              <a:rPr lang="it-IT" altLang="it-IT" sz="2000" b="1" dirty="0">
                <a:solidFill>
                  <a:srgbClr val="FF0000"/>
                </a:solidFill>
              </a:rPr>
              <a:t> </a:t>
            </a:r>
            <a:r>
              <a:rPr lang="it-IT" altLang="it-IT" sz="2000" b="1" dirty="0" err="1">
                <a:solidFill>
                  <a:srgbClr val="FF0000"/>
                </a:solidFill>
              </a:rPr>
              <a:t>hold</a:t>
            </a:r>
            <a:r>
              <a:rPr lang="it-IT" altLang="it-IT" sz="2000" b="1" dirty="0">
                <a:solidFill>
                  <a:srgbClr val="FF0000"/>
                </a:solidFill>
              </a:rPr>
              <a:t>…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After a </a:t>
            </a:r>
            <a:r>
              <a:rPr lang="it-IT" altLang="it-IT" sz="2400" dirty="0" err="1"/>
              <a:t>breach</a:t>
            </a:r>
            <a:r>
              <a:rPr lang="it-IT" altLang="it-IT" sz="2400" dirty="0"/>
              <a:t> (or </a:t>
            </a:r>
            <a:r>
              <a:rPr lang="it-IT" altLang="it-IT" sz="2400" dirty="0" err="1"/>
              <a:t>periodically</a:t>
            </a:r>
            <a:r>
              <a:rPr lang="it-IT" altLang="it-IT" sz="2400" dirty="0"/>
              <a:t>), </a:t>
            </a:r>
            <a:r>
              <a:rPr lang="it-IT" altLang="it-IT" sz="2400" dirty="0" err="1"/>
              <a:t>regenerate</a:t>
            </a:r>
            <a:r>
              <a:rPr lang="it-IT" altLang="it-IT" sz="2400" dirty="0"/>
              <a:t> </a:t>
            </a:r>
            <a:r>
              <a:rPr lang="it-IT" altLang="it-IT" sz="2400" dirty="0" err="1"/>
              <a:t>entire</a:t>
            </a:r>
            <a:r>
              <a:rPr lang="it-IT" altLang="it-IT" sz="2400" dirty="0"/>
              <a:t> DB </a:t>
            </a:r>
            <a:r>
              <a:rPr lang="it-IT" altLang="it-IT" sz="2400" dirty="0" err="1"/>
              <a:t>using</a:t>
            </a:r>
            <a:r>
              <a:rPr lang="it-IT" altLang="it-IT" sz="2400" dirty="0"/>
              <a:t> new </a:t>
            </a:r>
            <a:r>
              <a:rPr lang="it-IT" altLang="it-IT" sz="2400" dirty="0" err="1"/>
              <a:t>salt</a:t>
            </a:r>
            <a:endParaRPr lang="it-IT" altLang="it-IT" sz="2400" dirty="0"/>
          </a:p>
        </p:txBody>
      </p:sp>
    </p:spTree>
    <p:extLst>
      <p:ext uri="{BB962C8B-B14F-4D97-AF65-F5344CB8AC3E}">
        <p14:creationId xmlns:p14="http://schemas.microsoft.com/office/powerpoint/2010/main" val="365240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6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6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0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0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0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0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animBg="1"/>
      <p:bldP spid="46086" grpId="0" animBg="1"/>
      <p:bldP spid="46087" grpId="0" animBg="1"/>
      <p:bldP spid="46088" grpId="0" animBg="1"/>
      <p:bldP spid="46089" grpId="0" animBg="1"/>
      <p:bldP spid="46090" grpId="0" animBg="1"/>
      <p:bldP spid="46091" grpId="0" animBg="1"/>
      <p:bldP spid="46092" grpId="0" animBg="1"/>
      <p:bldP spid="46093" grpId="0" animBg="1"/>
      <p:bldP spid="46094" grpId="0" animBg="1"/>
      <p:bldP spid="4609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1500" y="225425"/>
            <a:ext cx="8964996" cy="649288"/>
          </a:xfrm>
        </p:spPr>
        <p:txBody>
          <a:bodyPr/>
          <a:lstStyle/>
          <a:p>
            <a:r>
              <a:rPr lang="it-IT" dirty="0" err="1"/>
              <a:t>Hashed</a:t>
            </a:r>
            <a:r>
              <a:rPr lang="it-IT" dirty="0"/>
              <a:t> </a:t>
            </a:r>
            <a:r>
              <a:rPr lang="it-IT" dirty="0" err="1"/>
              <a:t>passwd</a:t>
            </a:r>
            <a:r>
              <a:rPr lang="it-IT" dirty="0"/>
              <a:t>: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hash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880828"/>
            <a:ext cx="7696200" cy="4215172"/>
          </a:xfrm>
        </p:spPr>
        <p:txBody>
          <a:bodyPr/>
          <a:lstStyle/>
          <a:p>
            <a:r>
              <a:rPr lang="it-IT" dirty="0"/>
              <a:t>Best </a:t>
            </a:r>
            <a:r>
              <a:rPr lang="it-IT" dirty="0" err="1"/>
              <a:t>crypto</a:t>
            </a:r>
            <a:r>
              <a:rPr lang="it-IT" dirty="0"/>
              <a:t>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today</a:t>
            </a:r>
            <a:r>
              <a:rPr lang="it-IT" dirty="0"/>
              <a:t>: SHA256</a:t>
            </a:r>
          </a:p>
          <a:p>
            <a:pPr lvl="1"/>
            <a:r>
              <a:rPr lang="it-IT" dirty="0" err="1"/>
              <a:t>Seems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good</a:t>
            </a:r>
            <a:r>
              <a:rPr lang="it-IT" dirty="0"/>
              <a:t> idea to use </a:t>
            </a:r>
            <a:r>
              <a:rPr lang="it-IT" dirty="0" err="1"/>
              <a:t>it</a:t>
            </a:r>
            <a:r>
              <a:rPr lang="it-IT" dirty="0"/>
              <a:t>…</a:t>
            </a:r>
          </a:p>
          <a:p>
            <a:pPr lvl="1"/>
            <a:r>
              <a:rPr lang="it-IT" b="1" dirty="0" err="1">
                <a:solidFill>
                  <a:srgbClr val="FF0000"/>
                </a:solidFill>
              </a:rPr>
              <a:t>Sure</a:t>
            </a:r>
            <a:r>
              <a:rPr lang="it-IT" b="1" dirty="0">
                <a:solidFill>
                  <a:srgbClr val="FF0000"/>
                </a:solidFill>
              </a:rPr>
              <a:t>???</a:t>
            </a:r>
          </a:p>
          <a:p>
            <a:pPr lvl="1"/>
            <a:endParaRPr lang="it-IT" b="1" dirty="0">
              <a:solidFill>
                <a:srgbClr val="FF0000"/>
              </a:solidFill>
            </a:endParaRPr>
          </a:p>
          <a:p>
            <a:pPr lvl="1"/>
            <a:r>
              <a:rPr lang="it-IT" b="1" dirty="0" err="1">
                <a:solidFill>
                  <a:srgbClr val="FF0000"/>
                </a:solidFill>
              </a:rPr>
              <a:t>Why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warning</a:t>
            </a:r>
            <a:r>
              <a:rPr lang="it-IT" b="1" dirty="0">
                <a:solidFill>
                  <a:srgbClr val="FF0000"/>
                </a:solidFill>
              </a:rPr>
              <a:t>?</a:t>
            </a:r>
          </a:p>
          <a:p>
            <a:pPr lvl="1"/>
            <a:endParaRPr lang="it-IT" dirty="0"/>
          </a:p>
          <a:p>
            <a:pPr lvl="1"/>
            <a:endParaRPr lang="it-IT" dirty="0"/>
          </a:p>
          <a:p>
            <a:endParaRPr lang="it-IT" dirty="0"/>
          </a:p>
        </p:txBody>
      </p:sp>
      <p:pic>
        <p:nvPicPr>
          <p:cNvPr id="4100" name="Picture 4" descr="Six Early-Warning Signs That Your B2B Email Marketing Campaign is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776" y="3284984"/>
            <a:ext cx="2281436" cy="228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880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592" y="1268760"/>
            <a:ext cx="2866408" cy="3210378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1500" y="225425"/>
            <a:ext cx="8964996" cy="649288"/>
          </a:xfrm>
        </p:spPr>
        <p:txBody>
          <a:bodyPr/>
          <a:lstStyle/>
          <a:p>
            <a:r>
              <a:rPr lang="it-IT" dirty="0" err="1"/>
              <a:t>Hashed</a:t>
            </a:r>
            <a:r>
              <a:rPr lang="it-IT" dirty="0"/>
              <a:t> </a:t>
            </a:r>
            <a:r>
              <a:rPr lang="it-IT" dirty="0" err="1"/>
              <a:t>passwd</a:t>
            </a:r>
            <a:r>
              <a:rPr lang="it-IT" dirty="0"/>
              <a:t> </a:t>
            </a:r>
            <a:r>
              <a:rPr lang="it-IT" dirty="0" err="1"/>
              <a:t>again</a:t>
            </a:r>
            <a:r>
              <a:rPr lang="it-IT" dirty="0"/>
              <a:t>: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hash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944724"/>
            <a:ext cx="9072500" cy="514857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/>
              <a:t>SHA256: 2 </a:t>
            </a:r>
            <a:r>
              <a:rPr lang="it-IT" dirty="0" err="1"/>
              <a:t>problems</a:t>
            </a:r>
            <a:r>
              <a:rPr lang="it-IT" dirty="0"/>
              <a:t>!</a:t>
            </a:r>
          </a:p>
          <a:p>
            <a:r>
              <a:rPr lang="it-IT" dirty="0"/>
              <a:t>1. </a:t>
            </a:r>
            <a:r>
              <a:rPr lang="it-IT" dirty="0" err="1"/>
              <a:t>Designed</a:t>
            </a:r>
            <a:r>
              <a:rPr lang="it-IT" dirty="0"/>
              <a:t> to be fast</a:t>
            </a:r>
          </a:p>
          <a:p>
            <a:pPr lvl="2"/>
            <a:r>
              <a:rPr lang="it-IT" dirty="0"/>
              <a:t>Fast </a:t>
            </a:r>
            <a:r>
              <a:rPr lang="it-IT" dirty="0" err="1"/>
              <a:t>computation</a:t>
            </a:r>
            <a:r>
              <a:rPr lang="it-IT" dirty="0"/>
              <a:t> = </a:t>
            </a:r>
            <a:r>
              <a:rPr lang="it-IT" dirty="0" err="1"/>
              <a:t>faster</a:t>
            </a:r>
            <a:r>
              <a:rPr lang="it-IT" dirty="0"/>
              <a:t> cracking!</a:t>
            </a:r>
          </a:p>
          <a:p>
            <a:r>
              <a:rPr lang="it-IT" dirty="0"/>
              <a:t>2. </a:t>
            </a:r>
            <a:r>
              <a:rPr lang="it-IT" dirty="0" err="1"/>
              <a:t>Used</a:t>
            </a:r>
            <a:r>
              <a:rPr lang="it-IT" dirty="0"/>
              <a:t> in </a:t>
            </a:r>
            <a:r>
              <a:rPr lang="it-IT" dirty="0" err="1"/>
              <a:t>Bitcoin</a:t>
            </a:r>
            <a:r>
              <a:rPr lang="it-IT" dirty="0"/>
              <a:t> </a:t>
            </a:r>
            <a:r>
              <a:rPr lang="it-IT" dirty="0" err="1"/>
              <a:t>mining</a:t>
            </a:r>
            <a:endParaRPr lang="it-IT" dirty="0"/>
          </a:p>
          <a:p>
            <a:pPr lvl="2"/>
            <a:r>
              <a:rPr lang="it-IT" dirty="0" err="1"/>
              <a:t>Today</a:t>
            </a:r>
            <a:r>
              <a:rPr lang="it-IT" dirty="0"/>
              <a:t>: </a:t>
            </a:r>
            <a:r>
              <a:rPr lang="it-IT" dirty="0" err="1"/>
              <a:t>specialized</a:t>
            </a:r>
            <a:r>
              <a:rPr lang="it-IT" dirty="0"/>
              <a:t> and cheap</a:t>
            </a:r>
            <a:br>
              <a:rPr lang="it-IT" dirty="0"/>
            </a:br>
            <a:r>
              <a:rPr lang="it-IT" b="1" dirty="0"/>
              <a:t>ultra-high performance</a:t>
            </a:r>
            <a:r>
              <a:rPr lang="it-IT" dirty="0"/>
              <a:t> </a:t>
            </a:r>
            <a:r>
              <a:rPr lang="it-IT" b="1" dirty="0"/>
              <a:t>HW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/>
              <a:t>for SHA256 </a:t>
            </a:r>
            <a:r>
              <a:rPr lang="it-IT" dirty="0" err="1"/>
              <a:t>computation</a:t>
            </a:r>
            <a:r>
              <a:rPr lang="it-IT" dirty="0"/>
              <a:t>!</a:t>
            </a:r>
          </a:p>
          <a:p>
            <a:r>
              <a:rPr lang="it-IT" sz="2800" dirty="0"/>
              <a:t>SHA256 </a:t>
            </a:r>
            <a:r>
              <a:rPr lang="it-IT" sz="2800" dirty="0" err="1"/>
              <a:t>hash</a:t>
            </a:r>
            <a:r>
              <a:rPr lang="it-IT" sz="2800" dirty="0"/>
              <a:t> </a:t>
            </a:r>
            <a:r>
              <a:rPr lang="it-IT" sz="2800" dirty="0" err="1"/>
              <a:t>rates</a:t>
            </a:r>
            <a:endParaRPr lang="it-IT" sz="2800" dirty="0"/>
          </a:p>
          <a:p>
            <a:pPr lvl="1"/>
            <a:r>
              <a:rPr lang="en-US" dirty="0"/>
              <a:t>PC: core i7 3930k</a:t>
            </a:r>
          </a:p>
          <a:p>
            <a:pPr lvl="2"/>
            <a:r>
              <a:rPr lang="en-US" dirty="0"/>
              <a:t>66.6 MH/s (~190watts)</a:t>
            </a:r>
          </a:p>
          <a:p>
            <a:pPr lvl="1"/>
            <a:r>
              <a:rPr lang="en-US" dirty="0"/>
              <a:t>Hardware (e.g. </a:t>
            </a:r>
            <a:r>
              <a:rPr lang="en-US" dirty="0" err="1"/>
              <a:t>Antminer</a:t>
            </a:r>
            <a:r>
              <a:rPr lang="en-US" dirty="0"/>
              <a:t>): @ July 2023: </a:t>
            </a:r>
          </a:p>
          <a:p>
            <a:pPr lvl="2"/>
            <a:r>
              <a:rPr lang="en-US" dirty="0" err="1"/>
              <a:t>Bitmain</a:t>
            </a:r>
            <a:r>
              <a:rPr lang="en-US" dirty="0"/>
              <a:t> </a:t>
            </a:r>
            <a:r>
              <a:rPr lang="en-US" dirty="0" err="1"/>
              <a:t>AntMiner</a:t>
            </a:r>
            <a:r>
              <a:rPr lang="en-US" dirty="0"/>
              <a:t> S19j pro: 118 TH/s (~3 kW, 2259 EUR)</a:t>
            </a:r>
          </a:p>
          <a:p>
            <a:pPr lvl="2"/>
            <a:r>
              <a:rPr lang="en-US" dirty="0" err="1"/>
              <a:t>Bitmain</a:t>
            </a:r>
            <a:r>
              <a:rPr lang="en-US" dirty="0"/>
              <a:t> </a:t>
            </a:r>
            <a:r>
              <a:rPr lang="en-US" dirty="0" err="1"/>
              <a:t>AntMiner</a:t>
            </a:r>
            <a:r>
              <a:rPr lang="en-US" dirty="0"/>
              <a:t> S19j XP: 151 TH/s (~3 kW, 3999 EUR)</a:t>
            </a:r>
          </a:p>
          <a:p>
            <a:pPr lvl="3"/>
            <a:endParaRPr lang="it-IT" b="1" dirty="0">
              <a:solidFill>
                <a:srgbClr val="FF0000"/>
              </a:solidFill>
            </a:endParaRPr>
          </a:p>
          <a:p>
            <a:pPr lvl="3"/>
            <a:r>
              <a:rPr lang="it-IT" b="1" dirty="0">
                <a:solidFill>
                  <a:srgbClr val="FF0000"/>
                </a:solidFill>
              </a:rPr>
              <a:t>0.93 seconds </a:t>
            </a:r>
            <a:r>
              <a:rPr lang="it-IT" b="1" dirty="0" err="1">
                <a:solidFill>
                  <a:srgbClr val="FF0000"/>
                </a:solidFill>
              </a:rPr>
              <a:t>average</a:t>
            </a:r>
            <a:r>
              <a:rPr lang="it-IT" b="1" dirty="0">
                <a:solidFill>
                  <a:srgbClr val="FF0000"/>
                </a:solidFill>
              </a:rPr>
              <a:t> time to brute force 8 bytes </a:t>
            </a:r>
            <a:r>
              <a:rPr lang="it-IT" b="1" dirty="0" err="1">
                <a:solidFill>
                  <a:srgbClr val="FF0000"/>
                </a:solidFill>
              </a:rPr>
              <a:t>truly</a:t>
            </a:r>
            <a:r>
              <a:rPr lang="it-IT" b="1" dirty="0">
                <a:solidFill>
                  <a:srgbClr val="FF0000"/>
                </a:solidFill>
              </a:rPr>
              <a:t> random base64 </a:t>
            </a:r>
            <a:r>
              <a:rPr lang="it-IT" b="1" dirty="0" err="1">
                <a:solidFill>
                  <a:srgbClr val="FF0000"/>
                </a:solidFill>
              </a:rPr>
              <a:t>charset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passwd</a:t>
            </a:r>
            <a:r>
              <a:rPr lang="it-IT" b="1" dirty="0">
                <a:solidFill>
                  <a:srgbClr val="FF0000"/>
                </a:solidFill>
              </a:rPr>
              <a:t>!</a:t>
            </a:r>
          </a:p>
          <a:p>
            <a:pPr lvl="3"/>
            <a:r>
              <a:rPr lang="it-IT" b="1" dirty="0">
                <a:solidFill>
                  <a:srgbClr val="FF0000"/>
                </a:solidFill>
              </a:rPr>
              <a:t>About 22 seconds for 8B </a:t>
            </a:r>
            <a:r>
              <a:rPr lang="it-IT" b="1" dirty="0" err="1">
                <a:solidFill>
                  <a:srgbClr val="FF0000"/>
                </a:solidFill>
              </a:rPr>
              <a:t>passwd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using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all</a:t>
            </a:r>
            <a:r>
              <a:rPr lang="it-IT" b="1" dirty="0">
                <a:solidFill>
                  <a:srgbClr val="FF0000"/>
                </a:solidFill>
              </a:rPr>
              <a:t> the </a:t>
            </a:r>
            <a:r>
              <a:rPr lang="it-IT" b="1" dirty="0" err="1">
                <a:solidFill>
                  <a:srgbClr val="FF0000"/>
                </a:solidFill>
              </a:rPr>
              <a:t>keyboard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chars</a:t>
            </a:r>
            <a:r>
              <a:rPr lang="it-IT" b="1" dirty="0">
                <a:solidFill>
                  <a:srgbClr val="FF0000"/>
                </a:solidFill>
              </a:rPr>
              <a:t>/symbols</a:t>
            </a:r>
          </a:p>
        </p:txBody>
      </p:sp>
    </p:spTree>
    <p:extLst>
      <p:ext uri="{BB962C8B-B14F-4D97-AF65-F5344CB8AC3E}">
        <p14:creationId xmlns:p14="http://schemas.microsoft.com/office/powerpoint/2010/main" val="417080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3508" y="116632"/>
            <a:ext cx="8928992" cy="649288"/>
          </a:xfrm>
        </p:spPr>
        <p:txBody>
          <a:bodyPr/>
          <a:lstStyle/>
          <a:p>
            <a:r>
              <a:rPr lang="it-IT" dirty="0" err="1"/>
              <a:t>Hashed</a:t>
            </a:r>
            <a:r>
              <a:rPr lang="it-IT" dirty="0"/>
              <a:t> </a:t>
            </a:r>
            <a:r>
              <a:rPr lang="it-IT" dirty="0" err="1"/>
              <a:t>passwd</a:t>
            </a:r>
            <a:r>
              <a:rPr lang="it-IT" dirty="0"/>
              <a:t>: best with slow </a:t>
            </a:r>
            <a:r>
              <a:rPr lang="it-IT" dirty="0" err="1"/>
              <a:t>hash</a:t>
            </a:r>
            <a:r>
              <a:rPr lang="it-IT" dirty="0"/>
              <a:t>!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71500" y="1052736"/>
            <a:ext cx="9145016" cy="3096344"/>
          </a:xfrm>
        </p:spPr>
        <p:txBody>
          <a:bodyPr>
            <a:normAutofit fontScale="85000" lnSpcReduction="10000"/>
          </a:bodyPr>
          <a:lstStyle/>
          <a:p>
            <a:r>
              <a:rPr lang="it-IT" sz="2800" dirty="0" err="1"/>
              <a:t>Bcrypt</a:t>
            </a:r>
            <a:r>
              <a:rPr lang="it-IT" sz="2800" dirty="0"/>
              <a:t>: </a:t>
            </a:r>
            <a:r>
              <a:rPr lang="it-IT" sz="2800" dirty="0" err="1"/>
              <a:t>designed</a:t>
            </a:r>
            <a:r>
              <a:rPr lang="it-IT" sz="2800" dirty="0"/>
              <a:t> in 1999 for </a:t>
            </a:r>
            <a:r>
              <a:rPr lang="it-IT" sz="2800" dirty="0" err="1"/>
              <a:t>unix</a:t>
            </a:r>
            <a:r>
              <a:rPr lang="it-IT" sz="2800" dirty="0"/>
              <a:t> (</a:t>
            </a:r>
            <a:r>
              <a:rPr lang="it-IT" sz="2800" dirty="0" err="1"/>
              <a:t>OpenBSD</a:t>
            </a:r>
            <a:r>
              <a:rPr lang="it-IT" sz="2800" dirty="0"/>
              <a:t>) </a:t>
            </a:r>
            <a:r>
              <a:rPr lang="it-IT" sz="2800" dirty="0" err="1"/>
              <a:t>systems</a:t>
            </a:r>
            <a:endParaRPr lang="it-IT" sz="2800" dirty="0"/>
          </a:p>
          <a:p>
            <a:pPr lvl="1"/>
            <a:r>
              <a:rPr lang="it-IT" sz="2800" dirty="0"/>
              <a:t> SPECIFICALLY (!) for password </a:t>
            </a:r>
            <a:r>
              <a:rPr lang="it-IT" sz="2800" dirty="0" err="1"/>
              <a:t>hashing</a:t>
            </a:r>
            <a:endParaRPr lang="it-IT" sz="2800" dirty="0"/>
          </a:p>
          <a:p>
            <a:r>
              <a:rPr lang="it-IT" sz="2800" dirty="0" err="1"/>
              <a:t>Includes</a:t>
            </a:r>
            <a:r>
              <a:rPr lang="it-IT" sz="2800" dirty="0"/>
              <a:t> </a:t>
            </a:r>
            <a:r>
              <a:rPr lang="it-IT" sz="2800" dirty="0" err="1"/>
              <a:t>salt</a:t>
            </a:r>
            <a:r>
              <a:rPr lang="it-IT" sz="2800" dirty="0"/>
              <a:t> + «</a:t>
            </a:r>
            <a:r>
              <a:rPr lang="it-IT" sz="2800" dirty="0" err="1"/>
              <a:t>cost</a:t>
            </a:r>
            <a:r>
              <a:rPr lang="it-IT" sz="2800" dirty="0"/>
              <a:t>» </a:t>
            </a:r>
            <a:r>
              <a:rPr lang="it-IT" sz="2800" dirty="0" err="1"/>
              <a:t>parameter</a:t>
            </a:r>
            <a:endParaRPr lang="it-IT" sz="2800" dirty="0"/>
          </a:p>
          <a:p>
            <a:pPr lvl="1"/>
            <a:r>
              <a:rPr lang="it-IT" dirty="0" err="1"/>
              <a:t>Cost</a:t>
            </a:r>
            <a:r>
              <a:rPr lang="it-IT" dirty="0"/>
              <a:t> = x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requires</a:t>
            </a:r>
            <a:r>
              <a:rPr lang="it-IT" dirty="0">
                <a:sym typeface="Wingdings" panose="05000000000000000000" pitchFamily="2" charset="2"/>
              </a:rPr>
              <a:t> 2</a:t>
            </a:r>
            <a:r>
              <a:rPr lang="it-IT" baseline="30000" dirty="0">
                <a:sym typeface="Wingdings" panose="05000000000000000000" pitchFamily="2" charset="2"/>
              </a:rPr>
              <a:t>x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iterations</a:t>
            </a:r>
            <a:r>
              <a:rPr lang="it-IT" dirty="0">
                <a:sym typeface="Wingdings" panose="05000000000000000000" pitchFamily="2" charset="2"/>
              </a:rPr>
              <a:t> - </a:t>
            </a:r>
            <a:r>
              <a:rPr lang="it-IT" dirty="0" err="1"/>
              <a:t>example</a:t>
            </a:r>
            <a:r>
              <a:rPr lang="it-IT" dirty="0"/>
              <a:t>: </a:t>
            </a:r>
          </a:p>
          <a:p>
            <a:pPr lvl="3"/>
            <a:r>
              <a:rPr lang="it-IT" dirty="0" err="1"/>
              <a:t>cost</a:t>
            </a:r>
            <a:r>
              <a:rPr lang="it-IT" dirty="0"/>
              <a:t> = 10 </a:t>
            </a:r>
            <a:r>
              <a:rPr lang="it-IT" dirty="0">
                <a:sym typeface="Wingdings" panose="05000000000000000000" pitchFamily="2" charset="2"/>
              </a:rPr>
              <a:t> o(1000) </a:t>
            </a:r>
            <a:r>
              <a:rPr lang="it-IT" dirty="0" err="1">
                <a:sym typeface="Wingdings" panose="05000000000000000000" pitchFamily="2" charset="2"/>
              </a:rPr>
              <a:t>iterations</a:t>
            </a:r>
            <a:r>
              <a:rPr lang="it-IT" dirty="0">
                <a:sym typeface="Wingdings" panose="05000000000000000000" pitchFamily="2" charset="2"/>
              </a:rPr>
              <a:t> per </a:t>
            </a:r>
            <a:r>
              <a:rPr lang="it-IT" dirty="0" err="1">
                <a:sym typeface="Wingdings" panose="05000000000000000000" pitchFamily="2" charset="2"/>
              </a:rPr>
              <a:t>hash</a:t>
            </a:r>
            <a:endParaRPr lang="it-IT" dirty="0">
              <a:sym typeface="Wingdings" panose="05000000000000000000" pitchFamily="2" charset="2"/>
            </a:endParaRPr>
          </a:p>
          <a:p>
            <a:pPr lvl="3"/>
            <a:r>
              <a:rPr lang="it-IT" dirty="0" err="1">
                <a:sym typeface="Wingdings" panose="05000000000000000000" pitchFamily="2" charset="2"/>
              </a:rPr>
              <a:t>Cost</a:t>
            </a:r>
            <a:r>
              <a:rPr lang="it-IT" dirty="0">
                <a:sym typeface="Wingdings" panose="05000000000000000000" pitchFamily="2" charset="2"/>
              </a:rPr>
              <a:t> = 13  o(10.000) </a:t>
            </a:r>
            <a:r>
              <a:rPr lang="it-IT" dirty="0" err="1">
                <a:sym typeface="Wingdings" panose="05000000000000000000" pitchFamily="2" charset="2"/>
              </a:rPr>
              <a:t>iterations</a:t>
            </a:r>
            <a:endParaRPr lang="it-IT" dirty="0">
              <a:sym typeface="Wingdings" panose="05000000000000000000" pitchFamily="2" charset="2"/>
            </a:endParaRPr>
          </a:p>
          <a:p>
            <a:r>
              <a:rPr lang="it-IT" sz="2600" dirty="0">
                <a:sym typeface="Wingdings" panose="05000000000000000000" pitchFamily="2" charset="2"/>
              </a:rPr>
              <a:t>Performance</a:t>
            </a:r>
          </a:p>
          <a:p>
            <a:pPr lvl="2"/>
            <a:r>
              <a:rPr lang="it-IT" sz="1900" dirty="0">
                <a:sym typeface="Wingdings" panose="05000000000000000000" pitchFamily="2" charset="2"/>
              </a:rPr>
              <a:t>From: 2014, https://www.usenix.org/system/files/conference/woot14/woot14-malvoni.pdf</a:t>
            </a:r>
            <a:endParaRPr lang="it-IT" sz="2400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636" y="4005064"/>
            <a:ext cx="6153753" cy="237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3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Take home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BF38B7F-9A38-7799-F820-837A7FFE8025}"/>
              </a:ext>
            </a:extLst>
          </p:cNvPr>
          <p:cNvSpPr txBox="1"/>
          <p:nvPr/>
        </p:nvSpPr>
        <p:spPr>
          <a:xfrm>
            <a:off x="647564" y="1217203"/>
            <a:ext cx="735752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3200" b="1" dirty="0" err="1">
                <a:solidFill>
                  <a:srgbClr val="FF0000"/>
                </a:solidFill>
              </a:rPr>
              <a:t>Again</a:t>
            </a:r>
            <a:r>
              <a:rPr lang="it-IT" sz="3200" b="1" dirty="0">
                <a:solidFill>
                  <a:srgbClr val="FF0000"/>
                </a:solidFill>
              </a:rPr>
              <a:t>!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Your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choice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depends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on the</a:t>
            </a:r>
            <a:r>
              <a:rPr kumimoji="0" lang="it-IT" sz="32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it-IT" sz="3200" b="1" i="0" u="none" strike="noStrike" kern="120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attacker</a:t>
            </a:r>
            <a:r>
              <a:rPr kumimoji="0" lang="it-IT" sz="32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model!!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A3542B-420F-218D-2A56-CD3EB7EA6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073" y="2636912"/>
            <a:ext cx="8382577" cy="3384376"/>
          </a:xfrm>
        </p:spPr>
        <p:txBody>
          <a:bodyPr>
            <a:normAutofit fontScale="62500" lnSpcReduction="20000"/>
          </a:bodyPr>
          <a:lstStyle/>
          <a:p>
            <a:r>
              <a:rPr lang="it-IT" sz="2800" dirty="0" err="1"/>
              <a:t>Attacker</a:t>
            </a:r>
            <a:r>
              <a:rPr lang="it-IT" sz="2800" dirty="0"/>
              <a:t> model </a:t>
            </a:r>
            <a:r>
              <a:rPr lang="it-IT" sz="2800" dirty="0" err="1"/>
              <a:t>against</a:t>
            </a:r>
            <a:r>
              <a:rPr lang="it-IT" sz="2800" dirty="0"/>
              <a:t> </a:t>
            </a:r>
            <a:r>
              <a:rPr lang="it-IT" sz="2800" dirty="0" err="1"/>
              <a:t>hashed</a:t>
            </a:r>
            <a:r>
              <a:rPr lang="it-IT" sz="2800" dirty="0"/>
              <a:t> </a:t>
            </a:r>
            <a:r>
              <a:rPr lang="it-IT" sz="2800" dirty="0" err="1"/>
              <a:t>passwd</a:t>
            </a:r>
            <a:r>
              <a:rPr lang="it-IT" sz="2800" dirty="0"/>
              <a:t> DB?</a:t>
            </a:r>
          </a:p>
          <a:p>
            <a:pPr lvl="1"/>
            <a:r>
              <a:rPr lang="it-IT" sz="2800" dirty="0"/>
              <a:t>Brute force, </a:t>
            </a:r>
            <a:r>
              <a:rPr lang="it-IT" sz="2800" dirty="0" err="1"/>
              <a:t>dictionary</a:t>
            </a:r>
            <a:endParaRPr lang="it-IT" sz="2800" dirty="0"/>
          </a:p>
          <a:p>
            <a:pPr lvl="1"/>
            <a:endParaRPr lang="it-IT" sz="2800" dirty="0"/>
          </a:p>
          <a:p>
            <a:r>
              <a:rPr lang="it-IT" sz="2800" dirty="0"/>
              <a:t>But hash </a:t>
            </a:r>
            <a:r>
              <a:rPr lang="it-IT" sz="2800" dirty="0" err="1"/>
              <a:t>functions</a:t>
            </a:r>
            <a:r>
              <a:rPr lang="it-IT" sz="2800" dirty="0"/>
              <a:t> </a:t>
            </a:r>
            <a:r>
              <a:rPr lang="it-IT" sz="2800" dirty="0" err="1"/>
              <a:t>designed</a:t>
            </a:r>
            <a:r>
              <a:rPr lang="it-IT" sz="2800" dirty="0"/>
              <a:t> for </a:t>
            </a:r>
            <a:r>
              <a:rPr lang="it-IT" sz="2800" dirty="0" err="1"/>
              <a:t>something</a:t>
            </a:r>
            <a:r>
              <a:rPr lang="it-IT" sz="2800" dirty="0"/>
              <a:t> else!</a:t>
            </a:r>
          </a:p>
          <a:p>
            <a:pPr lvl="1"/>
            <a:r>
              <a:rPr lang="it-IT" sz="2800" dirty="0" err="1"/>
              <a:t>collision</a:t>
            </a:r>
            <a:r>
              <a:rPr lang="it-IT" sz="2800" dirty="0"/>
              <a:t> </a:t>
            </a:r>
            <a:r>
              <a:rPr lang="it-IT" sz="2800" dirty="0" err="1"/>
              <a:t>resistance</a:t>
            </a:r>
            <a:r>
              <a:rPr lang="it-IT" sz="2800" dirty="0"/>
              <a:t>, </a:t>
            </a:r>
            <a:r>
              <a:rPr lang="it-IT" sz="2800" dirty="0" err="1"/>
              <a:t>pseudorandomness</a:t>
            </a:r>
            <a:endParaRPr lang="it-IT" sz="2800" dirty="0"/>
          </a:p>
          <a:p>
            <a:pPr marL="457200" lvl="1" indent="0">
              <a:buNone/>
            </a:pPr>
            <a:endParaRPr lang="it-IT" dirty="0"/>
          </a:p>
          <a:p>
            <a:r>
              <a:rPr lang="it-IT" dirty="0"/>
              <a:t>So? The </a:t>
            </a:r>
            <a:r>
              <a:rPr lang="it-IT" dirty="0" err="1"/>
              <a:t>stronger</a:t>
            </a:r>
            <a:r>
              <a:rPr lang="it-IT" dirty="0"/>
              <a:t> and best hash for </a:t>
            </a:r>
            <a:r>
              <a:rPr lang="it-IT" dirty="0" err="1"/>
              <a:t>us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SLOW one! </a:t>
            </a:r>
          </a:p>
          <a:p>
            <a:pPr lvl="1"/>
            <a:r>
              <a:rPr lang="it-IT" dirty="0"/>
              <a:t>Use a </a:t>
            </a:r>
            <a:r>
              <a:rPr lang="it-IT" dirty="0" err="1"/>
              <a:t>programmatically</a:t>
            </a:r>
            <a:r>
              <a:rPr lang="it-IT" dirty="0"/>
              <a:t> SLOW hash </a:t>
            </a:r>
            <a:r>
              <a:rPr lang="it-IT" dirty="0" err="1"/>
              <a:t>functions</a:t>
            </a:r>
            <a:r>
              <a:rPr lang="it-IT" dirty="0"/>
              <a:t>, e.g. </a:t>
            </a:r>
            <a:r>
              <a:rPr lang="it-IT" dirty="0" err="1"/>
              <a:t>classic</a:t>
            </a:r>
            <a:r>
              <a:rPr lang="it-IT" dirty="0"/>
              <a:t> Unix’ BCRYPT</a:t>
            </a:r>
          </a:p>
          <a:p>
            <a:pPr lvl="2"/>
            <a:r>
              <a:rPr lang="it-IT" dirty="0"/>
              <a:t>Include a cost </a:t>
            </a:r>
            <a:r>
              <a:rPr lang="it-IT" dirty="0" err="1"/>
              <a:t>parameter</a:t>
            </a:r>
            <a:r>
              <a:rPr lang="it-IT" dirty="0"/>
              <a:t>!! </a:t>
            </a:r>
          </a:p>
          <a:p>
            <a:pPr lvl="3"/>
            <a:r>
              <a:rPr lang="it-IT" dirty="0" err="1"/>
              <a:t>cost</a:t>
            </a:r>
            <a:r>
              <a:rPr lang="it-IT" dirty="0"/>
              <a:t> = 10 </a:t>
            </a:r>
            <a:r>
              <a:rPr lang="it-IT" dirty="0">
                <a:sym typeface="Wingdings" panose="05000000000000000000" pitchFamily="2" charset="2"/>
              </a:rPr>
              <a:t> o(1000) </a:t>
            </a:r>
            <a:r>
              <a:rPr lang="it-IT" dirty="0" err="1">
                <a:sym typeface="Wingdings" panose="05000000000000000000" pitchFamily="2" charset="2"/>
              </a:rPr>
              <a:t>iterations</a:t>
            </a:r>
            <a:r>
              <a:rPr lang="it-IT" dirty="0">
                <a:sym typeface="Wingdings" panose="05000000000000000000" pitchFamily="2" charset="2"/>
              </a:rPr>
              <a:t> per </a:t>
            </a:r>
            <a:r>
              <a:rPr lang="it-IT" dirty="0" err="1">
                <a:sym typeface="Wingdings" panose="05000000000000000000" pitchFamily="2" charset="2"/>
              </a:rPr>
              <a:t>hash</a:t>
            </a:r>
            <a:endParaRPr lang="it-IT" dirty="0">
              <a:sym typeface="Wingdings" panose="05000000000000000000" pitchFamily="2" charset="2"/>
            </a:endParaRPr>
          </a:p>
          <a:p>
            <a:pPr lvl="3"/>
            <a:r>
              <a:rPr lang="it-IT" dirty="0">
                <a:sym typeface="Wingdings" panose="05000000000000000000" pitchFamily="2" charset="2"/>
              </a:rPr>
              <a:t>Cost = 13  o(10.000) </a:t>
            </a:r>
            <a:r>
              <a:rPr lang="it-IT" dirty="0" err="1">
                <a:sym typeface="Wingdings" panose="05000000000000000000" pitchFamily="2" charset="2"/>
              </a:rPr>
              <a:t>iterations</a:t>
            </a:r>
            <a:endParaRPr lang="it-IT" dirty="0">
              <a:sym typeface="Wingdings" panose="05000000000000000000" pitchFamily="2" charset="2"/>
            </a:endParaRPr>
          </a:p>
          <a:p>
            <a:pPr lvl="1"/>
            <a:r>
              <a:rPr lang="it-IT" dirty="0" err="1">
                <a:sym typeface="Wingdings" panose="05000000000000000000" pitchFamily="2" charset="2"/>
              </a:rPr>
              <a:t>Newer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passwd-specific</a:t>
            </a:r>
            <a:r>
              <a:rPr lang="it-IT" dirty="0">
                <a:sym typeface="Wingdings" panose="05000000000000000000" pitchFamily="2" charset="2"/>
              </a:rPr>
              <a:t> hash </a:t>
            </a:r>
            <a:r>
              <a:rPr lang="it-IT" dirty="0" err="1">
                <a:sym typeface="Wingdings" panose="05000000000000000000" pitchFamily="2" charset="2"/>
              </a:rPr>
              <a:t>constructions</a:t>
            </a:r>
            <a:r>
              <a:rPr lang="it-IT" dirty="0">
                <a:sym typeface="Wingdings" panose="05000000000000000000" pitchFamily="2" charset="2"/>
              </a:rPr>
              <a:t>: </a:t>
            </a:r>
            <a:r>
              <a:rPr lang="it-IT" dirty="0"/>
              <a:t>Argon2, PBKDF2, </a:t>
            </a:r>
            <a:r>
              <a:rPr lang="it-IT" dirty="0" err="1"/>
              <a:t>etc</a:t>
            </a:r>
            <a:endParaRPr lang="it-IT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1987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ABD0CFE-A835-BDA4-C593-8DFB9E8BC3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2414699"/>
          </a:xfrm>
        </p:spPr>
        <p:txBody>
          <a:bodyPr/>
          <a:lstStyle/>
          <a:p>
            <a:pPr eaLnBrk="1" hangingPunct="1">
              <a:defRPr/>
            </a:pPr>
            <a:r>
              <a:rPr lang="it-IT" sz="3200" dirty="0" err="1"/>
              <a:t>Mutual</a:t>
            </a:r>
            <a:r>
              <a:rPr lang="it-IT" sz="3200" dirty="0"/>
              <a:t> Authentication with CHAP</a:t>
            </a:r>
            <a:br>
              <a:rPr lang="it-IT" sz="3200" dirty="0"/>
            </a:br>
            <a:br>
              <a:rPr lang="it-IT" sz="3200" dirty="0"/>
            </a:br>
            <a:br>
              <a:rPr lang="it-IT" sz="3200" dirty="0"/>
            </a:br>
            <a:r>
              <a:rPr lang="it-IT" sz="2400" dirty="0"/>
              <a:t>Take home of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lecture</a:t>
            </a:r>
            <a:r>
              <a:rPr lang="it-IT" sz="2400" dirty="0"/>
              <a:t> (</a:t>
            </a:r>
            <a:r>
              <a:rPr lang="it-IT" sz="2400" dirty="0" err="1"/>
              <a:t>again</a:t>
            </a:r>
            <a:r>
              <a:rPr lang="it-IT" sz="2400" dirty="0"/>
              <a:t>): </a:t>
            </a:r>
            <a:br>
              <a:rPr lang="it-IT" sz="2400" dirty="0"/>
            </a:br>
            <a:br>
              <a:rPr lang="it-IT" sz="2400" dirty="0"/>
            </a:br>
            <a:r>
              <a:rPr lang="it-IT" altLang="it-IT" sz="2400" dirty="0" err="1">
                <a:solidFill>
                  <a:srgbClr val="FF0000"/>
                </a:solidFill>
              </a:rPr>
              <a:t>Don’t</a:t>
            </a:r>
            <a:r>
              <a:rPr lang="it-IT" altLang="it-IT" sz="2400" dirty="0">
                <a:solidFill>
                  <a:srgbClr val="FF0000"/>
                </a:solidFill>
              </a:rPr>
              <a:t> use </a:t>
            </a:r>
            <a:r>
              <a:rPr lang="it-IT" altLang="it-IT" sz="2400" dirty="0" err="1">
                <a:solidFill>
                  <a:srgbClr val="FF0000"/>
                </a:solidFill>
              </a:rPr>
              <a:t>crypto</a:t>
            </a:r>
            <a:r>
              <a:rPr lang="it-IT" altLang="it-IT" sz="2400" dirty="0">
                <a:solidFill>
                  <a:srgbClr val="FF0000"/>
                </a:solidFill>
              </a:rPr>
              <a:t> </a:t>
            </a:r>
            <a:r>
              <a:rPr lang="it-IT" altLang="it-IT" sz="2400" dirty="0" err="1">
                <a:solidFill>
                  <a:srgbClr val="FF0000"/>
                </a:solidFill>
              </a:rPr>
              <a:t>algorithms</a:t>
            </a:r>
            <a:r>
              <a:rPr lang="it-IT" altLang="it-IT" sz="2400" dirty="0">
                <a:solidFill>
                  <a:srgbClr val="FF0000"/>
                </a:solidFill>
              </a:rPr>
              <a:t> for a </a:t>
            </a:r>
            <a:r>
              <a:rPr lang="it-IT" altLang="it-IT" sz="2400" dirty="0" err="1">
                <a:solidFill>
                  <a:srgbClr val="FF0000"/>
                </a:solidFill>
              </a:rPr>
              <a:t>different</a:t>
            </a:r>
            <a:r>
              <a:rPr lang="it-IT" altLang="it-IT" sz="2400" dirty="0">
                <a:solidFill>
                  <a:srgbClr val="FF0000"/>
                </a:solidFill>
              </a:rPr>
              <a:t> scope (</a:t>
            </a:r>
            <a:r>
              <a:rPr lang="it-IT" altLang="it-IT" sz="2400" dirty="0" err="1">
                <a:solidFill>
                  <a:srgbClr val="FF0000"/>
                </a:solidFill>
              </a:rPr>
              <a:t>even</a:t>
            </a:r>
            <a:r>
              <a:rPr lang="it-IT" altLang="it-IT" sz="2400" dirty="0">
                <a:solidFill>
                  <a:srgbClr val="FF0000"/>
                </a:solidFill>
              </a:rPr>
              <a:t> </a:t>
            </a:r>
            <a:r>
              <a:rPr lang="it-IT" altLang="it-IT" sz="2400" dirty="0" err="1">
                <a:solidFill>
                  <a:srgbClr val="FF0000"/>
                </a:solidFill>
              </a:rPr>
              <a:t>if</a:t>
            </a:r>
            <a:r>
              <a:rPr lang="it-IT" altLang="it-IT" sz="2400" dirty="0">
                <a:solidFill>
                  <a:srgbClr val="FF0000"/>
                </a:solidFill>
              </a:rPr>
              <a:t> a </a:t>
            </a:r>
            <a:r>
              <a:rPr lang="it-IT" altLang="it-IT" sz="2400" dirty="0" err="1">
                <a:solidFill>
                  <a:srgbClr val="FF0000"/>
                </a:solidFill>
              </a:rPr>
              <a:t>slightly</a:t>
            </a:r>
            <a:r>
              <a:rPr lang="it-IT" altLang="it-IT" sz="2400" dirty="0">
                <a:solidFill>
                  <a:srgbClr val="FF0000"/>
                </a:solidFill>
              </a:rPr>
              <a:t> </a:t>
            </a:r>
            <a:r>
              <a:rPr lang="it-IT" altLang="it-IT" sz="2400" dirty="0" err="1">
                <a:solidFill>
                  <a:srgbClr val="FF0000"/>
                </a:solidFill>
              </a:rPr>
              <a:t>different</a:t>
            </a:r>
            <a:r>
              <a:rPr lang="it-IT" altLang="it-IT" sz="2400" dirty="0">
                <a:solidFill>
                  <a:srgbClr val="FF0000"/>
                </a:solidFill>
              </a:rPr>
              <a:t> one!), or with </a:t>
            </a:r>
            <a:r>
              <a:rPr lang="it-IT" altLang="it-IT" sz="2400" dirty="0" err="1">
                <a:solidFill>
                  <a:srgbClr val="FF0000"/>
                </a:solidFill>
              </a:rPr>
              <a:t>different</a:t>
            </a:r>
            <a:r>
              <a:rPr lang="it-IT" altLang="it-IT" sz="2400" dirty="0">
                <a:solidFill>
                  <a:srgbClr val="FF0000"/>
                </a:solidFill>
              </a:rPr>
              <a:t> </a:t>
            </a:r>
            <a:r>
              <a:rPr lang="it-IT" altLang="it-IT" sz="2400" dirty="0" err="1">
                <a:solidFill>
                  <a:srgbClr val="FF0000"/>
                </a:solidFill>
              </a:rPr>
              <a:t>assumptions</a:t>
            </a:r>
            <a:br>
              <a:rPr lang="it-IT" altLang="it-IT" sz="2800" dirty="0"/>
            </a:br>
            <a:endParaRPr lang="it-IT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226" name="Rectangle 2">
            <a:extLst>
              <a:ext uri="{FF2B5EF4-FFF2-40B4-BE49-F238E27FC236}">
                <a16:creationId xmlns:a16="http://schemas.microsoft.com/office/drawing/2014/main" id="{5D9EA740-A22D-4D31-A906-A9AB0A4C91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/>
              <a:t>CHAP</a:t>
            </a:r>
          </a:p>
        </p:txBody>
      </p:sp>
      <p:graphicFrame>
        <p:nvGraphicFramePr>
          <p:cNvPr id="27652" name="Object 4">
            <a:extLst>
              <a:ext uri="{FF2B5EF4-FFF2-40B4-BE49-F238E27FC236}">
                <a16:creationId xmlns:a16="http://schemas.microsoft.com/office/drawing/2014/main" id="{47D62167-0B89-4ED6-8027-FB20683566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85000" y="1089025"/>
          <a:ext cx="1252538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3" imgW="1562100" imgH="5059363" progId="MS_ClipArt_Gallery.2">
                  <p:embed/>
                </p:oleObj>
              </mc:Choice>
              <mc:Fallback>
                <p:oleObj name="ClipArt" r:id="rId3" imgW="1562100" imgH="5059363" progId="MS_ClipArt_Gallery.2">
                  <p:embed/>
                  <p:pic>
                    <p:nvPicPr>
                      <p:cNvPr id="27652" name="Object 4">
                        <a:extLst>
                          <a:ext uri="{FF2B5EF4-FFF2-40B4-BE49-F238E27FC236}">
                            <a16:creationId xmlns:a16="http://schemas.microsoft.com/office/drawing/2014/main" id="{47D62167-0B89-4ED6-8027-FB20683566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0" y="1089025"/>
                        <a:ext cx="1252538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AutoShape 5">
            <a:extLst>
              <a:ext uri="{FF2B5EF4-FFF2-40B4-BE49-F238E27FC236}">
                <a16:creationId xmlns:a16="http://schemas.microsoft.com/office/drawing/2014/main" id="{77BC278B-EC21-4D2A-80D5-81F61F1CD9A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627313" y="1449388"/>
            <a:ext cx="4248150" cy="720725"/>
          </a:xfrm>
          <a:prstGeom prst="rightArrow">
            <a:avLst>
              <a:gd name="adj1" fmla="val 68463"/>
              <a:gd name="adj2" fmla="val 45953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CHALLENGE = 135623</a:t>
            </a:r>
          </a:p>
        </p:txBody>
      </p:sp>
      <p:pic>
        <p:nvPicPr>
          <p:cNvPr id="27654" name="Picture 6">
            <a:extLst>
              <a:ext uri="{FF2B5EF4-FFF2-40B4-BE49-F238E27FC236}">
                <a16:creationId xmlns:a16="http://schemas.microsoft.com/office/drawing/2014/main" id="{FD6FFA8E-A70D-4713-866B-93D4CBA4F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341438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AutoShape 7">
            <a:extLst>
              <a:ext uri="{FF2B5EF4-FFF2-40B4-BE49-F238E27FC236}">
                <a16:creationId xmlns:a16="http://schemas.microsoft.com/office/drawing/2014/main" id="{85513167-D908-4CD2-BCC3-C4F6BBF82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2276475"/>
            <a:ext cx="4175125" cy="720725"/>
          </a:xfrm>
          <a:prstGeom prst="rightArrow">
            <a:avLst>
              <a:gd name="adj1" fmla="val 68463"/>
              <a:gd name="adj2" fmla="val 45164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RESPONSE = Flavia, H(mypass | 135623)</a:t>
            </a:r>
          </a:p>
        </p:txBody>
      </p:sp>
      <p:sp>
        <p:nvSpPr>
          <p:cNvPr id="27656" name="AutoShape 8">
            <a:extLst>
              <a:ext uri="{FF2B5EF4-FFF2-40B4-BE49-F238E27FC236}">
                <a16:creationId xmlns:a16="http://schemas.microsoft.com/office/drawing/2014/main" id="{F100CD03-7AFA-492F-B3D4-146E2DFAC85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627313" y="3068638"/>
            <a:ext cx="4248150" cy="720725"/>
          </a:xfrm>
          <a:prstGeom prst="rightArrow">
            <a:avLst>
              <a:gd name="adj1" fmla="val 68463"/>
              <a:gd name="adj2" fmla="val 45953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ACK or NACK</a:t>
            </a:r>
          </a:p>
        </p:txBody>
      </p:sp>
      <p:sp>
        <p:nvSpPr>
          <p:cNvPr id="27657" name="Rectangle 9">
            <a:extLst>
              <a:ext uri="{FF2B5EF4-FFF2-40B4-BE49-F238E27FC236}">
                <a16:creationId xmlns:a16="http://schemas.microsoft.com/office/drawing/2014/main" id="{EBD03D1D-BC66-4A75-B2FD-C0A08884B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4041775"/>
            <a:ext cx="1368425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User Database</a:t>
            </a:r>
          </a:p>
        </p:txBody>
      </p:sp>
      <p:sp>
        <p:nvSpPr>
          <p:cNvPr id="27658" name="Rectangle 10">
            <a:extLst>
              <a:ext uri="{FF2B5EF4-FFF2-40B4-BE49-F238E27FC236}">
                <a16:creationId xmlns:a16="http://schemas.microsoft.com/office/drawing/2014/main" id="{B1770A8F-D63B-47B5-BBE5-1380DDBA0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4438650"/>
            <a:ext cx="684212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DDC007A1-5AA7-4598-86FA-A49AF122B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437063"/>
            <a:ext cx="684213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  <p:sp>
        <p:nvSpPr>
          <p:cNvPr id="27660" name="Rectangle 12">
            <a:extLst>
              <a:ext uri="{FF2B5EF4-FFF2-40B4-BE49-F238E27FC236}">
                <a16:creationId xmlns:a16="http://schemas.microsoft.com/office/drawing/2014/main" id="{506359CB-D59E-4B68-93E7-72860FAB5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4833938"/>
            <a:ext cx="684212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flavia</a:t>
            </a:r>
          </a:p>
        </p:txBody>
      </p:sp>
      <p:sp>
        <p:nvSpPr>
          <p:cNvPr id="27661" name="Rectangle 13">
            <a:extLst>
              <a:ext uri="{FF2B5EF4-FFF2-40B4-BE49-F238E27FC236}">
                <a16:creationId xmlns:a16="http://schemas.microsoft.com/office/drawing/2014/main" id="{7F848CE8-5CC7-4B4A-8CD9-49E5CA52E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832350"/>
            <a:ext cx="684213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mypass</a:t>
            </a:r>
          </a:p>
        </p:txBody>
      </p:sp>
      <p:sp>
        <p:nvSpPr>
          <p:cNvPr id="27662" name="Rectangle 14">
            <a:extLst>
              <a:ext uri="{FF2B5EF4-FFF2-40B4-BE49-F238E27FC236}">
                <a16:creationId xmlns:a16="http://schemas.microsoft.com/office/drawing/2014/main" id="{1F0A17F1-4605-41D5-BB12-B6B497A8F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5230813"/>
            <a:ext cx="684212" cy="3952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  <p:sp>
        <p:nvSpPr>
          <p:cNvPr id="27663" name="Rectangle 15">
            <a:extLst>
              <a:ext uri="{FF2B5EF4-FFF2-40B4-BE49-F238E27FC236}">
                <a16:creationId xmlns:a16="http://schemas.microsoft.com/office/drawing/2014/main" id="{3B8276E0-BF6F-4B8F-B03F-FA602C0B6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229225"/>
            <a:ext cx="684213" cy="3952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>
                <a:latin typeface="Arial Narrow" panose="020B0606020202030204" pitchFamily="34" charset="0"/>
              </a:rPr>
              <a:t>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274" name="Rectangle 2">
            <a:extLst>
              <a:ext uri="{FF2B5EF4-FFF2-40B4-BE49-F238E27FC236}">
                <a16:creationId xmlns:a16="http://schemas.microsoft.com/office/drawing/2014/main" id="{DB1CB67B-66A5-4613-BB12-97DE047D7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5425"/>
            <a:ext cx="7989888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sz="3200"/>
              <a:t>CHAP and mutual authentication /1</a:t>
            </a:r>
          </a:p>
        </p:txBody>
      </p:sp>
      <p:graphicFrame>
        <p:nvGraphicFramePr>
          <p:cNvPr id="29699" name="Object 4">
            <a:extLst>
              <a:ext uri="{FF2B5EF4-FFF2-40B4-BE49-F238E27FC236}">
                <a16:creationId xmlns:a16="http://schemas.microsoft.com/office/drawing/2014/main" id="{475D4B0D-49E0-43C9-B245-4B8F170639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6075" y="1089025"/>
          <a:ext cx="1252538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3" imgW="1562100" imgH="5059363" progId="MS_ClipArt_Gallery.2">
                  <p:embed/>
                </p:oleObj>
              </mc:Choice>
              <mc:Fallback>
                <p:oleObj name="ClipArt" r:id="rId3" imgW="1562100" imgH="5059363" progId="MS_ClipArt_Gallery.2">
                  <p:embed/>
                  <p:pic>
                    <p:nvPicPr>
                      <p:cNvPr id="29699" name="Object 4">
                        <a:extLst>
                          <a:ext uri="{FF2B5EF4-FFF2-40B4-BE49-F238E27FC236}">
                            <a16:creationId xmlns:a16="http://schemas.microsoft.com/office/drawing/2014/main" id="{475D4B0D-49E0-43C9-B245-4B8F170639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1089025"/>
                        <a:ext cx="1252538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AutoShape 5">
            <a:extLst>
              <a:ext uri="{FF2B5EF4-FFF2-40B4-BE49-F238E27FC236}">
                <a16:creationId xmlns:a16="http://schemas.microsoft.com/office/drawing/2014/main" id="{3767870C-CBA4-49FB-9CCC-9D0B0360CC8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871663" y="1449388"/>
            <a:ext cx="4464050" cy="720725"/>
          </a:xfrm>
          <a:prstGeom prst="rightArrow">
            <a:avLst>
              <a:gd name="adj1" fmla="val 68463"/>
              <a:gd name="adj2" fmla="val 48289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CHALLENGE = 135623</a:t>
            </a:r>
          </a:p>
        </p:txBody>
      </p:sp>
      <p:pic>
        <p:nvPicPr>
          <p:cNvPr id="29701" name="Picture 6">
            <a:extLst>
              <a:ext uri="{FF2B5EF4-FFF2-40B4-BE49-F238E27FC236}">
                <a16:creationId xmlns:a16="http://schemas.microsoft.com/office/drawing/2014/main" id="{D806A023-D2F3-4183-B5F6-DC158BDCF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1341438"/>
            <a:ext cx="1490662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AutoShape 7">
            <a:extLst>
              <a:ext uri="{FF2B5EF4-FFF2-40B4-BE49-F238E27FC236}">
                <a16:creationId xmlns:a16="http://schemas.microsoft.com/office/drawing/2014/main" id="{9B05898F-351E-4656-BC11-3430536A3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2276475"/>
            <a:ext cx="4500563" cy="720725"/>
          </a:xfrm>
          <a:prstGeom prst="rightArrow">
            <a:avLst>
              <a:gd name="adj1" fmla="val 68463"/>
              <a:gd name="adj2" fmla="val 48684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RESP: Flavia, H(sharedsecret, 135623)</a:t>
            </a:r>
          </a:p>
        </p:txBody>
      </p:sp>
      <p:sp>
        <p:nvSpPr>
          <p:cNvPr id="29703" name="AutoShape 8">
            <a:extLst>
              <a:ext uri="{FF2B5EF4-FFF2-40B4-BE49-F238E27FC236}">
                <a16:creationId xmlns:a16="http://schemas.microsoft.com/office/drawing/2014/main" id="{868E58EA-0A9E-45D1-904D-9CC28DC6A03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871663" y="3068638"/>
            <a:ext cx="4429125" cy="720725"/>
          </a:xfrm>
          <a:prstGeom prst="rightArrow">
            <a:avLst>
              <a:gd name="adj1" fmla="val 68463"/>
              <a:gd name="adj2" fmla="val 47911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ACK</a:t>
            </a:r>
          </a:p>
        </p:txBody>
      </p:sp>
      <p:sp>
        <p:nvSpPr>
          <p:cNvPr id="29704" name="AutoShape 9">
            <a:extLst>
              <a:ext uri="{FF2B5EF4-FFF2-40B4-BE49-F238E27FC236}">
                <a16:creationId xmlns:a16="http://schemas.microsoft.com/office/drawing/2014/main" id="{864F65D1-1329-462D-876D-56FE2B9A4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3897313"/>
            <a:ext cx="4464050" cy="720725"/>
          </a:xfrm>
          <a:prstGeom prst="rightArrow">
            <a:avLst>
              <a:gd name="adj1" fmla="val 68463"/>
              <a:gd name="adj2" fmla="val 48289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CHALLENGE = 324567</a:t>
            </a:r>
          </a:p>
        </p:txBody>
      </p:sp>
      <p:sp>
        <p:nvSpPr>
          <p:cNvPr id="29705" name="AutoShape 10">
            <a:extLst>
              <a:ext uri="{FF2B5EF4-FFF2-40B4-BE49-F238E27FC236}">
                <a16:creationId xmlns:a16="http://schemas.microsoft.com/office/drawing/2014/main" id="{C6F23EF0-C921-4222-9820-1B8A7F45159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547813" y="4724400"/>
            <a:ext cx="4897437" cy="720725"/>
          </a:xfrm>
          <a:prstGeom prst="rightArrow">
            <a:avLst>
              <a:gd name="adj1" fmla="val 68463"/>
              <a:gd name="adj2" fmla="val 52977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RESP: servername, H(sharedsecret, 324567)</a:t>
            </a:r>
          </a:p>
        </p:txBody>
      </p:sp>
      <p:sp>
        <p:nvSpPr>
          <p:cNvPr id="29706" name="AutoShape 11">
            <a:extLst>
              <a:ext uri="{FF2B5EF4-FFF2-40B4-BE49-F238E27FC236}">
                <a16:creationId xmlns:a16="http://schemas.microsoft.com/office/drawing/2014/main" id="{74A7AA4F-6FCE-4349-946F-CAD47CCD9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5516563"/>
            <a:ext cx="4429125" cy="720725"/>
          </a:xfrm>
          <a:prstGeom prst="rightArrow">
            <a:avLst>
              <a:gd name="adj1" fmla="val 68463"/>
              <a:gd name="adj2" fmla="val 47911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ACK</a:t>
            </a:r>
          </a:p>
        </p:txBody>
      </p:sp>
      <p:sp>
        <p:nvSpPr>
          <p:cNvPr id="29707" name="Text Box 12">
            <a:extLst>
              <a:ext uri="{FF2B5EF4-FFF2-40B4-BE49-F238E27FC236}">
                <a16:creationId xmlns:a16="http://schemas.microsoft.com/office/drawing/2014/main" id="{7439290B-8B66-4CA1-8571-0D82CF0EF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4363" y="4322763"/>
            <a:ext cx="2024062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Usage of a shared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Secret… good idea,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Arial Narrow" panose="020B0606020202030204" pitchFamily="34" charset="0"/>
              </a:rPr>
              <a:t>Easy to manage!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000" b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Good idea??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22" name="Rectangle 2">
            <a:extLst>
              <a:ext uri="{FF2B5EF4-FFF2-40B4-BE49-F238E27FC236}">
                <a16:creationId xmlns:a16="http://schemas.microsoft.com/office/drawing/2014/main" id="{AA4920A0-08C4-4A42-A62F-046E478D4D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5425"/>
            <a:ext cx="7989888" cy="649288"/>
          </a:xfrm>
        </p:spPr>
        <p:txBody>
          <a:bodyPr/>
          <a:lstStyle/>
          <a:p>
            <a:pPr eaLnBrk="1" hangingPunct="1">
              <a:defRPr/>
            </a:pPr>
            <a:r>
              <a:rPr lang="it-IT" sz="3200" dirty="0"/>
              <a:t>CHAP and </a:t>
            </a:r>
            <a:r>
              <a:rPr lang="it-IT" sz="3200" dirty="0" err="1"/>
              <a:t>mutual</a:t>
            </a:r>
            <a:r>
              <a:rPr lang="it-IT" sz="3200" dirty="0"/>
              <a:t> </a:t>
            </a:r>
            <a:r>
              <a:rPr lang="it-IT" sz="3200" dirty="0" err="1"/>
              <a:t>authentication</a:t>
            </a:r>
            <a:r>
              <a:rPr lang="it-IT" sz="3200" dirty="0"/>
              <a:t> /2</a:t>
            </a:r>
            <a:br>
              <a:rPr lang="it-IT" sz="3200" dirty="0"/>
            </a:br>
            <a:r>
              <a:rPr lang="it-IT" sz="3200" dirty="0" err="1"/>
              <a:t>Reflection</a:t>
            </a:r>
            <a:r>
              <a:rPr lang="it-IT" sz="3200" dirty="0"/>
              <a:t> </a:t>
            </a:r>
            <a:r>
              <a:rPr lang="it-IT" sz="3200" dirty="0" err="1"/>
              <a:t>attack</a:t>
            </a:r>
            <a:br>
              <a:rPr lang="it-IT" sz="3200" dirty="0"/>
            </a:br>
            <a:r>
              <a:rPr lang="it-IT" sz="1800" dirty="0"/>
              <a:t>in PPP </a:t>
            </a:r>
            <a:r>
              <a:rPr lang="it-IT" sz="1800" dirty="0" err="1"/>
              <a:t>order</a:t>
            </a:r>
            <a:r>
              <a:rPr lang="it-IT" sz="1800" dirty="0"/>
              <a:t> </a:t>
            </a:r>
            <a:r>
              <a:rPr lang="it-IT" sz="1800" dirty="0" err="1"/>
              <a:t>of</a:t>
            </a:r>
            <a:r>
              <a:rPr lang="it-IT" sz="1800" dirty="0"/>
              <a:t> </a:t>
            </a:r>
            <a:r>
              <a:rPr lang="it-IT" sz="1800" dirty="0" err="1"/>
              <a:t>messages</a:t>
            </a:r>
            <a:r>
              <a:rPr lang="it-IT" sz="1800" dirty="0"/>
              <a:t> </a:t>
            </a:r>
            <a:r>
              <a:rPr lang="it-IT" sz="1800" dirty="0" err="1"/>
              <a:t>does</a:t>
            </a:r>
            <a:r>
              <a:rPr lang="it-IT" sz="1800" dirty="0"/>
              <a:t> </a:t>
            </a:r>
            <a:r>
              <a:rPr lang="it-IT" sz="1800" dirty="0" err="1"/>
              <a:t>not</a:t>
            </a:r>
            <a:r>
              <a:rPr lang="it-IT" sz="1800" dirty="0"/>
              <a:t> </a:t>
            </a:r>
            <a:r>
              <a:rPr lang="it-IT" sz="1800" dirty="0" err="1"/>
              <a:t>count</a:t>
            </a:r>
            <a:endParaRPr lang="it-IT" sz="3200" dirty="0"/>
          </a:p>
        </p:txBody>
      </p:sp>
      <p:graphicFrame>
        <p:nvGraphicFramePr>
          <p:cNvPr id="31747" name="Object 3">
            <a:extLst>
              <a:ext uri="{FF2B5EF4-FFF2-40B4-BE49-F238E27FC236}">
                <a16:creationId xmlns:a16="http://schemas.microsoft.com/office/drawing/2014/main" id="{75B29C12-0CF5-412C-8914-2C4DD4AF63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0525" y="908050"/>
          <a:ext cx="1252538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3" imgW="1562100" imgH="5059363" progId="MS_ClipArt_Gallery.2">
                  <p:embed/>
                </p:oleObj>
              </mc:Choice>
              <mc:Fallback>
                <p:oleObj name="ClipArt" r:id="rId3" imgW="1562100" imgH="5059363" progId="MS_ClipArt_Gallery.2">
                  <p:embed/>
                  <p:pic>
                    <p:nvPicPr>
                      <p:cNvPr id="31747" name="Object 3">
                        <a:extLst>
                          <a:ext uri="{FF2B5EF4-FFF2-40B4-BE49-F238E27FC236}">
                            <a16:creationId xmlns:a16="http://schemas.microsoft.com/office/drawing/2014/main" id="{75B29C12-0CF5-412C-8914-2C4DD4AF63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0525" y="908050"/>
                        <a:ext cx="1252538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AutoShape 4">
            <a:extLst>
              <a:ext uri="{FF2B5EF4-FFF2-40B4-BE49-F238E27FC236}">
                <a16:creationId xmlns:a16="http://schemas.microsoft.com/office/drawing/2014/main" id="{17D629E5-7FC7-4C7F-91DF-057EFFCD611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55763" y="1376363"/>
            <a:ext cx="4464050" cy="720725"/>
          </a:xfrm>
          <a:prstGeom prst="rightArrow">
            <a:avLst>
              <a:gd name="adj1" fmla="val 68463"/>
              <a:gd name="adj2" fmla="val 48289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CHALLENGE = 135623</a:t>
            </a:r>
          </a:p>
        </p:txBody>
      </p:sp>
      <p:sp>
        <p:nvSpPr>
          <p:cNvPr id="31749" name="AutoShape 6">
            <a:extLst>
              <a:ext uri="{FF2B5EF4-FFF2-40B4-BE49-F238E27FC236}">
                <a16:creationId xmlns:a16="http://schemas.microsoft.com/office/drawing/2014/main" id="{2BE4345F-8C59-45CF-8002-B072C806F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724400"/>
            <a:ext cx="4500563" cy="720725"/>
          </a:xfrm>
          <a:prstGeom prst="rightArrow">
            <a:avLst>
              <a:gd name="adj1" fmla="val 68463"/>
              <a:gd name="adj2" fmla="val 48684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RESP: client, H(sharedsecret, 135623)</a:t>
            </a:r>
          </a:p>
        </p:txBody>
      </p:sp>
      <p:sp>
        <p:nvSpPr>
          <p:cNvPr id="31750" name="AutoShape 7">
            <a:extLst>
              <a:ext uri="{FF2B5EF4-FFF2-40B4-BE49-F238E27FC236}">
                <a16:creationId xmlns:a16="http://schemas.microsoft.com/office/drawing/2014/main" id="{C4CE7B7D-E640-407A-9AB4-FC53EB88575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55763" y="5480050"/>
            <a:ext cx="4429125" cy="720725"/>
          </a:xfrm>
          <a:prstGeom prst="rightArrow">
            <a:avLst>
              <a:gd name="adj1" fmla="val 68463"/>
              <a:gd name="adj2" fmla="val 47911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ACK</a:t>
            </a:r>
          </a:p>
        </p:txBody>
      </p:sp>
      <p:sp>
        <p:nvSpPr>
          <p:cNvPr id="31751" name="AutoShape 8">
            <a:extLst>
              <a:ext uri="{FF2B5EF4-FFF2-40B4-BE49-F238E27FC236}">
                <a16:creationId xmlns:a16="http://schemas.microsoft.com/office/drawing/2014/main" id="{45C9D73E-E24B-4775-8B35-7EF064F9C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239963"/>
            <a:ext cx="4464050" cy="720725"/>
          </a:xfrm>
          <a:prstGeom prst="rightArrow">
            <a:avLst>
              <a:gd name="adj1" fmla="val 68463"/>
              <a:gd name="adj2" fmla="val 48289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CHALLENGE = 135623</a:t>
            </a:r>
          </a:p>
        </p:txBody>
      </p:sp>
      <p:sp>
        <p:nvSpPr>
          <p:cNvPr id="31752" name="AutoShape 9">
            <a:extLst>
              <a:ext uri="{FF2B5EF4-FFF2-40B4-BE49-F238E27FC236}">
                <a16:creationId xmlns:a16="http://schemas.microsoft.com/office/drawing/2014/main" id="{5091B213-E0C2-4E25-A222-CD0599AD899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438275" y="3176588"/>
            <a:ext cx="4897438" cy="720725"/>
          </a:xfrm>
          <a:prstGeom prst="rightArrow">
            <a:avLst>
              <a:gd name="adj1" fmla="val 68463"/>
              <a:gd name="adj2" fmla="val 52977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RESP: servername, H(sharedsecret, 135623)</a:t>
            </a:r>
          </a:p>
        </p:txBody>
      </p:sp>
      <p:sp>
        <p:nvSpPr>
          <p:cNvPr id="31753" name="AutoShape 10">
            <a:extLst>
              <a:ext uri="{FF2B5EF4-FFF2-40B4-BE49-F238E27FC236}">
                <a16:creationId xmlns:a16="http://schemas.microsoft.com/office/drawing/2014/main" id="{DB0B1C03-1979-48C9-94EF-FE53A97B7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003675"/>
            <a:ext cx="4429125" cy="720725"/>
          </a:xfrm>
          <a:prstGeom prst="rightArrow">
            <a:avLst>
              <a:gd name="adj1" fmla="val 68463"/>
              <a:gd name="adj2" fmla="val 47911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ACK</a:t>
            </a:r>
          </a:p>
        </p:txBody>
      </p:sp>
      <p:sp>
        <p:nvSpPr>
          <p:cNvPr id="31754" name="Text Box 11">
            <a:extLst>
              <a:ext uri="{FF2B5EF4-FFF2-40B4-BE49-F238E27FC236}">
                <a16:creationId xmlns:a16="http://schemas.microsoft.com/office/drawing/2014/main" id="{94A356F0-A578-49B6-AEBF-F32FDD3CB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275" y="3735388"/>
            <a:ext cx="287337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2400" b="0" u="sng">
                <a:latin typeface="Arial Narrow" panose="020B0606020202030204" pitchFamily="34" charset="0"/>
              </a:rPr>
              <a:t>VERY risky!!</a:t>
            </a:r>
            <a:r>
              <a:rPr lang="en-US" altLang="it-IT" sz="2000" b="0">
                <a:latin typeface="Arial Narrow" panose="020B0606020202030204" pitchFamily="34" charset="0"/>
              </a:rPr>
              <a:t>.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2000" b="0">
                <a:latin typeface="Arial Narrow" panose="020B0606020202030204" pitchFamily="34" charset="0"/>
              </a:rPr>
              <a:t>Attacker: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à"/>
            </a:pPr>
            <a:r>
              <a:rPr lang="en-US" altLang="it-IT" sz="2000" b="0">
                <a:latin typeface="Arial Narrow" panose="020B0606020202030204" pitchFamily="34" charset="0"/>
              </a:rPr>
              <a:t>replays server challenge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à"/>
            </a:pPr>
            <a:r>
              <a:rPr lang="en-US" altLang="it-IT" sz="2000" b="0">
                <a:latin typeface="Arial Narrow" panose="020B0606020202030204" pitchFamily="34" charset="0"/>
              </a:rPr>
              <a:t>accept computed resp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à"/>
            </a:pPr>
            <a:r>
              <a:rPr lang="en-US" altLang="it-IT" sz="2000" b="0">
                <a:latin typeface="Arial Narrow" panose="020B0606020202030204" pitchFamily="34" charset="0"/>
              </a:rPr>
              <a:t>uses resp to authenticate!!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000" b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Without any info on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real client !!</a:t>
            </a:r>
          </a:p>
        </p:txBody>
      </p:sp>
      <p:pic>
        <p:nvPicPr>
          <p:cNvPr id="31755" name="Picture 12">
            <a:extLst>
              <a:ext uri="{FF2B5EF4-FFF2-40B4-BE49-F238E27FC236}">
                <a16:creationId xmlns:a16="http://schemas.microsoft.com/office/drawing/2014/main" id="{EBF3D4F0-33B6-4C07-A3BD-64D300ABA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7950" y="2132013"/>
            <a:ext cx="1731963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442" name="Rectangle 2">
            <a:extLst>
              <a:ext uri="{FF2B5EF4-FFF2-40B4-BE49-F238E27FC236}">
                <a16:creationId xmlns:a16="http://schemas.microsoft.com/office/drawing/2014/main" id="{00B3E85E-D2CF-E9B7-21B8-945E615F51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Yes </a:t>
            </a:r>
            <a:r>
              <a:rPr lang="it-IT" sz="3200" dirty="0" err="1"/>
              <a:t>but</a:t>
            </a:r>
            <a:r>
              <a:rPr lang="it-IT" sz="3200" dirty="0"/>
              <a:t> </a:t>
            </a:r>
            <a:r>
              <a:rPr lang="it-IT" sz="3200" dirty="0" err="1"/>
              <a:t>this</a:t>
            </a:r>
            <a:r>
              <a:rPr lang="it-IT" sz="3200" dirty="0"/>
              <a:t> </a:t>
            </a:r>
            <a:r>
              <a:rPr lang="it-IT" sz="3200" dirty="0" err="1"/>
              <a:t>happened</a:t>
            </a:r>
            <a:r>
              <a:rPr lang="it-IT" sz="3200" dirty="0"/>
              <a:t> </a:t>
            </a:r>
            <a:r>
              <a:rPr lang="it-IT" sz="3200" dirty="0" err="1"/>
              <a:t>because</a:t>
            </a:r>
            <a:r>
              <a:rPr lang="it-IT" sz="3200" dirty="0"/>
              <a:t> </a:t>
            </a:r>
            <a:r>
              <a:rPr lang="it-IT" sz="3200" dirty="0" err="1"/>
              <a:t>you</a:t>
            </a:r>
            <a:r>
              <a:rPr lang="it-IT" sz="3200" dirty="0"/>
              <a:t> </a:t>
            </a:r>
            <a:r>
              <a:rPr lang="it-IT" sz="3200" dirty="0" err="1"/>
              <a:t>used</a:t>
            </a:r>
            <a:r>
              <a:rPr lang="it-IT" sz="3200" dirty="0"/>
              <a:t> </a:t>
            </a:r>
            <a:r>
              <a:rPr lang="it-IT" sz="3200" dirty="0" err="1"/>
              <a:t>two</a:t>
            </a:r>
            <a:r>
              <a:rPr lang="it-IT" sz="3200" dirty="0"/>
              <a:t> </a:t>
            </a:r>
            <a:r>
              <a:rPr lang="it-IT" sz="3200" dirty="0" err="1"/>
              <a:t>unilateral</a:t>
            </a:r>
            <a:r>
              <a:rPr lang="it-IT" sz="3200" dirty="0"/>
              <a:t> authentication </a:t>
            </a:r>
            <a:r>
              <a:rPr lang="it-IT" sz="3200" dirty="0" err="1"/>
              <a:t>protocols</a:t>
            </a:r>
            <a:r>
              <a:rPr lang="it-IT" sz="3200" dirty="0"/>
              <a:t>!</a:t>
            </a:r>
            <a:br>
              <a:rPr lang="it-IT" sz="3200" dirty="0"/>
            </a:br>
            <a:br>
              <a:rPr lang="it-IT" sz="3200" dirty="0"/>
            </a:br>
            <a:r>
              <a:rPr lang="it-IT" sz="3200" dirty="0" err="1"/>
              <a:t>Let’s</a:t>
            </a:r>
            <a:r>
              <a:rPr lang="it-IT" sz="3200" dirty="0"/>
              <a:t> combine </a:t>
            </a:r>
            <a:r>
              <a:rPr lang="it-IT" sz="3200" dirty="0" err="1"/>
              <a:t>them</a:t>
            </a:r>
            <a:r>
              <a:rPr lang="it-IT" sz="3200" dirty="0"/>
              <a:t> </a:t>
            </a:r>
            <a:r>
              <a:rPr lang="it-IT" sz="3200" dirty="0" err="1"/>
              <a:t>into</a:t>
            </a:r>
            <a:r>
              <a:rPr lang="it-IT" sz="3200" dirty="0"/>
              <a:t> a single </a:t>
            </a:r>
            <a:r>
              <a:rPr lang="it-IT" sz="3200" dirty="0" err="1"/>
              <a:t>Mutual</a:t>
            </a:r>
            <a:r>
              <a:rPr lang="it-IT" sz="3200" dirty="0"/>
              <a:t> authentication with Challenge-</a:t>
            </a:r>
            <a:r>
              <a:rPr lang="it-IT" sz="3200" dirty="0" err="1"/>
              <a:t>Response</a:t>
            </a:r>
            <a:endParaRPr lang="it-IT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346" name="Rectangle 2">
            <a:extLst>
              <a:ext uri="{FF2B5EF4-FFF2-40B4-BE49-F238E27FC236}">
                <a16:creationId xmlns:a16="http://schemas.microsoft.com/office/drawing/2014/main" id="{BD3FEBF1-42B2-B202-956E-41DE3DF3E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err="1"/>
              <a:t>Pippo’s</a:t>
            </a:r>
            <a:r>
              <a:rPr lang="it-IT" dirty="0"/>
              <a:t> </a:t>
            </a:r>
            <a:r>
              <a:rPr lang="it-IT" dirty="0" err="1"/>
              <a:t>mutual</a:t>
            </a:r>
            <a:r>
              <a:rPr lang="it-IT" dirty="0"/>
              <a:t> authentication </a:t>
            </a:r>
            <a:r>
              <a:rPr lang="it-IT" dirty="0" err="1"/>
              <a:t>protocol</a:t>
            </a:r>
            <a:r>
              <a:rPr lang="it-IT" dirty="0"/>
              <a:t> </a:t>
            </a:r>
            <a:r>
              <a:rPr lang="it-IT" sz="2800" dirty="0">
                <a:solidFill>
                  <a:srgbClr val="FF0000"/>
                </a:solidFill>
              </a:rPr>
              <a:t>(</a:t>
            </a:r>
            <a:r>
              <a:rPr lang="it-IT" sz="2800" dirty="0" err="1">
                <a:solidFill>
                  <a:srgbClr val="FF0000"/>
                </a:solidFill>
              </a:rPr>
              <a:t>seriously</a:t>
            </a:r>
            <a:r>
              <a:rPr lang="it-IT" sz="2800" dirty="0">
                <a:solidFill>
                  <a:srgbClr val="FF0000"/>
                </a:solidFill>
              </a:rPr>
              <a:t>, </a:t>
            </a:r>
            <a:r>
              <a:rPr lang="it-IT" sz="2800" dirty="0" err="1">
                <a:solidFill>
                  <a:srgbClr val="FF0000"/>
                </a:solidFill>
              </a:rPr>
              <a:t>don’t</a:t>
            </a:r>
            <a:r>
              <a:rPr lang="it-IT" sz="2800" dirty="0">
                <a:solidFill>
                  <a:srgbClr val="FF0000"/>
                </a:solidFill>
              </a:rPr>
              <a:t> do </a:t>
            </a:r>
            <a:r>
              <a:rPr lang="it-IT" sz="2800" dirty="0" err="1">
                <a:solidFill>
                  <a:srgbClr val="FF0000"/>
                </a:solidFill>
              </a:rPr>
              <a:t>this</a:t>
            </a:r>
            <a:r>
              <a:rPr lang="it-IT" sz="2800" dirty="0">
                <a:solidFill>
                  <a:srgbClr val="FF0000"/>
                </a:solidFill>
              </a:rPr>
              <a:t>!)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26627" name="AutoShape 4">
            <a:extLst>
              <a:ext uri="{FF2B5EF4-FFF2-40B4-BE49-F238E27FC236}">
                <a16:creationId xmlns:a16="http://schemas.microsoft.com/office/drawing/2014/main" id="{AC775CA6-BFDA-B825-0B17-14DDBF2078A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1050" y="1987550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C1</a:t>
            </a:r>
          </a:p>
        </p:txBody>
      </p:sp>
      <p:sp>
        <p:nvSpPr>
          <p:cNvPr id="26628" name="AutoShape 6">
            <a:extLst>
              <a:ext uri="{FF2B5EF4-FFF2-40B4-BE49-F238E27FC236}">
                <a16:creationId xmlns:a16="http://schemas.microsoft.com/office/drawing/2014/main" id="{6F67D83F-95CC-510D-D09F-10D5166C7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779713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Flavia, C2, H(secret, C1)</a:t>
            </a:r>
          </a:p>
        </p:txBody>
      </p:sp>
      <p:sp>
        <p:nvSpPr>
          <p:cNvPr id="26629" name="AutoShape 7">
            <a:extLst>
              <a:ext uri="{FF2B5EF4-FFF2-40B4-BE49-F238E27FC236}">
                <a16:creationId xmlns:a16="http://schemas.microsoft.com/office/drawing/2014/main" id="{314D9627-F06B-A023-8EC0-FEB1D1C51F7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1050" y="3536950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H(secret, C2)</a:t>
            </a:r>
          </a:p>
        </p:txBody>
      </p:sp>
      <p:pic>
        <p:nvPicPr>
          <p:cNvPr id="26630" name="Picture 8">
            <a:extLst>
              <a:ext uri="{FF2B5EF4-FFF2-40B4-BE49-F238E27FC236}">
                <a16:creationId xmlns:a16="http://schemas.microsoft.com/office/drawing/2014/main" id="{FD47FB0C-2E8E-41E9-F99C-C4471BC25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2241550"/>
            <a:ext cx="1490663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6631" name="Object 9">
            <a:extLst>
              <a:ext uri="{FF2B5EF4-FFF2-40B4-BE49-F238E27FC236}">
                <a16:creationId xmlns:a16="http://schemas.microsoft.com/office/drawing/2014/main" id="{7F6A07C6-2643-363C-9683-E203995678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67613" y="1773238"/>
          <a:ext cx="1252537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4" imgW="1562100" imgH="5059363" progId="MS_ClipArt_Gallery.2">
                  <p:embed/>
                </p:oleObj>
              </mc:Choice>
              <mc:Fallback>
                <p:oleObj name="ClipArt" r:id="rId4" imgW="1562100" imgH="5059363" progId="MS_ClipArt_Gallery.2">
                  <p:embed/>
                  <p:pic>
                    <p:nvPicPr>
                      <p:cNvPr id="26631" name="Object 9">
                        <a:extLst>
                          <a:ext uri="{FF2B5EF4-FFF2-40B4-BE49-F238E27FC236}">
                            <a16:creationId xmlns:a16="http://schemas.microsoft.com/office/drawing/2014/main" id="{7F6A07C6-2643-363C-9683-E203995678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7613" y="1773238"/>
                        <a:ext cx="1252537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2" name="Text Box 10">
            <a:extLst>
              <a:ext uri="{FF2B5EF4-FFF2-40B4-BE49-F238E27FC236}">
                <a16:creationId xmlns:a16="http://schemas.microsoft.com/office/drawing/2014/main" id="{0727102E-392E-2DF7-208D-F20D67F55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3321050"/>
            <a:ext cx="835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C1!=C2</a:t>
            </a:r>
          </a:p>
        </p:txBody>
      </p:sp>
      <p:sp>
        <p:nvSpPr>
          <p:cNvPr id="26633" name="Text Box 11">
            <a:extLst>
              <a:ext uri="{FF2B5EF4-FFF2-40B4-BE49-F238E27FC236}">
                <a16:creationId xmlns:a16="http://schemas.microsoft.com/office/drawing/2014/main" id="{19D753FD-04F0-6CCD-AB7A-844AA2A85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565400"/>
            <a:ext cx="835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C2!=C1</a:t>
            </a:r>
          </a:p>
        </p:txBody>
      </p:sp>
      <p:sp>
        <p:nvSpPr>
          <p:cNvPr id="26634" name="Text Box 13">
            <a:extLst>
              <a:ext uri="{FF2B5EF4-FFF2-40B4-BE49-F238E27FC236}">
                <a16:creationId xmlns:a16="http://schemas.microsoft.com/office/drawing/2014/main" id="{EDCE9CFE-D770-6165-1C44-B789A2DFC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3" y="4524375"/>
            <a:ext cx="29733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Flavia shows knowledge </a:t>
            </a:r>
            <a:br>
              <a:rPr lang="it-IT" altLang="it-IT" sz="2400" b="0">
                <a:latin typeface="Arial Narrow" panose="020B0606020202030204" pitchFamily="34" charset="0"/>
              </a:rPr>
            </a:br>
            <a:r>
              <a:rPr lang="it-IT" altLang="it-IT" sz="2400" b="0">
                <a:latin typeface="Arial Narrow" panose="020B0606020202030204" pitchFamily="34" charset="0"/>
              </a:rPr>
              <a:t>of secret over C1</a:t>
            </a:r>
          </a:p>
        </p:txBody>
      </p:sp>
      <p:sp>
        <p:nvSpPr>
          <p:cNvPr id="26635" name="Text Box 14">
            <a:extLst>
              <a:ext uri="{FF2B5EF4-FFF2-40B4-BE49-F238E27FC236}">
                <a16:creationId xmlns:a16="http://schemas.microsoft.com/office/drawing/2014/main" id="{CDC73671-CF6A-AA9E-1B5D-CCC419CE4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6575" y="4689475"/>
            <a:ext cx="28892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Boss shows knowledge </a:t>
            </a:r>
            <a:br>
              <a:rPr lang="it-IT" altLang="it-IT" sz="2400" b="0">
                <a:latin typeface="Arial Narrow" panose="020B0606020202030204" pitchFamily="34" charset="0"/>
              </a:rPr>
            </a:br>
            <a:r>
              <a:rPr lang="it-IT" altLang="it-IT" sz="2400" b="0">
                <a:latin typeface="Arial Narrow" panose="020B0606020202030204" pitchFamily="34" charset="0"/>
              </a:rPr>
              <a:t>of secret over C2!=C1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E8595DC-4291-8B8D-6B5B-2FAA739C6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5732463"/>
            <a:ext cx="31369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it-IT" altLang="it-IT">
                <a:solidFill>
                  <a:srgbClr val="FF0000"/>
                </a:solidFill>
                <a:latin typeface="Arial Narrow" panose="020B0606020202030204" pitchFamily="34" charset="0"/>
              </a:rPr>
              <a:t>Where is the flaw?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nimBg="1"/>
      <p:bldP spid="26628" grpId="0" animBg="1"/>
      <p:bldP spid="26629" grpId="0" animBg="1"/>
      <p:bldP spid="26632" grpId="0"/>
      <p:bldP spid="26633" grpId="0"/>
      <p:bldP spid="26634" grpId="0"/>
      <p:bldP spid="26635" grpId="0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12">
            <a:extLst>
              <a:ext uri="{FF2B5EF4-FFF2-40B4-BE49-F238E27FC236}">
                <a16:creationId xmlns:a16="http://schemas.microsoft.com/office/drawing/2014/main" id="{B0F62E85-8553-455A-A028-7C89DFB51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338" y="2060575"/>
            <a:ext cx="1731962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0370" name="Rectangle 2">
            <a:extLst>
              <a:ext uri="{FF2B5EF4-FFF2-40B4-BE49-F238E27FC236}">
                <a16:creationId xmlns:a16="http://schemas.microsoft.com/office/drawing/2014/main" id="{B99E3833-84F9-48E5-AA58-28FD8E125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err="1"/>
              <a:t>Reflection</a:t>
            </a:r>
            <a:r>
              <a:rPr lang="it-IT" dirty="0"/>
              <a:t>! </a:t>
            </a:r>
            <a:r>
              <a:rPr lang="it-IT" dirty="0" err="1"/>
              <a:t>Again</a:t>
            </a:r>
            <a:r>
              <a:rPr lang="it-IT" dirty="0"/>
              <a:t>!</a:t>
            </a:r>
          </a:p>
        </p:txBody>
      </p:sp>
      <p:sp>
        <p:nvSpPr>
          <p:cNvPr id="35844" name="AutoShape 4">
            <a:extLst>
              <a:ext uri="{FF2B5EF4-FFF2-40B4-BE49-F238E27FC236}">
                <a16:creationId xmlns:a16="http://schemas.microsoft.com/office/drawing/2014/main" id="{57B60A77-F592-45DF-AC8A-878066ECF74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14538" y="1987550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C1</a:t>
            </a:r>
          </a:p>
        </p:txBody>
      </p:sp>
      <p:sp>
        <p:nvSpPr>
          <p:cNvPr id="35845" name="AutoShape 5">
            <a:extLst>
              <a:ext uri="{FF2B5EF4-FFF2-40B4-BE49-F238E27FC236}">
                <a16:creationId xmlns:a16="http://schemas.microsoft.com/office/drawing/2014/main" id="{E819E996-3718-405A-A57B-F6EEDC182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2779713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Flavia, C2, H(secret, C1)</a:t>
            </a:r>
          </a:p>
        </p:txBody>
      </p:sp>
      <p:sp>
        <p:nvSpPr>
          <p:cNvPr id="35846" name="AutoShape 6">
            <a:extLst>
              <a:ext uri="{FF2B5EF4-FFF2-40B4-BE49-F238E27FC236}">
                <a16:creationId xmlns:a16="http://schemas.microsoft.com/office/drawing/2014/main" id="{02C72492-8B38-4E99-88FB-4A05E388EBF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14538" y="5337175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H(secret, C2)</a:t>
            </a:r>
          </a:p>
        </p:txBody>
      </p:sp>
      <p:pic>
        <p:nvPicPr>
          <p:cNvPr id="35847" name="Picture 7">
            <a:extLst>
              <a:ext uri="{FF2B5EF4-FFF2-40B4-BE49-F238E27FC236}">
                <a16:creationId xmlns:a16="http://schemas.microsoft.com/office/drawing/2014/main" id="{5135B899-EE04-4D2D-8457-05AAC2E32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2638425"/>
            <a:ext cx="1490663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8" name="Text Box 9">
            <a:extLst>
              <a:ext uri="{FF2B5EF4-FFF2-40B4-BE49-F238E27FC236}">
                <a16:creationId xmlns:a16="http://schemas.microsoft.com/office/drawing/2014/main" id="{0B272B7D-AAF4-4B4E-A0F3-7897563B9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3321050"/>
            <a:ext cx="835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C1!=C2</a:t>
            </a:r>
          </a:p>
        </p:txBody>
      </p:sp>
      <p:sp>
        <p:nvSpPr>
          <p:cNvPr id="35849" name="AutoShape 13">
            <a:extLst>
              <a:ext uri="{FF2B5EF4-FFF2-40B4-BE49-F238E27FC236}">
                <a16:creationId xmlns:a16="http://schemas.microsoft.com/office/drawing/2014/main" id="{7CB934DE-01A2-437F-BF69-DB01A315284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14538" y="3608388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C2</a:t>
            </a:r>
          </a:p>
        </p:txBody>
      </p:sp>
      <p:sp>
        <p:nvSpPr>
          <p:cNvPr id="35850" name="AutoShape 14">
            <a:extLst>
              <a:ext uri="{FF2B5EF4-FFF2-40B4-BE49-F238E27FC236}">
                <a16:creationId xmlns:a16="http://schemas.microsoft.com/office/drawing/2014/main" id="{60271DC6-3A25-4E78-B72D-C8493C964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400550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Flavia, C3, H(secret, C2)</a:t>
            </a:r>
          </a:p>
        </p:txBody>
      </p:sp>
      <p:sp>
        <p:nvSpPr>
          <p:cNvPr id="35851" name="Oval 15">
            <a:extLst>
              <a:ext uri="{FF2B5EF4-FFF2-40B4-BE49-F238E27FC236}">
                <a16:creationId xmlns:a16="http://schemas.microsoft.com/office/drawing/2014/main" id="{0A2C824B-30D3-4443-A281-F1CFB2E92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075" y="4508500"/>
            <a:ext cx="1368425" cy="5397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5852" name="Line 16">
            <a:extLst>
              <a:ext uri="{FF2B5EF4-FFF2-40B4-BE49-F238E27FC236}">
                <a16:creationId xmlns:a16="http://schemas.microsoft.com/office/drawing/2014/main" id="{D6F5B069-B299-4A93-B555-B992698AF4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7288" y="5049838"/>
            <a:ext cx="0" cy="395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5853" name="Text Box 17">
            <a:extLst>
              <a:ext uri="{FF2B5EF4-FFF2-40B4-BE49-F238E27FC236}">
                <a16:creationId xmlns:a16="http://schemas.microsoft.com/office/drawing/2014/main" id="{E7C6839C-BFE9-4CFF-A322-CA08D4368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565400"/>
            <a:ext cx="835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C2!=C1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466" name="Rectangle 2">
            <a:extLst>
              <a:ext uri="{FF2B5EF4-FFF2-40B4-BE49-F238E27FC236}">
                <a16:creationId xmlns:a16="http://schemas.microsoft.com/office/drawing/2014/main" id="{0AE90EEA-E339-4112-A585-DE28853164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/>
              <a:t>What if reflection is prevented by protocol status?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61D999F-FAE5-4FAC-B030-360FE06DC3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Attacker may use “other” party!</a:t>
            </a:r>
          </a:p>
          <a:p>
            <a:pPr eaLnBrk="1" hangingPunct="1"/>
            <a:r>
              <a:rPr lang="it-IT" altLang="it-IT"/>
              <a:t>Intertwining attack</a:t>
            </a:r>
          </a:p>
        </p:txBody>
      </p:sp>
      <p:pic>
        <p:nvPicPr>
          <p:cNvPr id="37892" name="Picture 4">
            <a:extLst>
              <a:ext uri="{FF2B5EF4-FFF2-40B4-BE49-F238E27FC236}">
                <a16:creationId xmlns:a16="http://schemas.microsoft.com/office/drawing/2014/main" id="{7D52056E-4CBA-4B6D-B1D4-29D8AFFF9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225" y="3500438"/>
            <a:ext cx="1731963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AutoShape 5">
            <a:extLst>
              <a:ext uri="{FF2B5EF4-FFF2-40B4-BE49-F238E27FC236}">
                <a16:creationId xmlns:a16="http://schemas.microsoft.com/office/drawing/2014/main" id="{30EAB4AA-CD42-4FD6-8A24-4636FF10B61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92275" y="2203450"/>
            <a:ext cx="2989263" cy="720725"/>
          </a:xfrm>
          <a:prstGeom prst="rightArrow">
            <a:avLst>
              <a:gd name="adj1" fmla="val 68463"/>
              <a:gd name="adj2" fmla="val 32336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C1</a:t>
            </a:r>
          </a:p>
        </p:txBody>
      </p:sp>
      <p:sp>
        <p:nvSpPr>
          <p:cNvPr id="37894" name="AutoShape 6">
            <a:extLst>
              <a:ext uri="{FF2B5EF4-FFF2-40B4-BE49-F238E27FC236}">
                <a16:creationId xmlns:a16="http://schemas.microsoft.com/office/drawing/2014/main" id="{A554A6D5-F299-4747-B6F0-495847398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788" y="2995613"/>
            <a:ext cx="3060700" cy="720725"/>
          </a:xfrm>
          <a:prstGeom prst="rightArrow">
            <a:avLst>
              <a:gd name="adj1" fmla="val 68463"/>
              <a:gd name="adj2" fmla="val 33109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Flavia, C2, H(secret, C1)</a:t>
            </a:r>
          </a:p>
        </p:txBody>
      </p:sp>
      <p:sp>
        <p:nvSpPr>
          <p:cNvPr id="37895" name="AutoShape 7">
            <a:extLst>
              <a:ext uri="{FF2B5EF4-FFF2-40B4-BE49-F238E27FC236}">
                <a16:creationId xmlns:a16="http://schemas.microsoft.com/office/drawing/2014/main" id="{AD30640A-5A09-42A5-82BB-AD4714ECF07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14538" y="5553075"/>
            <a:ext cx="2736850" cy="720725"/>
          </a:xfrm>
          <a:prstGeom prst="rightArrow">
            <a:avLst>
              <a:gd name="adj1" fmla="val 68463"/>
              <a:gd name="adj2" fmla="val 29605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H(secret, C2)</a:t>
            </a:r>
          </a:p>
        </p:txBody>
      </p:sp>
      <p:pic>
        <p:nvPicPr>
          <p:cNvPr id="37896" name="Picture 8">
            <a:extLst>
              <a:ext uri="{FF2B5EF4-FFF2-40B4-BE49-F238E27FC236}">
                <a16:creationId xmlns:a16="http://schemas.microsoft.com/office/drawing/2014/main" id="{B56E32F2-9B05-4114-8D4F-060927A89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2854325"/>
            <a:ext cx="1490663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7" name="AutoShape 10">
            <a:extLst>
              <a:ext uri="{FF2B5EF4-FFF2-40B4-BE49-F238E27FC236}">
                <a16:creationId xmlns:a16="http://schemas.microsoft.com/office/drawing/2014/main" id="{A361285C-A219-403D-A159-112F00E99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789363"/>
            <a:ext cx="2736850" cy="720725"/>
          </a:xfrm>
          <a:prstGeom prst="rightArrow">
            <a:avLst>
              <a:gd name="adj1" fmla="val 68463"/>
              <a:gd name="adj2" fmla="val 29605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Flavia, C2</a:t>
            </a:r>
          </a:p>
        </p:txBody>
      </p:sp>
      <p:sp>
        <p:nvSpPr>
          <p:cNvPr id="37898" name="AutoShape 11">
            <a:extLst>
              <a:ext uri="{FF2B5EF4-FFF2-40B4-BE49-F238E27FC236}">
                <a16:creationId xmlns:a16="http://schemas.microsoft.com/office/drawing/2014/main" id="{3867C64A-E532-4FEC-8DC1-6D001FC9F52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219700" y="4616450"/>
            <a:ext cx="2844800" cy="720725"/>
          </a:xfrm>
          <a:prstGeom prst="rightArrow">
            <a:avLst>
              <a:gd name="adj1" fmla="val 68463"/>
              <a:gd name="adj2" fmla="val 30773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C3, H(secret, C2)</a:t>
            </a:r>
          </a:p>
        </p:txBody>
      </p:sp>
      <p:sp>
        <p:nvSpPr>
          <p:cNvPr id="37899" name="Oval 12">
            <a:extLst>
              <a:ext uri="{FF2B5EF4-FFF2-40B4-BE49-F238E27FC236}">
                <a16:creationId xmlns:a16="http://schemas.microsoft.com/office/drawing/2014/main" id="{0F62BCB5-6E38-4656-93D8-1EA503C07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4724400"/>
            <a:ext cx="1368425" cy="5397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7900" name="Line 13">
            <a:extLst>
              <a:ext uri="{FF2B5EF4-FFF2-40B4-BE49-F238E27FC236}">
                <a16:creationId xmlns:a16="http://schemas.microsoft.com/office/drawing/2014/main" id="{2D2A2DC7-CB55-4CEB-8316-F6ADB99341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64050" y="5264150"/>
            <a:ext cx="2447925" cy="5397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graphicFrame>
        <p:nvGraphicFramePr>
          <p:cNvPr id="37901" name="Object 15">
            <a:extLst>
              <a:ext uri="{FF2B5EF4-FFF2-40B4-BE49-F238E27FC236}">
                <a16:creationId xmlns:a16="http://schemas.microsoft.com/office/drawing/2014/main" id="{33FF75D5-890A-4C9A-BBE5-BF723BD050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99413" y="2638425"/>
          <a:ext cx="1073150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5" imgW="1562100" imgH="5059363" progId="MS_ClipArt_Gallery.2">
                  <p:embed/>
                </p:oleObj>
              </mc:Choice>
              <mc:Fallback>
                <p:oleObj name="ClipArt" r:id="rId5" imgW="1562100" imgH="5059363" progId="MS_ClipArt_Gallery.2">
                  <p:embed/>
                  <p:pic>
                    <p:nvPicPr>
                      <p:cNvPr id="37901" name="Object 15">
                        <a:extLst>
                          <a:ext uri="{FF2B5EF4-FFF2-40B4-BE49-F238E27FC236}">
                            <a16:creationId xmlns:a16="http://schemas.microsoft.com/office/drawing/2014/main" id="{33FF75D5-890A-4C9A-BBE5-BF723BD050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9413" y="2638425"/>
                        <a:ext cx="1073150" cy="237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394" name="Rectangle 2">
            <a:extLst>
              <a:ext uri="{FF2B5EF4-FFF2-40B4-BE49-F238E27FC236}">
                <a16:creationId xmlns:a16="http://schemas.microsoft.com/office/drawing/2014/main" id="{2ECBABDE-E206-49F3-A675-D6E40AC052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Let’s try to fix this</a:t>
            </a:r>
          </a:p>
        </p:txBody>
      </p:sp>
      <p:sp>
        <p:nvSpPr>
          <p:cNvPr id="39939" name="AutoShape 4">
            <a:extLst>
              <a:ext uri="{FF2B5EF4-FFF2-40B4-BE49-F238E27FC236}">
                <a16:creationId xmlns:a16="http://schemas.microsoft.com/office/drawing/2014/main" id="{3FBAD4DE-CCFD-4416-A679-C694F20EB55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1050" y="1879600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C1</a:t>
            </a:r>
          </a:p>
        </p:txBody>
      </p:sp>
      <p:sp>
        <p:nvSpPr>
          <p:cNvPr id="39940" name="AutoShape 5">
            <a:extLst>
              <a:ext uri="{FF2B5EF4-FFF2-40B4-BE49-F238E27FC236}">
                <a16:creationId xmlns:a16="http://schemas.microsoft.com/office/drawing/2014/main" id="{D52B1ADE-8B23-4CE1-9DB8-14670924F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671763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Flavia, C2, H(secret, C1, C2)</a:t>
            </a:r>
          </a:p>
        </p:txBody>
      </p:sp>
      <p:sp>
        <p:nvSpPr>
          <p:cNvPr id="39941" name="AutoShape 6">
            <a:extLst>
              <a:ext uri="{FF2B5EF4-FFF2-40B4-BE49-F238E27FC236}">
                <a16:creationId xmlns:a16="http://schemas.microsoft.com/office/drawing/2014/main" id="{8681691E-3607-437B-9E6E-920381CA194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1050" y="3429000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C3, H(secret, C2, C3)</a:t>
            </a:r>
          </a:p>
        </p:txBody>
      </p:sp>
      <p:pic>
        <p:nvPicPr>
          <p:cNvPr id="39942" name="Picture 7">
            <a:extLst>
              <a:ext uri="{FF2B5EF4-FFF2-40B4-BE49-F238E27FC236}">
                <a16:creationId xmlns:a16="http://schemas.microsoft.com/office/drawing/2014/main" id="{696BEEDD-5603-4642-87D2-5260355EC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2133600"/>
            <a:ext cx="1490663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9943" name="Object 8">
            <a:extLst>
              <a:ext uri="{FF2B5EF4-FFF2-40B4-BE49-F238E27FC236}">
                <a16:creationId xmlns:a16="http://schemas.microsoft.com/office/drawing/2014/main" id="{B9190130-DF5F-4741-8440-8C3F927C1C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67613" y="1665288"/>
          <a:ext cx="1252537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4" imgW="1562100" imgH="5059363" progId="MS_ClipArt_Gallery.2">
                  <p:embed/>
                </p:oleObj>
              </mc:Choice>
              <mc:Fallback>
                <p:oleObj name="ClipArt" r:id="rId4" imgW="1562100" imgH="5059363" progId="MS_ClipArt_Gallery.2">
                  <p:embed/>
                  <p:pic>
                    <p:nvPicPr>
                      <p:cNvPr id="39943" name="Object 8">
                        <a:extLst>
                          <a:ext uri="{FF2B5EF4-FFF2-40B4-BE49-F238E27FC236}">
                            <a16:creationId xmlns:a16="http://schemas.microsoft.com/office/drawing/2014/main" id="{B9190130-DF5F-4741-8440-8C3F927C1C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7613" y="1665288"/>
                        <a:ext cx="1252537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4" name="Oval 11">
            <a:extLst>
              <a:ext uri="{FF2B5EF4-FFF2-40B4-BE49-F238E27FC236}">
                <a16:creationId xmlns:a16="http://schemas.microsoft.com/office/drawing/2014/main" id="{B49B3C27-2B79-4B47-AAF3-DD5A87FF1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744788"/>
            <a:ext cx="1944688" cy="539750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9945" name="Text Box 13">
            <a:extLst>
              <a:ext uri="{FF2B5EF4-FFF2-40B4-BE49-F238E27FC236}">
                <a16:creationId xmlns:a16="http://schemas.microsoft.com/office/drawing/2014/main" id="{D00A67D3-D1F6-4C7C-B9AA-A4818455A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4797425"/>
            <a:ext cx="46497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Chaining challenges! Add dependency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between challenges in same handshake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418" name="Rectangle 2">
            <a:extLst>
              <a:ext uri="{FF2B5EF4-FFF2-40B4-BE49-F238E27FC236}">
                <a16:creationId xmlns:a16="http://schemas.microsoft.com/office/drawing/2014/main" id="{BC48577E-D9D9-4891-AD58-B509C6D45E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Does not work</a:t>
            </a:r>
          </a:p>
        </p:txBody>
      </p:sp>
      <p:sp>
        <p:nvSpPr>
          <p:cNvPr id="41987" name="AutoShape 4">
            <a:extLst>
              <a:ext uri="{FF2B5EF4-FFF2-40B4-BE49-F238E27FC236}">
                <a16:creationId xmlns:a16="http://schemas.microsoft.com/office/drawing/2014/main" id="{38ED0A14-07B5-4112-AF53-AC73C20F83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1050" y="1412875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C1</a:t>
            </a:r>
          </a:p>
        </p:txBody>
      </p:sp>
      <p:sp>
        <p:nvSpPr>
          <p:cNvPr id="41988" name="AutoShape 5">
            <a:extLst>
              <a:ext uri="{FF2B5EF4-FFF2-40B4-BE49-F238E27FC236}">
                <a16:creationId xmlns:a16="http://schemas.microsoft.com/office/drawing/2014/main" id="{A48285D6-BAF6-4931-94E1-DCDB74FDD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205038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Flavia, C2, H(secret, C1, C2)</a:t>
            </a:r>
          </a:p>
        </p:txBody>
      </p:sp>
      <p:sp>
        <p:nvSpPr>
          <p:cNvPr id="41989" name="AutoShape 6">
            <a:extLst>
              <a:ext uri="{FF2B5EF4-FFF2-40B4-BE49-F238E27FC236}">
                <a16:creationId xmlns:a16="http://schemas.microsoft.com/office/drawing/2014/main" id="{081558F0-1FF1-4B09-8DD1-18448BFF9FA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1050" y="4329113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C3, H(secret, C2, C3)</a:t>
            </a:r>
          </a:p>
        </p:txBody>
      </p:sp>
      <p:pic>
        <p:nvPicPr>
          <p:cNvPr id="41990" name="Picture 7">
            <a:extLst>
              <a:ext uri="{FF2B5EF4-FFF2-40B4-BE49-F238E27FC236}">
                <a16:creationId xmlns:a16="http://schemas.microsoft.com/office/drawing/2014/main" id="{14469466-97FD-42F6-BE78-C792FE2DE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1666875"/>
            <a:ext cx="1490663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1" name="Oval 11">
            <a:extLst>
              <a:ext uri="{FF2B5EF4-FFF2-40B4-BE49-F238E27FC236}">
                <a16:creationId xmlns:a16="http://schemas.microsoft.com/office/drawing/2014/main" id="{0DB4D887-C56B-4056-A467-18B287600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278063"/>
            <a:ext cx="1944688" cy="539750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pic>
        <p:nvPicPr>
          <p:cNvPr id="41992" name="Picture 12">
            <a:extLst>
              <a:ext uri="{FF2B5EF4-FFF2-40B4-BE49-F238E27FC236}">
                <a16:creationId xmlns:a16="http://schemas.microsoft.com/office/drawing/2014/main" id="{EE77981F-6CAE-4C41-8F4F-16E7B1DA1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338" y="1593850"/>
            <a:ext cx="1731962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3" name="AutoShape 13">
            <a:extLst>
              <a:ext uri="{FF2B5EF4-FFF2-40B4-BE49-F238E27FC236}">
                <a16:creationId xmlns:a16="http://schemas.microsoft.com/office/drawing/2014/main" id="{21981D53-00AA-4343-8C6F-291677D3B04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87563" y="2925763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C2</a:t>
            </a:r>
          </a:p>
        </p:txBody>
      </p:sp>
      <p:sp>
        <p:nvSpPr>
          <p:cNvPr id="41994" name="AutoShape 14">
            <a:extLst>
              <a:ext uri="{FF2B5EF4-FFF2-40B4-BE49-F238E27FC236}">
                <a16:creationId xmlns:a16="http://schemas.microsoft.com/office/drawing/2014/main" id="{74090EC5-9766-4A7E-A8A8-E2C58F059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3717925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Flavia, C3, H(secret, C2, C3)</a:t>
            </a:r>
          </a:p>
        </p:txBody>
      </p:sp>
      <p:sp>
        <p:nvSpPr>
          <p:cNvPr id="41995" name="Oval 15">
            <a:extLst>
              <a:ext uri="{FF2B5EF4-FFF2-40B4-BE49-F238E27FC236}">
                <a16:creationId xmlns:a16="http://schemas.microsoft.com/office/drawing/2014/main" id="{B2223636-C8D3-48C4-863E-4BE40D9FE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3790950"/>
            <a:ext cx="1944687" cy="5397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41996" name="Text Box 17">
            <a:extLst>
              <a:ext uri="{FF2B5EF4-FFF2-40B4-BE49-F238E27FC236}">
                <a16:creationId xmlns:a16="http://schemas.microsoft.com/office/drawing/2014/main" id="{92BF9561-9E55-47FB-9208-EAC62018B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5343525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Too many nonces!!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514" name="Rectangle 2">
            <a:extLst>
              <a:ext uri="{FF2B5EF4-FFF2-40B4-BE49-F238E27FC236}">
                <a16:creationId xmlns:a16="http://schemas.microsoft.com/office/drawing/2014/main" id="{6D4A5CF7-B78A-480B-849C-2C16CF223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minimize</a:t>
            </a:r>
            <a:r>
              <a:rPr lang="it-IT" dirty="0"/>
              <a:t> </a:t>
            </a:r>
            <a:r>
              <a:rPr lang="it-IT" dirty="0" err="1"/>
              <a:t>nonces…</a:t>
            </a:r>
            <a:endParaRPr lang="it-IT" dirty="0"/>
          </a:p>
        </p:txBody>
      </p:sp>
      <p:sp>
        <p:nvSpPr>
          <p:cNvPr id="44035" name="AutoShape 4">
            <a:extLst>
              <a:ext uri="{FF2B5EF4-FFF2-40B4-BE49-F238E27FC236}">
                <a16:creationId xmlns:a16="http://schemas.microsoft.com/office/drawing/2014/main" id="{2BC8816F-9C40-438C-96CD-771BC268E53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1050" y="1879600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C1</a:t>
            </a:r>
          </a:p>
        </p:txBody>
      </p:sp>
      <p:sp>
        <p:nvSpPr>
          <p:cNvPr id="44036" name="AutoShape 5">
            <a:extLst>
              <a:ext uri="{FF2B5EF4-FFF2-40B4-BE49-F238E27FC236}">
                <a16:creationId xmlns:a16="http://schemas.microsoft.com/office/drawing/2014/main" id="{881958A6-2C5A-4C4E-8F4C-951972613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671763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Flavia, C2, H(secret, C1, C2)</a:t>
            </a:r>
          </a:p>
        </p:txBody>
      </p:sp>
      <p:sp>
        <p:nvSpPr>
          <p:cNvPr id="44037" name="AutoShape 6">
            <a:extLst>
              <a:ext uri="{FF2B5EF4-FFF2-40B4-BE49-F238E27FC236}">
                <a16:creationId xmlns:a16="http://schemas.microsoft.com/office/drawing/2014/main" id="{7D0E2C37-F234-44F9-A3B9-BC84753F4C2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1050" y="3716338"/>
            <a:ext cx="4968875" cy="720725"/>
          </a:xfrm>
          <a:prstGeom prst="rightArrow">
            <a:avLst>
              <a:gd name="adj1" fmla="val 68463"/>
              <a:gd name="adj2" fmla="val 53750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Boss, H(secret, C2, C1)</a:t>
            </a:r>
          </a:p>
        </p:txBody>
      </p:sp>
      <p:pic>
        <p:nvPicPr>
          <p:cNvPr id="44038" name="Picture 7">
            <a:extLst>
              <a:ext uri="{FF2B5EF4-FFF2-40B4-BE49-F238E27FC236}">
                <a16:creationId xmlns:a16="http://schemas.microsoft.com/office/drawing/2014/main" id="{94AB33B0-9A4D-4554-BB84-F88CD837A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2133600"/>
            <a:ext cx="1490663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4039" name="Object 8">
            <a:extLst>
              <a:ext uri="{FF2B5EF4-FFF2-40B4-BE49-F238E27FC236}">
                <a16:creationId xmlns:a16="http://schemas.microsoft.com/office/drawing/2014/main" id="{CB788EF1-6139-43A3-9216-417161F038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67613" y="1665288"/>
          <a:ext cx="1252537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4" imgW="1562100" imgH="5059363" progId="MS_ClipArt_Gallery.2">
                  <p:embed/>
                </p:oleObj>
              </mc:Choice>
              <mc:Fallback>
                <p:oleObj name="ClipArt" r:id="rId4" imgW="1562100" imgH="5059363" progId="MS_ClipArt_Gallery.2">
                  <p:embed/>
                  <p:pic>
                    <p:nvPicPr>
                      <p:cNvPr id="44039" name="Object 8">
                        <a:extLst>
                          <a:ext uri="{FF2B5EF4-FFF2-40B4-BE49-F238E27FC236}">
                            <a16:creationId xmlns:a16="http://schemas.microsoft.com/office/drawing/2014/main" id="{CB788EF1-6139-43A3-9216-417161F038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7613" y="1665288"/>
                        <a:ext cx="1252537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0" name="Oval 9">
            <a:extLst>
              <a:ext uri="{FF2B5EF4-FFF2-40B4-BE49-F238E27FC236}">
                <a16:creationId xmlns:a16="http://schemas.microsoft.com/office/drawing/2014/main" id="{E819DC2F-3796-43E8-895D-159D9586A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744788"/>
            <a:ext cx="1944688" cy="539750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44041" name="Oval 10">
            <a:extLst>
              <a:ext uri="{FF2B5EF4-FFF2-40B4-BE49-F238E27FC236}">
                <a16:creationId xmlns:a16="http://schemas.microsoft.com/office/drawing/2014/main" id="{577FDBB5-1304-47A9-B615-5CF57F7E5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789363"/>
            <a:ext cx="1944688" cy="539750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44042" name="Text Box 11">
            <a:extLst>
              <a:ext uri="{FF2B5EF4-FFF2-40B4-BE49-F238E27FC236}">
                <a16:creationId xmlns:a16="http://schemas.microsoft.com/office/drawing/2014/main" id="{37EE7C08-A827-44FF-B014-0BA096C00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450" y="3338513"/>
            <a:ext cx="42624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anose="020B0606020202030204" pitchFamily="34" charset="0"/>
              </a:rPr>
              <a:t>Same challenges, but different values (order!)</a:t>
            </a:r>
          </a:p>
        </p:txBody>
      </p:sp>
      <p:sp>
        <p:nvSpPr>
          <p:cNvPr id="44043" name="Text Box 12">
            <a:extLst>
              <a:ext uri="{FF2B5EF4-FFF2-40B4-BE49-F238E27FC236}">
                <a16:creationId xmlns:a16="http://schemas.microsoft.com/office/drawing/2014/main" id="{3FF6F840-E46C-43DC-BF51-B54C06C5F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88" y="5192713"/>
            <a:ext cx="362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anose="020B0606020202030204" pitchFamily="34" charset="0"/>
              </a:rPr>
              <a:t>No reflection possible anymore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E8458D254D7543B8EE0336155E759B" ma:contentTypeVersion="6" ma:contentTypeDescription="Create a new document." ma:contentTypeScope="" ma:versionID="8d6be50f1b1b8d2b8b1769d2ea4c74da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9fa3442c690bd59e1d1435b8e2dc8418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8F69C7-219B-4441-9011-513FB11C6B05}"/>
</file>

<file path=customXml/itemProps2.xml><?xml version="1.0" encoding="utf-8"?>
<ds:datastoreItem xmlns:ds="http://schemas.openxmlformats.org/officeDocument/2006/customXml" ds:itemID="{310104C2-B589-40C4-87A2-754C7C1E5981}"/>
</file>

<file path=customXml/itemProps3.xml><?xml version="1.0" encoding="utf-8"?>
<ds:datastoreItem xmlns:ds="http://schemas.openxmlformats.org/officeDocument/2006/customXml" ds:itemID="{7FFD92BE-C9FA-4DC1-94BE-FFC89688ECA3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19</TotalTime>
  <Pages>22</Pages>
  <Words>2046</Words>
  <Application>Microsoft Office PowerPoint</Application>
  <PresentationFormat>Presentazione su schermo (4:3)</PresentationFormat>
  <Paragraphs>339</Paragraphs>
  <Slides>30</Slides>
  <Notes>16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41" baseType="lpstr">
      <vt:lpstr>Arial</vt:lpstr>
      <vt:lpstr>Arial Narrow</vt:lpstr>
      <vt:lpstr>Book Antiqua</vt:lpstr>
      <vt:lpstr>Bookman Old Style</vt:lpstr>
      <vt:lpstr>Comic Sans MS</vt:lpstr>
      <vt:lpstr>Symbol</vt:lpstr>
      <vt:lpstr>Tahoma</vt:lpstr>
      <vt:lpstr>Times New Roman</vt:lpstr>
      <vt:lpstr>Wingdings</vt:lpstr>
      <vt:lpstr>214templ</vt:lpstr>
      <vt:lpstr>ClipArt</vt:lpstr>
      <vt:lpstr>Presentazione standard di PowerPoint</vt:lpstr>
      <vt:lpstr>Presentazione standard di PowerPoint</vt:lpstr>
      <vt:lpstr>Authentication Means</vt:lpstr>
      <vt:lpstr>Authentication: “proof of…”</vt:lpstr>
      <vt:lpstr>User authentication – recap: Password Authentication protocol</vt:lpstr>
      <vt:lpstr>User authentication – recap: Challenge-Handshake Auth Protocol (CHAP)</vt:lpstr>
      <vt:lpstr>Remark: Password or secret key?</vt:lpstr>
      <vt:lpstr>What is best? CHAP or PAP?</vt:lpstr>
      <vt:lpstr>2 main (*) attack models</vt:lpstr>
      <vt:lpstr>Hashed passwd database in PAP</vt:lpstr>
      <vt:lpstr>(actually: «salted» hash)</vt:lpstr>
      <vt:lpstr>Autentication using salt</vt:lpstr>
      <vt:lpstr>And what about CHAP?</vt:lpstr>
      <vt:lpstr>Take home: it all depends on attacker’s model!</vt:lpstr>
      <vt:lpstr>CHAP Mitigation: (explicit) “salt”</vt:lpstr>
      <vt:lpstr>Hashed passwd: which hash?</vt:lpstr>
      <vt:lpstr>Hashed passwd again: which hash?</vt:lpstr>
      <vt:lpstr>Hashed passwd: best with slow hash!</vt:lpstr>
      <vt:lpstr>Take home</vt:lpstr>
      <vt:lpstr>Mutual Authentication with CHAP   Take home of this lecture (again):   Don’t use crypto algorithms for a different scope (even if a slightly different one!), or with different assumptions </vt:lpstr>
      <vt:lpstr>CHAP</vt:lpstr>
      <vt:lpstr>CHAP and mutual authentication /1</vt:lpstr>
      <vt:lpstr>CHAP and mutual authentication /2 Reflection attack in PPP order of messages does not count</vt:lpstr>
      <vt:lpstr>Yes but this happened because you used two unilateral authentication protocols!  Let’s combine them into a single Mutual authentication with Challenge-Response</vt:lpstr>
      <vt:lpstr>Pippo’s mutual authentication protocol (seriously, don’t do this!)</vt:lpstr>
      <vt:lpstr>Reflection! Again!</vt:lpstr>
      <vt:lpstr>What if reflection is prevented by protocol status?</vt:lpstr>
      <vt:lpstr>Let’s try to fix this</vt:lpstr>
      <vt:lpstr>Does not work</vt:lpstr>
      <vt:lpstr>But if we minimize nonces…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keywords/>
  <dc:description/>
  <cp:lastModifiedBy>Giuseppe Bianchi</cp:lastModifiedBy>
  <cp:revision>395</cp:revision>
  <cp:lastPrinted>1998-04-09T13:49:28Z</cp:lastPrinted>
  <dcterms:created xsi:type="dcterms:W3CDTF">1996-09-11T22:41:56Z</dcterms:created>
  <dcterms:modified xsi:type="dcterms:W3CDTF">2023-10-09T15:05:43Z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