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703" r:id="rId2"/>
    <p:sldId id="735" r:id="rId3"/>
    <p:sldId id="740" r:id="rId4"/>
    <p:sldId id="742" r:id="rId5"/>
    <p:sldId id="744" r:id="rId6"/>
    <p:sldId id="739" r:id="rId7"/>
    <p:sldId id="752" r:id="rId8"/>
    <p:sldId id="754" r:id="rId9"/>
    <p:sldId id="753" r:id="rId10"/>
    <p:sldId id="755" r:id="rId11"/>
    <p:sldId id="751" r:id="rId12"/>
    <p:sldId id="734" r:id="rId13"/>
    <p:sldId id="756" r:id="rId14"/>
    <p:sldId id="758" r:id="rId15"/>
    <p:sldId id="760" r:id="rId16"/>
    <p:sldId id="762" r:id="rId17"/>
    <p:sldId id="764" r:id="rId18"/>
    <p:sldId id="768" r:id="rId19"/>
    <p:sldId id="771" r:id="rId20"/>
    <p:sldId id="763" r:id="rId21"/>
    <p:sldId id="769" r:id="rId22"/>
    <p:sldId id="840" r:id="rId23"/>
    <p:sldId id="824" r:id="rId24"/>
    <p:sldId id="825" r:id="rId25"/>
    <p:sldId id="837" r:id="rId26"/>
    <p:sldId id="838" r:id="rId27"/>
    <p:sldId id="839" r:id="rId28"/>
    <p:sldId id="855" r:id="rId29"/>
    <p:sldId id="856" r:id="rId30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pos="15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2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00"/>
    <a:srgbClr val="F5AD2B"/>
    <a:srgbClr val="008000"/>
    <a:srgbClr val="53D810"/>
    <a:srgbClr val="33840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Stile con tema 1 - Color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Stile con tema 1 - Color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89112" autoAdjust="0"/>
  </p:normalViewPr>
  <p:slideViewPr>
    <p:cSldViewPr>
      <p:cViewPr varScale="1">
        <p:scale>
          <a:sx n="71" d="100"/>
          <a:sy n="71" d="100"/>
        </p:scale>
        <p:origin x="584" y="48"/>
      </p:cViewPr>
      <p:guideLst>
        <p:guide orient="horz" pos="3888"/>
        <p:guide pos="1536"/>
      </p:guideLst>
    </p:cSldViewPr>
  </p:slideViewPr>
  <p:outlineViewPr>
    <p:cViewPr>
      <p:scale>
        <a:sx n="33" d="100"/>
        <a:sy n="33" d="100"/>
      </p:scale>
      <p:origin x="0" y="-177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278"/>
    </p:cViewPr>
  </p:sorterViewPr>
  <p:notesViewPr>
    <p:cSldViewPr>
      <p:cViewPr varScale="1">
        <p:scale>
          <a:sx n="38" d="100"/>
          <a:sy n="38" d="100"/>
        </p:scale>
        <p:origin x="-1446" y="-84"/>
      </p:cViewPr>
      <p:guideLst>
        <p:guide orient="horz" pos="3222"/>
        <p:guide pos="2236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3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5580063" y="9380538"/>
            <a:ext cx="58102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227" tIns="46777" rIns="95227" bIns="46777">
            <a:spAutoFit/>
          </a:bodyPr>
          <a:lstStyle>
            <a:lvl1pPr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defRPr/>
            </a:pPr>
            <a:fld id="{5C5AA8A2-3043-4964-9894-61AF2F444464}" type="slidenum">
              <a:rPr lang="en-US" altLang="it-IT" sz="2500" smtClean="0">
                <a:latin typeface="Book Antiqua" panose="02040602050305030304" pitchFamily="18" charset="0"/>
              </a:rPr>
              <a:pPr>
                <a:defRPr/>
              </a:pPr>
              <a:t>‹N›</a:t>
            </a:fld>
            <a:endParaRPr lang="en-US" altLang="it-IT" sz="250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00125" y="774700"/>
            <a:ext cx="5099050" cy="38242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27" tIns="46777" rIns="95227" bIns="467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38784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540533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542342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951766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510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568981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65281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3465860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2870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085472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453053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83365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457950" y="225425"/>
            <a:ext cx="1924050" cy="587057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225425"/>
            <a:ext cx="5619750" cy="587057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324074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25538"/>
            <a:ext cx="7696200" cy="497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5425"/>
            <a:ext cx="7696200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371600" y="6324600"/>
            <a:ext cx="1981200" cy="363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it-IT">
                <a:latin typeface="Arial" charset="0"/>
              </a:rPr>
              <a:t>Giuseppe Bianchi </a:t>
            </a:r>
          </a:p>
        </p:txBody>
      </p:sp>
      <p:sp>
        <p:nvSpPr>
          <p:cNvPr id="1029" name="Line 6"/>
          <p:cNvSpPr>
            <a:spLocks noChangeShapeType="1"/>
          </p:cNvSpPr>
          <p:nvPr/>
        </p:nvSpPr>
        <p:spPr bwMode="auto">
          <a:xfrm>
            <a:off x="685800" y="64770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0" name="Line 7"/>
          <p:cNvSpPr>
            <a:spLocks noChangeShapeType="1"/>
          </p:cNvSpPr>
          <p:nvPr/>
        </p:nvSpPr>
        <p:spPr bwMode="auto">
          <a:xfrm>
            <a:off x="3429000" y="64770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>
            <a:off x="685800" y="65532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2" name="Line 9"/>
          <p:cNvSpPr>
            <a:spLocks noChangeShapeType="1"/>
          </p:cNvSpPr>
          <p:nvPr/>
        </p:nvSpPr>
        <p:spPr bwMode="auto">
          <a:xfrm>
            <a:off x="3429000" y="65532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è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ð"/>
        <a:defRPr sz="3200">
          <a:solidFill>
            <a:schemeClr val="tx1"/>
          </a:solidFill>
          <a:latin typeface="Arial Narrow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à"/>
        <a:defRPr sz="28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jpg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3.png"/><Relationship Id="rId4" Type="http://schemas.openxmlformats.org/officeDocument/2006/relationships/image" Target="../media/image42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3.png"/><Relationship Id="rId4" Type="http://schemas.openxmlformats.org/officeDocument/2006/relationships/image" Target="../media/image42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1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3200" dirty="0"/>
              <a:t>Review of </a:t>
            </a:r>
            <a:r>
              <a:rPr lang="it-IT" sz="3200" dirty="0" err="1"/>
              <a:t>Block</a:t>
            </a:r>
            <a:r>
              <a:rPr lang="it-IT" sz="3200" dirty="0"/>
              <a:t> </a:t>
            </a:r>
            <a:r>
              <a:rPr lang="it-IT" sz="3200" dirty="0" err="1"/>
              <a:t>cipher</a:t>
            </a:r>
            <a:r>
              <a:rPr lang="it-IT" sz="3200" dirty="0"/>
              <a:t> </a:t>
            </a:r>
            <a:br>
              <a:rPr lang="it-IT" sz="3200" dirty="0"/>
            </a:br>
            <a:r>
              <a:rPr lang="it-IT" sz="3200" dirty="0" err="1"/>
              <a:t>Modes</a:t>
            </a:r>
            <a:r>
              <a:rPr lang="it-IT" sz="3200" dirty="0"/>
              <a:t> of </a:t>
            </a:r>
            <a:r>
              <a:rPr lang="it-IT" sz="3200" dirty="0" err="1"/>
              <a:t>Operation</a:t>
            </a:r>
            <a:endParaRPr lang="it-IT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Block</a:t>
            </a:r>
            <a:r>
              <a:rPr lang="it-IT" dirty="0"/>
              <a:t> </a:t>
            </a:r>
            <a:r>
              <a:rPr lang="it-IT" dirty="0" err="1"/>
              <a:t>ciphers</a:t>
            </a:r>
            <a:endParaRPr lang="it-IT" dirty="0"/>
          </a:p>
        </p:txBody>
      </p:sp>
      <p:sp>
        <p:nvSpPr>
          <p:cNvPr id="4" name="object 4"/>
          <p:cNvSpPr/>
          <p:nvPr/>
        </p:nvSpPr>
        <p:spPr>
          <a:xfrm>
            <a:off x="1744328" y="1978977"/>
            <a:ext cx="1673352" cy="8214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88778" y="1998026"/>
            <a:ext cx="1584198" cy="7328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88778" y="1998026"/>
            <a:ext cx="1584198" cy="732866"/>
          </a:xfrm>
          <a:custGeom>
            <a:avLst/>
            <a:gdLst/>
            <a:ahLst/>
            <a:cxnLst/>
            <a:rect l="l" t="t" r="r" b="b"/>
            <a:pathLst>
              <a:path w="1584198" h="732866">
                <a:moveTo>
                  <a:pt x="0" y="122173"/>
                </a:moveTo>
                <a:lnTo>
                  <a:pt x="7525" y="79844"/>
                </a:lnTo>
                <a:lnTo>
                  <a:pt x="28308" y="43933"/>
                </a:lnTo>
                <a:lnTo>
                  <a:pt x="59655" y="17148"/>
                </a:lnTo>
                <a:lnTo>
                  <a:pt x="98875" y="2198"/>
                </a:lnTo>
                <a:lnTo>
                  <a:pt x="1462024" y="0"/>
                </a:lnTo>
                <a:lnTo>
                  <a:pt x="1476672" y="870"/>
                </a:lnTo>
                <a:lnTo>
                  <a:pt x="1517144" y="13126"/>
                </a:lnTo>
                <a:lnTo>
                  <a:pt x="1550305" y="37746"/>
                </a:lnTo>
                <a:lnTo>
                  <a:pt x="1573451" y="72026"/>
                </a:lnTo>
                <a:lnTo>
                  <a:pt x="1583877" y="113260"/>
                </a:lnTo>
                <a:lnTo>
                  <a:pt x="1584198" y="610742"/>
                </a:lnTo>
                <a:lnTo>
                  <a:pt x="1583327" y="625393"/>
                </a:lnTo>
                <a:lnTo>
                  <a:pt x="1571065" y="665863"/>
                </a:lnTo>
                <a:lnTo>
                  <a:pt x="1546436" y="699012"/>
                </a:lnTo>
                <a:lnTo>
                  <a:pt x="1512145" y="722140"/>
                </a:lnTo>
                <a:lnTo>
                  <a:pt x="1470898" y="732548"/>
                </a:lnTo>
                <a:lnTo>
                  <a:pt x="122047" y="732866"/>
                </a:lnTo>
                <a:lnTo>
                  <a:pt x="107390" y="731995"/>
                </a:lnTo>
                <a:lnTo>
                  <a:pt x="66916" y="719731"/>
                </a:lnTo>
                <a:lnTo>
                  <a:pt x="33782" y="695095"/>
                </a:lnTo>
                <a:lnTo>
                  <a:pt x="10682" y="660789"/>
                </a:lnTo>
                <a:lnTo>
                  <a:pt x="310" y="619518"/>
                </a:lnTo>
                <a:lnTo>
                  <a:pt x="0" y="122173"/>
                </a:lnTo>
                <a:close/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33609" y="2219514"/>
            <a:ext cx="495934" cy="2921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pc="-220" dirty="0">
                <a:latin typeface="Arial"/>
                <a:cs typeface="Arial"/>
              </a:rPr>
              <a:t>E</a:t>
            </a:r>
            <a:r>
              <a:rPr spc="-114" dirty="0">
                <a:latin typeface="Arial"/>
                <a:cs typeface="Arial"/>
              </a:rPr>
              <a:t>(</a:t>
            </a:r>
            <a:r>
              <a:rPr spc="10" dirty="0">
                <a:latin typeface="Cambria Math"/>
                <a:cs typeface="Cambria Math"/>
              </a:rPr>
              <a:t>∙</a:t>
            </a:r>
            <a:r>
              <a:rPr spc="-110" dirty="0">
                <a:latin typeface="Arial"/>
                <a:cs typeface="Arial"/>
              </a:rPr>
              <a:t>,</a:t>
            </a:r>
            <a:r>
              <a:rPr spc="-165" dirty="0">
                <a:latin typeface="Arial"/>
                <a:cs typeface="Arial"/>
              </a:rPr>
              <a:t> </a:t>
            </a:r>
            <a:r>
              <a:rPr spc="10" dirty="0">
                <a:latin typeface="Cambria Math"/>
                <a:cs typeface="Cambria Math"/>
              </a:rPr>
              <a:t>∙</a:t>
            </a:r>
            <a:r>
              <a:rPr spc="-20" dirty="0">
                <a:latin typeface="Arial"/>
                <a:cs typeface="Arial"/>
              </a:rPr>
              <a:t>)</a:t>
            </a:r>
            <a:endParaRPr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52448" y="1966784"/>
            <a:ext cx="1671828" cy="8214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96136" y="1985201"/>
            <a:ext cx="1584198" cy="73291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96136" y="1985201"/>
            <a:ext cx="1584198" cy="732917"/>
          </a:xfrm>
          <a:custGeom>
            <a:avLst/>
            <a:gdLst/>
            <a:ahLst/>
            <a:cxnLst/>
            <a:rect l="l" t="t" r="r" b="b"/>
            <a:pathLst>
              <a:path w="1584198" h="732917">
                <a:moveTo>
                  <a:pt x="0" y="122173"/>
                </a:moveTo>
                <a:lnTo>
                  <a:pt x="7534" y="79865"/>
                </a:lnTo>
                <a:lnTo>
                  <a:pt x="28333" y="43966"/>
                </a:lnTo>
                <a:lnTo>
                  <a:pt x="59693" y="17181"/>
                </a:lnTo>
                <a:lnTo>
                  <a:pt x="98909" y="2215"/>
                </a:lnTo>
                <a:lnTo>
                  <a:pt x="1462024" y="0"/>
                </a:lnTo>
                <a:lnTo>
                  <a:pt x="1476672" y="870"/>
                </a:lnTo>
                <a:lnTo>
                  <a:pt x="1517144" y="13126"/>
                </a:lnTo>
                <a:lnTo>
                  <a:pt x="1550305" y="37746"/>
                </a:lnTo>
                <a:lnTo>
                  <a:pt x="1573451" y="72026"/>
                </a:lnTo>
                <a:lnTo>
                  <a:pt x="1583877" y="113260"/>
                </a:lnTo>
                <a:lnTo>
                  <a:pt x="1584198" y="610742"/>
                </a:lnTo>
                <a:lnTo>
                  <a:pt x="1583327" y="625391"/>
                </a:lnTo>
                <a:lnTo>
                  <a:pt x="1571071" y="665863"/>
                </a:lnTo>
                <a:lnTo>
                  <a:pt x="1546451" y="699024"/>
                </a:lnTo>
                <a:lnTo>
                  <a:pt x="1512171" y="722170"/>
                </a:lnTo>
                <a:lnTo>
                  <a:pt x="1470937" y="732596"/>
                </a:lnTo>
                <a:lnTo>
                  <a:pt x="122174" y="732916"/>
                </a:lnTo>
                <a:lnTo>
                  <a:pt x="107525" y="732046"/>
                </a:lnTo>
                <a:lnTo>
                  <a:pt x="67053" y="719790"/>
                </a:lnTo>
                <a:lnTo>
                  <a:pt x="33892" y="695170"/>
                </a:lnTo>
                <a:lnTo>
                  <a:pt x="10746" y="660890"/>
                </a:lnTo>
                <a:lnTo>
                  <a:pt x="320" y="619656"/>
                </a:lnTo>
                <a:lnTo>
                  <a:pt x="0" y="122173"/>
                </a:lnTo>
                <a:close/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312773" y="2206688"/>
            <a:ext cx="552450" cy="2921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pc="15" dirty="0">
                <a:latin typeface="Arial"/>
                <a:cs typeface="Arial"/>
              </a:rPr>
              <a:t>D</a:t>
            </a:r>
            <a:r>
              <a:rPr spc="-5" dirty="0">
                <a:latin typeface="Arial"/>
                <a:cs typeface="Arial"/>
              </a:rPr>
              <a:t>(</a:t>
            </a:r>
            <a:r>
              <a:rPr spc="10" dirty="0">
                <a:latin typeface="Cambria Math"/>
                <a:cs typeface="Cambria Math"/>
              </a:rPr>
              <a:t>∙</a:t>
            </a:r>
            <a:r>
              <a:rPr spc="-110" dirty="0">
                <a:latin typeface="Arial"/>
                <a:cs typeface="Arial"/>
              </a:rPr>
              <a:t>,</a:t>
            </a:r>
            <a:r>
              <a:rPr spc="-175" dirty="0">
                <a:latin typeface="Arial"/>
                <a:cs typeface="Arial"/>
              </a:rPr>
              <a:t> </a:t>
            </a:r>
            <a:r>
              <a:rPr spc="10" dirty="0">
                <a:latin typeface="Cambria Math"/>
                <a:cs typeface="Cambria Math"/>
              </a:rPr>
              <a:t>∙</a:t>
            </a:r>
            <a:r>
              <a:rPr spc="-20" dirty="0">
                <a:latin typeface="Arial"/>
                <a:cs typeface="Arial"/>
              </a:rPr>
              <a:t>)</a:t>
            </a:r>
            <a:endParaRPr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64244" y="692696"/>
            <a:ext cx="414934" cy="55323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62872" y="1005775"/>
            <a:ext cx="201930" cy="2870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pc="-120" dirty="0">
                <a:latin typeface="Arial"/>
                <a:cs typeface="Arial"/>
              </a:rPr>
              <a:t>m</a:t>
            </a:r>
            <a:endParaRPr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45526" y="1293177"/>
            <a:ext cx="443483" cy="5958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96439" y="1312608"/>
            <a:ext cx="341452" cy="50393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96439" y="1312608"/>
            <a:ext cx="341452" cy="503936"/>
          </a:xfrm>
          <a:custGeom>
            <a:avLst/>
            <a:gdLst/>
            <a:ahLst/>
            <a:cxnLst/>
            <a:rect l="l" t="t" r="r" b="b"/>
            <a:pathLst>
              <a:path w="341452" h="503936">
                <a:moveTo>
                  <a:pt x="256095" y="0"/>
                </a:moveTo>
                <a:lnTo>
                  <a:pt x="256095" y="333248"/>
                </a:lnTo>
                <a:lnTo>
                  <a:pt x="341452" y="333248"/>
                </a:lnTo>
                <a:lnTo>
                  <a:pt x="170726" y="503936"/>
                </a:lnTo>
                <a:lnTo>
                  <a:pt x="0" y="333248"/>
                </a:lnTo>
                <a:lnTo>
                  <a:pt x="85369" y="333248"/>
                </a:lnTo>
                <a:lnTo>
                  <a:pt x="85369" y="0"/>
                </a:lnTo>
                <a:lnTo>
                  <a:pt x="256095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448160" y="2160333"/>
            <a:ext cx="594360" cy="44348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491849" y="2186622"/>
            <a:ext cx="504063" cy="34137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491849" y="2186622"/>
            <a:ext cx="504063" cy="341375"/>
          </a:xfrm>
          <a:custGeom>
            <a:avLst/>
            <a:gdLst/>
            <a:ahLst/>
            <a:cxnLst/>
            <a:rect l="l" t="t" r="r" b="b"/>
            <a:pathLst>
              <a:path w="504063" h="341375">
                <a:moveTo>
                  <a:pt x="0" y="85343"/>
                </a:moveTo>
                <a:lnTo>
                  <a:pt x="333375" y="85343"/>
                </a:lnTo>
                <a:lnTo>
                  <a:pt x="333375" y="0"/>
                </a:lnTo>
                <a:lnTo>
                  <a:pt x="504063" y="170687"/>
                </a:lnTo>
                <a:lnTo>
                  <a:pt x="333375" y="341375"/>
                </a:lnTo>
                <a:lnTo>
                  <a:pt x="333375" y="256031"/>
                </a:lnTo>
                <a:lnTo>
                  <a:pt x="0" y="256031"/>
                </a:lnTo>
                <a:lnTo>
                  <a:pt x="0" y="8534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103224" y="2160333"/>
            <a:ext cx="595884" cy="44348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148056" y="2186622"/>
            <a:ext cx="504063" cy="34137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148056" y="2186622"/>
            <a:ext cx="504063" cy="341375"/>
          </a:xfrm>
          <a:custGeom>
            <a:avLst/>
            <a:gdLst/>
            <a:ahLst/>
            <a:cxnLst/>
            <a:rect l="l" t="t" r="r" b="b"/>
            <a:pathLst>
              <a:path w="504063" h="341375">
                <a:moveTo>
                  <a:pt x="0" y="85343"/>
                </a:moveTo>
                <a:lnTo>
                  <a:pt x="333375" y="85343"/>
                </a:lnTo>
                <a:lnTo>
                  <a:pt x="333375" y="0"/>
                </a:lnTo>
                <a:lnTo>
                  <a:pt x="504063" y="170687"/>
                </a:lnTo>
                <a:lnTo>
                  <a:pt x="333375" y="341375"/>
                </a:lnTo>
                <a:lnTo>
                  <a:pt x="333375" y="256031"/>
                </a:lnTo>
                <a:lnTo>
                  <a:pt x="0" y="256031"/>
                </a:lnTo>
                <a:lnTo>
                  <a:pt x="0" y="8534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181079" y="1966900"/>
            <a:ext cx="751217" cy="75121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532871" y="2730867"/>
            <a:ext cx="99694" cy="259080"/>
          </a:xfrm>
          <a:custGeom>
            <a:avLst/>
            <a:gdLst/>
            <a:ahLst/>
            <a:cxnLst/>
            <a:rect l="l" t="t" r="r" b="b"/>
            <a:pathLst>
              <a:path w="99694" h="259079">
                <a:moveTo>
                  <a:pt x="48350" y="18923"/>
                </a:moveTo>
                <a:lnTo>
                  <a:pt x="43817" y="27095"/>
                </a:lnTo>
                <a:lnTo>
                  <a:pt x="48894" y="259080"/>
                </a:lnTo>
                <a:lnTo>
                  <a:pt x="58419" y="258864"/>
                </a:lnTo>
                <a:lnTo>
                  <a:pt x="53346" y="27074"/>
                </a:lnTo>
                <a:lnTo>
                  <a:pt x="48350" y="18923"/>
                </a:lnTo>
                <a:close/>
              </a:path>
              <a:path w="99694" h="259079">
                <a:moveTo>
                  <a:pt x="48006" y="0"/>
                </a:moveTo>
                <a:lnTo>
                  <a:pt x="0" y="86588"/>
                </a:lnTo>
                <a:lnTo>
                  <a:pt x="762" y="89496"/>
                </a:lnTo>
                <a:lnTo>
                  <a:pt x="5334" y="92049"/>
                </a:lnTo>
                <a:lnTo>
                  <a:pt x="8255" y="91211"/>
                </a:lnTo>
                <a:lnTo>
                  <a:pt x="43817" y="27074"/>
                </a:lnTo>
                <a:lnTo>
                  <a:pt x="43434" y="9550"/>
                </a:lnTo>
                <a:lnTo>
                  <a:pt x="52959" y="9347"/>
                </a:lnTo>
                <a:lnTo>
                  <a:pt x="53727" y="9347"/>
                </a:lnTo>
                <a:lnTo>
                  <a:pt x="48006" y="0"/>
                </a:lnTo>
                <a:close/>
              </a:path>
              <a:path w="99694" h="259079">
                <a:moveTo>
                  <a:pt x="53727" y="9347"/>
                </a:moveTo>
                <a:lnTo>
                  <a:pt x="52959" y="9347"/>
                </a:lnTo>
                <a:lnTo>
                  <a:pt x="53360" y="27095"/>
                </a:lnTo>
                <a:lnTo>
                  <a:pt x="90296" y="87350"/>
                </a:lnTo>
                <a:lnTo>
                  <a:pt x="91567" y="89395"/>
                </a:lnTo>
                <a:lnTo>
                  <a:pt x="94487" y="90093"/>
                </a:lnTo>
                <a:lnTo>
                  <a:pt x="99060" y="87350"/>
                </a:lnTo>
                <a:lnTo>
                  <a:pt x="99694" y="84416"/>
                </a:lnTo>
                <a:lnTo>
                  <a:pt x="98298" y="82169"/>
                </a:lnTo>
                <a:lnTo>
                  <a:pt x="53727" y="9347"/>
                </a:lnTo>
                <a:close/>
              </a:path>
              <a:path w="99694" h="259079">
                <a:moveTo>
                  <a:pt x="52959" y="9347"/>
                </a:moveTo>
                <a:lnTo>
                  <a:pt x="43434" y="9550"/>
                </a:lnTo>
                <a:lnTo>
                  <a:pt x="43817" y="27095"/>
                </a:lnTo>
                <a:lnTo>
                  <a:pt x="48350" y="18923"/>
                </a:lnTo>
                <a:lnTo>
                  <a:pt x="44068" y="11938"/>
                </a:lnTo>
                <a:lnTo>
                  <a:pt x="52324" y="11760"/>
                </a:lnTo>
                <a:lnTo>
                  <a:pt x="53011" y="11760"/>
                </a:lnTo>
                <a:lnTo>
                  <a:pt x="52959" y="9347"/>
                </a:lnTo>
                <a:close/>
              </a:path>
              <a:path w="99694" h="259079">
                <a:moveTo>
                  <a:pt x="53011" y="11760"/>
                </a:moveTo>
                <a:lnTo>
                  <a:pt x="52324" y="11760"/>
                </a:lnTo>
                <a:lnTo>
                  <a:pt x="48350" y="18923"/>
                </a:lnTo>
                <a:lnTo>
                  <a:pt x="53346" y="27074"/>
                </a:lnTo>
                <a:lnTo>
                  <a:pt x="53011" y="11760"/>
                </a:lnTo>
                <a:close/>
              </a:path>
              <a:path w="99694" h="259079">
                <a:moveTo>
                  <a:pt x="52324" y="11760"/>
                </a:moveTo>
                <a:lnTo>
                  <a:pt x="44068" y="11938"/>
                </a:lnTo>
                <a:lnTo>
                  <a:pt x="48350" y="18923"/>
                </a:lnTo>
                <a:lnTo>
                  <a:pt x="52324" y="11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401173" y="2989847"/>
            <a:ext cx="370611" cy="37435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538325" y="2718091"/>
            <a:ext cx="99821" cy="239966"/>
          </a:xfrm>
          <a:custGeom>
            <a:avLst/>
            <a:gdLst/>
            <a:ahLst/>
            <a:cxnLst/>
            <a:rect l="l" t="t" r="r" b="b"/>
            <a:pathLst>
              <a:path w="99821" h="239966">
                <a:moveTo>
                  <a:pt x="49911" y="18815"/>
                </a:moveTo>
                <a:lnTo>
                  <a:pt x="45211" y="26871"/>
                </a:lnTo>
                <a:lnTo>
                  <a:pt x="45085" y="239966"/>
                </a:lnTo>
                <a:lnTo>
                  <a:pt x="54610" y="239966"/>
                </a:lnTo>
                <a:lnTo>
                  <a:pt x="54610" y="26871"/>
                </a:lnTo>
                <a:lnTo>
                  <a:pt x="49911" y="18815"/>
                </a:lnTo>
                <a:close/>
              </a:path>
              <a:path w="99821" h="239966">
                <a:moveTo>
                  <a:pt x="49911" y="0"/>
                </a:moveTo>
                <a:lnTo>
                  <a:pt x="1397" y="83248"/>
                </a:lnTo>
                <a:lnTo>
                  <a:pt x="0" y="85521"/>
                </a:lnTo>
                <a:lnTo>
                  <a:pt x="762" y="88442"/>
                </a:lnTo>
                <a:lnTo>
                  <a:pt x="5334" y="91097"/>
                </a:lnTo>
                <a:lnTo>
                  <a:pt x="8254" y="90322"/>
                </a:lnTo>
                <a:lnTo>
                  <a:pt x="9525" y="88049"/>
                </a:lnTo>
                <a:lnTo>
                  <a:pt x="45085" y="27089"/>
                </a:lnTo>
                <a:lnTo>
                  <a:pt x="45085" y="9448"/>
                </a:lnTo>
                <a:lnTo>
                  <a:pt x="55417" y="9448"/>
                </a:lnTo>
                <a:lnTo>
                  <a:pt x="49911" y="0"/>
                </a:lnTo>
                <a:close/>
              </a:path>
              <a:path w="99821" h="239966">
                <a:moveTo>
                  <a:pt x="55417" y="9448"/>
                </a:moveTo>
                <a:lnTo>
                  <a:pt x="54610" y="9448"/>
                </a:lnTo>
                <a:lnTo>
                  <a:pt x="54736" y="27089"/>
                </a:lnTo>
                <a:lnTo>
                  <a:pt x="90296" y="88049"/>
                </a:lnTo>
                <a:lnTo>
                  <a:pt x="91566" y="90322"/>
                </a:lnTo>
                <a:lnTo>
                  <a:pt x="94487" y="91097"/>
                </a:lnTo>
                <a:lnTo>
                  <a:pt x="99060" y="88442"/>
                </a:lnTo>
                <a:lnTo>
                  <a:pt x="99821" y="85521"/>
                </a:lnTo>
                <a:lnTo>
                  <a:pt x="98424" y="83248"/>
                </a:lnTo>
                <a:lnTo>
                  <a:pt x="55417" y="9448"/>
                </a:lnTo>
                <a:close/>
              </a:path>
              <a:path w="99821" h="239966">
                <a:moveTo>
                  <a:pt x="54610" y="9448"/>
                </a:moveTo>
                <a:lnTo>
                  <a:pt x="45085" y="9448"/>
                </a:lnTo>
                <a:lnTo>
                  <a:pt x="45085" y="27089"/>
                </a:lnTo>
                <a:lnTo>
                  <a:pt x="49911" y="18815"/>
                </a:lnTo>
                <a:lnTo>
                  <a:pt x="45846" y="11849"/>
                </a:lnTo>
                <a:lnTo>
                  <a:pt x="54610" y="11849"/>
                </a:lnTo>
                <a:lnTo>
                  <a:pt x="54610" y="9448"/>
                </a:lnTo>
                <a:close/>
              </a:path>
              <a:path w="99821" h="239966">
                <a:moveTo>
                  <a:pt x="54610" y="11849"/>
                </a:moveTo>
                <a:lnTo>
                  <a:pt x="53974" y="11849"/>
                </a:lnTo>
                <a:lnTo>
                  <a:pt x="49911" y="18815"/>
                </a:lnTo>
                <a:lnTo>
                  <a:pt x="54610" y="26871"/>
                </a:lnTo>
                <a:lnTo>
                  <a:pt x="54610" y="11849"/>
                </a:lnTo>
                <a:close/>
              </a:path>
              <a:path w="99821" h="239966">
                <a:moveTo>
                  <a:pt x="53974" y="11849"/>
                </a:moveTo>
                <a:lnTo>
                  <a:pt x="45846" y="11849"/>
                </a:lnTo>
                <a:lnTo>
                  <a:pt x="49911" y="18815"/>
                </a:lnTo>
                <a:lnTo>
                  <a:pt x="53974" y="118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402943" y="2958059"/>
            <a:ext cx="370611" cy="37435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350373" y="1642808"/>
            <a:ext cx="492125" cy="2806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pc="-10" dirty="0">
                <a:latin typeface="Tahoma"/>
                <a:cs typeface="Tahoma"/>
              </a:rPr>
              <a:t>Al</a:t>
            </a:r>
            <a:r>
              <a:rPr spc="-15" dirty="0">
                <a:latin typeface="Tahoma"/>
                <a:cs typeface="Tahoma"/>
              </a:rPr>
              <a:t>i</a:t>
            </a:r>
            <a:r>
              <a:rPr dirty="0">
                <a:latin typeface="Tahoma"/>
                <a:cs typeface="Tahoma"/>
              </a:rPr>
              <a:t>ce</a:t>
            </a:r>
            <a:endParaRPr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383511" y="1642808"/>
            <a:ext cx="411480" cy="2806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dirty="0">
                <a:latin typeface="Tahoma"/>
                <a:cs typeface="Tahoma"/>
              </a:rPr>
              <a:t>B</a:t>
            </a:r>
            <a:r>
              <a:rPr spc="-10" dirty="0">
                <a:latin typeface="Tahoma"/>
                <a:cs typeface="Tahoma"/>
              </a:rPr>
              <a:t>ob</a:t>
            </a:r>
            <a:endParaRPr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44001" y="1927160"/>
            <a:ext cx="438912" cy="23317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88806" y="1945830"/>
            <a:ext cx="349084" cy="14401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88806" y="1945830"/>
            <a:ext cx="349084" cy="144018"/>
          </a:xfrm>
          <a:custGeom>
            <a:avLst/>
            <a:gdLst/>
            <a:ahLst/>
            <a:cxnLst/>
            <a:rect l="l" t="t" r="r" b="b"/>
            <a:pathLst>
              <a:path w="349084" h="144018">
                <a:moveTo>
                  <a:pt x="0" y="144018"/>
                </a:moveTo>
                <a:lnTo>
                  <a:pt x="349084" y="144018"/>
                </a:lnTo>
                <a:lnTo>
                  <a:pt x="349084" y="0"/>
                </a:lnTo>
                <a:lnTo>
                  <a:pt x="0" y="0"/>
                </a:lnTo>
                <a:lnTo>
                  <a:pt x="0" y="144018"/>
                </a:lnTo>
                <a:close/>
              </a:path>
            </a:pathLst>
          </a:custGeom>
          <a:ln w="9525">
            <a:solidFill>
              <a:srgbClr val="F7954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44001" y="2076514"/>
            <a:ext cx="438912" cy="23317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88806" y="2095689"/>
            <a:ext cx="349084" cy="14401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88806" y="2095689"/>
            <a:ext cx="349084" cy="144018"/>
          </a:xfrm>
          <a:custGeom>
            <a:avLst/>
            <a:gdLst/>
            <a:ahLst/>
            <a:cxnLst/>
            <a:rect l="l" t="t" r="r" b="b"/>
            <a:pathLst>
              <a:path w="349084" h="144018">
                <a:moveTo>
                  <a:pt x="0" y="144018"/>
                </a:moveTo>
                <a:lnTo>
                  <a:pt x="349084" y="144018"/>
                </a:lnTo>
                <a:lnTo>
                  <a:pt x="349084" y="0"/>
                </a:lnTo>
                <a:lnTo>
                  <a:pt x="0" y="0"/>
                </a:lnTo>
                <a:lnTo>
                  <a:pt x="0" y="144018"/>
                </a:lnTo>
                <a:close/>
              </a:path>
            </a:pathLst>
          </a:custGeom>
          <a:ln w="9525">
            <a:solidFill>
              <a:srgbClr val="F7954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44001" y="2224340"/>
            <a:ext cx="438912" cy="23317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88806" y="2243391"/>
            <a:ext cx="349084" cy="14401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88806" y="2243391"/>
            <a:ext cx="349084" cy="144017"/>
          </a:xfrm>
          <a:custGeom>
            <a:avLst/>
            <a:gdLst/>
            <a:ahLst/>
            <a:cxnLst/>
            <a:rect l="l" t="t" r="r" b="b"/>
            <a:pathLst>
              <a:path w="349084" h="144017">
                <a:moveTo>
                  <a:pt x="0" y="144017"/>
                </a:moveTo>
                <a:lnTo>
                  <a:pt x="349084" y="144017"/>
                </a:lnTo>
                <a:lnTo>
                  <a:pt x="349084" y="0"/>
                </a:lnTo>
                <a:lnTo>
                  <a:pt x="0" y="0"/>
                </a:lnTo>
                <a:lnTo>
                  <a:pt x="0" y="144017"/>
                </a:lnTo>
                <a:close/>
              </a:path>
            </a:pathLst>
          </a:custGeom>
          <a:ln w="9525">
            <a:solidFill>
              <a:srgbClr val="F7954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44001" y="2373693"/>
            <a:ext cx="438912" cy="23317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88806" y="2393251"/>
            <a:ext cx="349084" cy="14401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88806" y="2393251"/>
            <a:ext cx="349084" cy="144018"/>
          </a:xfrm>
          <a:custGeom>
            <a:avLst/>
            <a:gdLst/>
            <a:ahLst/>
            <a:cxnLst/>
            <a:rect l="l" t="t" r="r" b="b"/>
            <a:pathLst>
              <a:path w="349084" h="144018">
                <a:moveTo>
                  <a:pt x="0" y="144017"/>
                </a:moveTo>
                <a:lnTo>
                  <a:pt x="349084" y="144017"/>
                </a:lnTo>
                <a:lnTo>
                  <a:pt x="349084" y="0"/>
                </a:lnTo>
                <a:lnTo>
                  <a:pt x="0" y="0"/>
                </a:lnTo>
                <a:lnTo>
                  <a:pt x="0" y="144017"/>
                </a:lnTo>
                <a:close/>
              </a:path>
            </a:pathLst>
          </a:custGeom>
          <a:ln w="9525">
            <a:solidFill>
              <a:srgbClr val="F7954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44001" y="2798889"/>
            <a:ext cx="438912" cy="23317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88806" y="2817519"/>
            <a:ext cx="349084" cy="144018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88806" y="2817519"/>
            <a:ext cx="349084" cy="144018"/>
          </a:xfrm>
          <a:custGeom>
            <a:avLst/>
            <a:gdLst/>
            <a:ahLst/>
            <a:cxnLst/>
            <a:rect l="l" t="t" r="r" b="b"/>
            <a:pathLst>
              <a:path w="349084" h="144018">
                <a:moveTo>
                  <a:pt x="0" y="144018"/>
                </a:moveTo>
                <a:lnTo>
                  <a:pt x="349084" y="144018"/>
                </a:lnTo>
                <a:lnTo>
                  <a:pt x="349084" y="0"/>
                </a:lnTo>
                <a:lnTo>
                  <a:pt x="0" y="0"/>
                </a:lnTo>
                <a:lnTo>
                  <a:pt x="0" y="144018"/>
                </a:lnTo>
                <a:close/>
              </a:path>
            </a:pathLst>
          </a:custGeom>
          <a:ln w="9525">
            <a:solidFill>
              <a:srgbClr val="F7954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174352" y="1890584"/>
            <a:ext cx="594360" cy="44348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218688" y="1916621"/>
            <a:ext cx="504050" cy="34150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218688" y="1916621"/>
            <a:ext cx="504050" cy="341503"/>
          </a:xfrm>
          <a:custGeom>
            <a:avLst/>
            <a:gdLst/>
            <a:ahLst/>
            <a:cxnLst/>
            <a:rect l="l" t="t" r="r" b="b"/>
            <a:pathLst>
              <a:path w="504050" h="341502">
                <a:moveTo>
                  <a:pt x="0" y="85343"/>
                </a:moveTo>
                <a:lnTo>
                  <a:pt x="333362" y="85343"/>
                </a:lnTo>
                <a:lnTo>
                  <a:pt x="333362" y="0"/>
                </a:lnTo>
                <a:lnTo>
                  <a:pt x="504050" y="170687"/>
                </a:lnTo>
                <a:lnTo>
                  <a:pt x="333362" y="341503"/>
                </a:lnTo>
                <a:lnTo>
                  <a:pt x="333362" y="256159"/>
                </a:lnTo>
                <a:lnTo>
                  <a:pt x="0" y="256159"/>
                </a:lnTo>
                <a:lnTo>
                  <a:pt x="0" y="8534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174352" y="2276157"/>
            <a:ext cx="594360" cy="44348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218688" y="2301683"/>
            <a:ext cx="504050" cy="341502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218688" y="2301683"/>
            <a:ext cx="504050" cy="341502"/>
          </a:xfrm>
          <a:custGeom>
            <a:avLst/>
            <a:gdLst/>
            <a:ahLst/>
            <a:cxnLst/>
            <a:rect l="l" t="t" r="r" b="b"/>
            <a:pathLst>
              <a:path w="504050" h="341502">
                <a:moveTo>
                  <a:pt x="0" y="85344"/>
                </a:moveTo>
                <a:lnTo>
                  <a:pt x="333362" y="85344"/>
                </a:lnTo>
                <a:lnTo>
                  <a:pt x="333362" y="0"/>
                </a:lnTo>
                <a:lnTo>
                  <a:pt x="504050" y="170688"/>
                </a:lnTo>
                <a:lnTo>
                  <a:pt x="333362" y="341503"/>
                </a:lnTo>
                <a:lnTo>
                  <a:pt x="333362" y="256159"/>
                </a:lnTo>
                <a:lnTo>
                  <a:pt x="0" y="256159"/>
                </a:lnTo>
                <a:lnTo>
                  <a:pt x="0" y="8534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174352" y="2661728"/>
            <a:ext cx="594360" cy="44348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218688" y="2686760"/>
            <a:ext cx="504050" cy="34145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218688" y="2686760"/>
            <a:ext cx="504050" cy="341452"/>
          </a:xfrm>
          <a:custGeom>
            <a:avLst/>
            <a:gdLst/>
            <a:ahLst/>
            <a:cxnLst/>
            <a:rect l="l" t="t" r="r" b="b"/>
            <a:pathLst>
              <a:path w="504050" h="341452">
                <a:moveTo>
                  <a:pt x="0" y="85356"/>
                </a:moveTo>
                <a:lnTo>
                  <a:pt x="333362" y="85356"/>
                </a:lnTo>
                <a:lnTo>
                  <a:pt x="333362" y="0"/>
                </a:lnTo>
                <a:lnTo>
                  <a:pt x="504050" y="170726"/>
                </a:lnTo>
                <a:lnTo>
                  <a:pt x="333362" y="341452"/>
                </a:lnTo>
                <a:lnTo>
                  <a:pt x="333362" y="256095"/>
                </a:lnTo>
                <a:lnTo>
                  <a:pt x="0" y="256095"/>
                </a:lnTo>
                <a:lnTo>
                  <a:pt x="0" y="85356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066643" y="692696"/>
            <a:ext cx="414934" cy="55323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8566769" y="1005775"/>
            <a:ext cx="201930" cy="2870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pc="-120" dirty="0">
                <a:latin typeface="Arial"/>
                <a:cs typeface="Arial"/>
              </a:rPr>
              <a:t>m</a:t>
            </a:r>
            <a:endParaRPr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8049118" y="1291653"/>
            <a:ext cx="443483" cy="59435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099663" y="1312608"/>
            <a:ext cx="256031" cy="503936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099662" y="1312608"/>
            <a:ext cx="341502" cy="503936"/>
          </a:xfrm>
          <a:custGeom>
            <a:avLst/>
            <a:gdLst/>
            <a:ahLst/>
            <a:cxnLst/>
            <a:rect l="l" t="t" r="r" b="b"/>
            <a:pathLst>
              <a:path w="341502" h="503936">
                <a:moveTo>
                  <a:pt x="85344" y="503936"/>
                </a:moveTo>
                <a:lnTo>
                  <a:pt x="85344" y="170688"/>
                </a:lnTo>
                <a:lnTo>
                  <a:pt x="0" y="170688"/>
                </a:lnTo>
                <a:lnTo>
                  <a:pt x="170687" y="0"/>
                </a:lnTo>
                <a:lnTo>
                  <a:pt x="341502" y="170688"/>
                </a:lnTo>
                <a:lnTo>
                  <a:pt x="256031" y="170688"/>
                </a:lnTo>
                <a:lnTo>
                  <a:pt x="256031" y="503936"/>
                </a:lnTo>
                <a:lnTo>
                  <a:pt x="85344" y="50393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047593" y="1927160"/>
            <a:ext cx="437388" cy="233172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092043" y="1945830"/>
            <a:ext cx="349084" cy="14401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092043" y="1945830"/>
            <a:ext cx="349084" cy="144018"/>
          </a:xfrm>
          <a:custGeom>
            <a:avLst/>
            <a:gdLst/>
            <a:ahLst/>
            <a:cxnLst/>
            <a:rect l="l" t="t" r="r" b="b"/>
            <a:pathLst>
              <a:path w="349084" h="144018">
                <a:moveTo>
                  <a:pt x="0" y="144018"/>
                </a:moveTo>
                <a:lnTo>
                  <a:pt x="349084" y="144018"/>
                </a:lnTo>
                <a:lnTo>
                  <a:pt x="349084" y="0"/>
                </a:lnTo>
                <a:lnTo>
                  <a:pt x="0" y="0"/>
                </a:lnTo>
                <a:lnTo>
                  <a:pt x="0" y="144018"/>
                </a:lnTo>
                <a:close/>
              </a:path>
            </a:pathLst>
          </a:custGeom>
          <a:ln w="9525">
            <a:solidFill>
              <a:srgbClr val="F7954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047593" y="2076514"/>
            <a:ext cx="437388" cy="233171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092043" y="2095689"/>
            <a:ext cx="349084" cy="14401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092043" y="2095689"/>
            <a:ext cx="349084" cy="144018"/>
          </a:xfrm>
          <a:custGeom>
            <a:avLst/>
            <a:gdLst/>
            <a:ahLst/>
            <a:cxnLst/>
            <a:rect l="l" t="t" r="r" b="b"/>
            <a:pathLst>
              <a:path w="349084" h="144018">
                <a:moveTo>
                  <a:pt x="0" y="144018"/>
                </a:moveTo>
                <a:lnTo>
                  <a:pt x="349084" y="144018"/>
                </a:lnTo>
                <a:lnTo>
                  <a:pt x="349084" y="0"/>
                </a:lnTo>
                <a:lnTo>
                  <a:pt x="0" y="0"/>
                </a:lnTo>
                <a:lnTo>
                  <a:pt x="0" y="144018"/>
                </a:lnTo>
                <a:close/>
              </a:path>
            </a:pathLst>
          </a:custGeom>
          <a:ln w="9525">
            <a:solidFill>
              <a:srgbClr val="F7954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047593" y="2224340"/>
            <a:ext cx="437388" cy="233172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8092043" y="2243391"/>
            <a:ext cx="349084" cy="14401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8092043" y="2243391"/>
            <a:ext cx="349084" cy="144017"/>
          </a:xfrm>
          <a:custGeom>
            <a:avLst/>
            <a:gdLst/>
            <a:ahLst/>
            <a:cxnLst/>
            <a:rect l="l" t="t" r="r" b="b"/>
            <a:pathLst>
              <a:path w="349084" h="144017">
                <a:moveTo>
                  <a:pt x="0" y="144017"/>
                </a:moveTo>
                <a:lnTo>
                  <a:pt x="349084" y="144017"/>
                </a:lnTo>
                <a:lnTo>
                  <a:pt x="349084" y="0"/>
                </a:lnTo>
                <a:lnTo>
                  <a:pt x="0" y="0"/>
                </a:lnTo>
                <a:lnTo>
                  <a:pt x="0" y="144017"/>
                </a:lnTo>
                <a:close/>
              </a:path>
            </a:pathLst>
          </a:custGeom>
          <a:ln w="9525">
            <a:solidFill>
              <a:srgbClr val="F7954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8047593" y="2373693"/>
            <a:ext cx="437388" cy="23317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8092043" y="2393251"/>
            <a:ext cx="349084" cy="14401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092043" y="2393251"/>
            <a:ext cx="349084" cy="144018"/>
          </a:xfrm>
          <a:custGeom>
            <a:avLst/>
            <a:gdLst/>
            <a:ahLst/>
            <a:cxnLst/>
            <a:rect l="l" t="t" r="r" b="b"/>
            <a:pathLst>
              <a:path w="349084" h="144018">
                <a:moveTo>
                  <a:pt x="0" y="144017"/>
                </a:moveTo>
                <a:lnTo>
                  <a:pt x="349084" y="144017"/>
                </a:lnTo>
                <a:lnTo>
                  <a:pt x="349084" y="0"/>
                </a:lnTo>
                <a:lnTo>
                  <a:pt x="0" y="0"/>
                </a:lnTo>
                <a:lnTo>
                  <a:pt x="0" y="144017"/>
                </a:lnTo>
                <a:close/>
              </a:path>
            </a:pathLst>
          </a:custGeom>
          <a:ln w="9525">
            <a:solidFill>
              <a:srgbClr val="F7954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8047593" y="2798889"/>
            <a:ext cx="437388" cy="233172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8092043" y="2817519"/>
            <a:ext cx="349084" cy="144018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8092043" y="2817519"/>
            <a:ext cx="349084" cy="144018"/>
          </a:xfrm>
          <a:custGeom>
            <a:avLst/>
            <a:gdLst/>
            <a:ahLst/>
            <a:cxnLst/>
            <a:rect l="l" t="t" r="r" b="b"/>
            <a:pathLst>
              <a:path w="349084" h="144018">
                <a:moveTo>
                  <a:pt x="0" y="144018"/>
                </a:moveTo>
                <a:lnTo>
                  <a:pt x="349084" y="144018"/>
                </a:lnTo>
                <a:lnTo>
                  <a:pt x="349084" y="0"/>
                </a:lnTo>
                <a:lnTo>
                  <a:pt x="0" y="0"/>
                </a:lnTo>
                <a:lnTo>
                  <a:pt x="0" y="144018"/>
                </a:lnTo>
                <a:close/>
              </a:path>
            </a:pathLst>
          </a:custGeom>
          <a:ln w="9525">
            <a:solidFill>
              <a:srgbClr val="F7954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7460854" y="1890584"/>
            <a:ext cx="594359" cy="44348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7505049" y="1916621"/>
            <a:ext cx="504063" cy="341503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7505049" y="1916621"/>
            <a:ext cx="504063" cy="341503"/>
          </a:xfrm>
          <a:custGeom>
            <a:avLst/>
            <a:gdLst/>
            <a:ahLst/>
            <a:cxnLst/>
            <a:rect l="l" t="t" r="r" b="b"/>
            <a:pathLst>
              <a:path w="504063" h="341502">
                <a:moveTo>
                  <a:pt x="0" y="85343"/>
                </a:moveTo>
                <a:lnTo>
                  <a:pt x="333248" y="85343"/>
                </a:lnTo>
                <a:lnTo>
                  <a:pt x="333248" y="0"/>
                </a:lnTo>
                <a:lnTo>
                  <a:pt x="504063" y="170687"/>
                </a:lnTo>
                <a:lnTo>
                  <a:pt x="333248" y="341503"/>
                </a:lnTo>
                <a:lnTo>
                  <a:pt x="333248" y="256159"/>
                </a:lnTo>
                <a:lnTo>
                  <a:pt x="0" y="256159"/>
                </a:lnTo>
                <a:lnTo>
                  <a:pt x="0" y="85343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7460854" y="2276157"/>
            <a:ext cx="594359" cy="44348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7505049" y="2301683"/>
            <a:ext cx="504063" cy="341502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7505049" y="2301683"/>
            <a:ext cx="504063" cy="341502"/>
          </a:xfrm>
          <a:custGeom>
            <a:avLst/>
            <a:gdLst/>
            <a:ahLst/>
            <a:cxnLst/>
            <a:rect l="l" t="t" r="r" b="b"/>
            <a:pathLst>
              <a:path w="504063" h="341502">
                <a:moveTo>
                  <a:pt x="0" y="85344"/>
                </a:moveTo>
                <a:lnTo>
                  <a:pt x="333248" y="85344"/>
                </a:lnTo>
                <a:lnTo>
                  <a:pt x="333248" y="0"/>
                </a:lnTo>
                <a:lnTo>
                  <a:pt x="504063" y="170688"/>
                </a:lnTo>
                <a:lnTo>
                  <a:pt x="333248" y="341503"/>
                </a:lnTo>
                <a:lnTo>
                  <a:pt x="333248" y="256159"/>
                </a:lnTo>
                <a:lnTo>
                  <a:pt x="0" y="256159"/>
                </a:lnTo>
                <a:lnTo>
                  <a:pt x="0" y="8534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7460854" y="2661728"/>
            <a:ext cx="594359" cy="443484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7505049" y="2686760"/>
            <a:ext cx="504063" cy="341452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505049" y="2686760"/>
            <a:ext cx="504063" cy="341452"/>
          </a:xfrm>
          <a:custGeom>
            <a:avLst/>
            <a:gdLst/>
            <a:ahLst/>
            <a:cxnLst/>
            <a:rect l="l" t="t" r="r" b="b"/>
            <a:pathLst>
              <a:path w="504063" h="341452">
                <a:moveTo>
                  <a:pt x="0" y="85356"/>
                </a:moveTo>
                <a:lnTo>
                  <a:pt x="333248" y="85356"/>
                </a:lnTo>
                <a:lnTo>
                  <a:pt x="333248" y="0"/>
                </a:lnTo>
                <a:lnTo>
                  <a:pt x="504063" y="170726"/>
                </a:lnTo>
                <a:lnTo>
                  <a:pt x="333248" y="341452"/>
                </a:lnTo>
                <a:lnTo>
                  <a:pt x="333248" y="256095"/>
                </a:lnTo>
                <a:lnTo>
                  <a:pt x="0" y="256095"/>
                </a:lnTo>
                <a:lnTo>
                  <a:pt x="0" y="8535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331581" y="1927161"/>
            <a:ext cx="287020" cy="870181"/>
          </a:xfrm>
          <a:prstGeom prst="rect">
            <a:avLst/>
          </a:prstGeom>
        </p:spPr>
        <p:txBody>
          <a:bodyPr vert="vert270" wrap="square" lIns="0" tIns="0" rIns="0" bIns="0" rtlCol="0">
            <a:noAutofit/>
          </a:bodyPr>
          <a:lstStyle/>
          <a:p>
            <a:pPr marL="12700"/>
            <a:r>
              <a:rPr lang="it-IT" dirty="0" err="1">
                <a:latin typeface="Arial"/>
                <a:cs typeface="Arial"/>
              </a:rPr>
              <a:t>Blocks</a:t>
            </a:r>
            <a:endParaRPr dirty="0">
              <a:latin typeface="Arial"/>
              <a:cs typeface="Arial"/>
            </a:endParaRPr>
          </a:p>
        </p:txBody>
      </p:sp>
      <p:sp>
        <p:nvSpPr>
          <p:cNvPr id="84" name="object 89"/>
          <p:cNvSpPr txBox="1"/>
          <p:nvPr/>
        </p:nvSpPr>
        <p:spPr>
          <a:xfrm>
            <a:off x="4401042" y="2769018"/>
            <a:ext cx="325120" cy="2870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pc="-30" dirty="0">
                <a:latin typeface="Arial"/>
                <a:cs typeface="Arial"/>
              </a:rPr>
              <a:t>CT</a:t>
            </a:r>
            <a:endParaRPr>
              <a:latin typeface="Arial"/>
              <a:cs typeface="Arial"/>
            </a:endParaRPr>
          </a:p>
        </p:txBody>
      </p:sp>
      <p:sp>
        <p:nvSpPr>
          <p:cNvPr id="85" name="object 91"/>
          <p:cNvSpPr txBox="1"/>
          <p:nvPr/>
        </p:nvSpPr>
        <p:spPr>
          <a:xfrm>
            <a:off x="2812145" y="3138436"/>
            <a:ext cx="135255" cy="2870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pc="-45" dirty="0">
                <a:latin typeface="Arial"/>
                <a:cs typeface="Arial"/>
              </a:rPr>
              <a:t>k</a:t>
            </a:r>
            <a:endParaRPr dirty="0">
              <a:latin typeface="Arial"/>
              <a:cs typeface="Arial"/>
            </a:endParaRPr>
          </a:p>
        </p:txBody>
      </p:sp>
      <p:sp>
        <p:nvSpPr>
          <p:cNvPr id="86" name="object 83"/>
          <p:cNvSpPr txBox="1"/>
          <p:nvPr/>
        </p:nvSpPr>
        <p:spPr>
          <a:xfrm>
            <a:off x="8566769" y="1966766"/>
            <a:ext cx="287020" cy="870181"/>
          </a:xfrm>
          <a:prstGeom prst="rect">
            <a:avLst/>
          </a:prstGeom>
        </p:spPr>
        <p:txBody>
          <a:bodyPr vert="vert270" wrap="square" lIns="0" tIns="0" rIns="0" bIns="0" rtlCol="0">
            <a:noAutofit/>
          </a:bodyPr>
          <a:lstStyle/>
          <a:p>
            <a:pPr marL="12700"/>
            <a:r>
              <a:rPr lang="it-IT" dirty="0" err="1">
                <a:latin typeface="Arial"/>
                <a:cs typeface="Arial"/>
              </a:rPr>
              <a:t>Blocks</a:t>
            </a:r>
            <a:endParaRPr dirty="0">
              <a:latin typeface="Arial"/>
              <a:cs typeface="Arial"/>
            </a:endParaRPr>
          </a:p>
        </p:txBody>
      </p:sp>
      <p:sp>
        <p:nvSpPr>
          <p:cNvPr id="87" name="object 83"/>
          <p:cNvSpPr txBox="1"/>
          <p:nvPr/>
        </p:nvSpPr>
        <p:spPr>
          <a:xfrm>
            <a:off x="8059607" y="2551133"/>
            <a:ext cx="237490" cy="271255"/>
          </a:xfrm>
          <a:prstGeom prst="rect">
            <a:avLst/>
          </a:prstGeom>
        </p:spPr>
        <p:txBody>
          <a:bodyPr vert="vert270" wrap="square" lIns="0" tIns="0" rIns="0" bIns="0" rtlCol="0">
            <a:noAutofit/>
          </a:bodyPr>
          <a:lstStyle/>
          <a:p>
            <a:pPr marL="12700"/>
            <a:r>
              <a:rPr lang="it-IT" dirty="0">
                <a:latin typeface="Arial"/>
                <a:cs typeface="Arial"/>
              </a:rPr>
              <a:t>…</a:t>
            </a:r>
            <a:endParaRPr dirty="0">
              <a:latin typeface="Arial"/>
              <a:cs typeface="Arial"/>
            </a:endParaRPr>
          </a:p>
        </p:txBody>
      </p:sp>
      <p:sp>
        <p:nvSpPr>
          <p:cNvPr id="88" name="object 83"/>
          <p:cNvSpPr txBox="1"/>
          <p:nvPr/>
        </p:nvSpPr>
        <p:spPr>
          <a:xfrm>
            <a:off x="642783" y="2542830"/>
            <a:ext cx="237490" cy="271255"/>
          </a:xfrm>
          <a:prstGeom prst="rect">
            <a:avLst/>
          </a:prstGeom>
        </p:spPr>
        <p:txBody>
          <a:bodyPr vert="vert270" wrap="square" lIns="0" tIns="0" rIns="0" bIns="0" rtlCol="0">
            <a:noAutofit/>
          </a:bodyPr>
          <a:lstStyle/>
          <a:p>
            <a:pPr marL="12700"/>
            <a:r>
              <a:rPr lang="it-IT" dirty="0">
                <a:latin typeface="Arial"/>
                <a:cs typeface="Arial"/>
              </a:rPr>
              <a:t>…</a:t>
            </a:r>
            <a:endParaRPr dirty="0">
              <a:latin typeface="Arial"/>
              <a:cs typeface="Arial"/>
            </a:endParaRPr>
          </a:p>
        </p:txBody>
      </p:sp>
      <p:sp>
        <p:nvSpPr>
          <p:cNvPr id="89" name="object 91"/>
          <p:cNvSpPr txBox="1"/>
          <p:nvPr/>
        </p:nvSpPr>
        <p:spPr>
          <a:xfrm>
            <a:off x="6822508" y="3131419"/>
            <a:ext cx="135255" cy="2870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pc="-45" dirty="0">
                <a:latin typeface="Arial"/>
                <a:cs typeface="Arial"/>
              </a:rPr>
              <a:t>k</a:t>
            </a:r>
            <a:endParaRPr dirty="0">
              <a:latin typeface="Arial"/>
              <a:cs typeface="Arial"/>
            </a:endParaRPr>
          </a:p>
        </p:txBody>
      </p:sp>
      <p:sp>
        <p:nvSpPr>
          <p:cNvPr id="90" name="Segnaposto contenuto 2"/>
          <p:cNvSpPr>
            <a:spLocks noGrp="1"/>
          </p:cNvSpPr>
          <p:nvPr>
            <p:ph idx="1"/>
          </p:nvPr>
        </p:nvSpPr>
        <p:spPr>
          <a:xfrm>
            <a:off x="685800" y="3384662"/>
            <a:ext cx="8206680" cy="48436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Goal: “generalize” substitution ciphers</a:t>
            </a:r>
          </a:p>
          <a:p>
            <a:endParaRPr lang="it-IT" dirty="0"/>
          </a:p>
        </p:txBody>
      </p:sp>
      <p:sp>
        <p:nvSpPr>
          <p:cNvPr id="91" name="CasellaDiTesto 90"/>
          <p:cNvSpPr txBox="1">
            <a:spLocks noChangeArrowheads="1"/>
          </p:cNvSpPr>
          <p:nvPr/>
        </p:nvSpPr>
        <p:spPr bwMode="auto">
          <a:xfrm>
            <a:off x="5544108" y="6525344"/>
            <a:ext cx="358944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b="0" dirty="0">
                <a:latin typeface="Arial Narrow" panose="020B0606020202030204" pitchFamily="34" charset="0"/>
              </a:rPr>
              <a:t>Graphics </a:t>
            </a:r>
            <a:r>
              <a:rPr lang="it-IT" altLang="it-IT" sz="1600" b="0" dirty="0" err="1">
                <a:latin typeface="Arial Narrow" panose="020B0606020202030204" pitchFamily="34" charset="0"/>
              </a:rPr>
              <a:t>courtesy</a:t>
            </a:r>
            <a:r>
              <a:rPr lang="it-IT" altLang="it-IT" sz="1600" b="0" dirty="0">
                <a:latin typeface="Arial Narrow" panose="020B0606020202030204" pitchFamily="34" charset="0"/>
              </a:rPr>
              <a:t> of Marco </a:t>
            </a:r>
            <a:r>
              <a:rPr lang="it-IT" altLang="it-IT" sz="1600" b="0" dirty="0" err="1">
                <a:latin typeface="Arial Narrow" panose="020B0606020202030204" pitchFamily="34" charset="0"/>
              </a:rPr>
              <a:t>Spaziani</a:t>
            </a:r>
            <a:r>
              <a:rPr lang="it-IT" altLang="it-IT" sz="1600" b="0" dirty="0">
                <a:latin typeface="Arial Narrow" panose="020B0606020202030204" pitchFamily="34" charset="0"/>
              </a:rPr>
              <a:t> Brunella</a:t>
            </a:r>
            <a:endParaRPr lang="en-US" altLang="it-IT" sz="1800" b="0" dirty="0">
              <a:latin typeface="Arial Narrow" panose="020B0606020202030204" pitchFamily="34" charset="0"/>
            </a:endParaRPr>
          </a:p>
        </p:txBody>
      </p:sp>
      <p:sp>
        <p:nvSpPr>
          <p:cNvPr id="92" name="Rettangolo 3"/>
          <p:cNvSpPr>
            <a:spLocks noChangeArrowheads="1"/>
          </p:cNvSpPr>
          <p:nvPr/>
        </p:nvSpPr>
        <p:spPr bwMode="auto">
          <a:xfrm>
            <a:off x="3996283" y="4068415"/>
            <a:ext cx="1115777" cy="82746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sz="2400" b="1" dirty="0"/>
              <a:t>ENC</a:t>
            </a:r>
            <a:r>
              <a:rPr lang="it-IT" altLang="it-IT" sz="2400" b="1" dirty="0">
                <a:sym typeface="Wingdings" panose="05000000000000000000" pitchFamily="2" charset="2"/>
              </a:rPr>
              <a:t></a:t>
            </a:r>
            <a:r>
              <a:rPr lang="it-IT" altLang="it-IT" sz="2400" b="1" dirty="0"/>
              <a:t> </a:t>
            </a:r>
            <a:r>
              <a:rPr lang="it-IT" altLang="it-IT" sz="2400" b="1" dirty="0">
                <a:sym typeface="Wingdings" panose="05000000000000000000" pitchFamily="2" charset="2"/>
              </a:rPr>
              <a:t>DEC</a:t>
            </a:r>
            <a:endParaRPr lang="it-IT" altLang="it-IT" sz="2400" b="1" dirty="0"/>
          </a:p>
        </p:txBody>
      </p:sp>
      <p:cxnSp>
        <p:nvCxnSpPr>
          <p:cNvPr id="93" name="Connettore 2 5"/>
          <p:cNvCxnSpPr>
            <a:cxnSpLocks noChangeShapeType="1"/>
          </p:cNvCxnSpPr>
          <p:nvPr/>
        </p:nvCxnSpPr>
        <p:spPr bwMode="auto">
          <a:xfrm flipH="1" flipV="1">
            <a:off x="4544116" y="4895877"/>
            <a:ext cx="20111" cy="33971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4" name="CasellaDiTesto 6"/>
          <p:cNvSpPr txBox="1">
            <a:spLocks noChangeArrowheads="1"/>
          </p:cNvSpPr>
          <p:nvPr/>
        </p:nvSpPr>
        <p:spPr bwMode="auto">
          <a:xfrm>
            <a:off x="4124406" y="5235587"/>
            <a:ext cx="9028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sz="2400" b="1" dirty="0" err="1"/>
              <a:t>Key</a:t>
            </a:r>
            <a:r>
              <a:rPr lang="it-IT" altLang="it-IT" sz="2400" b="1" dirty="0"/>
              <a:t> K</a:t>
            </a:r>
          </a:p>
        </p:txBody>
      </p:sp>
      <p:cxnSp>
        <p:nvCxnSpPr>
          <p:cNvPr id="95" name="Connettore 2 8"/>
          <p:cNvCxnSpPr>
            <a:cxnSpLocks noChangeShapeType="1"/>
          </p:cNvCxnSpPr>
          <p:nvPr/>
        </p:nvCxnSpPr>
        <p:spPr bwMode="auto">
          <a:xfrm>
            <a:off x="2953296" y="4428777"/>
            <a:ext cx="1042987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triangl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6" name="CasellaDiTesto 9"/>
          <p:cNvSpPr txBox="1">
            <a:spLocks noChangeArrowheads="1"/>
          </p:cNvSpPr>
          <p:nvPr/>
        </p:nvSpPr>
        <p:spPr bwMode="auto">
          <a:xfrm>
            <a:off x="1400315" y="3933056"/>
            <a:ext cx="196880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2400" b="1" dirty="0" err="1"/>
              <a:t>Plaintext</a:t>
            </a:r>
            <a:r>
              <a:rPr lang="it-IT" altLang="it-IT" sz="2400" b="1" dirty="0"/>
              <a:t> </a:t>
            </a:r>
            <a:r>
              <a:rPr lang="it-IT" altLang="it-IT" sz="2400" b="1" dirty="0" err="1"/>
              <a:t>block</a:t>
            </a:r>
            <a:endParaRPr lang="it-IT" altLang="it-IT" sz="2400" b="1" dirty="0"/>
          </a:p>
          <a:p>
            <a:pPr algn="ctr" eaLnBrk="1" hangingPunct="1"/>
            <a:r>
              <a:rPr lang="it-IT" altLang="it-IT" sz="2400" b="1" dirty="0"/>
              <a:t>(n bits)</a:t>
            </a:r>
          </a:p>
        </p:txBody>
      </p:sp>
      <p:sp>
        <p:nvSpPr>
          <p:cNvPr id="97" name="CasellaDiTesto 10"/>
          <p:cNvSpPr txBox="1">
            <a:spLocks noChangeArrowheads="1"/>
          </p:cNvSpPr>
          <p:nvPr/>
        </p:nvSpPr>
        <p:spPr bwMode="auto">
          <a:xfrm>
            <a:off x="5518389" y="3969060"/>
            <a:ext cx="21643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2400" b="1" dirty="0" err="1"/>
              <a:t>Ciphertext</a:t>
            </a:r>
            <a:r>
              <a:rPr lang="it-IT" altLang="it-IT" sz="2400" b="1" dirty="0"/>
              <a:t> </a:t>
            </a:r>
            <a:r>
              <a:rPr lang="it-IT" altLang="it-IT" sz="2400" b="1" dirty="0" err="1"/>
              <a:t>block</a:t>
            </a:r>
            <a:endParaRPr lang="it-IT" altLang="it-IT" sz="2400" b="1" dirty="0"/>
          </a:p>
          <a:p>
            <a:pPr algn="ctr" eaLnBrk="1" hangingPunct="1"/>
            <a:r>
              <a:rPr lang="it-IT" altLang="it-IT" sz="2400" b="1" dirty="0"/>
              <a:t>(n bits)</a:t>
            </a:r>
          </a:p>
        </p:txBody>
      </p:sp>
      <p:cxnSp>
        <p:nvCxnSpPr>
          <p:cNvPr id="98" name="Connettore 2 11"/>
          <p:cNvCxnSpPr>
            <a:cxnSpLocks noChangeShapeType="1"/>
          </p:cNvCxnSpPr>
          <p:nvPr/>
        </p:nvCxnSpPr>
        <p:spPr bwMode="auto">
          <a:xfrm>
            <a:off x="5185321" y="4428777"/>
            <a:ext cx="1042987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triangl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0" name="Segnaposto contenuto 2"/>
          <p:cNvSpPr txBox="1">
            <a:spLocks/>
          </p:cNvSpPr>
          <p:nvPr/>
        </p:nvSpPr>
        <p:spPr bwMode="auto">
          <a:xfrm>
            <a:off x="-108520" y="5697252"/>
            <a:ext cx="9684568" cy="9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 fontScale="62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kern="0" dirty="0"/>
              <a:t>Block algorithm should implement a Pseudo Random Permutation</a:t>
            </a:r>
          </a:p>
          <a:p>
            <a:pPr lvl="1"/>
            <a:r>
              <a:rPr lang="en-US" kern="0" dirty="0">
                <a:solidFill>
                  <a:srgbClr val="FF0000"/>
                </a:solidFill>
              </a:rPr>
              <a:t>in practice key will permit to select “only” among 2^(</a:t>
            </a:r>
            <a:r>
              <a:rPr lang="en-US" kern="0" dirty="0" err="1">
                <a:solidFill>
                  <a:srgbClr val="FF0000"/>
                </a:solidFill>
              </a:rPr>
              <a:t>keysize</a:t>
            </a:r>
            <a:r>
              <a:rPr lang="en-US" kern="0" dirty="0">
                <a:solidFill>
                  <a:srgbClr val="FF0000"/>
                </a:solidFill>
              </a:rPr>
              <a:t>) permutations</a:t>
            </a:r>
          </a:p>
          <a:p>
            <a:endParaRPr lang="it-IT" kern="0" dirty="0"/>
          </a:p>
        </p:txBody>
      </p:sp>
    </p:spTree>
    <p:extLst>
      <p:ext uri="{BB962C8B-B14F-4D97-AF65-F5344CB8AC3E}">
        <p14:creationId xmlns:p14="http://schemas.microsoft.com/office/powerpoint/2010/main" val="3961541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uiExpand="1" build="p"/>
      <p:bldP spid="92" grpId="0" animBg="1"/>
      <p:bldP spid="94" grpId="0"/>
      <p:bldP spid="96" grpId="0"/>
      <p:bldP spid="97" grpId="0"/>
      <p:bldP spid="100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Block</a:t>
            </a:r>
            <a:r>
              <a:rPr lang="it-IT" dirty="0"/>
              <a:t> </a:t>
            </a:r>
            <a:r>
              <a:rPr lang="it-IT" dirty="0" err="1"/>
              <a:t>ciphers</a:t>
            </a:r>
            <a:r>
              <a:rPr lang="it-IT" dirty="0"/>
              <a:t> </a:t>
            </a:r>
            <a:r>
              <a:rPr lang="it-IT" dirty="0">
                <a:sym typeface="Wingdings" panose="05000000000000000000" pitchFamily="2" charset="2"/>
              </a:rPr>
              <a:t></a:t>
            </a:r>
            <a:r>
              <a:rPr lang="it-IT" dirty="0"/>
              <a:t> </a:t>
            </a:r>
            <a:r>
              <a:rPr lang="it-IT" dirty="0" err="1"/>
              <a:t>PRPs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980728"/>
            <a:ext cx="9144000" cy="161148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it-IT" dirty="0"/>
              <a:t>Pseudo Random </a:t>
            </a:r>
            <a:r>
              <a:rPr lang="it-IT" dirty="0" err="1"/>
              <a:t>Permutation</a:t>
            </a:r>
            <a:r>
              <a:rPr lang="it-IT" dirty="0"/>
              <a:t>:</a:t>
            </a:r>
          </a:p>
          <a:p>
            <a:r>
              <a:rPr lang="it-IT" dirty="0"/>
              <a:t>S = set of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possible</a:t>
            </a:r>
            <a:r>
              <a:rPr lang="it-IT" dirty="0"/>
              <a:t> </a:t>
            </a:r>
            <a:r>
              <a:rPr lang="it-IT" dirty="0" err="1"/>
              <a:t>plaintexts</a:t>
            </a:r>
            <a:endParaRPr lang="it-IT" dirty="0"/>
          </a:p>
          <a:p>
            <a:pPr lvl="2"/>
            <a:r>
              <a:rPr lang="it-IT" dirty="0"/>
              <a:t>n = 3 bits, S = {000,001,010,011,100,101,110,111}, |S| = 2</a:t>
            </a:r>
            <a:r>
              <a:rPr lang="it-IT" baseline="30000" dirty="0"/>
              <a:t>n</a:t>
            </a:r>
            <a:r>
              <a:rPr lang="it-IT" dirty="0"/>
              <a:t> = 8</a:t>
            </a:r>
          </a:p>
          <a:p>
            <a:r>
              <a:rPr lang="it-IT" dirty="0" err="1"/>
              <a:t>Permutation</a:t>
            </a:r>
            <a:r>
              <a:rPr lang="it-IT" dirty="0"/>
              <a:t>: </a:t>
            </a:r>
            <a:r>
              <a:rPr lang="it-IT" dirty="0" err="1"/>
              <a:t>bijective</a:t>
            </a:r>
            <a:r>
              <a:rPr lang="it-IT" dirty="0"/>
              <a:t> </a:t>
            </a:r>
            <a:r>
              <a:rPr lang="it-IT" dirty="0" err="1"/>
              <a:t>function</a:t>
            </a:r>
            <a:r>
              <a:rPr lang="it-IT" dirty="0"/>
              <a:t> </a:t>
            </a:r>
            <a:r>
              <a:rPr lang="it-IT" dirty="0">
                <a:latin typeface="Symbol" panose="05050102010706020507" pitchFamily="18" charset="2"/>
              </a:rPr>
              <a:t>P</a:t>
            </a:r>
            <a:r>
              <a:rPr lang="it-IT" dirty="0"/>
              <a:t>: S</a:t>
            </a:r>
            <a:r>
              <a:rPr lang="it-IT" dirty="0">
                <a:sym typeface="Wingdings" panose="05000000000000000000" pitchFamily="2" charset="2"/>
              </a:rPr>
              <a:t>S</a:t>
            </a:r>
            <a:r>
              <a:rPr lang="it-IT" dirty="0"/>
              <a:t> (1-to-1 </a:t>
            </a:r>
            <a:r>
              <a:rPr lang="it-IT" dirty="0" err="1"/>
              <a:t>mapping</a:t>
            </a:r>
            <a:r>
              <a:rPr lang="it-IT" dirty="0"/>
              <a:t>)</a:t>
            </a:r>
          </a:p>
        </p:txBody>
      </p:sp>
      <p:grpSp>
        <p:nvGrpSpPr>
          <p:cNvPr id="4" name="Gruppo 3"/>
          <p:cNvGrpSpPr>
            <a:grpSpLocks noChangeAspect="1"/>
          </p:cNvGrpSpPr>
          <p:nvPr/>
        </p:nvGrpSpPr>
        <p:grpSpPr>
          <a:xfrm>
            <a:off x="1439652" y="2207013"/>
            <a:ext cx="2142238" cy="4210319"/>
            <a:chOff x="1007604" y="6547"/>
            <a:chExt cx="3060340" cy="6014741"/>
          </a:xfrm>
        </p:grpSpPr>
        <p:sp>
          <p:nvSpPr>
            <p:cNvPr id="5" name="CasellaDiTesto 4"/>
            <p:cNvSpPr txBox="1"/>
            <p:nvPr/>
          </p:nvSpPr>
          <p:spPr>
            <a:xfrm>
              <a:off x="1264078" y="1016732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000</a:t>
              </a:r>
            </a:p>
          </p:txBody>
        </p:sp>
        <p:sp>
          <p:nvSpPr>
            <p:cNvPr id="6" name="CasellaDiTesto 5"/>
            <p:cNvSpPr txBox="1"/>
            <p:nvPr/>
          </p:nvSpPr>
          <p:spPr>
            <a:xfrm>
              <a:off x="1264078" y="1636349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001</a:t>
              </a:r>
            </a:p>
          </p:txBody>
        </p:sp>
        <p:sp>
          <p:nvSpPr>
            <p:cNvPr id="7" name="CasellaDiTesto 6"/>
            <p:cNvSpPr txBox="1"/>
            <p:nvPr/>
          </p:nvSpPr>
          <p:spPr>
            <a:xfrm>
              <a:off x="1264078" y="2255966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010</a:t>
              </a:r>
            </a:p>
          </p:txBody>
        </p:sp>
        <p:sp>
          <p:nvSpPr>
            <p:cNvPr id="8" name="CasellaDiTesto 7"/>
            <p:cNvSpPr txBox="1"/>
            <p:nvPr/>
          </p:nvSpPr>
          <p:spPr>
            <a:xfrm>
              <a:off x="1264078" y="2875584"/>
              <a:ext cx="697444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011</a:t>
              </a:r>
            </a:p>
          </p:txBody>
        </p:sp>
        <p:sp>
          <p:nvSpPr>
            <p:cNvPr id="9" name="CasellaDiTesto 8"/>
            <p:cNvSpPr txBox="1"/>
            <p:nvPr/>
          </p:nvSpPr>
          <p:spPr>
            <a:xfrm>
              <a:off x="1264078" y="3495199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100</a:t>
              </a:r>
            </a:p>
          </p:txBody>
        </p:sp>
        <p:sp>
          <p:nvSpPr>
            <p:cNvPr id="10" name="CasellaDiTesto 9"/>
            <p:cNvSpPr txBox="1"/>
            <p:nvPr/>
          </p:nvSpPr>
          <p:spPr>
            <a:xfrm>
              <a:off x="1264078" y="4114816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101</a:t>
              </a:r>
            </a:p>
          </p:txBody>
        </p:sp>
        <p:sp>
          <p:nvSpPr>
            <p:cNvPr id="11" name="CasellaDiTesto 10"/>
            <p:cNvSpPr txBox="1"/>
            <p:nvPr/>
          </p:nvSpPr>
          <p:spPr>
            <a:xfrm>
              <a:off x="1264078" y="4734434"/>
              <a:ext cx="697444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110</a:t>
              </a:r>
            </a:p>
          </p:txBody>
        </p:sp>
        <p:sp>
          <p:nvSpPr>
            <p:cNvPr id="12" name="CasellaDiTesto 11"/>
            <p:cNvSpPr txBox="1"/>
            <p:nvPr/>
          </p:nvSpPr>
          <p:spPr>
            <a:xfrm>
              <a:off x="1285623" y="5354052"/>
              <a:ext cx="677659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111</a:t>
              </a:r>
            </a:p>
          </p:txBody>
        </p:sp>
        <p:sp>
          <p:nvSpPr>
            <p:cNvPr id="13" name="Ovale 12"/>
            <p:cNvSpPr/>
            <p:nvPr/>
          </p:nvSpPr>
          <p:spPr bwMode="auto">
            <a:xfrm>
              <a:off x="1007604" y="872716"/>
              <a:ext cx="1188132" cy="5148572"/>
            </a:xfrm>
            <a:prstGeom prst="ellips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14" name="CasellaDiTesto 13"/>
            <p:cNvSpPr txBox="1"/>
            <p:nvPr/>
          </p:nvSpPr>
          <p:spPr>
            <a:xfrm>
              <a:off x="1403648" y="260648"/>
              <a:ext cx="504260" cy="6595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dirty="0"/>
                <a:t>S</a:t>
              </a:r>
            </a:p>
          </p:txBody>
        </p:sp>
        <p:sp>
          <p:nvSpPr>
            <p:cNvPr id="15" name="CasellaDiTesto 14"/>
            <p:cNvSpPr txBox="1"/>
            <p:nvPr/>
          </p:nvSpPr>
          <p:spPr>
            <a:xfrm>
              <a:off x="3136285" y="1016732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000</a:t>
              </a:r>
            </a:p>
          </p:txBody>
        </p:sp>
        <p:sp>
          <p:nvSpPr>
            <p:cNvPr id="16" name="CasellaDiTesto 15"/>
            <p:cNvSpPr txBox="1"/>
            <p:nvPr/>
          </p:nvSpPr>
          <p:spPr>
            <a:xfrm>
              <a:off x="3136285" y="1636349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001</a:t>
              </a:r>
            </a:p>
          </p:txBody>
        </p:sp>
        <p:sp>
          <p:nvSpPr>
            <p:cNvPr id="17" name="CasellaDiTesto 16"/>
            <p:cNvSpPr txBox="1"/>
            <p:nvPr/>
          </p:nvSpPr>
          <p:spPr>
            <a:xfrm>
              <a:off x="3136285" y="2255966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010</a:t>
              </a:r>
            </a:p>
          </p:txBody>
        </p:sp>
        <p:sp>
          <p:nvSpPr>
            <p:cNvPr id="18" name="CasellaDiTesto 17"/>
            <p:cNvSpPr txBox="1"/>
            <p:nvPr/>
          </p:nvSpPr>
          <p:spPr>
            <a:xfrm>
              <a:off x="3136285" y="2875584"/>
              <a:ext cx="697444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011</a:t>
              </a:r>
            </a:p>
          </p:txBody>
        </p:sp>
        <p:sp>
          <p:nvSpPr>
            <p:cNvPr id="19" name="CasellaDiTesto 18"/>
            <p:cNvSpPr txBox="1"/>
            <p:nvPr/>
          </p:nvSpPr>
          <p:spPr>
            <a:xfrm>
              <a:off x="3136285" y="3495199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100</a:t>
              </a:r>
            </a:p>
          </p:txBody>
        </p:sp>
        <p:sp>
          <p:nvSpPr>
            <p:cNvPr id="20" name="CasellaDiTesto 19"/>
            <p:cNvSpPr txBox="1"/>
            <p:nvPr/>
          </p:nvSpPr>
          <p:spPr>
            <a:xfrm>
              <a:off x="3136285" y="4114816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101</a:t>
              </a:r>
            </a:p>
          </p:txBody>
        </p:sp>
        <p:sp>
          <p:nvSpPr>
            <p:cNvPr id="21" name="CasellaDiTesto 20"/>
            <p:cNvSpPr txBox="1"/>
            <p:nvPr/>
          </p:nvSpPr>
          <p:spPr>
            <a:xfrm>
              <a:off x="3136285" y="4734434"/>
              <a:ext cx="697444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110</a:t>
              </a:r>
            </a:p>
          </p:txBody>
        </p:sp>
        <p:sp>
          <p:nvSpPr>
            <p:cNvPr id="22" name="CasellaDiTesto 21"/>
            <p:cNvSpPr txBox="1"/>
            <p:nvPr/>
          </p:nvSpPr>
          <p:spPr>
            <a:xfrm>
              <a:off x="3157830" y="5354052"/>
              <a:ext cx="677659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111</a:t>
              </a:r>
            </a:p>
          </p:txBody>
        </p:sp>
        <p:sp>
          <p:nvSpPr>
            <p:cNvPr id="23" name="Ovale 22"/>
            <p:cNvSpPr/>
            <p:nvPr/>
          </p:nvSpPr>
          <p:spPr bwMode="auto">
            <a:xfrm>
              <a:off x="2879812" y="872716"/>
              <a:ext cx="1188132" cy="5148572"/>
            </a:xfrm>
            <a:prstGeom prst="ellips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24" name="CasellaDiTesto 23"/>
            <p:cNvSpPr txBox="1"/>
            <p:nvPr/>
          </p:nvSpPr>
          <p:spPr>
            <a:xfrm>
              <a:off x="3275855" y="260648"/>
              <a:ext cx="504260" cy="6595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dirty="0"/>
                <a:t>S</a:t>
              </a:r>
            </a:p>
          </p:txBody>
        </p:sp>
        <p:cxnSp>
          <p:nvCxnSpPr>
            <p:cNvPr id="25" name="Connettore 2 24"/>
            <p:cNvCxnSpPr>
              <a:stCxn id="14" idx="3"/>
              <a:endCxn id="24" idx="1"/>
            </p:cNvCxnSpPr>
            <p:nvPr/>
          </p:nvCxnSpPr>
          <p:spPr bwMode="auto">
            <a:xfrm>
              <a:off x="1907908" y="590409"/>
              <a:ext cx="1367947" cy="0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26" name="CasellaDiTesto 25"/>
            <p:cNvSpPr txBox="1"/>
            <p:nvPr/>
          </p:nvSpPr>
          <p:spPr>
            <a:xfrm>
              <a:off x="2311418" y="6547"/>
              <a:ext cx="518000" cy="6595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>
                  <a:solidFill>
                    <a:srgbClr val="FF0000"/>
                  </a:solidFill>
                  <a:latin typeface="Symbol" panose="05050102010706020507" pitchFamily="18" charset="2"/>
                </a:rPr>
                <a:t>P</a:t>
              </a:r>
              <a:endParaRPr lang="it-IT" sz="2400" dirty="0">
                <a:solidFill>
                  <a:srgbClr val="FF0000"/>
                </a:solidFill>
                <a:latin typeface="Symbol" panose="05050102010706020507" pitchFamily="18" charset="2"/>
              </a:endParaRPr>
            </a:p>
          </p:txBody>
        </p:sp>
        <p:cxnSp>
          <p:nvCxnSpPr>
            <p:cNvPr id="27" name="Connettore 2 26"/>
            <p:cNvCxnSpPr>
              <a:stCxn id="5" idx="3"/>
              <a:endCxn id="16" idx="1"/>
            </p:cNvCxnSpPr>
            <p:nvPr/>
          </p:nvCxnSpPr>
          <p:spPr bwMode="auto">
            <a:xfrm>
              <a:off x="1981308" y="1280541"/>
              <a:ext cx="1154977" cy="619617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28" name="Connettore 2 27"/>
            <p:cNvCxnSpPr>
              <a:stCxn id="6" idx="3"/>
              <a:endCxn id="17" idx="1"/>
            </p:cNvCxnSpPr>
            <p:nvPr/>
          </p:nvCxnSpPr>
          <p:spPr bwMode="auto">
            <a:xfrm>
              <a:off x="1981308" y="1900158"/>
              <a:ext cx="1154977" cy="619617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29" name="Connettore 2 28"/>
            <p:cNvCxnSpPr>
              <a:stCxn id="7" idx="3"/>
              <a:endCxn id="22" idx="1"/>
            </p:cNvCxnSpPr>
            <p:nvPr/>
          </p:nvCxnSpPr>
          <p:spPr bwMode="auto">
            <a:xfrm>
              <a:off x="1981308" y="2519775"/>
              <a:ext cx="1176521" cy="3098086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0" name="Connettore 2 29"/>
            <p:cNvCxnSpPr>
              <a:stCxn id="8" idx="3"/>
              <a:endCxn id="20" idx="1"/>
            </p:cNvCxnSpPr>
            <p:nvPr/>
          </p:nvCxnSpPr>
          <p:spPr bwMode="auto">
            <a:xfrm>
              <a:off x="1961523" y="3139392"/>
              <a:ext cx="1174763" cy="1239233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1" name="Connettore 2 30"/>
            <p:cNvCxnSpPr>
              <a:stCxn id="9" idx="3"/>
              <a:endCxn id="15" idx="1"/>
            </p:cNvCxnSpPr>
            <p:nvPr/>
          </p:nvCxnSpPr>
          <p:spPr bwMode="auto">
            <a:xfrm flipV="1">
              <a:off x="1981308" y="1280541"/>
              <a:ext cx="1154977" cy="2478467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2" name="Connettore 2 31"/>
            <p:cNvCxnSpPr>
              <a:stCxn id="10" idx="3"/>
              <a:endCxn id="21" idx="1"/>
            </p:cNvCxnSpPr>
            <p:nvPr/>
          </p:nvCxnSpPr>
          <p:spPr bwMode="auto">
            <a:xfrm>
              <a:off x="1981308" y="4378625"/>
              <a:ext cx="1154977" cy="619617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3" name="Connettore 2 32"/>
            <p:cNvCxnSpPr>
              <a:stCxn id="11" idx="3"/>
              <a:endCxn id="18" idx="1"/>
            </p:cNvCxnSpPr>
            <p:nvPr/>
          </p:nvCxnSpPr>
          <p:spPr bwMode="auto">
            <a:xfrm flipV="1">
              <a:off x="1961523" y="3139392"/>
              <a:ext cx="1174763" cy="1858850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4" name="Connettore 2 33"/>
            <p:cNvCxnSpPr>
              <a:stCxn id="12" idx="3"/>
              <a:endCxn id="19" idx="1"/>
            </p:cNvCxnSpPr>
            <p:nvPr/>
          </p:nvCxnSpPr>
          <p:spPr bwMode="auto">
            <a:xfrm flipV="1">
              <a:off x="1963281" y="3759008"/>
              <a:ext cx="1173004" cy="1858853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</p:grpSp>
      <p:grpSp>
        <p:nvGrpSpPr>
          <p:cNvPr id="35" name="Gruppo 34"/>
          <p:cNvGrpSpPr>
            <a:grpSpLocks noChangeAspect="1"/>
          </p:cNvGrpSpPr>
          <p:nvPr/>
        </p:nvGrpSpPr>
        <p:grpSpPr>
          <a:xfrm>
            <a:off x="6678234" y="2223852"/>
            <a:ext cx="2142238" cy="4193480"/>
            <a:chOff x="5184068" y="49766"/>
            <a:chExt cx="3060340" cy="5990686"/>
          </a:xfrm>
        </p:grpSpPr>
        <p:sp>
          <p:nvSpPr>
            <p:cNvPr id="36" name="CasellaDiTesto 35"/>
            <p:cNvSpPr txBox="1"/>
            <p:nvPr/>
          </p:nvSpPr>
          <p:spPr>
            <a:xfrm>
              <a:off x="5440542" y="1035896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000</a:t>
              </a:r>
            </a:p>
          </p:txBody>
        </p:sp>
        <p:sp>
          <p:nvSpPr>
            <p:cNvPr id="37" name="CasellaDiTesto 36"/>
            <p:cNvSpPr txBox="1"/>
            <p:nvPr/>
          </p:nvSpPr>
          <p:spPr>
            <a:xfrm>
              <a:off x="5440542" y="1655513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001</a:t>
              </a:r>
            </a:p>
          </p:txBody>
        </p:sp>
        <p:sp>
          <p:nvSpPr>
            <p:cNvPr id="38" name="CasellaDiTesto 37"/>
            <p:cNvSpPr txBox="1"/>
            <p:nvPr/>
          </p:nvSpPr>
          <p:spPr>
            <a:xfrm>
              <a:off x="5440542" y="2275130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010</a:t>
              </a:r>
            </a:p>
          </p:txBody>
        </p:sp>
        <p:sp>
          <p:nvSpPr>
            <p:cNvPr id="39" name="CasellaDiTesto 38"/>
            <p:cNvSpPr txBox="1"/>
            <p:nvPr/>
          </p:nvSpPr>
          <p:spPr>
            <a:xfrm>
              <a:off x="5440542" y="2894748"/>
              <a:ext cx="697444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011</a:t>
              </a:r>
            </a:p>
          </p:txBody>
        </p:sp>
        <p:sp>
          <p:nvSpPr>
            <p:cNvPr id="40" name="CasellaDiTesto 39"/>
            <p:cNvSpPr txBox="1"/>
            <p:nvPr/>
          </p:nvSpPr>
          <p:spPr>
            <a:xfrm>
              <a:off x="5440542" y="3514363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100</a:t>
              </a:r>
            </a:p>
          </p:txBody>
        </p:sp>
        <p:sp>
          <p:nvSpPr>
            <p:cNvPr id="41" name="CasellaDiTesto 40"/>
            <p:cNvSpPr txBox="1"/>
            <p:nvPr/>
          </p:nvSpPr>
          <p:spPr>
            <a:xfrm>
              <a:off x="5440542" y="4133980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101</a:t>
              </a:r>
            </a:p>
          </p:txBody>
        </p:sp>
        <p:sp>
          <p:nvSpPr>
            <p:cNvPr id="42" name="CasellaDiTesto 41"/>
            <p:cNvSpPr txBox="1"/>
            <p:nvPr/>
          </p:nvSpPr>
          <p:spPr>
            <a:xfrm>
              <a:off x="5440542" y="4753598"/>
              <a:ext cx="697444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110</a:t>
              </a:r>
            </a:p>
          </p:txBody>
        </p:sp>
        <p:sp>
          <p:nvSpPr>
            <p:cNvPr id="43" name="CasellaDiTesto 42"/>
            <p:cNvSpPr txBox="1"/>
            <p:nvPr/>
          </p:nvSpPr>
          <p:spPr>
            <a:xfrm>
              <a:off x="5462087" y="5373216"/>
              <a:ext cx="677659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111</a:t>
              </a:r>
            </a:p>
          </p:txBody>
        </p:sp>
        <p:sp>
          <p:nvSpPr>
            <p:cNvPr id="44" name="Ovale 43"/>
            <p:cNvSpPr/>
            <p:nvPr/>
          </p:nvSpPr>
          <p:spPr bwMode="auto">
            <a:xfrm>
              <a:off x="5184068" y="891880"/>
              <a:ext cx="1188132" cy="5148572"/>
            </a:xfrm>
            <a:prstGeom prst="ellips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5" name="CasellaDiTesto 44"/>
            <p:cNvSpPr txBox="1"/>
            <p:nvPr/>
          </p:nvSpPr>
          <p:spPr>
            <a:xfrm>
              <a:off x="5580112" y="279812"/>
              <a:ext cx="504260" cy="6595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dirty="0"/>
                <a:t>S</a:t>
              </a:r>
            </a:p>
          </p:txBody>
        </p:sp>
        <p:sp>
          <p:nvSpPr>
            <p:cNvPr id="46" name="CasellaDiTesto 45"/>
            <p:cNvSpPr txBox="1"/>
            <p:nvPr/>
          </p:nvSpPr>
          <p:spPr>
            <a:xfrm>
              <a:off x="7312749" y="1035896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000</a:t>
              </a:r>
            </a:p>
          </p:txBody>
        </p:sp>
        <p:sp>
          <p:nvSpPr>
            <p:cNvPr id="47" name="CasellaDiTesto 46"/>
            <p:cNvSpPr txBox="1"/>
            <p:nvPr/>
          </p:nvSpPr>
          <p:spPr>
            <a:xfrm>
              <a:off x="7312749" y="1655513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001</a:t>
              </a:r>
            </a:p>
          </p:txBody>
        </p:sp>
        <p:sp>
          <p:nvSpPr>
            <p:cNvPr id="48" name="CasellaDiTesto 47"/>
            <p:cNvSpPr txBox="1"/>
            <p:nvPr/>
          </p:nvSpPr>
          <p:spPr>
            <a:xfrm>
              <a:off x="7312749" y="2275130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010</a:t>
              </a:r>
            </a:p>
          </p:txBody>
        </p:sp>
        <p:sp>
          <p:nvSpPr>
            <p:cNvPr id="49" name="CasellaDiTesto 48"/>
            <p:cNvSpPr txBox="1"/>
            <p:nvPr/>
          </p:nvSpPr>
          <p:spPr>
            <a:xfrm>
              <a:off x="7312749" y="2894748"/>
              <a:ext cx="697444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011</a:t>
              </a:r>
            </a:p>
          </p:txBody>
        </p:sp>
        <p:sp>
          <p:nvSpPr>
            <p:cNvPr id="50" name="CasellaDiTesto 49"/>
            <p:cNvSpPr txBox="1"/>
            <p:nvPr/>
          </p:nvSpPr>
          <p:spPr>
            <a:xfrm>
              <a:off x="7312749" y="3514363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100</a:t>
              </a:r>
            </a:p>
          </p:txBody>
        </p:sp>
        <p:sp>
          <p:nvSpPr>
            <p:cNvPr id="51" name="CasellaDiTesto 50"/>
            <p:cNvSpPr txBox="1"/>
            <p:nvPr/>
          </p:nvSpPr>
          <p:spPr>
            <a:xfrm>
              <a:off x="7312749" y="4133980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101</a:t>
              </a:r>
            </a:p>
          </p:txBody>
        </p:sp>
        <p:sp>
          <p:nvSpPr>
            <p:cNvPr id="52" name="CasellaDiTesto 51"/>
            <p:cNvSpPr txBox="1"/>
            <p:nvPr/>
          </p:nvSpPr>
          <p:spPr>
            <a:xfrm>
              <a:off x="7312749" y="4753598"/>
              <a:ext cx="697444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110</a:t>
              </a:r>
            </a:p>
          </p:txBody>
        </p:sp>
        <p:sp>
          <p:nvSpPr>
            <p:cNvPr id="53" name="CasellaDiTesto 52"/>
            <p:cNvSpPr txBox="1"/>
            <p:nvPr/>
          </p:nvSpPr>
          <p:spPr>
            <a:xfrm>
              <a:off x="7334294" y="5373216"/>
              <a:ext cx="677659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111</a:t>
              </a:r>
            </a:p>
          </p:txBody>
        </p:sp>
        <p:sp>
          <p:nvSpPr>
            <p:cNvPr id="54" name="Ovale 53"/>
            <p:cNvSpPr/>
            <p:nvPr/>
          </p:nvSpPr>
          <p:spPr bwMode="auto">
            <a:xfrm>
              <a:off x="7056276" y="891880"/>
              <a:ext cx="1188132" cy="5148572"/>
            </a:xfrm>
            <a:prstGeom prst="ellips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5" name="CasellaDiTesto 54"/>
            <p:cNvSpPr txBox="1"/>
            <p:nvPr/>
          </p:nvSpPr>
          <p:spPr>
            <a:xfrm>
              <a:off x="7452319" y="279812"/>
              <a:ext cx="504260" cy="6595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dirty="0"/>
                <a:t>S</a:t>
              </a:r>
            </a:p>
          </p:txBody>
        </p:sp>
        <p:cxnSp>
          <p:nvCxnSpPr>
            <p:cNvPr id="56" name="Connettore 2 55"/>
            <p:cNvCxnSpPr>
              <a:stCxn id="45" idx="3"/>
              <a:endCxn id="55" idx="1"/>
            </p:cNvCxnSpPr>
            <p:nvPr/>
          </p:nvCxnSpPr>
          <p:spPr bwMode="auto">
            <a:xfrm>
              <a:off x="6084372" y="609573"/>
              <a:ext cx="1367947" cy="0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57" name="CasellaDiTesto 56"/>
            <p:cNvSpPr txBox="1"/>
            <p:nvPr/>
          </p:nvSpPr>
          <p:spPr>
            <a:xfrm>
              <a:off x="6336197" y="49766"/>
              <a:ext cx="941650" cy="6595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NO!!</a:t>
              </a:r>
              <a:endParaRPr lang="it-IT" sz="2400" dirty="0">
                <a:solidFill>
                  <a:srgbClr val="FF0000"/>
                </a:solidFill>
                <a:latin typeface="Symbol" panose="05050102010706020507" pitchFamily="18" charset="2"/>
              </a:endParaRPr>
            </a:p>
          </p:txBody>
        </p:sp>
        <p:cxnSp>
          <p:nvCxnSpPr>
            <p:cNvPr id="58" name="Connettore 2 57"/>
            <p:cNvCxnSpPr>
              <a:stCxn id="36" idx="3"/>
              <a:endCxn id="47" idx="1"/>
            </p:cNvCxnSpPr>
            <p:nvPr/>
          </p:nvCxnSpPr>
          <p:spPr bwMode="auto">
            <a:xfrm>
              <a:off x="6157772" y="1299705"/>
              <a:ext cx="1154977" cy="619617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59" name="Connettore 2 58"/>
            <p:cNvCxnSpPr>
              <a:stCxn id="37" idx="3"/>
            </p:cNvCxnSpPr>
            <p:nvPr/>
          </p:nvCxnSpPr>
          <p:spPr bwMode="auto">
            <a:xfrm flipV="1">
              <a:off x="6157772" y="1869506"/>
              <a:ext cx="1100470" cy="49816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60" name="Connettore 2 59"/>
            <p:cNvCxnSpPr>
              <a:stCxn id="38" idx="3"/>
              <a:endCxn id="51" idx="1"/>
            </p:cNvCxnSpPr>
            <p:nvPr/>
          </p:nvCxnSpPr>
          <p:spPr bwMode="auto">
            <a:xfrm>
              <a:off x="6157772" y="2538939"/>
              <a:ext cx="1154977" cy="1858850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61" name="Connettore 2 60"/>
            <p:cNvCxnSpPr>
              <a:stCxn id="39" idx="3"/>
              <a:endCxn id="51" idx="1"/>
            </p:cNvCxnSpPr>
            <p:nvPr/>
          </p:nvCxnSpPr>
          <p:spPr bwMode="auto">
            <a:xfrm>
              <a:off x="6137987" y="3158556"/>
              <a:ext cx="1174763" cy="1239233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62" name="Connettore 2 61"/>
            <p:cNvCxnSpPr>
              <a:stCxn id="40" idx="3"/>
              <a:endCxn id="46" idx="1"/>
            </p:cNvCxnSpPr>
            <p:nvPr/>
          </p:nvCxnSpPr>
          <p:spPr bwMode="auto">
            <a:xfrm flipV="1">
              <a:off x="6157772" y="1299705"/>
              <a:ext cx="1154977" cy="2478467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63" name="Connettore 2 62"/>
            <p:cNvCxnSpPr>
              <a:stCxn id="41" idx="3"/>
              <a:endCxn id="52" idx="1"/>
            </p:cNvCxnSpPr>
            <p:nvPr/>
          </p:nvCxnSpPr>
          <p:spPr bwMode="auto">
            <a:xfrm>
              <a:off x="6157772" y="4397789"/>
              <a:ext cx="1154977" cy="619617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64" name="Connettore 2 63"/>
            <p:cNvCxnSpPr>
              <a:stCxn id="42" idx="3"/>
              <a:endCxn id="49" idx="1"/>
            </p:cNvCxnSpPr>
            <p:nvPr/>
          </p:nvCxnSpPr>
          <p:spPr bwMode="auto">
            <a:xfrm flipV="1">
              <a:off x="6137987" y="3158556"/>
              <a:ext cx="1174763" cy="1858850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65" name="Connettore 2 64"/>
            <p:cNvCxnSpPr>
              <a:stCxn id="43" idx="3"/>
              <a:endCxn id="50" idx="1"/>
            </p:cNvCxnSpPr>
            <p:nvPr/>
          </p:nvCxnSpPr>
          <p:spPr bwMode="auto">
            <a:xfrm flipV="1">
              <a:off x="6139745" y="3778172"/>
              <a:ext cx="1173004" cy="1858853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</p:grpSp>
      <p:sp>
        <p:nvSpPr>
          <p:cNvPr id="66" name="CasellaDiTesto 65"/>
          <p:cNvSpPr txBox="1"/>
          <p:nvPr/>
        </p:nvSpPr>
        <p:spPr>
          <a:xfrm>
            <a:off x="107504" y="4113076"/>
            <a:ext cx="13516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 err="1"/>
              <a:t>Permutation</a:t>
            </a:r>
            <a:r>
              <a:rPr lang="it-IT" b="1" dirty="0"/>
              <a:t>:</a:t>
            </a:r>
            <a:br>
              <a:rPr lang="it-IT" b="1" dirty="0"/>
            </a:br>
            <a:r>
              <a:rPr lang="it-IT" b="1" dirty="0"/>
              <a:t>must be a </a:t>
            </a:r>
            <a:br>
              <a:rPr lang="it-IT" b="1" dirty="0"/>
            </a:br>
            <a:r>
              <a:rPr lang="it-IT" b="1" dirty="0" err="1"/>
              <a:t>bijection</a:t>
            </a:r>
            <a:endParaRPr lang="it-IT" b="1" dirty="0"/>
          </a:p>
        </p:txBody>
      </p:sp>
      <p:sp>
        <p:nvSpPr>
          <p:cNvPr id="67" name="Rettangolo 3"/>
          <p:cNvSpPr>
            <a:spLocks noChangeArrowheads="1"/>
          </p:cNvSpPr>
          <p:nvPr/>
        </p:nvSpPr>
        <p:spPr bwMode="auto">
          <a:xfrm rot="5400000">
            <a:off x="3705680" y="4068415"/>
            <a:ext cx="1115777" cy="82746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sz="2400" b="1" dirty="0"/>
              <a:t>ENC</a:t>
            </a:r>
            <a:r>
              <a:rPr lang="it-IT" altLang="it-IT" sz="2400" b="1" dirty="0">
                <a:sym typeface="Wingdings" panose="05000000000000000000" pitchFamily="2" charset="2"/>
              </a:rPr>
              <a:t></a:t>
            </a:r>
            <a:r>
              <a:rPr lang="it-IT" altLang="it-IT" sz="2400" b="1" dirty="0"/>
              <a:t> </a:t>
            </a:r>
            <a:r>
              <a:rPr lang="it-IT" altLang="it-IT" sz="2400" b="1" dirty="0">
                <a:sym typeface="Wingdings" panose="05000000000000000000" pitchFamily="2" charset="2"/>
              </a:rPr>
              <a:t>DEC</a:t>
            </a:r>
            <a:endParaRPr lang="it-IT" altLang="it-IT" sz="2400" b="1" dirty="0"/>
          </a:p>
        </p:txBody>
      </p:sp>
      <p:sp>
        <p:nvSpPr>
          <p:cNvPr id="68" name="CasellaDiTesto 67"/>
          <p:cNvSpPr txBox="1"/>
          <p:nvPr/>
        </p:nvSpPr>
        <p:spPr>
          <a:xfrm>
            <a:off x="3744837" y="3259002"/>
            <a:ext cx="10374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/>
              <a:t>Plaintext</a:t>
            </a:r>
            <a:r>
              <a:rPr lang="it-IT" b="1" dirty="0"/>
              <a:t>:</a:t>
            </a:r>
          </a:p>
          <a:p>
            <a:pPr algn="ctr"/>
            <a:r>
              <a:rPr lang="it-IT" b="1" dirty="0"/>
              <a:t>111</a:t>
            </a:r>
          </a:p>
        </p:txBody>
      </p:sp>
      <p:sp>
        <p:nvSpPr>
          <p:cNvPr id="69" name="CasellaDiTesto 68"/>
          <p:cNvSpPr txBox="1"/>
          <p:nvPr/>
        </p:nvSpPr>
        <p:spPr>
          <a:xfrm>
            <a:off x="3671900" y="5054869"/>
            <a:ext cx="11833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/>
              <a:t>Ciphertext</a:t>
            </a:r>
            <a:r>
              <a:rPr lang="it-IT" b="1" dirty="0"/>
              <a:t>:</a:t>
            </a:r>
          </a:p>
          <a:p>
            <a:pPr algn="ctr"/>
            <a:r>
              <a:rPr lang="it-IT" b="1" dirty="0"/>
              <a:t>100</a:t>
            </a:r>
          </a:p>
        </p:txBody>
      </p:sp>
      <p:sp>
        <p:nvSpPr>
          <p:cNvPr id="70" name="CasellaDiTesto 69"/>
          <p:cNvSpPr txBox="1"/>
          <p:nvPr/>
        </p:nvSpPr>
        <p:spPr>
          <a:xfrm>
            <a:off x="5338630" y="5101035"/>
            <a:ext cx="15648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 err="1">
                <a:solidFill>
                  <a:srgbClr val="FF0000"/>
                </a:solidFill>
              </a:rPr>
              <a:t>This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is</a:t>
            </a:r>
            <a:r>
              <a:rPr lang="it-IT" b="1" dirty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it-IT" b="1" dirty="0">
                <a:solidFill>
                  <a:srgbClr val="FF0000"/>
                </a:solidFill>
              </a:rPr>
              <a:t>WRONG!</a:t>
            </a:r>
          </a:p>
          <a:p>
            <a:pPr algn="ctr"/>
            <a:r>
              <a:rPr lang="it-IT" b="1" dirty="0">
                <a:solidFill>
                  <a:srgbClr val="FF0000"/>
                </a:solidFill>
              </a:rPr>
              <a:t>Non-</a:t>
            </a:r>
            <a:r>
              <a:rPr lang="it-IT" b="1" dirty="0" err="1">
                <a:solidFill>
                  <a:srgbClr val="FF0000"/>
                </a:solidFill>
              </a:rPr>
              <a:t>reversible</a:t>
            </a:r>
            <a:r>
              <a:rPr lang="it-IT" b="1" dirty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it-IT" b="1" dirty="0" err="1">
                <a:solidFill>
                  <a:srgbClr val="FF0000"/>
                </a:solidFill>
              </a:rPr>
              <a:t>Mapping</a:t>
            </a:r>
            <a:r>
              <a:rPr lang="it-IT" b="1" dirty="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94473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6" grpId="0"/>
      <p:bldP spid="67" grpId="0" animBg="1"/>
      <p:bldP spid="68" grpId="0"/>
      <p:bldP spid="69" grpId="0"/>
      <p:bldP spid="7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Block</a:t>
            </a:r>
            <a:r>
              <a:rPr lang="it-IT" dirty="0"/>
              <a:t> </a:t>
            </a:r>
            <a:r>
              <a:rPr lang="it-IT" dirty="0" err="1"/>
              <a:t>ciphers</a:t>
            </a:r>
            <a:r>
              <a:rPr lang="it-IT" dirty="0"/>
              <a:t> </a:t>
            </a:r>
            <a:r>
              <a:rPr lang="it-IT" dirty="0">
                <a:sym typeface="Wingdings" panose="05000000000000000000" pitchFamily="2" charset="2"/>
              </a:rPr>
              <a:t></a:t>
            </a:r>
            <a:r>
              <a:rPr lang="it-IT" dirty="0"/>
              <a:t> </a:t>
            </a:r>
            <a:r>
              <a:rPr lang="it-IT" dirty="0" err="1"/>
              <a:t>PRPs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980728"/>
            <a:ext cx="9144000" cy="161148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it-IT" dirty="0"/>
              <a:t>Pseudo Random </a:t>
            </a:r>
            <a:r>
              <a:rPr lang="it-IT" dirty="0" err="1"/>
              <a:t>Permutation</a:t>
            </a:r>
            <a:r>
              <a:rPr lang="it-IT" dirty="0"/>
              <a:t>:</a:t>
            </a:r>
          </a:p>
          <a:p>
            <a:r>
              <a:rPr lang="it-IT" dirty="0"/>
              <a:t>S = set of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possible</a:t>
            </a:r>
            <a:r>
              <a:rPr lang="it-IT" dirty="0"/>
              <a:t> </a:t>
            </a:r>
            <a:r>
              <a:rPr lang="it-IT" dirty="0" err="1"/>
              <a:t>plaintexts</a:t>
            </a:r>
            <a:endParaRPr lang="it-IT" dirty="0"/>
          </a:p>
          <a:p>
            <a:pPr lvl="2"/>
            <a:r>
              <a:rPr lang="it-IT" dirty="0"/>
              <a:t>n = 3 bits, S = {000,001,010,011,100,101,110,111}, |S| = 2</a:t>
            </a:r>
            <a:r>
              <a:rPr lang="it-IT" baseline="30000" dirty="0"/>
              <a:t>n</a:t>
            </a:r>
            <a:r>
              <a:rPr lang="it-IT" dirty="0"/>
              <a:t> = 8</a:t>
            </a:r>
          </a:p>
          <a:p>
            <a:r>
              <a:rPr lang="it-IT" dirty="0" err="1"/>
              <a:t>Permutation</a:t>
            </a:r>
            <a:r>
              <a:rPr lang="it-IT" dirty="0"/>
              <a:t>: </a:t>
            </a:r>
            <a:r>
              <a:rPr lang="it-IT" dirty="0" err="1"/>
              <a:t>bijective</a:t>
            </a:r>
            <a:r>
              <a:rPr lang="it-IT" dirty="0"/>
              <a:t> </a:t>
            </a:r>
            <a:r>
              <a:rPr lang="it-IT" dirty="0" err="1"/>
              <a:t>function</a:t>
            </a:r>
            <a:r>
              <a:rPr lang="it-IT" dirty="0"/>
              <a:t> </a:t>
            </a:r>
            <a:r>
              <a:rPr lang="it-IT" dirty="0">
                <a:latin typeface="Symbol" panose="05050102010706020507" pitchFamily="18" charset="2"/>
              </a:rPr>
              <a:t>P</a:t>
            </a:r>
            <a:r>
              <a:rPr lang="it-IT" dirty="0"/>
              <a:t>: S</a:t>
            </a:r>
            <a:r>
              <a:rPr lang="it-IT" dirty="0">
                <a:sym typeface="Wingdings" panose="05000000000000000000" pitchFamily="2" charset="2"/>
              </a:rPr>
              <a:t>S</a:t>
            </a:r>
            <a:r>
              <a:rPr lang="it-IT" dirty="0"/>
              <a:t> (1-to-1 </a:t>
            </a:r>
            <a:r>
              <a:rPr lang="it-IT" dirty="0" err="1"/>
              <a:t>mapping</a:t>
            </a:r>
            <a:r>
              <a:rPr lang="it-IT" dirty="0"/>
              <a:t>)	</a:t>
            </a:r>
          </a:p>
        </p:txBody>
      </p:sp>
      <p:sp>
        <p:nvSpPr>
          <p:cNvPr id="71" name="Segnaposto contenuto 2"/>
          <p:cNvSpPr txBox="1">
            <a:spLocks/>
          </p:cNvSpPr>
          <p:nvPr/>
        </p:nvSpPr>
        <p:spPr bwMode="auto">
          <a:xfrm>
            <a:off x="-508" y="2393578"/>
            <a:ext cx="9217024" cy="427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 fontScale="70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it-IT" kern="0" dirty="0"/>
              <a:t>Pseudo-Random: </a:t>
            </a:r>
            <a:r>
              <a:rPr lang="it-IT" kern="0" dirty="0" err="1">
                <a:solidFill>
                  <a:srgbClr val="FF0000"/>
                </a:solidFill>
              </a:rPr>
              <a:t>block</a:t>
            </a:r>
            <a:r>
              <a:rPr lang="it-IT" kern="0" dirty="0">
                <a:solidFill>
                  <a:srgbClr val="FF0000"/>
                </a:solidFill>
              </a:rPr>
              <a:t> </a:t>
            </a:r>
            <a:r>
              <a:rPr lang="it-IT" kern="0" dirty="0" err="1">
                <a:solidFill>
                  <a:srgbClr val="FF0000"/>
                </a:solidFill>
              </a:rPr>
              <a:t>cipher</a:t>
            </a:r>
            <a:r>
              <a:rPr lang="it-IT" kern="0" dirty="0">
                <a:solidFill>
                  <a:srgbClr val="FF0000"/>
                </a:solidFill>
              </a:rPr>
              <a:t> </a:t>
            </a:r>
            <a:r>
              <a:rPr lang="it-IT" kern="0" dirty="0" err="1">
                <a:solidFill>
                  <a:srgbClr val="FF0000"/>
                </a:solidFill>
              </a:rPr>
              <a:t>should</a:t>
            </a:r>
            <a:r>
              <a:rPr lang="it-IT" kern="0" dirty="0">
                <a:solidFill>
                  <a:srgbClr val="FF0000"/>
                </a:solidFill>
              </a:rPr>
              <a:t> </a:t>
            </a:r>
            <a:r>
              <a:rPr lang="it-IT" kern="0" dirty="0" err="1">
                <a:solidFill>
                  <a:srgbClr val="FF0000"/>
                </a:solidFill>
              </a:rPr>
              <a:t>uniformly</a:t>
            </a:r>
            <a:r>
              <a:rPr lang="it-IT" kern="0" dirty="0">
                <a:solidFill>
                  <a:srgbClr val="FF0000"/>
                </a:solidFill>
              </a:rPr>
              <a:t> </a:t>
            </a:r>
            <a:r>
              <a:rPr lang="it-IT" kern="0" dirty="0" err="1">
                <a:solidFill>
                  <a:srgbClr val="FF0000"/>
                </a:solidFill>
              </a:rPr>
              <a:t>select</a:t>
            </a:r>
            <a:r>
              <a:rPr lang="it-IT" kern="0" dirty="0">
                <a:solidFill>
                  <a:srgbClr val="FF0000"/>
                </a:solidFill>
              </a:rPr>
              <a:t> </a:t>
            </a:r>
            <a:r>
              <a:rPr lang="it-IT" kern="0" dirty="0" err="1">
                <a:solidFill>
                  <a:srgbClr val="FF0000"/>
                </a:solidFill>
              </a:rPr>
              <a:t>one</a:t>
            </a:r>
            <a:r>
              <a:rPr lang="it-IT" kern="0" dirty="0">
                <a:solidFill>
                  <a:srgbClr val="FF0000"/>
                </a:solidFill>
              </a:rPr>
              <a:t> of the </a:t>
            </a:r>
            <a:r>
              <a:rPr lang="it-IT" kern="0" dirty="0" err="1">
                <a:solidFill>
                  <a:srgbClr val="FF0000"/>
                </a:solidFill>
              </a:rPr>
              <a:t>possible</a:t>
            </a:r>
            <a:r>
              <a:rPr lang="it-IT" kern="0" dirty="0">
                <a:solidFill>
                  <a:srgbClr val="FF0000"/>
                </a:solidFill>
              </a:rPr>
              <a:t> </a:t>
            </a:r>
            <a:r>
              <a:rPr lang="it-IT" kern="0" dirty="0" err="1">
                <a:solidFill>
                  <a:srgbClr val="FF0000"/>
                </a:solidFill>
              </a:rPr>
              <a:t>permutations</a:t>
            </a:r>
            <a:endParaRPr lang="it-IT" kern="0" dirty="0">
              <a:solidFill>
                <a:srgbClr val="FF0000"/>
              </a:solidFill>
            </a:endParaRPr>
          </a:p>
          <a:p>
            <a:pPr lvl="1"/>
            <a:r>
              <a:rPr lang="it-IT" kern="0" dirty="0" err="1"/>
              <a:t>Permutation</a:t>
            </a:r>
            <a:r>
              <a:rPr lang="it-IT" kern="0" dirty="0"/>
              <a:t> </a:t>
            </a:r>
            <a:r>
              <a:rPr lang="it-IT" dirty="0" err="1">
                <a:latin typeface="Symbol" panose="05050102010706020507" pitchFamily="18" charset="2"/>
              </a:rPr>
              <a:t>P</a:t>
            </a:r>
            <a:r>
              <a:rPr lang="it-IT" sz="4800" baseline="-25000" dirty="0" err="1"/>
              <a:t>k</a:t>
            </a:r>
            <a:r>
              <a:rPr lang="it-IT" dirty="0"/>
              <a:t> </a:t>
            </a:r>
            <a:r>
              <a:rPr lang="it-IT" kern="0" dirty="0" err="1"/>
              <a:t>used</a:t>
            </a:r>
            <a:r>
              <a:rPr lang="it-IT" kern="0" dirty="0"/>
              <a:t> by the </a:t>
            </a:r>
            <a:r>
              <a:rPr lang="it-IT" kern="0" dirty="0" err="1"/>
              <a:t>cipher</a:t>
            </a:r>
            <a:r>
              <a:rPr lang="it-IT" kern="0" dirty="0"/>
              <a:t> </a:t>
            </a:r>
            <a:r>
              <a:rPr lang="it-IT" kern="0" dirty="0" err="1"/>
              <a:t>is</a:t>
            </a:r>
            <a:r>
              <a:rPr lang="it-IT" kern="0" dirty="0"/>
              <a:t> «</a:t>
            </a:r>
            <a:r>
              <a:rPr lang="it-IT" kern="0" dirty="0" err="1"/>
              <a:t>selected</a:t>
            </a:r>
            <a:r>
              <a:rPr lang="it-IT" kern="0" dirty="0"/>
              <a:t>» by the secret </a:t>
            </a:r>
            <a:r>
              <a:rPr lang="it-IT" dirty="0" err="1"/>
              <a:t>key</a:t>
            </a:r>
            <a:r>
              <a:rPr lang="it-IT" dirty="0"/>
              <a:t> K</a:t>
            </a:r>
            <a:endParaRPr lang="it-IT" kern="0" dirty="0"/>
          </a:p>
          <a:p>
            <a:r>
              <a:rPr lang="it-IT" kern="0" dirty="0"/>
              <a:t>PROBLEM!! How </a:t>
            </a:r>
            <a:r>
              <a:rPr lang="it-IT" kern="0" dirty="0" err="1"/>
              <a:t>many</a:t>
            </a:r>
            <a:r>
              <a:rPr lang="it-IT" kern="0" dirty="0"/>
              <a:t> </a:t>
            </a:r>
            <a:r>
              <a:rPr lang="it-IT" kern="0" dirty="0" err="1"/>
              <a:t>permutations</a:t>
            </a:r>
            <a:r>
              <a:rPr lang="it-IT" kern="0" dirty="0"/>
              <a:t>? 2</a:t>
            </a:r>
            <a:r>
              <a:rPr lang="it-IT" kern="0" baseline="30000" dirty="0"/>
              <a:t>n</a:t>
            </a:r>
            <a:r>
              <a:rPr lang="it-IT" kern="0" dirty="0"/>
              <a:t>! (! = </a:t>
            </a:r>
            <a:r>
              <a:rPr lang="it-IT" kern="0" dirty="0" err="1"/>
              <a:t>factorial</a:t>
            </a:r>
            <a:r>
              <a:rPr lang="it-IT" kern="0" dirty="0"/>
              <a:t>)</a:t>
            </a:r>
          </a:p>
          <a:p>
            <a:pPr lvl="1"/>
            <a:r>
              <a:rPr lang="it-IT" kern="0" dirty="0"/>
              <a:t>For n=3: 	2</a:t>
            </a:r>
            <a:r>
              <a:rPr lang="it-IT" kern="0" baseline="30000" dirty="0"/>
              <a:t>3</a:t>
            </a:r>
            <a:r>
              <a:rPr lang="it-IT" kern="0" dirty="0"/>
              <a:t>! = 8! = 40320</a:t>
            </a:r>
          </a:p>
          <a:p>
            <a:pPr lvl="1"/>
            <a:r>
              <a:rPr lang="it-IT" kern="0" dirty="0"/>
              <a:t>For n=8: 	2</a:t>
            </a:r>
            <a:r>
              <a:rPr lang="it-IT" kern="0" baseline="30000" dirty="0"/>
              <a:t>8</a:t>
            </a:r>
            <a:r>
              <a:rPr lang="it-IT" kern="0" dirty="0"/>
              <a:t>! = 256! = 8.58×10</a:t>
            </a:r>
            <a:r>
              <a:rPr lang="it-IT" kern="0" baseline="30000" dirty="0"/>
              <a:t>506 </a:t>
            </a:r>
            <a:r>
              <a:rPr lang="it-IT" kern="0" dirty="0"/>
              <a:t>= </a:t>
            </a:r>
            <a:r>
              <a:rPr lang="it-IT" sz="1900" dirty="0"/>
              <a:t>857817775342842654119082271681232625157781520279485619859655650377269452553147589377440291360451408450375885342336584306157196834693696475322289288497426025679637332563368786442675207626794560187968867971521143307702077526646451464709187326100832876325702818980773671781454170250523018608495319068138257481070252817559459476987034665712738139286205234756808218860701203611083152093501947437109101726968262861606263662435022840944191408424615936000000000000000000000000000000000000000000000000000000000000000</a:t>
            </a:r>
          </a:p>
          <a:p>
            <a:pPr lvl="1"/>
            <a:r>
              <a:rPr lang="it-IT" kern="0" dirty="0"/>
              <a:t>In AES, n=128 …. 2</a:t>
            </a:r>
            <a:r>
              <a:rPr lang="it-IT" kern="0" baseline="30000" dirty="0"/>
              <a:t>128</a:t>
            </a:r>
            <a:r>
              <a:rPr lang="it-IT" kern="0" dirty="0"/>
              <a:t>! ~ 2^(2</a:t>
            </a:r>
            <a:r>
              <a:rPr lang="it-IT" kern="0" baseline="30000" dirty="0"/>
              <a:t>135</a:t>
            </a:r>
            <a:r>
              <a:rPr lang="it-IT" kern="0" dirty="0"/>
              <a:t>) </a:t>
            </a:r>
            <a:r>
              <a:rPr lang="it-IT" kern="0" dirty="0">
                <a:sym typeface="Wingdings" panose="05000000000000000000" pitchFamily="2" charset="2"/>
              </a:rPr>
              <a:t> </a:t>
            </a:r>
            <a:r>
              <a:rPr lang="it-IT" kern="0" dirty="0" err="1">
                <a:sym typeface="Wingdings" panose="05000000000000000000" pitchFamily="2" charset="2"/>
              </a:rPr>
              <a:t>unbelievably</a:t>
            </a:r>
            <a:r>
              <a:rPr lang="it-IT" kern="0" dirty="0">
                <a:sym typeface="Wingdings" panose="05000000000000000000" pitchFamily="2" charset="2"/>
              </a:rPr>
              <a:t> large </a:t>
            </a:r>
            <a:r>
              <a:rPr lang="it-IT" kern="0" dirty="0" err="1">
                <a:sym typeface="Wingdings" panose="05000000000000000000" pitchFamily="2" charset="2"/>
              </a:rPr>
              <a:t>number</a:t>
            </a:r>
            <a:r>
              <a:rPr lang="it-IT" kern="0" dirty="0">
                <a:sym typeface="Wingdings" panose="05000000000000000000" pitchFamily="2" charset="2"/>
              </a:rPr>
              <a:t>!! (10</a:t>
            </a:r>
            <a:r>
              <a:rPr lang="it-IT" kern="0" baseline="30000" dirty="0">
                <a:sym typeface="Wingdings" panose="05000000000000000000" pitchFamily="2" charset="2"/>
              </a:rPr>
              <a:t>40</a:t>
            </a:r>
            <a:r>
              <a:rPr lang="it-IT" kern="0" dirty="0">
                <a:sym typeface="Wingdings" panose="05000000000000000000" pitchFamily="2" charset="2"/>
              </a:rPr>
              <a:t> </a:t>
            </a:r>
            <a:r>
              <a:rPr lang="it-IT" kern="0" dirty="0" err="1">
                <a:sym typeface="Wingdings" panose="05000000000000000000" pitchFamily="2" charset="2"/>
              </a:rPr>
              <a:t>digits</a:t>
            </a:r>
            <a:r>
              <a:rPr lang="it-IT" kern="0" dirty="0">
                <a:sym typeface="Wingdings" panose="05000000000000000000" pitchFamily="2" charset="2"/>
              </a:rPr>
              <a:t> </a:t>
            </a:r>
            <a:r>
              <a:rPr lang="it-IT" kern="0" dirty="0" err="1">
                <a:sym typeface="Wingdings" panose="05000000000000000000" pitchFamily="2" charset="2"/>
              </a:rPr>
              <a:t>key</a:t>
            </a:r>
            <a:r>
              <a:rPr lang="it-IT" kern="0" dirty="0">
                <a:sym typeface="Wingdings" panose="05000000000000000000" pitchFamily="2" charset="2"/>
              </a:rPr>
              <a:t>) </a:t>
            </a:r>
          </a:p>
          <a:p>
            <a:pPr lvl="2"/>
            <a:r>
              <a:rPr lang="it-IT" kern="0" dirty="0">
                <a:sym typeface="Wingdings" panose="05000000000000000000" pitchFamily="2" charset="2"/>
              </a:rPr>
              <a:t>AES </a:t>
            </a:r>
            <a:r>
              <a:rPr lang="it-IT" kern="0" dirty="0" err="1">
                <a:sym typeface="Wingdings" panose="05000000000000000000" pitchFamily="2" charset="2"/>
              </a:rPr>
              <a:t>keys</a:t>
            </a:r>
            <a:r>
              <a:rPr lang="it-IT" kern="0" dirty="0">
                <a:sym typeface="Wingdings" panose="05000000000000000000" pitchFamily="2" charset="2"/>
              </a:rPr>
              <a:t>: 128, 192, 256  </a:t>
            </a:r>
            <a:r>
              <a:rPr lang="it-IT" kern="0" dirty="0">
                <a:solidFill>
                  <a:srgbClr val="FF0000"/>
                </a:solidFill>
              </a:rPr>
              <a:t>2</a:t>
            </a:r>
            <a:r>
              <a:rPr lang="it-IT" kern="0" baseline="30000" dirty="0">
                <a:solidFill>
                  <a:srgbClr val="FF0000"/>
                </a:solidFill>
              </a:rPr>
              <a:t>256</a:t>
            </a:r>
            <a:r>
              <a:rPr lang="it-IT" kern="0" dirty="0">
                <a:solidFill>
                  <a:srgbClr val="FF0000"/>
                </a:solidFill>
              </a:rPr>
              <a:t> &lt;&lt; 2</a:t>
            </a:r>
            <a:r>
              <a:rPr lang="it-IT" kern="0" baseline="30000" dirty="0">
                <a:solidFill>
                  <a:srgbClr val="FF0000"/>
                </a:solidFill>
              </a:rPr>
              <a:t>128</a:t>
            </a:r>
            <a:r>
              <a:rPr lang="it-IT" kern="0" dirty="0">
                <a:solidFill>
                  <a:srgbClr val="FF0000"/>
                </a:solidFill>
              </a:rPr>
              <a:t>! (2</a:t>
            </a:r>
            <a:r>
              <a:rPr lang="it-IT" kern="0" baseline="30000" dirty="0">
                <a:solidFill>
                  <a:srgbClr val="FF0000"/>
                </a:solidFill>
              </a:rPr>
              <a:t>256</a:t>
            </a:r>
            <a:r>
              <a:rPr lang="it-IT" kern="0" dirty="0">
                <a:solidFill>
                  <a:srgbClr val="FF0000"/>
                </a:solidFill>
              </a:rPr>
              <a:t> just 78 </a:t>
            </a:r>
            <a:r>
              <a:rPr lang="it-IT" kern="0" dirty="0" err="1">
                <a:solidFill>
                  <a:srgbClr val="FF0000"/>
                </a:solidFill>
              </a:rPr>
              <a:t>digits</a:t>
            </a:r>
            <a:r>
              <a:rPr lang="it-IT" kern="0" dirty="0">
                <a:solidFill>
                  <a:srgbClr val="FF0000"/>
                </a:solidFill>
              </a:rPr>
              <a:t> </a:t>
            </a:r>
            <a:r>
              <a:rPr lang="it-IT" kern="0" dirty="0" err="1">
                <a:solidFill>
                  <a:srgbClr val="FF0000"/>
                </a:solidFill>
              </a:rPr>
              <a:t>key</a:t>
            </a:r>
            <a:r>
              <a:rPr lang="it-IT" kern="0" dirty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it-IT" kern="0" dirty="0">
                <a:solidFill>
                  <a:srgbClr val="FF0000"/>
                </a:solidFill>
              </a:rPr>
              <a:t>Take home: </a:t>
            </a:r>
            <a:r>
              <a:rPr lang="it-IT" kern="0" dirty="0" err="1">
                <a:solidFill>
                  <a:srgbClr val="FF0000"/>
                </a:solidFill>
              </a:rPr>
              <a:t>Actual</a:t>
            </a:r>
            <a:r>
              <a:rPr lang="it-IT" kern="0" dirty="0">
                <a:solidFill>
                  <a:srgbClr val="FF0000"/>
                </a:solidFill>
              </a:rPr>
              <a:t> AES </a:t>
            </a:r>
            <a:r>
              <a:rPr lang="it-IT" kern="0" dirty="0" err="1">
                <a:solidFill>
                  <a:srgbClr val="FF0000"/>
                </a:solidFill>
              </a:rPr>
              <a:t>permutations</a:t>
            </a:r>
            <a:r>
              <a:rPr lang="it-IT" kern="0" dirty="0">
                <a:solidFill>
                  <a:srgbClr val="FF0000"/>
                </a:solidFill>
              </a:rPr>
              <a:t> way </a:t>
            </a:r>
            <a:r>
              <a:rPr lang="it-IT" kern="0" dirty="0" err="1">
                <a:solidFill>
                  <a:srgbClr val="FF0000"/>
                </a:solidFill>
              </a:rPr>
              <a:t>less</a:t>
            </a:r>
            <a:r>
              <a:rPr lang="it-IT" kern="0" dirty="0">
                <a:solidFill>
                  <a:srgbClr val="FF0000"/>
                </a:solidFill>
              </a:rPr>
              <a:t> </a:t>
            </a:r>
            <a:r>
              <a:rPr lang="it-IT" kern="0" dirty="0" err="1">
                <a:solidFill>
                  <a:srgbClr val="FF0000"/>
                </a:solidFill>
              </a:rPr>
              <a:t>that</a:t>
            </a:r>
            <a:r>
              <a:rPr lang="it-IT" kern="0" dirty="0">
                <a:solidFill>
                  <a:srgbClr val="FF0000"/>
                </a:solidFill>
              </a:rPr>
              <a:t> </a:t>
            </a:r>
            <a:r>
              <a:rPr lang="it-IT" kern="0" dirty="0" err="1">
                <a:solidFill>
                  <a:srgbClr val="FF0000"/>
                </a:solidFill>
              </a:rPr>
              <a:t>ideal</a:t>
            </a:r>
            <a:r>
              <a:rPr lang="it-IT" kern="0" dirty="0">
                <a:solidFill>
                  <a:srgbClr val="FF0000"/>
                </a:solidFill>
              </a:rPr>
              <a:t> PRP (</a:t>
            </a:r>
            <a:r>
              <a:rPr lang="it-IT" kern="0" dirty="0" err="1">
                <a:solidFill>
                  <a:srgbClr val="FF0000"/>
                </a:solidFill>
              </a:rPr>
              <a:t>but</a:t>
            </a:r>
            <a:r>
              <a:rPr lang="it-IT" kern="0" dirty="0">
                <a:solidFill>
                  <a:srgbClr val="FF0000"/>
                </a:solidFill>
              </a:rPr>
              <a:t> </a:t>
            </a:r>
            <a:r>
              <a:rPr lang="it-IT" kern="0" dirty="0" err="1">
                <a:solidFill>
                  <a:srgbClr val="FF0000"/>
                </a:solidFill>
              </a:rPr>
              <a:t>still</a:t>
            </a:r>
            <a:r>
              <a:rPr lang="it-IT" kern="0" dirty="0">
                <a:solidFill>
                  <a:srgbClr val="FF0000"/>
                </a:solidFill>
              </a:rPr>
              <a:t> OK)</a:t>
            </a:r>
          </a:p>
        </p:txBody>
      </p:sp>
    </p:spTree>
    <p:extLst>
      <p:ext uri="{BB962C8B-B14F-4D97-AF65-F5344CB8AC3E}">
        <p14:creationId xmlns:p14="http://schemas.microsoft.com/office/powerpoint/2010/main" val="1307242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Block</a:t>
            </a:r>
            <a:r>
              <a:rPr lang="it-IT" dirty="0"/>
              <a:t> </a:t>
            </a:r>
            <a:r>
              <a:rPr lang="it-IT" dirty="0" err="1"/>
              <a:t>ciphers</a:t>
            </a:r>
            <a:r>
              <a:rPr lang="it-IT" dirty="0"/>
              <a:t> </a:t>
            </a:r>
            <a:r>
              <a:rPr lang="it-IT" dirty="0">
                <a:sym typeface="Wingdings" panose="05000000000000000000" pitchFamily="2" charset="2"/>
              </a:rPr>
              <a:t></a:t>
            </a:r>
            <a:r>
              <a:rPr lang="it-IT" dirty="0"/>
              <a:t> </a:t>
            </a:r>
            <a:r>
              <a:rPr lang="it-IT" dirty="0" err="1"/>
              <a:t>PRPs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980728"/>
            <a:ext cx="9144000" cy="161148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it-IT" dirty="0"/>
              <a:t>Pseudo Random </a:t>
            </a:r>
            <a:r>
              <a:rPr lang="it-IT" dirty="0" err="1"/>
              <a:t>Permutation</a:t>
            </a:r>
            <a:r>
              <a:rPr lang="it-IT" dirty="0"/>
              <a:t>:</a:t>
            </a:r>
          </a:p>
          <a:p>
            <a:r>
              <a:rPr lang="it-IT" dirty="0"/>
              <a:t>S = set of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possible</a:t>
            </a:r>
            <a:r>
              <a:rPr lang="it-IT" dirty="0"/>
              <a:t> </a:t>
            </a:r>
            <a:r>
              <a:rPr lang="it-IT" dirty="0" err="1"/>
              <a:t>plaintexts</a:t>
            </a:r>
            <a:endParaRPr lang="it-IT" dirty="0"/>
          </a:p>
          <a:p>
            <a:pPr lvl="2"/>
            <a:r>
              <a:rPr lang="it-IT" dirty="0"/>
              <a:t>n = 3 bits, S = {000,001,010,011,100,101,110,111}, |S| = 2</a:t>
            </a:r>
            <a:r>
              <a:rPr lang="it-IT" baseline="30000" dirty="0"/>
              <a:t>n</a:t>
            </a:r>
            <a:r>
              <a:rPr lang="it-IT" dirty="0"/>
              <a:t> = 8</a:t>
            </a:r>
          </a:p>
          <a:p>
            <a:r>
              <a:rPr lang="it-IT" dirty="0" err="1"/>
              <a:t>Permutation</a:t>
            </a:r>
            <a:r>
              <a:rPr lang="it-IT" dirty="0"/>
              <a:t>: </a:t>
            </a:r>
            <a:r>
              <a:rPr lang="it-IT" dirty="0" err="1"/>
              <a:t>bijective</a:t>
            </a:r>
            <a:r>
              <a:rPr lang="it-IT" dirty="0"/>
              <a:t> </a:t>
            </a:r>
            <a:r>
              <a:rPr lang="it-IT" dirty="0" err="1"/>
              <a:t>function</a:t>
            </a:r>
            <a:r>
              <a:rPr lang="it-IT" dirty="0"/>
              <a:t> </a:t>
            </a:r>
            <a:r>
              <a:rPr lang="it-IT" dirty="0">
                <a:latin typeface="Symbol" panose="05050102010706020507" pitchFamily="18" charset="2"/>
              </a:rPr>
              <a:t>P</a:t>
            </a:r>
            <a:r>
              <a:rPr lang="it-IT" dirty="0"/>
              <a:t>: S</a:t>
            </a:r>
            <a:r>
              <a:rPr lang="it-IT" dirty="0">
                <a:sym typeface="Wingdings" panose="05000000000000000000" pitchFamily="2" charset="2"/>
              </a:rPr>
              <a:t>S</a:t>
            </a:r>
            <a:r>
              <a:rPr lang="it-IT" dirty="0"/>
              <a:t> (1-to-1 </a:t>
            </a:r>
            <a:r>
              <a:rPr lang="it-IT" dirty="0" err="1"/>
              <a:t>mapping</a:t>
            </a:r>
            <a:r>
              <a:rPr lang="it-IT" dirty="0"/>
              <a:t>)	</a:t>
            </a:r>
          </a:p>
        </p:txBody>
      </p:sp>
      <p:sp>
        <p:nvSpPr>
          <p:cNvPr id="71" name="Segnaposto contenuto 2"/>
          <p:cNvSpPr txBox="1">
            <a:spLocks/>
          </p:cNvSpPr>
          <p:nvPr/>
        </p:nvSpPr>
        <p:spPr bwMode="auto">
          <a:xfrm>
            <a:off x="-508" y="2393578"/>
            <a:ext cx="9217024" cy="427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 fontScale="70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it-IT" kern="0" dirty="0"/>
              <a:t>Pseudo-Random: </a:t>
            </a:r>
            <a:r>
              <a:rPr lang="it-IT" kern="0" dirty="0" err="1">
                <a:solidFill>
                  <a:srgbClr val="FF0000"/>
                </a:solidFill>
              </a:rPr>
              <a:t>block</a:t>
            </a:r>
            <a:r>
              <a:rPr lang="it-IT" kern="0" dirty="0">
                <a:solidFill>
                  <a:srgbClr val="FF0000"/>
                </a:solidFill>
              </a:rPr>
              <a:t> </a:t>
            </a:r>
            <a:r>
              <a:rPr lang="it-IT" kern="0" dirty="0" err="1">
                <a:solidFill>
                  <a:srgbClr val="FF0000"/>
                </a:solidFill>
              </a:rPr>
              <a:t>cipher</a:t>
            </a:r>
            <a:r>
              <a:rPr lang="it-IT" kern="0" dirty="0">
                <a:solidFill>
                  <a:srgbClr val="FF0000"/>
                </a:solidFill>
              </a:rPr>
              <a:t> </a:t>
            </a:r>
            <a:r>
              <a:rPr lang="it-IT" kern="0" dirty="0" err="1">
                <a:solidFill>
                  <a:srgbClr val="FF0000"/>
                </a:solidFill>
              </a:rPr>
              <a:t>should</a:t>
            </a:r>
            <a:r>
              <a:rPr lang="it-IT" kern="0" dirty="0">
                <a:solidFill>
                  <a:srgbClr val="FF0000"/>
                </a:solidFill>
              </a:rPr>
              <a:t> </a:t>
            </a:r>
            <a:r>
              <a:rPr lang="it-IT" kern="0" dirty="0" err="1">
                <a:solidFill>
                  <a:srgbClr val="FF0000"/>
                </a:solidFill>
              </a:rPr>
              <a:t>uniformly</a:t>
            </a:r>
            <a:r>
              <a:rPr lang="it-IT" kern="0" dirty="0">
                <a:solidFill>
                  <a:srgbClr val="FF0000"/>
                </a:solidFill>
              </a:rPr>
              <a:t> </a:t>
            </a:r>
            <a:r>
              <a:rPr lang="it-IT" kern="0" dirty="0" err="1">
                <a:solidFill>
                  <a:srgbClr val="FF0000"/>
                </a:solidFill>
              </a:rPr>
              <a:t>select</a:t>
            </a:r>
            <a:r>
              <a:rPr lang="it-IT" kern="0" dirty="0">
                <a:solidFill>
                  <a:srgbClr val="FF0000"/>
                </a:solidFill>
              </a:rPr>
              <a:t> </a:t>
            </a:r>
            <a:r>
              <a:rPr lang="it-IT" kern="0" dirty="0" err="1">
                <a:solidFill>
                  <a:srgbClr val="FF0000"/>
                </a:solidFill>
              </a:rPr>
              <a:t>one</a:t>
            </a:r>
            <a:r>
              <a:rPr lang="it-IT" kern="0" dirty="0">
                <a:solidFill>
                  <a:srgbClr val="FF0000"/>
                </a:solidFill>
              </a:rPr>
              <a:t> of the </a:t>
            </a:r>
            <a:r>
              <a:rPr lang="it-IT" kern="0" dirty="0" err="1">
                <a:solidFill>
                  <a:srgbClr val="FF0000"/>
                </a:solidFill>
              </a:rPr>
              <a:t>possible</a:t>
            </a:r>
            <a:r>
              <a:rPr lang="it-IT" kern="0" dirty="0">
                <a:solidFill>
                  <a:srgbClr val="FF0000"/>
                </a:solidFill>
              </a:rPr>
              <a:t> </a:t>
            </a:r>
            <a:r>
              <a:rPr lang="it-IT" kern="0" dirty="0" err="1">
                <a:solidFill>
                  <a:srgbClr val="FF0000"/>
                </a:solidFill>
              </a:rPr>
              <a:t>permutations</a:t>
            </a:r>
            <a:endParaRPr lang="it-IT" kern="0" dirty="0">
              <a:solidFill>
                <a:srgbClr val="FF0000"/>
              </a:solidFill>
            </a:endParaRPr>
          </a:p>
          <a:p>
            <a:pPr lvl="1"/>
            <a:r>
              <a:rPr lang="it-IT" kern="0" dirty="0" err="1"/>
              <a:t>Permutation</a:t>
            </a:r>
            <a:r>
              <a:rPr lang="it-IT" kern="0" dirty="0"/>
              <a:t> </a:t>
            </a:r>
            <a:r>
              <a:rPr lang="it-IT" dirty="0" err="1">
                <a:latin typeface="Symbol" panose="05050102010706020507" pitchFamily="18" charset="2"/>
              </a:rPr>
              <a:t>P</a:t>
            </a:r>
            <a:r>
              <a:rPr lang="it-IT" sz="4800" baseline="-25000" dirty="0" err="1"/>
              <a:t>k</a:t>
            </a:r>
            <a:r>
              <a:rPr lang="it-IT" dirty="0"/>
              <a:t> </a:t>
            </a:r>
            <a:r>
              <a:rPr lang="it-IT" kern="0" dirty="0" err="1"/>
              <a:t>used</a:t>
            </a:r>
            <a:r>
              <a:rPr lang="it-IT" kern="0" dirty="0"/>
              <a:t> by the </a:t>
            </a:r>
            <a:r>
              <a:rPr lang="it-IT" kern="0" dirty="0" err="1"/>
              <a:t>cipher</a:t>
            </a:r>
            <a:r>
              <a:rPr lang="it-IT" kern="0" dirty="0"/>
              <a:t> </a:t>
            </a:r>
            <a:r>
              <a:rPr lang="it-IT" kern="0" dirty="0" err="1"/>
              <a:t>is</a:t>
            </a:r>
            <a:r>
              <a:rPr lang="it-IT" kern="0" dirty="0"/>
              <a:t> «</a:t>
            </a:r>
            <a:r>
              <a:rPr lang="it-IT" kern="0" dirty="0" err="1"/>
              <a:t>selected</a:t>
            </a:r>
            <a:r>
              <a:rPr lang="it-IT" kern="0" dirty="0"/>
              <a:t>» by the secret </a:t>
            </a:r>
            <a:r>
              <a:rPr lang="it-IT" dirty="0" err="1"/>
              <a:t>key</a:t>
            </a:r>
            <a:r>
              <a:rPr lang="it-IT" dirty="0"/>
              <a:t> K</a:t>
            </a:r>
            <a:endParaRPr lang="it-IT" kern="0" dirty="0"/>
          </a:p>
          <a:p>
            <a:r>
              <a:rPr lang="it-IT" kern="0" dirty="0"/>
              <a:t>PROBLEM!! How </a:t>
            </a:r>
            <a:r>
              <a:rPr lang="it-IT" kern="0" dirty="0" err="1"/>
              <a:t>many</a:t>
            </a:r>
            <a:r>
              <a:rPr lang="it-IT" kern="0" dirty="0"/>
              <a:t> </a:t>
            </a:r>
            <a:r>
              <a:rPr lang="it-IT" kern="0" dirty="0" err="1"/>
              <a:t>permutations</a:t>
            </a:r>
            <a:r>
              <a:rPr lang="it-IT" kern="0" dirty="0"/>
              <a:t>? 2</a:t>
            </a:r>
            <a:r>
              <a:rPr lang="it-IT" kern="0" baseline="30000" dirty="0"/>
              <a:t>n</a:t>
            </a:r>
            <a:r>
              <a:rPr lang="it-IT" kern="0" dirty="0"/>
              <a:t>! (! = </a:t>
            </a:r>
            <a:r>
              <a:rPr lang="it-IT" kern="0" dirty="0" err="1"/>
              <a:t>factorial</a:t>
            </a:r>
            <a:r>
              <a:rPr lang="it-IT" kern="0" dirty="0"/>
              <a:t>)</a:t>
            </a:r>
          </a:p>
          <a:p>
            <a:pPr lvl="1"/>
            <a:r>
              <a:rPr lang="it-IT" kern="0" dirty="0"/>
              <a:t>For n=3: 	2</a:t>
            </a:r>
            <a:r>
              <a:rPr lang="it-IT" kern="0" baseline="30000" dirty="0"/>
              <a:t>3</a:t>
            </a:r>
            <a:r>
              <a:rPr lang="it-IT" kern="0" dirty="0"/>
              <a:t>! = 8! = 40320</a:t>
            </a:r>
          </a:p>
          <a:p>
            <a:pPr lvl="1"/>
            <a:r>
              <a:rPr lang="it-IT" kern="0" dirty="0"/>
              <a:t>For n=8: 	2</a:t>
            </a:r>
            <a:r>
              <a:rPr lang="it-IT" kern="0" baseline="30000" dirty="0"/>
              <a:t>8</a:t>
            </a:r>
            <a:r>
              <a:rPr lang="it-IT" kern="0" dirty="0"/>
              <a:t>! = 256! = 8.58×10</a:t>
            </a:r>
            <a:r>
              <a:rPr lang="it-IT" kern="0" baseline="30000" dirty="0"/>
              <a:t>506 </a:t>
            </a:r>
            <a:r>
              <a:rPr lang="it-IT" kern="0" dirty="0"/>
              <a:t>= </a:t>
            </a:r>
            <a:r>
              <a:rPr lang="it-IT" sz="1900" dirty="0"/>
              <a:t>857817775342842654119082271681232625157781520279485619859655650377269452553147589377440291360451408450375885342336584306157196834693696475322289288497426025679637332563368786442675207626794560187968867971521143307702077526646451464709187326100832876325702818980773671781454170250523018608495319068138257481070252817559459476987034665712738139286205234756808218860701203611083152093501947437109101726968262861606263662435022840944191408424615936000000000000000000000000000000000000000000000000000000000000000</a:t>
            </a:r>
          </a:p>
          <a:p>
            <a:pPr lvl="1"/>
            <a:r>
              <a:rPr lang="it-IT" kern="0" dirty="0"/>
              <a:t>In AES, n=128 …. 2</a:t>
            </a:r>
            <a:r>
              <a:rPr lang="it-IT" kern="0" baseline="30000" dirty="0"/>
              <a:t>128</a:t>
            </a:r>
            <a:r>
              <a:rPr lang="it-IT" kern="0" dirty="0"/>
              <a:t>! ~ 2^(2</a:t>
            </a:r>
            <a:r>
              <a:rPr lang="it-IT" kern="0" baseline="30000" dirty="0"/>
              <a:t>135</a:t>
            </a:r>
            <a:r>
              <a:rPr lang="it-IT" kern="0" dirty="0"/>
              <a:t>) </a:t>
            </a:r>
            <a:r>
              <a:rPr lang="it-IT" kern="0" dirty="0">
                <a:sym typeface="Wingdings" panose="05000000000000000000" pitchFamily="2" charset="2"/>
              </a:rPr>
              <a:t> </a:t>
            </a:r>
            <a:r>
              <a:rPr lang="it-IT" kern="0" dirty="0" err="1">
                <a:sym typeface="Wingdings" panose="05000000000000000000" pitchFamily="2" charset="2"/>
              </a:rPr>
              <a:t>unbelievably</a:t>
            </a:r>
            <a:r>
              <a:rPr lang="it-IT" kern="0" dirty="0">
                <a:sym typeface="Wingdings" panose="05000000000000000000" pitchFamily="2" charset="2"/>
              </a:rPr>
              <a:t> large </a:t>
            </a:r>
            <a:r>
              <a:rPr lang="it-IT" kern="0" dirty="0" err="1">
                <a:sym typeface="Wingdings" panose="05000000000000000000" pitchFamily="2" charset="2"/>
              </a:rPr>
              <a:t>number</a:t>
            </a:r>
            <a:r>
              <a:rPr lang="it-IT" kern="0" dirty="0">
                <a:sym typeface="Wingdings" panose="05000000000000000000" pitchFamily="2" charset="2"/>
              </a:rPr>
              <a:t>!! (10</a:t>
            </a:r>
            <a:r>
              <a:rPr lang="it-IT" kern="0" baseline="30000" dirty="0">
                <a:sym typeface="Wingdings" panose="05000000000000000000" pitchFamily="2" charset="2"/>
              </a:rPr>
              <a:t>40</a:t>
            </a:r>
            <a:r>
              <a:rPr lang="it-IT" kern="0" dirty="0">
                <a:sym typeface="Wingdings" panose="05000000000000000000" pitchFamily="2" charset="2"/>
              </a:rPr>
              <a:t> </a:t>
            </a:r>
            <a:r>
              <a:rPr lang="it-IT" kern="0" dirty="0" err="1">
                <a:sym typeface="Wingdings" panose="05000000000000000000" pitchFamily="2" charset="2"/>
              </a:rPr>
              <a:t>digits</a:t>
            </a:r>
            <a:r>
              <a:rPr lang="it-IT" kern="0" dirty="0">
                <a:sym typeface="Wingdings" panose="05000000000000000000" pitchFamily="2" charset="2"/>
              </a:rPr>
              <a:t> </a:t>
            </a:r>
            <a:r>
              <a:rPr lang="it-IT" kern="0" dirty="0" err="1">
                <a:sym typeface="Wingdings" panose="05000000000000000000" pitchFamily="2" charset="2"/>
              </a:rPr>
              <a:t>key</a:t>
            </a:r>
            <a:r>
              <a:rPr lang="it-IT" kern="0" dirty="0">
                <a:sym typeface="Wingdings" panose="05000000000000000000" pitchFamily="2" charset="2"/>
              </a:rPr>
              <a:t>) </a:t>
            </a:r>
          </a:p>
          <a:p>
            <a:pPr lvl="2"/>
            <a:r>
              <a:rPr lang="it-IT" kern="0" dirty="0">
                <a:sym typeface="Wingdings" panose="05000000000000000000" pitchFamily="2" charset="2"/>
              </a:rPr>
              <a:t>AES </a:t>
            </a:r>
            <a:r>
              <a:rPr lang="it-IT" kern="0" dirty="0" err="1">
                <a:sym typeface="Wingdings" panose="05000000000000000000" pitchFamily="2" charset="2"/>
              </a:rPr>
              <a:t>keys</a:t>
            </a:r>
            <a:r>
              <a:rPr lang="it-IT" kern="0" dirty="0">
                <a:sym typeface="Wingdings" panose="05000000000000000000" pitchFamily="2" charset="2"/>
              </a:rPr>
              <a:t>: 128, 192, 256  </a:t>
            </a:r>
            <a:r>
              <a:rPr lang="it-IT" kern="0" dirty="0">
                <a:solidFill>
                  <a:srgbClr val="FF0000"/>
                </a:solidFill>
              </a:rPr>
              <a:t>2</a:t>
            </a:r>
            <a:r>
              <a:rPr lang="it-IT" kern="0" baseline="30000" dirty="0">
                <a:solidFill>
                  <a:srgbClr val="FF0000"/>
                </a:solidFill>
              </a:rPr>
              <a:t>256</a:t>
            </a:r>
            <a:r>
              <a:rPr lang="it-IT" kern="0" dirty="0">
                <a:solidFill>
                  <a:srgbClr val="FF0000"/>
                </a:solidFill>
              </a:rPr>
              <a:t> &lt;&lt; 2</a:t>
            </a:r>
            <a:r>
              <a:rPr lang="it-IT" kern="0" baseline="30000" dirty="0">
                <a:solidFill>
                  <a:srgbClr val="FF0000"/>
                </a:solidFill>
              </a:rPr>
              <a:t>128</a:t>
            </a:r>
            <a:r>
              <a:rPr lang="it-IT" kern="0" dirty="0">
                <a:solidFill>
                  <a:srgbClr val="FF0000"/>
                </a:solidFill>
              </a:rPr>
              <a:t>! (2</a:t>
            </a:r>
            <a:r>
              <a:rPr lang="it-IT" kern="0" baseline="30000" dirty="0">
                <a:solidFill>
                  <a:srgbClr val="FF0000"/>
                </a:solidFill>
              </a:rPr>
              <a:t>256</a:t>
            </a:r>
            <a:r>
              <a:rPr lang="it-IT" kern="0" dirty="0">
                <a:solidFill>
                  <a:srgbClr val="FF0000"/>
                </a:solidFill>
              </a:rPr>
              <a:t> just 78 </a:t>
            </a:r>
            <a:r>
              <a:rPr lang="it-IT" kern="0" dirty="0" err="1">
                <a:solidFill>
                  <a:srgbClr val="FF0000"/>
                </a:solidFill>
              </a:rPr>
              <a:t>digits</a:t>
            </a:r>
            <a:r>
              <a:rPr lang="it-IT" kern="0" dirty="0">
                <a:solidFill>
                  <a:srgbClr val="FF0000"/>
                </a:solidFill>
              </a:rPr>
              <a:t> </a:t>
            </a:r>
            <a:r>
              <a:rPr lang="it-IT" kern="0" dirty="0" err="1">
                <a:solidFill>
                  <a:srgbClr val="FF0000"/>
                </a:solidFill>
              </a:rPr>
              <a:t>key</a:t>
            </a:r>
            <a:r>
              <a:rPr lang="it-IT" kern="0" dirty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it-IT" kern="0" dirty="0">
                <a:solidFill>
                  <a:srgbClr val="FF0000"/>
                </a:solidFill>
              </a:rPr>
              <a:t>Take home: </a:t>
            </a:r>
            <a:r>
              <a:rPr lang="it-IT" kern="0" dirty="0" err="1">
                <a:solidFill>
                  <a:srgbClr val="FF0000"/>
                </a:solidFill>
              </a:rPr>
              <a:t>Actual</a:t>
            </a:r>
            <a:r>
              <a:rPr lang="it-IT" kern="0" dirty="0">
                <a:solidFill>
                  <a:srgbClr val="FF0000"/>
                </a:solidFill>
              </a:rPr>
              <a:t> AES </a:t>
            </a:r>
            <a:r>
              <a:rPr lang="it-IT" kern="0" dirty="0" err="1">
                <a:solidFill>
                  <a:srgbClr val="FF0000"/>
                </a:solidFill>
              </a:rPr>
              <a:t>permutations</a:t>
            </a:r>
            <a:r>
              <a:rPr lang="it-IT" kern="0" dirty="0">
                <a:solidFill>
                  <a:srgbClr val="FF0000"/>
                </a:solidFill>
              </a:rPr>
              <a:t> way </a:t>
            </a:r>
            <a:r>
              <a:rPr lang="it-IT" kern="0" dirty="0" err="1">
                <a:solidFill>
                  <a:srgbClr val="FF0000"/>
                </a:solidFill>
              </a:rPr>
              <a:t>less</a:t>
            </a:r>
            <a:r>
              <a:rPr lang="it-IT" kern="0" dirty="0">
                <a:solidFill>
                  <a:srgbClr val="FF0000"/>
                </a:solidFill>
              </a:rPr>
              <a:t> </a:t>
            </a:r>
            <a:r>
              <a:rPr lang="it-IT" kern="0" dirty="0" err="1">
                <a:solidFill>
                  <a:srgbClr val="FF0000"/>
                </a:solidFill>
              </a:rPr>
              <a:t>that</a:t>
            </a:r>
            <a:r>
              <a:rPr lang="it-IT" kern="0" dirty="0">
                <a:solidFill>
                  <a:srgbClr val="FF0000"/>
                </a:solidFill>
              </a:rPr>
              <a:t> </a:t>
            </a:r>
            <a:r>
              <a:rPr lang="it-IT" kern="0" dirty="0" err="1">
                <a:solidFill>
                  <a:srgbClr val="FF0000"/>
                </a:solidFill>
              </a:rPr>
              <a:t>ideal</a:t>
            </a:r>
            <a:r>
              <a:rPr lang="it-IT" kern="0" dirty="0">
                <a:solidFill>
                  <a:srgbClr val="FF0000"/>
                </a:solidFill>
              </a:rPr>
              <a:t> PRP (</a:t>
            </a:r>
            <a:r>
              <a:rPr lang="it-IT" kern="0" dirty="0" err="1">
                <a:solidFill>
                  <a:srgbClr val="FF0000"/>
                </a:solidFill>
              </a:rPr>
              <a:t>but</a:t>
            </a:r>
            <a:r>
              <a:rPr lang="it-IT" kern="0" dirty="0">
                <a:solidFill>
                  <a:srgbClr val="FF0000"/>
                </a:solidFill>
              </a:rPr>
              <a:t> </a:t>
            </a:r>
            <a:r>
              <a:rPr lang="it-IT" kern="0" dirty="0" err="1">
                <a:solidFill>
                  <a:srgbClr val="FF0000"/>
                </a:solidFill>
              </a:rPr>
              <a:t>still</a:t>
            </a:r>
            <a:r>
              <a:rPr lang="it-IT" kern="0" dirty="0">
                <a:solidFill>
                  <a:srgbClr val="FF0000"/>
                </a:solidFill>
              </a:rPr>
              <a:t> OK)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/>
              <p:cNvSpPr txBox="1"/>
              <p:nvPr/>
            </p:nvSpPr>
            <p:spPr>
              <a:xfrm>
                <a:off x="179512" y="2060848"/>
                <a:ext cx="8820980" cy="3551037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                             </m:t>
                      </m:r>
                    </m:oMath>
                  </m:oMathPara>
                </a14:m>
                <a:endParaRPr lang="it-IT" sz="32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!≈</m:t>
                      </m:r>
                      <m:rad>
                        <m:radPr>
                          <m:degHide m:val="on"/>
                          <m:ctrlPr>
                            <a:rPr lang="it-IT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it-IT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it-IT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rad>
                      <m:f>
                        <m:fPr>
                          <m:ctrlPr>
                            <a:rPr lang="it-IT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it-IT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it-IT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it-IT" sz="3200" b="0" dirty="0">
                  <a:ea typeface="Cambria Math" panose="02040503050406030204" pitchFamily="18" charset="0"/>
                </a:endParaRPr>
              </a:p>
              <a:p>
                <a:endParaRPr lang="it-IT" sz="32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it-IT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3200" b="0" i="1" smtClean="0">
                            <a:latin typeface="Cambria Math" panose="02040503050406030204" pitchFamily="18" charset="0"/>
                          </a:rPr>
                          <m:t> 2</m:t>
                        </m:r>
                      </m:e>
                      <m:sup>
                        <m:r>
                          <a:rPr lang="it-IT" sz="32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p>
                    </m:sSup>
                    <m:r>
                      <a:rPr lang="it-IT" sz="3200" i="1">
                        <a:latin typeface="Cambria Math" panose="02040503050406030204" pitchFamily="18" charset="0"/>
                      </a:rPr>
                      <m:t>!≈</m:t>
                    </m:r>
                    <m:rad>
                      <m:radPr>
                        <m:degHide m:val="on"/>
                        <m:ctrlPr>
                          <a:rPr lang="it-IT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it-IT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it-IT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it-IT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it-IT" sz="3200" i="1">
                                <a:latin typeface="Cambria Math" panose="02040503050406030204" pitchFamily="18" charset="0"/>
                              </a:rPr>
                              <m:t>128</m:t>
                            </m:r>
                          </m:sup>
                        </m:sSup>
                      </m:e>
                    </m:rad>
                    <m:sSup>
                      <m:sSupPr>
                        <m:ctrlPr>
                          <a:rPr lang="it-IT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it-IT" sz="3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it-IT" sz="3200" i="1">
                            <a:latin typeface="Cambria Math" panose="02040503050406030204" pitchFamily="18" charset="0"/>
                          </a:rPr>
                          <m:t>128</m:t>
                        </m:r>
                        <m:r>
                          <a:rPr lang="it-IT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it-IT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it-IT" sz="3200" b="0" i="1" smtClean="0">
                                <a:latin typeface="Cambria Math" panose="02040503050406030204" pitchFamily="18" charset="0"/>
                              </a:rPr>
                              <m:t>128</m:t>
                            </m:r>
                          </m:sup>
                        </m:sSup>
                      </m:sup>
                    </m:sSup>
                    <m:r>
                      <a:rPr lang="it-IT" sz="32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it-IT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sSupPr>
                            <m:ctrlPr>
                              <a:rPr lang="it-IT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it-IT" sz="3200" b="0" i="1" smtClean="0">
                                <a:latin typeface="Cambria Math" panose="02040503050406030204" pitchFamily="18" charset="0"/>
                              </a:rPr>
                              <m:t>128</m:t>
                            </m:r>
                          </m:sup>
                        </m:sSup>
                      </m:sup>
                    </m:sSup>
                  </m:oMath>
                </a14:m>
                <a:r>
                  <a:rPr lang="it-IT" sz="3200" dirty="0"/>
                  <a:t> </a:t>
                </a:r>
                <a14:m>
                  <m:oMath xmlns:m="http://schemas.openxmlformats.org/officeDocument/2006/math">
                    <m:r>
                      <a:rPr lang="it-IT" sz="3200" i="1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endParaRPr lang="it-IT" sz="3200" dirty="0">
                  <a:ea typeface="Cambria Math" panose="02040503050406030204" pitchFamily="18" charset="0"/>
                </a:endParaRPr>
              </a:p>
              <a:p>
                <a:r>
                  <a:rPr lang="it-IT" sz="3200" dirty="0">
                    <a:ea typeface="Cambria Math" panose="02040503050406030204" pitchFamily="18" charset="0"/>
                  </a:rPr>
                  <a:t>	 </a:t>
                </a:r>
                <a:r>
                  <a:rPr lang="it-IT" sz="3200" dirty="0"/>
                  <a:t> </a:t>
                </a:r>
                <a14:m>
                  <m:oMath xmlns:m="http://schemas.openxmlformats.org/officeDocument/2006/math">
                    <m:r>
                      <a:rPr lang="it-IT" sz="3200" i="1">
                        <a:latin typeface="Cambria Math" panose="02040503050406030204" pitchFamily="18" charset="0"/>
                      </a:rPr>
                      <m:t>≈</m:t>
                    </m:r>
                    <m:rad>
                      <m:radPr>
                        <m:degHide m:val="on"/>
                        <m:ctrlPr>
                          <a:rPr lang="it-IT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it-IT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it-IT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</m:rad>
                    <m:sSup>
                      <m:sSupPr>
                        <m:ctrlPr>
                          <a:rPr lang="it-IT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it-IT" sz="3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it-IT" sz="3200" b="0" i="1" smtClean="0">
                            <a:latin typeface="Cambria Math" panose="02040503050406030204" pitchFamily="18" charset="0"/>
                          </a:rPr>
                          <m:t>64+</m:t>
                        </m:r>
                        <m:sSup>
                          <m:sSupPr>
                            <m:ctrlPr>
                              <a:rPr lang="it-IT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it-IT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it-IT" sz="3200" b="0" i="1" smtClean="0">
                                <a:latin typeface="Cambria Math" panose="02040503050406030204" pitchFamily="18" charset="0"/>
                              </a:rPr>
                              <m:t>35</m:t>
                            </m:r>
                          </m:sup>
                        </m:sSup>
                        <m:r>
                          <a:rPr lang="it-IT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it-IT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it-IT" sz="3200" i="1">
                                <a:latin typeface="Cambria Math" panose="02040503050406030204" pitchFamily="18" charset="0"/>
                              </a:rPr>
                              <m:t>128</m:t>
                            </m:r>
                          </m:sup>
                        </m:sSup>
                        <m:r>
                          <a:rPr lang="it-IT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unc>
                          <m:funcPr>
                            <m:ctrlPr>
                              <a:rPr lang="it-IT" sz="3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it-IT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it-IT" sz="32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it-IT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it-IT" sz="32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func>
                      </m:sup>
                    </m:sSup>
                    <m:r>
                      <a:rPr lang="it-IT" sz="3200" i="1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it-IT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3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it-IT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it-IT" sz="3200" i="1">
                                <a:latin typeface="Cambria Math" panose="02040503050406030204" pitchFamily="18" charset="0"/>
                              </a:rPr>
                              <m:t>135</m:t>
                            </m:r>
                          </m:sup>
                        </m:sSup>
                      </m:sup>
                    </m:sSup>
                  </m:oMath>
                </a14:m>
                <a:endParaRPr lang="it-IT" sz="3200" dirty="0">
                  <a:ea typeface="Cambria Math" panose="02040503050406030204" pitchFamily="18" charset="0"/>
                </a:endParaRPr>
              </a:p>
              <a:p>
                <a:endParaRPr lang="it-IT" sz="3200" dirty="0"/>
              </a:p>
            </p:txBody>
          </p:sp>
        </mc:Choice>
        <mc:Fallback xmlns="">
          <p:sp>
            <p:nvSpPr>
              <p:cNvPr id="5" name="CasellaDiTes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2060848"/>
                <a:ext cx="8820980" cy="35510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571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sellaDiTesto 3"/>
          <p:cNvSpPr txBox="1"/>
          <p:nvPr/>
        </p:nvSpPr>
        <p:spPr>
          <a:xfrm>
            <a:off x="582568" y="2217058"/>
            <a:ext cx="35573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>
                <a:solidFill>
                  <a:srgbClr val="FF0000"/>
                </a:solidFill>
              </a:rPr>
              <a:t>How to compute large </a:t>
            </a:r>
            <a:r>
              <a:rPr lang="it-IT" sz="2000" b="1" dirty="0" err="1">
                <a:solidFill>
                  <a:srgbClr val="FF0000"/>
                </a:solidFill>
              </a:rPr>
              <a:t>factorials</a:t>
            </a:r>
            <a:r>
              <a:rPr lang="it-IT" sz="2000" b="1" dirty="0">
                <a:solidFill>
                  <a:srgbClr val="FF0000"/>
                </a:solidFill>
              </a:rPr>
              <a:t>? </a:t>
            </a:r>
          </a:p>
          <a:p>
            <a:r>
              <a:rPr lang="it-IT" sz="2000" b="1" dirty="0">
                <a:solidFill>
                  <a:srgbClr val="FF0000"/>
                </a:solidFill>
              </a:rPr>
              <a:t>Stirling </a:t>
            </a:r>
            <a:r>
              <a:rPr lang="it-IT" sz="2000" b="1" dirty="0" err="1">
                <a:solidFill>
                  <a:srgbClr val="FF0000"/>
                </a:solidFill>
              </a:rPr>
              <a:t>Approximation</a:t>
            </a:r>
            <a:endParaRPr lang="it-IT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9292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51520" y="367444"/>
            <a:ext cx="8496944" cy="649288"/>
          </a:xfrm>
        </p:spPr>
        <p:txBody>
          <a:bodyPr/>
          <a:lstStyle/>
          <a:p>
            <a:r>
              <a:rPr lang="it-IT" dirty="0" err="1"/>
              <a:t>Problem</a:t>
            </a:r>
            <a:r>
              <a:rPr lang="it-IT" dirty="0"/>
              <a:t> 1</a:t>
            </a:r>
            <a:br>
              <a:rPr lang="it-IT" dirty="0"/>
            </a:br>
            <a:r>
              <a:rPr lang="it-IT" dirty="0" err="1"/>
              <a:t>Plaintext</a:t>
            </a:r>
            <a:r>
              <a:rPr lang="it-IT" dirty="0"/>
              <a:t> </a:t>
            </a:r>
            <a:r>
              <a:rPr lang="it-IT" dirty="0" err="1"/>
              <a:t>longer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block</a:t>
            </a:r>
            <a:r>
              <a:rPr lang="it-IT" dirty="0"/>
              <a:t> </a:t>
            </a:r>
            <a:r>
              <a:rPr lang="it-IT" dirty="0" err="1"/>
              <a:t>size</a:t>
            </a:r>
            <a:r>
              <a:rPr lang="it-IT" dirty="0"/>
              <a:t>?</a:t>
            </a:r>
          </a:p>
        </p:txBody>
      </p:sp>
      <p:sp>
        <p:nvSpPr>
          <p:cNvPr id="92" name="Rectangle 5"/>
          <p:cNvSpPr>
            <a:spLocks noChangeArrowheads="1"/>
          </p:cNvSpPr>
          <p:nvPr/>
        </p:nvSpPr>
        <p:spPr bwMode="auto">
          <a:xfrm>
            <a:off x="882886" y="3074690"/>
            <a:ext cx="914400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95" name="Rectangle 10"/>
          <p:cNvSpPr>
            <a:spLocks noChangeArrowheads="1"/>
          </p:cNvSpPr>
          <p:nvPr/>
        </p:nvSpPr>
        <p:spPr bwMode="auto">
          <a:xfrm>
            <a:off x="578086" y="1926010"/>
            <a:ext cx="1524000" cy="34858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/>
              <a:t>m[0]</a:t>
            </a:r>
          </a:p>
        </p:txBody>
      </p:sp>
      <p:sp>
        <p:nvSpPr>
          <p:cNvPr id="102" name="Line 19"/>
          <p:cNvSpPr>
            <a:spLocks noChangeShapeType="1"/>
          </p:cNvSpPr>
          <p:nvPr/>
        </p:nvSpPr>
        <p:spPr bwMode="auto">
          <a:xfrm flipH="1">
            <a:off x="1352067" y="2274590"/>
            <a:ext cx="4762" cy="83037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08" name="Line 27"/>
          <p:cNvSpPr>
            <a:spLocks noChangeShapeType="1"/>
          </p:cNvSpPr>
          <p:nvPr/>
        </p:nvSpPr>
        <p:spPr bwMode="auto">
          <a:xfrm>
            <a:off x="1353654" y="3703340"/>
            <a:ext cx="1588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19" name="Rectangle 44"/>
          <p:cNvSpPr>
            <a:spLocks noChangeArrowheads="1"/>
          </p:cNvSpPr>
          <p:nvPr/>
        </p:nvSpPr>
        <p:spPr bwMode="auto">
          <a:xfrm>
            <a:off x="578086" y="4160540"/>
            <a:ext cx="1524000" cy="34290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/>
              <a:t>c[0]</a:t>
            </a:r>
          </a:p>
        </p:txBody>
      </p:sp>
      <p:cxnSp>
        <p:nvCxnSpPr>
          <p:cNvPr id="125" name="Connettore 2 45"/>
          <p:cNvCxnSpPr>
            <a:cxnSpLocks noChangeShapeType="1"/>
          </p:cNvCxnSpPr>
          <p:nvPr/>
        </p:nvCxnSpPr>
        <p:spPr bwMode="auto">
          <a:xfrm>
            <a:off x="743261" y="3622378"/>
            <a:ext cx="144462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6" name="CasellaDiTesto 46"/>
          <p:cNvSpPr txBox="1">
            <a:spLocks noChangeArrowheads="1"/>
          </p:cNvSpPr>
          <p:nvPr/>
        </p:nvSpPr>
        <p:spPr bwMode="auto">
          <a:xfrm>
            <a:off x="503548" y="3406478"/>
            <a:ext cx="3111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K</a:t>
            </a:r>
          </a:p>
        </p:txBody>
      </p:sp>
      <p:sp>
        <p:nvSpPr>
          <p:cNvPr id="132" name="Rectangle 5"/>
          <p:cNvSpPr>
            <a:spLocks noChangeArrowheads="1"/>
          </p:cNvSpPr>
          <p:nvPr/>
        </p:nvSpPr>
        <p:spPr bwMode="auto">
          <a:xfrm>
            <a:off x="2488704" y="3074690"/>
            <a:ext cx="914400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133" name="Rectangle 10"/>
          <p:cNvSpPr>
            <a:spLocks noChangeArrowheads="1"/>
          </p:cNvSpPr>
          <p:nvPr/>
        </p:nvSpPr>
        <p:spPr bwMode="auto">
          <a:xfrm>
            <a:off x="2183904" y="1926010"/>
            <a:ext cx="1524000" cy="34858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m[1]</a:t>
            </a:r>
          </a:p>
        </p:txBody>
      </p:sp>
      <p:sp>
        <p:nvSpPr>
          <p:cNvPr id="134" name="Line 19"/>
          <p:cNvSpPr>
            <a:spLocks noChangeShapeType="1"/>
          </p:cNvSpPr>
          <p:nvPr/>
        </p:nvSpPr>
        <p:spPr bwMode="auto">
          <a:xfrm flipH="1">
            <a:off x="2957885" y="2274590"/>
            <a:ext cx="4762" cy="83037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35" name="Line 27"/>
          <p:cNvSpPr>
            <a:spLocks noChangeShapeType="1"/>
          </p:cNvSpPr>
          <p:nvPr/>
        </p:nvSpPr>
        <p:spPr bwMode="auto">
          <a:xfrm>
            <a:off x="2959472" y="3703340"/>
            <a:ext cx="1588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36" name="Rectangle 44"/>
          <p:cNvSpPr>
            <a:spLocks noChangeArrowheads="1"/>
          </p:cNvSpPr>
          <p:nvPr/>
        </p:nvSpPr>
        <p:spPr bwMode="auto">
          <a:xfrm>
            <a:off x="2183904" y="4160540"/>
            <a:ext cx="1524000" cy="34290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c[1]</a:t>
            </a:r>
          </a:p>
        </p:txBody>
      </p:sp>
      <p:cxnSp>
        <p:nvCxnSpPr>
          <p:cNvPr id="137" name="Connettore 2 45"/>
          <p:cNvCxnSpPr>
            <a:cxnSpLocks noChangeShapeType="1"/>
          </p:cNvCxnSpPr>
          <p:nvPr/>
        </p:nvCxnSpPr>
        <p:spPr bwMode="auto">
          <a:xfrm>
            <a:off x="2349079" y="3622378"/>
            <a:ext cx="144462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8" name="CasellaDiTesto 46"/>
          <p:cNvSpPr txBox="1">
            <a:spLocks noChangeArrowheads="1"/>
          </p:cNvSpPr>
          <p:nvPr/>
        </p:nvSpPr>
        <p:spPr bwMode="auto">
          <a:xfrm>
            <a:off x="2109366" y="3406478"/>
            <a:ext cx="3111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K</a:t>
            </a:r>
          </a:p>
        </p:txBody>
      </p:sp>
      <p:sp>
        <p:nvSpPr>
          <p:cNvPr id="139" name="Rectangle 5"/>
          <p:cNvSpPr>
            <a:spLocks noChangeArrowheads="1"/>
          </p:cNvSpPr>
          <p:nvPr/>
        </p:nvSpPr>
        <p:spPr bwMode="auto">
          <a:xfrm>
            <a:off x="4087242" y="3074690"/>
            <a:ext cx="914400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140" name="Rectangle 10"/>
          <p:cNvSpPr>
            <a:spLocks noChangeArrowheads="1"/>
          </p:cNvSpPr>
          <p:nvPr/>
        </p:nvSpPr>
        <p:spPr bwMode="auto">
          <a:xfrm>
            <a:off x="3782442" y="1926010"/>
            <a:ext cx="1524000" cy="34858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m[2]</a:t>
            </a:r>
          </a:p>
        </p:txBody>
      </p:sp>
      <p:sp>
        <p:nvSpPr>
          <p:cNvPr id="141" name="Line 19"/>
          <p:cNvSpPr>
            <a:spLocks noChangeShapeType="1"/>
          </p:cNvSpPr>
          <p:nvPr/>
        </p:nvSpPr>
        <p:spPr bwMode="auto">
          <a:xfrm flipH="1">
            <a:off x="4556423" y="2274590"/>
            <a:ext cx="4762" cy="83037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42" name="Line 27"/>
          <p:cNvSpPr>
            <a:spLocks noChangeShapeType="1"/>
          </p:cNvSpPr>
          <p:nvPr/>
        </p:nvSpPr>
        <p:spPr bwMode="auto">
          <a:xfrm>
            <a:off x="4558010" y="3703340"/>
            <a:ext cx="1588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43" name="Rectangle 44"/>
          <p:cNvSpPr>
            <a:spLocks noChangeArrowheads="1"/>
          </p:cNvSpPr>
          <p:nvPr/>
        </p:nvSpPr>
        <p:spPr bwMode="auto">
          <a:xfrm>
            <a:off x="3782442" y="4160540"/>
            <a:ext cx="1524000" cy="34290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c[2]</a:t>
            </a:r>
          </a:p>
        </p:txBody>
      </p:sp>
      <p:cxnSp>
        <p:nvCxnSpPr>
          <p:cNvPr id="144" name="Connettore 2 45"/>
          <p:cNvCxnSpPr>
            <a:cxnSpLocks noChangeShapeType="1"/>
          </p:cNvCxnSpPr>
          <p:nvPr/>
        </p:nvCxnSpPr>
        <p:spPr bwMode="auto">
          <a:xfrm>
            <a:off x="3947617" y="3622378"/>
            <a:ext cx="144462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5" name="CasellaDiTesto 46"/>
          <p:cNvSpPr txBox="1">
            <a:spLocks noChangeArrowheads="1"/>
          </p:cNvSpPr>
          <p:nvPr/>
        </p:nvSpPr>
        <p:spPr bwMode="auto">
          <a:xfrm>
            <a:off x="3707904" y="3406478"/>
            <a:ext cx="3111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K</a:t>
            </a:r>
          </a:p>
        </p:txBody>
      </p:sp>
      <p:sp>
        <p:nvSpPr>
          <p:cNvPr id="146" name="Rectangle 5"/>
          <p:cNvSpPr>
            <a:spLocks noChangeArrowheads="1"/>
          </p:cNvSpPr>
          <p:nvPr/>
        </p:nvSpPr>
        <p:spPr bwMode="auto">
          <a:xfrm>
            <a:off x="5671418" y="3074690"/>
            <a:ext cx="914400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147" name="Rectangle 10"/>
          <p:cNvSpPr>
            <a:spLocks noChangeArrowheads="1"/>
          </p:cNvSpPr>
          <p:nvPr/>
        </p:nvSpPr>
        <p:spPr bwMode="auto">
          <a:xfrm>
            <a:off x="5366618" y="1926010"/>
            <a:ext cx="1524000" cy="34858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m[3]</a:t>
            </a:r>
          </a:p>
        </p:txBody>
      </p:sp>
      <p:sp>
        <p:nvSpPr>
          <p:cNvPr id="148" name="Line 19"/>
          <p:cNvSpPr>
            <a:spLocks noChangeShapeType="1"/>
          </p:cNvSpPr>
          <p:nvPr/>
        </p:nvSpPr>
        <p:spPr bwMode="auto">
          <a:xfrm flipH="1">
            <a:off x="6140599" y="2274590"/>
            <a:ext cx="4762" cy="83037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49" name="Line 27"/>
          <p:cNvSpPr>
            <a:spLocks noChangeShapeType="1"/>
          </p:cNvSpPr>
          <p:nvPr/>
        </p:nvSpPr>
        <p:spPr bwMode="auto">
          <a:xfrm>
            <a:off x="6142186" y="3703340"/>
            <a:ext cx="1588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0" name="Rectangle 44"/>
          <p:cNvSpPr>
            <a:spLocks noChangeArrowheads="1"/>
          </p:cNvSpPr>
          <p:nvPr/>
        </p:nvSpPr>
        <p:spPr bwMode="auto">
          <a:xfrm>
            <a:off x="5366618" y="4160540"/>
            <a:ext cx="1524000" cy="34290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c[3]</a:t>
            </a:r>
          </a:p>
        </p:txBody>
      </p:sp>
      <p:cxnSp>
        <p:nvCxnSpPr>
          <p:cNvPr id="151" name="Connettore 2 45"/>
          <p:cNvCxnSpPr>
            <a:cxnSpLocks noChangeShapeType="1"/>
          </p:cNvCxnSpPr>
          <p:nvPr/>
        </p:nvCxnSpPr>
        <p:spPr bwMode="auto">
          <a:xfrm>
            <a:off x="5531793" y="3622378"/>
            <a:ext cx="144462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2" name="CasellaDiTesto 46"/>
          <p:cNvSpPr txBox="1">
            <a:spLocks noChangeArrowheads="1"/>
          </p:cNvSpPr>
          <p:nvPr/>
        </p:nvSpPr>
        <p:spPr bwMode="auto">
          <a:xfrm>
            <a:off x="5292080" y="3406478"/>
            <a:ext cx="3111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K</a:t>
            </a:r>
          </a:p>
        </p:txBody>
      </p:sp>
      <p:sp>
        <p:nvSpPr>
          <p:cNvPr id="153" name="Rectangle 5"/>
          <p:cNvSpPr>
            <a:spLocks noChangeArrowheads="1"/>
          </p:cNvSpPr>
          <p:nvPr/>
        </p:nvSpPr>
        <p:spPr bwMode="auto">
          <a:xfrm>
            <a:off x="7255594" y="3065512"/>
            <a:ext cx="914400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154" name="Rectangle 10"/>
          <p:cNvSpPr>
            <a:spLocks noChangeArrowheads="1"/>
          </p:cNvSpPr>
          <p:nvPr/>
        </p:nvSpPr>
        <p:spPr bwMode="auto">
          <a:xfrm>
            <a:off x="6950794" y="1916832"/>
            <a:ext cx="1524000" cy="34858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m[4]</a:t>
            </a:r>
          </a:p>
        </p:txBody>
      </p:sp>
      <p:sp>
        <p:nvSpPr>
          <p:cNvPr id="155" name="Line 19"/>
          <p:cNvSpPr>
            <a:spLocks noChangeShapeType="1"/>
          </p:cNvSpPr>
          <p:nvPr/>
        </p:nvSpPr>
        <p:spPr bwMode="auto">
          <a:xfrm flipH="1">
            <a:off x="7724775" y="2265412"/>
            <a:ext cx="4762" cy="83037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6" name="Line 27"/>
          <p:cNvSpPr>
            <a:spLocks noChangeShapeType="1"/>
          </p:cNvSpPr>
          <p:nvPr/>
        </p:nvSpPr>
        <p:spPr bwMode="auto">
          <a:xfrm>
            <a:off x="7726362" y="3694162"/>
            <a:ext cx="1588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7" name="Rectangle 44"/>
          <p:cNvSpPr>
            <a:spLocks noChangeArrowheads="1"/>
          </p:cNvSpPr>
          <p:nvPr/>
        </p:nvSpPr>
        <p:spPr bwMode="auto">
          <a:xfrm>
            <a:off x="6950794" y="4151362"/>
            <a:ext cx="1524000" cy="34290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c[4]</a:t>
            </a:r>
          </a:p>
        </p:txBody>
      </p:sp>
      <p:cxnSp>
        <p:nvCxnSpPr>
          <p:cNvPr id="158" name="Connettore 2 45"/>
          <p:cNvCxnSpPr>
            <a:cxnSpLocks noChangeShapeType="1"/>
          </p:cNvCxnSpPr>
          <p:nvPr/>
        </p:nvCxnSpPr>
        <p:spPr bwMode="auto">
          <a:xfrm>
            <a:off x="7115969" y="3613200"/>
            <a:ext cx="144462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9" name="CasellaDiTesto 46"/>
          <p:cNvSpPr txBox="1">
            <a:spLocks noChangeArrowheads="1"/>
          </p:cNvSpPr>
          <p:nvPr/>
        </p:nvSpPr>
        <p:spPr bwMode="auto">
          <a:xfrm>
            <a:off x="6876256" y="3397300"/>
            <a:ext cx="3111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K</a:t>
            </a:r>
          </a:p>
        </p:txBody>
      </p:sp>
      <p:sp>
        <p:nvSpPr>
          <p:cNvPr id="161" name="CasellaDiTesto 160"/>
          <p:cNvSpPr txBox="1"/>
          <p:nvPr/>
        </p:nvSpPr>
        <p:spPr>
          <a:xfrm>
            <a:off x="2375756" y="1484784"/>
            <a:ext cx="42450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 err="1"/>
              <a:t>Plaintext</a:t>
            </a:r>
            <a:r>
              <a:rPr lang="it-IT" sz="2000" b="1" dirty="0"/>
              <a:t> </a:t>
            </a:r>
            <a:r>
              <a:rPr lang="it-IT" sz="2000" b="1" dirty="0" err="1"/>
              <a:t>message</a:t>
            </a:r>
            <a:r>
              <a:rPr lang="it-IT" sz="2000" b="1" dirty="0"/>
              <a:t> split </a:t>
            </a:r>
            <a:r>
              <a:rPr lang="it-IT" sz="2000" b="1" dirty="0" err="1"/>
              <a:t>into</a:t>
            </a:r>
            <a:r>
              <a:rPr lang="it-IT" sz="2000" b="1" dirty="0"/>
              <a:t> n bit </a:t>
            </a:r>
            <a:r>
              <a:rPr lang="it-IT" sz="2000" b="1" dirty="0" err="1"/>
              <a:t>chunks</a:t>
            </a:r>
            <a:endParaRPr lang="it-IT" sz="2000" b="1" dirty="0"/>
          </a:p>
        </p:txBody>
      </p:sp>
      <p:sp>
        <p:nvSpPr>
          <p:cNvPr id="164" name="CasellaDiTesto 163"/>
          <p:cNvSpPr txBox="1"/>
          <p:nvPr/>
        </p:nvSpPr>
        <p:spPr>
          <a:xfrm>
            <a:off x="35496" y="4833156"/>
            <a:ext cx="9147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 err="1"/>
              <a:t>Independent</a:t>
            </a:r>
            <a:r>
              <a:rPr lang="it-IT" sz="2400" b="1" dirty="0"/>
              <a:t> </a:t>
            </a:r>
            <a:r>
              <a:rPr lang="it-IT" sz="2400" b="1" dirty="0" err="1"/>
              <a:t>encryption</a:t>
            </a:r>
            <a:r>
              <a:rPr lang="it-IT" sz="2400" b="1" dirty="0"/>
              <a:t> of </a:t>
            </a:r>
            <a:r>
              <a:rPr lang="it-IT" sz="2400" b="1" dirty="0" err="1"/>
              <a:t>each</a:t>
            </a:r>
            <a:r>
              <a:rPr lang="it-IT" sz="2400" b="1" dirty="0"/>
              <a:t> </a:t>
            </a:r>
            <a:r>
              <a:rPr lang="it-IT" sz="2400" b="1" dirty="0" err="1"/>
              <a:t>block</a:t>
            </a:r>
            <a:r>
              <a:rPr lang="it-IT" sz="2400" b="1" dirty="0"/>
              <a:t> = Electronic Code Book (ECB Mode)</a:t>
            </a:r>
          </a:p>
        </p:txBody>
      </p:sp>
    </p:spTree>
    <p:extLst>
      <p:ext uri="{BB962C8B-B14F-4D97-AF65-F5344CB8AC3E}">
        <p14:creationId xmlns:p14="http://schemas.microsoft.com/office/powerpoint/2010/main" val="3993060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51520" y="367444"/>
            <a:ext cx="8496944" cy="649288"/>
          </a:xfrm>
        </p:spPr>
        <p:txBody>
          <a:bodyPr/>
          <a:lstStyle/>
          <a:p>
            <a:r>
              <a:rPr lang="it-IT" dirty="0" err="1"/>
              <a:t>Problem</a:t>
            </a:r>
            <a:r>
              <a:rPr lang="it-IT" dirty="0"/>
              <a:t> 1</a:t>
            </a:r>
            <a:br>
              <a:rPr lang="it-IT" dirty="0"/>
            </a:br>
            <a:r>
              <a:rPr lang="it-IT" dirty="0" err="1"/>
              <a:t>Plaintext</a:t>
            </a:r>
            <a:r>
              <a:rPr lang="it-IT" dirty="0"/>
              <a:t> </a:t>
            </a:r>
            <a:r>
              <a:rPr lang="it-IT" dirty="0" err="1"/>
              <a:t>longer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block</a:t>
            </a:r>
            <a:r>
              <a:rPr lang="it-IT" dirty="0"/>
              <a:t> </a:t>
            </a:r>
            <a:r>
              <a:rPr lang="it-IT" dirty="0" err="1"/>
              <a:t>size</a:t>
            </a:r>
            <a:r>
              <a:rPr lang="it-IT" dirty="0"/>
              <a:t>?</a:t>
            </a:r>
          </a:p>
        </p:txBody>
      </p:sp>
      <p:sp>
        <p:nvSpPr>
          <p:cNvPr id="92" name="Rectangle 5"/>
          <p:cNvSpPr>
            <a:spLocks noChangeArrowheads="1"/>
          </p:cNvSpPr>
          <p:nvPr/>
        </p:nvSpPr>
        <p:spPr bwMode="auto">
          <a:xfrm>
            <a:off x="882886" y="3074690"/>
            <a:ext cx="914400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95" name="Rectangle 10"/>
          <p:cNvSpPr>
            <a:spLocks noChangeArrowheads="1"/>
          </p:cNvSpPr>
          <p:nvPr/>
        </p:nvSpPr>
        <p:spPr bwMode="auto">
          <a:xfrm>
            <a:off x="578086" y="1926010"/>
            <a:ext cx="1524000" cy="34858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C I A O</a:t>
            </a:r>
          </a:p>
        </p:txBody>
      </p:sp>
      <p:sp>
        <p:nvSpPr>
          <p:cNvPr id="102" name="Line 19"/>
          <p:cNvSpPr>
            <a:spLocks noChangeShapeType="1"/>
          </p:cNvSpPr>
          <p:nvPr/>
        </p:nvSpPr>
        <p:spPr bwMode="auto">
          <a:xfrm flipH="1">
            <a:off x="1352067" y="2274590"/>
            <a:ext cx="4762" cy="83037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08" name="Line 27"/>
          <p:cNvSpPr>
            <a:spLocks noChangeShapeType="1"/>
          </p:cNvSpPr>
          <p:nvPr/>
        </p:nvSpPr>
        <p:spPr bwMode="auto">
          <a:xfrm>
            <a:off x="1353654" y="3703340"/>
            <a:ext cx="1588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19" name="Rectangle 44"/>
          <p:cNvSpPr>
            <a:spLocks noChangeArrowheads="1"/>
          </p:cNvSpPr>
          <p:nvPr/>
        </p:nvSpPr>
        <p:spPr bwMode="auto">
          <a:xfrm>
            <a:off x="578086" y="4160540"/>
            <a:ext cx="1524000" cy="34290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F 1 4 5</a:t>
            </a:r>
          </a:p>
        </p:txBody>
      </p:sp>
      <p:cxnSp>
        <p:nvCxnSpPr>
          <p:cNvPr id="125" name="Connettore 2 45"/>
          <p:cNvCxnSpPr>
            <a:cxnSpLocks noChangeShapeType="1"/>
          </p:cNvCxnSpPr>
          <p:nvPr/>
        </p:nvCxnSpPr>
        <p:spPr bwMode="auto">
          <a:xfrm>
            <a:off x="743261" y="3622378"/>
            <a:ext cx="144462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6" name="CasellaDiTesto 46"/>
          <p:cNvSpPr txBox="1">
            <a:spLocks noChangeArrowheads="1"/>
          </p:cNvSpPr>
          <p:nvPr/>
        </p:nvSpPr>
        <p:spPr bwMode="auto">
          <a:xfrm>
            <a:off x="503548" y="3406478"/>
            <a:ext cx="3111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K</a:t>
            </a:r>
          </a:p>
        </p:txBody>
      </p:sp>
      <p:sp>
        <p:nvSpPr>
          <p:cNvPr id="132" name="Rectangle 5"/>
          <p:cNvSpPr>
            <a:spLocks noChangeArrowheads="1"/>
          </p:cNvSpPr>
          <p:nvPr/>
        </p:nvSpPr>
        <p:spPr bwMode="auto">
          <a:xfrm>
            <a:off x="2488704" y="3074690"/>
            <a:ext cx="914400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133" name="Rectangle 10"/>
          <p:cNvSpPr>
            <a:spLocks noChangeArrowheads="1"/>
          </p:cNvSpPr>
          <p:nvPr/>
        </p:nvSpPr>
        <p:spPr bwMode="auto">
          <a:xfrm>
            <a:off x="2183904" y="1926010"/>
            <a:ext cx="1524000" cy="34858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C O M E</a:t>
            </a:r>
          </a:p>
        </p:txBody>
      </p:sp>
      <p:sp>
        <p:nvSpPr>
          <p:cNvPr id="134" name="Line 19"/>
          <p:cNvSpPr>
            <a:spLocks noChangeShapeType="1"/>
          </p:cNvSpPr>
          <p:nvPr/>
        </p:nvSpPr>
        <p:spPr bwMode="auto">
          <a:xfrm flipH="1">
            <a:off x="2957885" y="2274590"/>
            <a:ext cx="4762" cy="83037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35" name="Line 27"/>
          <p:cNvSpPr>
            <a:spLocks noChangeShapeType="1"/>
          </p:cNvSpPr>
          <p:nvPr/>
        </p:nvSpPr>
        <p:spPr bwMode="auto">
          <a:xfrm>
            <a:off x="2959472" y="3703340"/>
            <a:ext cx="1588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36" name="Rectangle 44"/>
          <p:cNvSpPr>
            <a:spLocks noChangeArrowheads="1"/>
          </p:cNvSpPr>
          <p:nvPr/>
        </p:nvSpPr>
        <p:spPr bwMode="auto">
          <a:xfrm>
            <a:off x="2183904" y="4160540"/>
            <a:ext cx="1524000" cy="34290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3 9 B 7</a:t>
            </a:r>
          </a:p>
        </p:txBody>
      </p:sp>
      <p:cxnSp>
        <p:nvCxnSpPr>
          <p:cNvPr id="137" name="Connettore 2 45"/>
          <p:cNvCxnSpPr>
            <a:cxnSpLocks noChangeShapeType="1"/>
          </p:cNvCxnSpPr>
          <p:nvPr/>
        </p:nvCxnSpPr>
        <p:spPr bwMode="auto">
          <a:xfrm>
            <a:off x="2349079" y="3622378"/>
            <a:ext cx="144462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8" name="CasellaDiTesto 46"/>
          <p:cNvSpPr txBox="1">
            <a:spLocks noChangeArrowheads="1"/>
          </p:cNvSpPr>
          <p:nvPr/>
        </p:nvSpPr>
        <p:spPr bwMode="auto">
          <a:xfrm>
            <a:off x="2109366" y="3406478"/>
            <a:ext cx="3111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K</a:t>
            </a:r>
          </a:p>
        </p:txBody>
      </p:sp>
      <p:sp>
        <p:nvSpPr>
          <p:cNvPr id="139" name="Rectangle 5"/>
          <p:cNvSpPr>
            <a:spLocks noChangeArrowheads="1"/>
          </p:cNvSpPr>
          <p:nvPr/>
        </p:nvSpPr>
        <p:spPr bwMode="auto">
          <a:xfrm>
            <a:off x="4087242" y="3074690"/>
            <a:ext cx="914400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140" name="Rectangle 10"/>
          <p:cNvSpPr>
            <a:spLocks noChangeArrowheads="1"/>
          </p:cNvSpPr>
          <p:nvPr/>
        </p:nvSpPr>
        <p:spPr bwMode="auto">
          <a:xfrm>
            <a:off x="3782442" y="1926010"/>
            <a:ext cx="1524000" cy="34858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S T A I</a:t>
            </a:r>
          </a:p>
        </p:txBody>
      </p:sp>
      <p:sp>
        <p:nvSpPr>
          <p:cNvPr id="141" name="Line 19"/>
          <p:cNvSpPr>
            <a:spLocks noChangeShapeType="1"/>
          </p:cNvSpPr>
          <p:nvPr/>
        </p:nvSpPr>
        <p:spPr bwMode="auto">
          <a:xfrm flipH="1">
            <a:off x="4556423" y="2274590"/>
            <a:ext cx="4762" cy="83037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42" name="Line 27"/>
          <p:cNvSpPr>
            <a:spLocks noChangeShapeType="1"/>
          </p:cNvSpPr>
          <p:nvPr/>
        </p:nvSpPr>
        <p:spPr bwMode="auto">
          <a:xfrm>
            <a:off x="4558010" y="3703340"/>
            <a:ext cx="1588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43" name="Rectangle 44"/>
          <p:cNvSpPr>
            <a:spLocks noChangeArrowheads="1"/>
          </p:cNvSpPr>
          <p:nvPr/>
        </p:nvSpPr>
        <p:spPr bwMode="auto">
          <a:xfrm>
            <a:off x="3782442" y="4160540"/>
            <a:ext cx="1524000" cy="34290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5 4 D 1</a:t>
            </a:r>
          </a:p>
        </p:txBody>
      </p:sp>
      <p:cxnSp>
        <p:nvCxnSpPr>
          <p:cNvPr id="144" name="Connettore 2 45"/>
          <p:cNvCxnSpPr>
            <a:cxnSpLocks noChangeShapeType="1"/>
          </p:cNvCxnSpPr>
          <p:nvPr/>
        </p:nvCxnSpPr>
        <p:spPr bwMode="auto">
          <a:xfrm>
            <a:off x="3947617" y="3622378"/>
            <a:ext cx="144462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5" name="CasellaDiTesto 46"/>
          <p:cNvSpPr txBox="1">
            <a:spLocks noChangeArrowheads="1"/>
          </p:cNvSpPr>
          <p:nvPr/>
        </p:nvSpPr>
        <p:spPr bwMode="auto">
          <a:xfrm>
            <a:off x="3707904" y="3406478"/>
            <a:ext cx="3111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K</a:t>
            </a:r>
          </a:p>
        </p:txBody>
      </p:sp>
      <p:sp>
        <p:nvSpPr>
          <p:cNvPr id="146" name="Rectangle 5"/>
          <p:cNvSpPr>
            <a:spLocks noChangeArrowheads="1"/>
          </p:cNvSpPr>
          <p:nvPr/>
        </p:nvSpPr>
        <p:spPr bwMode="auto">
          <a:xfrm>
            <a:off x="5671418" y="3074690"/>
            <a:ext cx="914400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147" name="Rectangle 10"/>
          <p:cNvSpPr>
            <a:spLocks noChangeArrowheads="1"/>
          </p:cNvSpPr>
          <p:nvPr/>
        </p:nvSpPr>
        <p:spPr bwMode="auto">
          <a:xfrm>
            <a:off x="5366618" y="1926010"/>
            <a:ext cx="1524000" cy="34858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C O M E</a:t>
            </a:r>
          </a:p>
        </p:txBody>
      </p:sp>
      <p:sp>
        <p:nvSpPr>
          <p:cNvPr id="148" name="Line 19"/>
          <p:cNvSpPr>
            <a:spLocks noChangeShapeType="1"/>
          </p:cNvSpPr>
          <p:nvPr/>
        </p:nvSpPr>
        <p:spPr bwMode="auto">
          <a:xfrm flipH="1">
            <a:off x="6140599" y="2274590"/>
            <a:ext cx="4762" cy="83037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49" name="Line 27"/>
          <p:cNvSpPr>
            <a:spLocks noChangeShapeType="1"/>
          </p:cNvSpPr>
          <p:nvPr/>
        </p:nvSpPr>
        <p:spPr bwMode="auto">
          <a:xfrm>
            <a:off x="6142186" y="3703340"/>
            <a:ext cx="1588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0" name="Rectangle 44"/>
          <p:cNvSpPr>
            <a:spLocks noChangeArrowheads="1"/>
          </p:cNvSpPr>
          <p:nvPr/>
        </p:nvSpPr>
        <p:spPr bwMode="auto">
          <a:xfrm>
            <a:off x="5366618" y="4160540"/>
            <a:ext cx="1524000" cy="34290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3 9 B 7</a:t>
            </a:r>
          </a:p>
        </p:txBody>
      </p:sp>
      <p:cxnSp>
        <p:nvCxnSpPr>
          <p:cNvPr id="151" name="Connettore 2 45"/>
          <p:cNvCxnSpPr>
            <a:cxnSpLocks noChangeShapeType="1"/>
          </p:cNvCxnSpPr>
          <p:nvPr/>
        </p:nvCxnSpPr>
        <p:spPr bwMode="auto">
          <a:xfrm>
            <a:off x="5531793" y="3622378"/>
            <a:ext cx="144462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2" name="CasellaDiTesto 46"/>
          <p:cNvSpPr txBox="1">
            <a:spLocks noChangeArrowheads="1"/>
          </p:cNvSpPr>
          <p:nvPr/>
        </p:nvSpPr>
        <p:spPr bwMode="auto">
          <a:xfrm>
            <a:off x="5292080" y="3406478"/>
            <a:ext cx="3111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K</a:t>
            </a:r>
          </a:p>
        </p:txBody>
      </p:sp>
      <p:sp>
        <p:nvSpPr>
          <p:cNvPr id="153" name="Rectangle 5"/>
          <p:cNvSpPr>
            <a:spLocks noChangeArrowheads="1"/>
          </p:cNvSpPr>
          <p:nvPr/>
        </p:nvSpPr>
        <p:spPr bwMode="auto">
          <a:xfrm>
            <a:off x="7255594" y="3065512"/>
            <a:ext cx="914400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154" name="Rectangle 10"/>
          <p:cNvSpPr>
            <a:spLocks noChangeArrowheads="1"/>
          </p:cNvSpPr>
          <p:nvPr/>
        </p:nvSpPr>
        <p:spPr bwMode="auto">
          <a:xfrm>
            <a:off x="6950794" y="1916832"/>
            <a:ext cx="1524000" cy="34858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V A ? ?</a:t>
            </a:r>
          </a:p>
        </p:txBody>
      </p:sp>
      <p:sp>
        <p:nvSpPr>
          <p:cNvPr id="155" name="Line 19"/>
          <p:cNvSpPr>
            <a:spLocks noChangeShapeType="1"/>
          </p:cNvSpPr>
          <p:nvPr/>
        </p:nvSpPr>
        <p:spPr bwMode="auto">
          <a:xfrm flipH="1">
            <a:off x="7724775" y="2265412"/>
            <a:ext cx="4762" cy="83037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6" name="Line 27"/>
          <p:cNvSpPr>
            <a:spLocks noChangeShapeType="1"/>
          </p:cNvSpPr>
          <p:nvPr/>
        </p:nvSpPr>
        <p:spPr bwMode="auto">
          <a:xfrm>
            <a:off x="7726362" y="3694162"/>
            <a:ext cx="1588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7" name="Rectangle 44"/>
          <p:cNvSpPr>
            <a:spLocks noChangeArrowheads="1"/>
          </p:cNvSpPr>
          <p:nvPr/>
        </p:nvSpPr>
        <p:spPr bwMode="auto">
          <a:xfrm>
            <a:off x="6950794" y="4151362"/>
            <a:ext cx="1524000" cy="34290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2 4 7 A</a:t>
            </a:r>
          </a:p>
        </p:txBody>
      </p:sp>
      <p:cxnSp>
        <p:nvCxnSpPr>
          <p:cNvPr id="158" name="Connettore 2 45"/>
          <p:cNvCxnSpPr>
            <a:cxnSpLocks noChangeShapeType="1"/>
          </p:cNvCxnSpPr>
          <p:nvPr/>
        </p:nvCxnSpPr>
        <p:spPr bwMode="auto">
          <a:xfrm>
            <a:off x="7115969" y="3613200"/>
            <a:ext cx="144462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9" name="CasellaDiTesto 46"/>
          <p:cNvSpPr txBox="1">
            <a:spLocks noChangeArrowheads="1"/>
          </p:cNvSpPr>
          <p:nvPr/>
        </p:nvSpPr>
        <p:spPr bwMode="auto">
          <a:xfrm>
            <a:off x="6876256" y="3397300"/>
            <a:ext cx="3111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K</a:t>
            </a:r>
          </a:p>
        </p:txBody>
      </p:sp>
      <p:sp>
        <p:nvSpPr>
          <p:cNvPr id="161" name="CasellaDiTesto 160"/>
          <p:cNvSpPr txBox="1"/>
          <p:nvPr/>
        </p:nvSpPr>
        <p:spPr>
          <a:xfrm>
            <a:off x="2375756" y="1484784"/>
            <a:ext cx="42450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 err="1"/>
              <a:t>Plaintext</a:t>
            </a:r>
            <a:r>
              <a:rPr lang="it-IT" sz="2000" b="1" dirty="0"/>
              <a:t> </a:t>
            </a:r>
            <a:r>
              <a:rPr lang="it-IT" sz="2000" b="1" dirty="0" err="1"/>
              <a:t>message</a:t>
            </a:r>
            <a:r>
              <a:rPr lang="it-IT" sz="2000" b="1" dirty="0"/>
              <a:t> split </a:t>
            </a:r>
            <a:r>
              <a:rPr lang="it-IT" sz="2000" b="1" dirty="0" err="1"/>
              <a:t>into</a:t>
            </a:r>
            <a:r>
              <a:rPr lang="it-IT" sz="2000" b="1" dirty="0"/>
              <a:t> n bit </a:t>
            </a:r>
            <a:r>
              <a:rPr lang="it-IT" sz="2000" b="1" dirty="0" err="1"/>
              <a:t>chunks</a:t>
            </a:r>
            <a:endParaRPr lang="it-IT" sz="2000" b="1" dirty="0"/>
          </a:p>
        </p:txBody>
      </p:sp>
      <p:sp>
        <p:nvSpPr>
          <p:cNvPr id="164" name="CasellaDiTesto 163"/>
          <p:cNvSpPr txBox="1"/>
          <p:nvPr/>
        </p:nvSpPr>
        <p:spPr>
          <a:xfrm>
            <a:off x="35496" y="4833156"/>
            <a:ext cx="9147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 err="1"/>
              <a:t>Independent</a:t>
            </a:r>
            <a:r>
              <a:rPr lang="it-IT" sz="2400" b="1" dirty="0"/>
              <a:t> </a:t>
            </a:r>
            <a:r>
              <a:rPr lang="it-IT" sz="2400" b="1" dirty="0" err="1"/>
              <a:t>encryption</a:t>
            </a:r>
            <a:r>
              <a:rPr lang="it-IT" sz="2400" b="1" dirty="0"/>
              <a:t> of </a:t>
            </a:r>
            <a:r>
              <a:rPr lang="it-IT" sz="2400" b="1" dirty="0" err="1"/>
              <a:t>each</a:t>
            </a:r>
            <a:r>
              <a:rPr lang="it-IT" sz="2400" b="1" dirty="0"/>
              <a:t> </a:t>
            </a:r>
            <a:r>
              <a:rPr lang="it-IT" sz="2400" b="1" dirty="0" err="1"/>
              <a:t>block</a:t>
            </a:r>
            <a:r>
              <a:rPr lang="it-IT" sz="2400" b="1" dirty="0"/>
              <a:t> = Electronic Code Book (ECB Mode)</a:t>
            </a:r>
          </a:p>
        </p:txBody>
      </p:sp>
      <p:sp>
        <p:nvSpPr>
          <p:cNvPr id="40" name="CasellaDiTesto 39"/>
          <p:cNvSpPr txBox="1"/>
          <p:nvPr/>
        </p:nvSpPr>
        <p:spPr>
          <a:xfrm>
            <a:off x="620534" y="5227456"/>
            <a:ext cx="6075702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400" b="1" dirty="0" err="1">
                <a:solidFill>
                  <a:srgbClr val="FF0000"/>
                </a:solidFill>
              </a:rPr>
              <a:t>Same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plaintext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block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it-IT" sz="2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Same</a:t>
            </a:r>
            <a:r>
              <a:rPr lang="it-IT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it-IT" sz="2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ciphertext</a:t>
            </a:r>
            <a:r>
              <a:rPr lang="it-IT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it-IT" sz="2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block</a:t>
            </a:r>
            <a:r>
              <a:rPr lang="it-IT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!!!</a:t>
            </a:r>
          </a:p>
          <a:p>
            <a:pPr algn="ctr"/>
            <a:r>
              <a:rPr lang="it-IT" sz="2400" b="1" dirty="0">
                <a:solidFill>
                  <a:srgbClr val="FF0000"/>
                </a:solidFill>
              </a:rPr>
              <a:t>No </a:t>
            </a:r>
            <a:r>
              <a:rPr lang="it-IT" sz="2400" b="1" dirty="0" err="1">
                <a:solidFill>
                  <a:srgbClr val="FF0000"/>
                </a:solidFill>
              </a:rPr>
              <a:t>semantic</a:t>
            </a:r>
            <a:r>
              <a:rPr lang="it-IT" sz="2400" b="1" dirty="0">
                <a:solidFill>
                  <a:srgbClr val="FF0000"/>
                </a:solidFill>
              </a:rPr>
              <a:t> security </a:t>
            </a:r>
            <a:r>
              <a:rPr lang="it-IT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it-IT" sz="2400" b="1" dirty="0" err="1">
                <a:solidFill>
                  <a:srgbClr val="FF0000"/>
                </a:solidFill>
              </a:rPr>
              <a:t>Trivial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Cryptoanalysis</a:t>
            </a:r>
            <a:endParaRPr lang="it-IT" sz="2400" b="1" dirty="0">
              <a:solidFill>
                <a:srgbClr val="FF0000"/>
              </a:solidFill>
            </a:endParaRPr>
          </a:p>
          <a:p>
            <a:pPr algn="ctr"/>
            <a:r>
              <a:rPr lang="it-IT" sz="2800" b="1" dirty="0"/>
              <a:t>REMEMBER: </a:t>
            </a:r>
            <a:r>
              <a:rPr lang="it-IT" sz="2800" b="1" dirty="0" err="1"/>
              <a:t>never</a:t>
            </a:r>
            <a:r>
              <a:rPr lang="it-IT" sz="2800" b="1" dirty="0"/>
              <a:t>, NEVER use ECB!!! </a:t>
            </a:r>
          </a:p>
        </p:txBody>
      </p:sp>
      <p:pic>
        <p:nvPicPr>
          <p:cNvPr id="15364" name="Picture 4" descr="Risultato immagini per never do this!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228" y="5337212"/>
            <a:ext cx="2502959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0260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8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9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0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3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4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5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 animBg="1"/>
      <p:bldP spid="136" grpId="0" animBg="1"/>
      <p:bldP spid="147" grpId="0" animBg="1"/>
      <p:bldP spid="150" grpId="0" animBg="1"/>
      <p:bldP spid="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51520" y="367444"/>
            <a:ext cx="8496944" cy="649288"/>
          </a:xfrm>
        </p:spPr>
        <p:txBody>
          <a:bodyPr/>
          <a:lstStyle/>
          <a:p>
            <a:r>
              <a:rPr lang="it-IT" dirty="0" err="1"/>
              <a:t>Problem</a:t>
            </a:r>
            <a:r>
              <a:rPr lang="it-IT" dirty="0"/>
              <a:t> 2</a:t>
            </a:r>
            <a:br>
              <a:rPr lang="it-IT" dirty="0"/>
            </a:br>
            <a:r>
              <a:rPr lang="it-IT" dirty="0" err="1"/>
              <a:t>Encrypt</a:t>
            </a:r>
            <a:r>
              <a:rPr lang="it-IT" dirty="0"/>
              <a:t> </a:t>
            </a:r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message</a:t>
            </a:r>
            <a:r>
              <a:rPr lang="it-IT" dirty="0"/>
              <a:t> </a:t>
            </a:r>
            <a:r>
              <a:rPr lang="it-IT" dirty="0" err="1"/>
              <a:t>twice</a:t>
            </a:r>
            <a:r>
              <a:rPr lang="it-IT" dirty="0"/>
              <a:t>?</a:t>
            </a:r>
          </a:p>
        </p:txBody>
      </p:sp>
      <p:sp>
        <p:nvSpPr>
          <p:cNvPr id="40" name="Rectangle 5"/>
          <p:cNvSpPr>
            <a:spLocks noChangeArrowheads="1"/>
          </p:cNvSpPr>
          <p:nvPr/>
        </p:nvSpPr>
        <p:spPr bwMode="auto">
          <a:xfrm>
            <a:off x="3962462" y="1919163"/>
            <a:ext cx="707465" cy="3406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41" name="Rectangle 10"/>
          <p:cNvSpPr>
            <a:spLocks noChangeArrowheads="1"/>
          </p:cNvSpPr>
          <p:nvPr/>
        </p:nvSpPr>
        <p:spPr bwMode="auto">
          <a:xfrm>
            <a:off x="1331640" y="1915182"/>
            <a:ext cx="1524000" cy="34858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CIAOFRA!</a:t>
            </a:r>
          </a:p>
        </p:txBody>
      </p:sp>
      <p:sp>
        <p:nvSpPr>
          <p:cNvPr id="42" name="Line 19"/>
          <p:cNvSpPr>
            <a:spLocks noChangeShapeType="1"/>
          </p:cNvSpPr>
          <p:nvPr/>
        </p:nvSpPr>
        <p:spPr bwMode="auto">
          <a:xfrm>
            <a:off x="2870002" y="2089472"/>
            <a:ext cx="1079845" cy="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3" name="Line 27"/>
          <p:cNvSpPr>
            <a:spLocks noChangeShapeType="1"/>
          </p:cNvSpPr>
          <p:nvPr/>
        </p:nvSpPr>
        <p:spPr bwMode="auto">
          <a:xfrm flipH="1">
            <a:off x="4103948" y="1664804"/>
            <a:ext cx="12402" cy="22748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4" name="Rectangle 44"/>
          <p:cNvSpPr>
            <a:spLocks noChangeArrowheads="1"/>
          </p:cNvSpPr>
          <p:nvPr/>
        </p:nvSpPr>
        <p:spPr bwMode="auto">
          <a:xfrm>
            <a:off x="5172236" y="1918022"/>
            <a:ext cx="1524000" cy="34290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B335F14D</a:t>
            </a:r>
          </a:p>
        </p:txBody>
      </p:sp>
      <p:sp>
        <p:nvSpPr>
          <p:cNvPr id="46" name="CasellaDiTesto 46"/>
          <p:cNvSpPr txBox="1">
            <a:spLocks noChangeArrowheads="1"/>
          </p:cNvSpPr>
          <p:nvPr/>
        </p:nvSpPr>
        <p:spPr bwMode="auto">
          <a:xfrm>
            <a:off x="3948373" y="1350148"/>
            <a:ext cx="3111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K</a:t>
            </a:r>
          </a:p>
        </p:txBody>
      </p:sp>
      <p:sp>
        <p:nvSpPr>
          <p:cNvPr id="47" name="Line 19"/>
          <p:cNvSpPr>
            <a:spLocks noChangeShapeType="1"/>
          </p:cNvSpPr>
          <p:nvPr/>
        </p:nvSpPr>
        <p:spPr bwMode="auto">
          <a:xfrm>
            <a:off x="4684289" y="2089472"/>
            <a:ext cx="489694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" name="CasellaDiTesto 2"/>
          <p:cNvSpPr txBox="1"/>
          <p:nvPr/>
        </p:nvSpPr>
        <p:spPr>
          <a:xfrm>
            <a:off x="2231740" y="2672916"/>
            <a:ext cx="43540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/>
              <a:t>. . . . . . . . . . . . . . . . . . . . . . . . . .</a:t>
            </a:r>
          </a:p>
        </p:txBody>
      </p:sp>
      <p:sp>
        <p:nvSpPr>
          <p:cNvPr id="56" name="CasellaDiTesto 55"/>
          <p:cNvSpPr txBox="1"/>
          <p:nvPr/>
        </p:nvSpPr>
        <p:spPr>
          <a:xfrm>
            <a:off x="1043616" y="5154287"/>
            <a:ext cx="70401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400" dirty="0" err="1"/>
              <a:t>Same</a:t>
            </a:r>
            <a:r>
              <a:rPr lang="it-IT" sz="2400" dirty="0"/>
              <a:t> </a:t>
            </a:r>
            <a:r>
              <a:rPr lang="it-IT" sz="2400" dirty="0" err="1"/>
              <a:t>problem</a:t>
            </a:r>
            <a:r>
              <a:rPr lang="it-IT" sz="2400" dirty="0"/>
              <a:t> </a:t>
            </a:r>
            <a:r>
              <a:rPr lang="it-IT" sz="2400" dirty="0" err="1"/>
              <a:t>as</a:t>
            </a:r>
            <a:r>
              <a:rPr lang="it-IT" sz="2400" dirty="0"/>
              <a:t> in </a:t>
            </a:r>
            <a:r>
              <a:rPr lang="it-IT" sz="2400" dirty="0" err="1"/>
              <a:t>stream</a:t>
            </a:r>
            <a:r>
              <a:rPr lang="it-IT" sz="2400" dirty="0"/>
              <a:t> </a:t>
            </a:r>
            <a:r>
              <a:rPr lang="it-IT" sz="2400" dirty="0" err="1"/>
              <a:t>ciphers</a:t>
            </a:r>
            <a:r>
              <a:rPr lang="it-IT" sz="2400" dirty="0"/>
              <a:t> </a:t>
            </a:r>
            <a:r>
              <a:rPr lang="it-IT" sz="2400" dirty="0">
                <a:sym typeface="Wingdings" panose="05000000000000000000" pitchFamily="2" charset="2"/>
              </a:rPr>
              <a:t></a:t>
            </a:r>
            <a:r>
              <a:rPr lang="it-IT" sz="2400" dirty="0"/>
              <a:t> </a:t>
            </a:r>
            <a:r>
              <a:rPr lang="it-IT" sz="2400" dirty="0" err="1"/>
              <a:t>same</a:t>
            </a:r>
            <a:r>
              <a:rPr lang="it-IT" sz="2400" dirty="0"/>
              <a:t> idea!</a:t>
            </a:r>
            <a:r>
              <a:rPr lang="it-IT" sz="2400" b="1" dirty="0"/>
              <a:t> </a:t>
            </a:r>
          </a:p>
          <a:p>
            <a:pPr algn="ctr"/>
            <a:r>
              <a:rPr lang="it-IT" sz="2400" b="1" dirty="0">
                <a:solidFill>
                  <a:srgbClr val="FF0000"/>
                </a:solidFill>
              </a:rPr>
              <a:t>A </a:t>
            </a:r>
            <a:r>
              <a:rPr lang="it-IT" sz="2400" b="1" dirty="0" err="1">
                <a:solidFill>
                  <a:srgbClr val="FF0000"/>
                </a:solidFill>
              </a:rPr>
              <a:t>fresh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Initialization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Vector</a:t>
            </a:r>
            <a:r>
              <a:rPr lang="it-IT" sz="2400" b="1" dirty="0">
                <a:solidFill>
                  <a:srgbClr val="FF0000"/>
                </a:solidFill>
              </a:rPr>
              <a:t> (IV) for </a:t>
            </a:r>
            <a:r>
              <a:rPr lang="it-IT" sz="2400" b="1" dirty="0" err="1">
                <a:solidFill>
                  <a:srgbClr val="FF0000"/>
                </a:solidFill>
              </a:rPr>
              <a:t>every</a:t>
            </a:r>
            <a:r>
              <a:rPr lang="it-IT" sz="2400" b="1" dirty="0">
                <a:solidFill>
                  <a:srgbClr val="FF0000"/>
                </a:solidFill>
              </a:rPr>
              <a:t> new </a:t>
            </a:r>
            <a:r>
              <a:rPr lang="it-IT" sz="2400" b="1" dirty="0" err="1">
                <a:solidFill>
                  <a:srgbClr val="FF0000"/>
                </a:solidFill>
              </a:rPr>
              <a:t>encryption</a:t>
            </a:r>
            <a:r>
              <a:rPr lang="it-IT" sz="2400" b="1" dirty="0">
                <a:solidFill>
                  <a:srgbClr val="FF0000"/>
                </a:solidFill>
              </a:rPr>
              <a:t>!</a:t>
            </a:r>
          </a:p>
        </p:txBody>
      </p:sp>
      <p:sp>
        <p:nvSpPr>
          <p:cNvPr id="57" name="Rectangle 5"/>
          <p:cNvSpPr>
            <a:spLocks noChangeArrowheads="1"/>
          </p:cNvSpPr>
          <p:nvPr/>
        </p:nvSpPr>
        <p:spPr bwMode="auto">
          <a:xfrm>
            <a:off x="3962462" y="3840485"/>
            <a:ext cx="707465" cy="3406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58" name="Rectangle 10"/>
          <p:cNvSpPr>
            <a:spLocks noChangeArrowheads="1"/>
          </p:cNvSpPr>
          <p:nvPr/>
        </p:nvSpPr>
        <p:spPr bwMode="auto">
          <a:xfrm>
            <a:off x="1331640" y="3836504"/>
            <a:ext cx="1524000" cy="34858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CIAOFRA!</a:t>
            </a:r>
          </a:p>
        </p:txBody>
      </p:sp>
      <p:sp>
        <p:nvSpPr>
          <p:cNvPr id="59" name="Line 19"/>
          <p:cNvSpPr>
            <a:spLocks noChangeShapeType="1"/>
          </p:cNvSpPr>
          <p:nvPr/>
        </p:nvSpPr>
        <p:spPr bwMode="auto">
          <a:xfrm>
            <a:off x="2870002" y="4010794"/>
            <a:ext cx="1079845" cy="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0" name="Line 27"/>
          <p:cNvSpPr>
            <a:spLocks noChangeShapeType="1"/>
          </p:cNvSpPr>
          <p:nvPr/>
        </p:nvSpPr>
        <p:spPr bwMode="auto">
          <a:xfrm flipH="1">
            <a:off x="4103948" y="3586126"/>
            <a:ext cx="12402" cy="22748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1" name="Rectangle 44"/>
          <p:cNvSpPr>
            <a:spLocks noChangeArrowheads="1"/>
          </p:cNvSpPr>
          <p:nvPr/>
        </p:nvSpPr>
        <p:spPr bwMode="auto">
          <a:xfrm>
            <a:off x="5172236" y="3839344"/>
            <a:ext cx="1524000" cy="34290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B335F14D</a:t>
            </a:r>
          </a:p>
        </p:txBody>
      </p:sp>
      <p:sp>
        <p:nvSpPr>
          <p:cNvPr id="62" name="CasellaDiTesto 46"/>
          <p:cNvSpPr txBox="1">
            <a:spLocks noChangeArrowheads="1"/>
          </p:cNvSpPr>
          <p:nvPr/>
        </p:nvSpPr>
        <p:spPr bwMode="auto">
          <a:xfrm>
            <a:off x="3948373" y="3271470"/>
            <a:ext cx="3111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K</a:t>
            </a:r>
          </a:p>
        </p:txBody>
      </p:sp>
      <p:sp>
        <p:nvSpPr>
          <p:cNvPr id="63" name="Line 19"/>
          <p:cNvSpPr>
            <a:spLocks noChangeShapeType="1"/>
          </p:cNvSpPr>
          <p:nvPr/>
        </p:nvSpPr>
        <p:spPr bwMode="auto">
          <a:xfrm>
            <a:off x="4684289" y="4010794"/>
            <a:ext cx="489694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0" name="CasellaDiTesto 19"/>
          <p:cNvSpPr txBox="1"/>
          <p:nvPr/>
        </p:nvSpPr>
        <p:spPr>
          <a:xfrm>
            <a:off x="1292562" y="4509120"/>
            <a:ext cx="65422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400" b="1" dirty="0"/>
              <a:t>CT = ENC(PT, </a:t>
            </a:r>
            <a:r>
              <a:rPr lang="it-IT" sz="2400" b="1" dirty="0" err="1"/>
              <a:t>key</a:t>
            </a:r>
            <a:r>
              <a:rPr lang="it-IT" sz="2400" b="1" dirty="0"/>
              <a:t>) </a:t>
            </a:r>
            <a:r>
              <a:rPr lang="it-IT" sz="2400" b="1" dirty="0">
                <a:sym typeface="Wingdings" panose="05000000000000000000" pitchFamily="2" charset="2"/>
              </a:rPr>
              <a:t> </a:t>
            </a:r>
            <a:r>
              <a:rPr lang="it-IT" sz="2400" b="1" dirty="0" err="1">
                <a:sym typeface="Wingdings" panose="05000000000000000000" pitchFamily="2" charset="2"/>
              </a:rPr>
              <a:t>same</a:t>
            </a:r>
            <a:r>
              <a:rPr lang="it-IT" sz="2400" b="1" dirty="0">
                <a:sym typeface="Wingdings" panose="05000000000000000000" pitchFamily="2" charset="2"/>
              </a:rPr>
              <a:t> </a:t>
            </a:r>
            <a:r>
              <a:rPr lang="it-IT" sz="2400" b="1" dirty="0" err="1">
                <a:sym typeface="Wingdings" panose="05000000000000000000" pitchFamily="2" charset="2"/>
              </a:rPr>
              <a:t>key</a:t>
            </a:r>
            <a:r>
              <a:rPr lang="it-IT" sz="2400" b="1" dirty="0">
                <a:sym typeface="Wingdings" panose="05000000000000000000" pitchFamily="2" charset="2"/>
              </a:rPr>
              <a:t>, </a:t>
            </a:r>
            <a:r>
              <a:rPr lang="it-IT" sz="2400" b="1" dirty="0" err="1">
                <a:sym typeface="Wingdings" panose="05000000000000000000" pitchFamily="2" charset="2"/>
              </a:rPr>
              <a:t>same</a:t>
            </a:r>
            <a:r>
              <a:rPr lang="it-IT" sz="2400" b="1" dirty="0">
                <a:sym typeface="Wingdings" panose="05000000000000000000" pitchFamily="2" charset="2"/>
              </a:rPr>
              <a:t> PT = </a:t>
            </a:r>
            <a:r>
              <a:rPr lang="it-IT" sz="2400" b="1" dirty="0" err="1">
                <a:sym typeface="Wingdings" panose="05000000000000000000" pitchFamily="2" charset="2"/>
              </a:rPr>
              <a:t>same</a:t>
            </a:r>
            <a:r>
              <a:rPr lang="it-IT" sz="2400" b="1" dirty="0">
                <a:sym typeface="Wingdings" panose="05000000000000000000" pitchFamily="2" charset="2"/>
              </a:rPr>
              <a:t> CT!</a:t>
            </a:r>
            <a:endParaRPr lang="it-IT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1800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6" grpId="0"/>
      <p:bldP spid="57" grpId="0" animBg="1"/>
      <p:bldP spid="58" grpId="0" animBg="1"/>
      <p:bldP spid="59" grpId="0" animBg="1"/>
      <p:bldP spid="60" grpId="0" animBg="1"/>
      <p:bldP spid="61" grpId="0" animBg="1"/>
      <p:bldP spid="62" grpId="0"/>
      <p:bldP spid="63" grpId="0" animBg="1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51520" y="367444"/>
            <a:ext cx="8496944" cy="649288"/>
          </a:xfrm>
        </p:spPr>
        <p:txBody>
          <a:bodyPr/>
          <a:lstStyle/>
          <a:p>
            <a:r>
              <a:rPr lang="it-IT" dirty="0" err="1"/>
              <a:t>Initialization</a:t>
            </a:r>
            <a:r>
              <a:rPr lang="it-IT" dirty="0"/>
              <a:t> </a:t>
            </a:r>
            <a:r>
              <a:rPr lang="it-IT" dirty="0" err="1"/>
              <a:t>Vectors</a:t>
            </a:r>
            <a:r>
              <a:rPr lang="it-IT" dirty="0"/>
              <a:t> in </a:t>
            </a:r>
            <a:br>
              <a:rPr lang="it-IT" dirty="0"/>
            </a:br>
            <a:r>
              <a:rPr lang="it-IT" dirty="0" err="1"/>
              <a:t>block</a:t>
            </a:r>
            <a:r>
              <a:rPr lang="it-IT" dirty="0"/>
              <a:t> </a:t>
            </a:r>
            <a:r>
              <a:rPr lang="it-IT" dirty="0" err="1"/>
              <a:t>ciphers</a:t>
            </a:r>
            <a:endParaRPr lang="it-IT" dirty="0"/>
          </a:p>
        </p:txBody>
      </p:sp>
      <p:sp>
        <p:nvSpPr>
          <p:cNvPr id="40" name="Rectangle 5"/>
          <p:cNvSpPr>
            <a:spLocks noChangeArrowheads="1"/>
          </p:cNvSpPr>
          <p:nvPr/>
        </p:nvSpPr>
        <p:spPr bwMode="auto">
          <a:xfrm>
            <a:off x="5402622" y="2100918"/>
            <a:ext cx="789558" cy="4154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 dirty="0"/>
              <a:t>PRP</a:t>
            </a:r>
            <a:endParaRPr lang="en-US" altLang="it-IT" sz="2400" dirty="0">
              <a:sym typeface="Symbol" pitchFamily="18" charset="2"/>
            </a:endParaRPr>
          </a:p>
        </p:txBody>
      </p:sp>
      <p:sp>
        <p:nvSpPr>
          <p:cNvPr id="41" name="Rectangle 10"/>
          <p:cNvSpPr>
            <a:spLocks noChangeArrowheads="1"/>
          </p:cNvSpPr>
          <p:nvPr/>
        </p:nvSpPr>
        <p:spPr bwMode="auto">
          <a:xfrm>
            <a:off x="2771800" y="2171735"/>
            <a:ext cx="1524000" cy="34858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CIAOFRA!</a:t>
            </a:r>
          </a:p>
        </p:txBody>
      </p:sp>
      <p:sp>
        <p:nvSpPr>
          <p:cNvPr id="42" name="Line 19"/>
          <p:cNvSpPr>
            <a:spLocks noChangeShapeType="1"/>
          </p:cNvSpPr>
          <p:nvPr/>
        </p:nvSpPr>
        <p:spPr bwMode="auto">
          <a:xfrm>
            <a:off x="4310163" y="2346025"/>
            <a:ext cx="40585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3" name="Line 27"/>
          <p:cNvSpPr>
            <a:spLocks noChangeShapeType="1"/>
          </p:cNvSpPr>
          <p:nvPr/>
        </p:nvSpPr>
        <p:spPr bwMode="auto">
          <a:xfrm flipH="1">
            <a:off x="5544108" y="1875514"/>
            <a:ext cx="12402" cy="22748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4" name="Rectangle 44"/>
          <p:cNvSpPr>
            <a:spLocks noChangeArrowheads="1"/>
          </p:cNvSpPr>
          <p:nvPr/>
        </p:nvSpPr>
        <p:spPr bwMode="auto">
          <a:xfrm>
            <a:off x="6684404" y="2174575"/>
            <a:ext cx="1524000" cy="34290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74D1FF39</a:t>
            </a:r>
          </a:p>
        </p:txBody>
      </p:sp>
      <p:sp>
        <p:nvSpPr>
          <p:cNvPr id="46" name="CasellaDiTesto 46"/>
          <p:cNvSpPr txBox="1">
            <a:spLocks noChangeArrowheads="1"/>
          </p:cNvSpPr>
          <p:nvPr/>
        </p:nvSpPr>
        <p:spPr bwMode="auto">
          <a:xfrm>
            <a:off x="5388533" y="1560858"/>
            <a:ext cx="3111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K</a:t>
            </a:r>
          </a:p>
        </p:txBody>
      </p:sp>
      <p:sp>
        <p:nvSpPr>
          <p:cNvPr id="47" name="Line 19"/>
          <p:cNvSpPr>
            <a:spLocks noChangeShapeType="1"/>
          </p:cNvSpPr>
          <p:nvPr/>
        </p:nvSpPr>
        <p:spPr bwMode="auto">
          <a:xfrm>
            <a:off x="6196457" y="2346025"/>
            <a:ext cx="489694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5" name="Text Box 15"/>
          <p:cNvSpPr txBox="1">
            <a:spLocks noChangeArrowheads="1"/>
          </p:cNvSpPr>
          <p:nvPr/>
        </p:nvSpPr>
        <p:spPr bwMode="auto">
          <a:xfrm>
            <a:off x="4572000" y="2056778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66" name="Rectangle 10"/>
          <p:cNvSpPr>
            <a:spLocks noChangeArrowheads="1"/>
          </p:cNvSpPr>
          <p:nvPr/>
        </p:nvSpPr>
        <p:spPr bwMode="auto">
          <a:xfrm>
            <a:off x="2771800" y="1488850"/>
            <a:ext cx="1524000" cy="34858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135FE41D</a:t>
            </a:r>
          </a:p>
        </p:txBody>
      </p:sp>
      <p:sp>
        <p:nvSpPr>
          <p:cNvPr id="4" name="CasellaDiTesto 3"/>
          <p:cNvSpPr txBox="1"/>
          <p:nvPr/>
        </p:nvSpPr>
        <p:spPr>
          <a:xfrm>
            <a:off x="2329371" y="1448780"/>
            <a:ext cx="442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/>
              <a:t>IV:</a:t>
            </a:r>
          </a:p>
        </p:txBody>
      </p:sp>
      <p:cxnSp>
        <p:nvCxnSpPr>
          <p:cNvPr id="6" name="Connettore 4 5"/>
          <p:cNvCxnSpPr>
            <a:stCxn id="66" idx="3"/>
          </p:cNvCxnSpPr>
          <p:nvPr/>
        </p:nvCxnSpPr>
        <p:spPr bwMode="auto">
          <a:xfrm>
            <a:off x="4295800" y="1663140"/>
            <a:ext cx="492224" cy="545790"/>
          </a:xfrm>
          <a:prstGeom prst="bentConnector2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72" name="CasellaDiTesto 71"/>
          <p:cNvSpPr txBox="1"/>
          <p:nvPr/>
        </p:nvSpPr>
        <p:spPr>
          <a:xfrm>
            <a:off x="1691680" y="2100918"/>
            <a:ext cx="11192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 err="1"/>
              <a:t>plaintext</a:t>
            </a:r>
            <a:r>
              <a:rPr lang="it-IT" sz="2000" b="1" dirty="0"/>
              <a:t>:</a:t>
            </a:r>
          </a:p>
        </p:txBody>
      </p:sp>
      <p:sp>
        <p:nvSpPr>
          <p:cNvPr id="73" name="Line 19"/>
          <p:cNvSpPr>
            <a:spLocks noChangeShapeType="1"/>
          </p:cNvSpPr>
          <p:nvPr/>
        </p:nvSpPr>
        <p:spPr bwMode="auto">
          <a:xfrm>
            <a:off x="4994238" y="2352946"/>
            <a:ext cx="40585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74" name="Rectangle 5"/>
          <p:cNvSpPr>
            <a:spLocks noChangeArrowheads="1"/>
          </p:cNvSpPr>
          <p:nvPr/>
        </p:nvSpPr>
        <p:spPr bwMode="auto">
          <a:xfrm>
            <a:off x="4391980" y="4949664"/>
            <a:ext cx="789558" cy="4154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 dirty="0"/>
              <a:t>PRP</a:t>
            </a:r>
            <a:r>
              <a:rPr lang="en-US" altLang="it-IT" sz="2400" baseline="30000" dirty="0"/>
              <a:t>-1</a:t>
            </a:r>
            <a:endParaRPr lang="en-US" altLang="it-IT" sz="2400" baseline="30000" dirty="0">
              <a:sym typeface="Symbol" pitchFamily="18" charset="2"/>
            </a:endParaRPr>
          </a:p>
        </p:txBody>
      </p:sp>
      <p:sp>
        <p:nvSpPr>
          <p:cNvPr id="7" name="CasellaDiTesto 6"/>
          <p:cNvSpPr txBox="1"/>
          <p:nvPr/>
        </p:nvSpPr>
        <p:spPr>
          <a:xfrm>
            <a:off x="179512" y="1870345"/>
            <a:ext cx="1382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FF0000"/>
                </a:solidFill>
              </a:rPr>
              <a:t>ENCRYPT</a:t>
            </a:r>
          </a:p>
        </p:txBody>
      </p:sp>
      <p:sp>
        <p:nvSpPr>
          <p:cNvPr id="76" name="CasellaDiTesto 75"/>
          <p:cNvSpPr txBox="1"/>
          <p:nvPr/>
        </p:nvSpPr>
        <p:spPr>
          <a:xfrm>
            <a:off x="126036" y="3408095"/>
            <a:ext cx="1489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FF0000"/>
                </a:solidFill>
              </a:rPr>
              <a:t>TRANSMIT</a:t>
            </a:r>
          </a:p>
        </p:txBody>
      </p:sp>
      <p:sp>
        <p:nvSpPr>
          <p:cNvPr id="77" name="CasellaDiTesto 76"/>
          <p:cNvSpPr txBox="1"/>
          <p:nvPr/>
        </p:nvSpPr>
        <p:spPr>
          <a:xfrm>
            <a:off x="179512" y="5013176"/>
            <a:ext cx="1382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FF0000"/>
                </a:solidFill>
              </a:rPr>
              <a:t>DECRYPT</a:t>
            </a:r>
          </a:p>
        </p:txBody>
      </p:sp>
      <p:sp>
        <p:nvSpPr>
          <p:cNvPr id="8" name="Freccia in giù 7"/>
          <p:cNvSpPr/>
          <p:nvPr/>
        </p:nvSpPr>
        <p:spPr bwMode="auto">
          <a:xfrm>
            <a:off x="3095836" y="2888940"/>
            <a:ext cx="3420380" cy="324036"/>
          </a:xfrm>
          <a:prstGeom prst="downArrow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79" name="Freccia in giù 78"/>
          <p:cNvSpPr/>
          <p:nvPr/>
        </p:nvSpPr>
        <p:spPr bwMode="auto">
          <a:xfrm>
            <a:off x="3095836" y="4077072"/>
            <a:ext cx="3420380" cy="324036"/>
          </a:xfrm>
          <a:prstGeom prst="downArrow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80" name="Rectangle 44"/>
          <p:cNvSpPr>
            <a:spLocks noChangeArrowheads="1"/>
          </p:cNvSpPr>
          <p:nvPr/>
        </p:nvSpPr>
        <p:spPr bwMode="auto">
          <a:xfrm>
            <a:off x="4860032" y="3467477"/>
            <a:ext cx="1524000" cy="34290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74D1FF39</a:t>
            </a:r>
          </a:p>
        </p:txBody>
      </p:sp>
      <p:sp>
        <p:nvSpPr>
          <p:cNvPr id="81" name="Rectangle 10"/>
          <p:cNvSpPr>
            <a:spLocks noChangeArrowheads="1"/>
          </p:cNvSpPr>
          <p:nvPr/>
        </p:nvSpPr>
        <p:spPr bwMode="auto">
          <a:xfrm>
            <a:off x="3336032" y="3464637"/>
            <a:ext cx="1524000" cy="34858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135FE41D</a:t>
            </a:r>
          </a:p>
        </p:txBody>
      </p:sp>
      <p:sp>
        <p:nvSpPr>
          <p:cNvPr id="82" name="Line 27"/>
          <p:cNvSpPr>
            <a:spLocks noChangeShapeType="1"/>
          </p:cNvSpPr>
          <p:nvPr/>
        </p:nvSpPr>
        <p:spPr bwMode="auto">
          <a:xfrm flipH="1">
            <a:off x="4705703" y="4722180"/>
            <a:ext cx="12402" cy="22748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3" name="CasellaDiTesto 46"/>
          <p:cNvSpPr txBox="1">
            <a:spLocks noChangeArrowheads="1"/>
          </p:cNvSpPr>
          <p:nvPr/>
        </p:nvSpPr>
        <p:spPr bwMode="auto">
          <a:xfrm>
            <a:off x="4550128" y="4407524"/>
            <a:ext cx="3111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K</a:t>
            </a:r>
          </a:p>
        </p:txBody>
      </p:sp>
      <p:sp>
        <p:nvSpPr>
          <p:cNvPr id="84" name="Rectangle 44"/>
          <p:cNvSpPr>
            <a:spLocks noChangeArrowheads="1"/>
          </p:cNvSpPr>
          <p:nvPr/>
        </p:nvSpPr>
        <p:spPr bwMode="auto">
          <a:xfrm>
            <a:off x="2375756" y="4985922"/>
            <a:ext cx="1524000" cy="34290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74D1FF39</a:t>
            </a:r>
          </a:p>
        </p:txBody>
      </p:sp>
      <p:sp>
        <p:nvSpPr>
          <p:cNvPr id="86" name="CasellaDiTesto 85"/>
          <p:cNvSpPr txBox="1"/>
          <p:nvPr/>
        </p:nvSpPr>
        <p:spPr>
          <a:xfrm>
            <a:off x="6447568" y="3284984"/>
            <a:ext cx="22846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1" dirty="0" err="1"/>
              <a:t>Ciphertext</a:t>
            </a:r>
            <a:endParaRPr lang="it-IT" sz="2000" b="1" dirty="0"/>
          </a:p>
          <a:p>
            <a:pPr algn="ctr"/>
            <a:r>
              <a:rPr lang="it-IT" sz="2000" b="1" dirty="0"/>
              <a:t>(</a:t>
            </a:r>
            <a:r>
              <a:rPr lang="it-IT" sz="2000" b="1" dirty="0" err="1"/>
              <a:t>usually</a:t>
            </a:r>
            <a:r>
              <a:rPr lang="it-IT" sz="2000" b="1" dirty="0"/>
              <a:t>) </a:t>
            </a:r>
            <a:r>
              <a:rPr lang="it-IT" sz="2000" b="1" dirty="0" err="1"/>
              <a:t>includes</a:t>
            </a:r>
            <a:r>
              <a:rPr lang="it-IT" sz="2000" b="1" dirty="0"/>
              <a:t> IV</a:t>
            </a:r>
          </a:p>
        </p:txBody>
      </p:sp>
      <p:sp>
        <p:nvSpPr>
          <p:cNvPr id="87" name="Line 19"/>
          <p:cNvSpPr>
            <a:spLocks noChangeShapeType="1"/>
          </p:cNvSpPr>
          <p:nvPr/>
        </p:nvSpPr>
        <p:spPr bwMode="auto">
          <a:xfrm>
            <a:off x="3925193" y="5157371"/>
            <a:ext cx="489694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8" name="Line 19"/>
          <p:cNvSpPr>
            <a:spLocks noChangeShapeType="1"/>
          </p:cNvSpPr>
          <p:nvPr/>
        </p:nvSpPr>
        <p:spPr bwMode="auto">
          <a:xfrm>
            <a:off x="5220072" y="5150271"/>
            <a:ext cx="40585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9" name="Text Box 15"/>
          <p:cNvSpPr txBox="1">
            <a:spLocks noChangeArrowheads="1"/>
          </p:cNvSpPr>
          <p:nvPr/>
        </p:nvSpPr>
        <p:spPr bwMode="auto">
          <a:xfrm>
            <a:off x="5481909" y="4861024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90" name="Line 19"/>
          <p:cNvSpPr>
            <a:spLocks noChangeShapeType="1"/>
          </p:cNvSpPr>
          <p:nvPr/>
        </p:nvSpPr>
        <p:spPr bwMode="auto">
          <a:xfrm>
            <a:off x="5904147" y="5157192"/>
            <a:ext cx="40585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91" name="Rectangle 10"/>
          <p:cNvSpPr>
            <a:spLocks noChangeArrowheads="1"/>
          </p:cNvSpPr>
          <p:nvPr/>
        </p:nvSpPr>
        <p:spPr bwMode="auto">
          <a:xfrm>
            <a:off x="2375756" y="5564696"/>
            <a:ext cx="1524000" cy="34858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135FE41D</a:t>
            </a:r>
          </a:p>
        </p:txBody>
      </p:sp>
      <p:cxnSp>
        <p:nvCxnSpPr>
          <p:cNvPr id="93" name="Connettore 4 92"/>
          <p:cNvCxnSpPr>
            <a:stCxn id="91" idx="3"/>
          </p:cNvCxnSpPr>
          <p:nvPr/>
        </p:nvCxnSpPr>
        <p:spPr bwMode="auto">
          <a:xfrm flipV="1">
            <a:off x="3899756" y="5328822"/>
            <a:ext cx="1799927" cy="410164"/>
          </a:xfrm>
          <a:prstGeom prst="bentConnector3">
            <a:avLst>
              <a:gd name="adj1" fmla="val 100549"/>
            </a:avLst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97" name="Rectangle 10"/>
          <p:cNvSpPr>
            <a:spLocks noChangeArrowheads="1"/>
          </p:cNvSpPr>
          <p:nvPr/>
        </p:nvSpPr>
        <p:spPr bwMode="auto">
          <a:xfrm>
            <a:off x="6310001" y="4966642"/>
            <a:ext cx="1524000" cy="34858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CIAOFRA!</a:t>
            </a:r>
          </a:p>
        </p:txBody>
      </p:sp>
      <p:sp>
        <p:nvSpPr>
          <p:cNvPr id="13" name="Rettangolo 12"/>
          <p:cNvSpPr/>
          <p:nvPr/>
        </p:nvSpPr>
        <p:spPr>
          <a:xfrm>
            <a:off x="0" y="5999750"/>
            <a:ext cx="921651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000" b="1" dirty="0"/>
              <a:t>IV NEVER REPEATS? YES </a:t>
            </a:r>
            <a:r>
              <a:rPr lang="it-IT" sz="2000" b="1" dirty="0">
                <a:solidFill>
                  <a:srgbClr val="FF0000"/>
                </a:solidFill>
              </a:rPr>
              <a:t>BUT </a:t>
            </a:r>
            <a:r>
              <a:rPr lang="it-IT" sz="2000" b="1" dirty="0" err="1">
                <a:solidFill>
                  <a:srgbClr val="FF0000"/>
                </a:solidFill>
              </a:rPr>
              <a:t>not</a:t>
            </a:r>
            <a:r>
              <a:rPr lang="it-IT" sz="2000" b="1" dirty="0">
                <a:solidFill>
                  <a:srgbClr val="FF0000"/>
                </a:solidFill>
              </a:rPr>
              <a:t> </a:t>
            </a:r>
            <a:r>
              <a:rPr lang="it-IT" sz="2000" b="1" dirty="0" err="1">
                <a:solidFill>
                  <a:srgbClr val="FF0000"/>
                </a:solidFill>
              </a:rPr>
              <a:t>enough</a:t>
            </a:r>
            <a:r>
              <a:rPr lang="it-IT" sz="2000" b="1" dirty="0">
                <a:solidFill>
                  <a:srgbClr val="FF0000"/>
                </a:solidFill>
              </a:rPr>
              <a:t>! IV must </a:t>
            </a:r>
            <a:r>
              <a:rPr lang="it-IT" sz="2000" b="1" dirty="0" err="1">
                <a:solidFill>
                  <a:srgbClr val="FF0000"/>
                </a:solidFill>
              </a:rPr>
              <a:t>now</a:t>
            </a:r>
            <a:r>
              <a:rPr lang="it-IT" sz="2000" b="1" dirty="0">
                <a:solidFill>
                  <a:srgbClr val="FF0000"/>
                </a:solidFill>
              </a:rPr>
              <a:t> ALSO be </a:t>
            </a:r>
            <a:r>
              <a:rPr lang="it-IT" sz="2000" b="1" dirty="0" err="1">
                <a:solidFill>
                  <a:srgbClr val="FF0000"/>
                </a:solidFill>
              </a:rPr>
              <a:t>UNpredictable</a:t>
            </a:r>
            <a:r>
              <a:rPr lang="it-IT" sz="2000" b="1" dirty="0"/>
              <a:t> </a:t>
            </a:r>
            <a:r>
              <a:rPr lang="it-IT" sz="1050" b="1" dirty="0"/>
              <a:t>(</a:t>
            </a:r>
            <a:r>
              <a:rPr lang="it-IT" sz="1050" b="1" dirty="0" err="1"/>
              <a:t>why</a:t>
            </a:r>
            <a:r>
              <a:rPr lang="it-IT" sz="1050" b="1" dirty="0"/>
              <a:t>? more </a:t>
            </a:r>
            <a:r>
              <a:rPr lang="it-IT" sz="1050" b="1" dirty="0" err="1"/>
              <a:t>later</a:t>
            </a:r>
            <a:r>
              <a:rPr lang="it-IT" sz="105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26517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 animBg="1"/>
      <p:bldP spid="43" grpId="0" animBg="1"/>
      <p:bldP spid="44" grpId="0" animBg="1"/>
      <p:bldP spid="46" grpId="0"/>
      <p:bldP spid="47" grpId="0" animBg="1"/>
      <p:bldP spid="65" grpId="0"/>
      <p:bldP spid="66" grpId="0" animBg="1"/>
      <p:bldP spid="4" grpId="0"/>
      <p:bldP spid="72" grpId="0"/>
      <p:bldP spid="73" grpId="0" animBg="1"/>
      <p:bldP spid="74" grpId="0" animBg="1"/>
      <p:bldP spid="76" grpId="0"/>
      <p:bldP spid="77" grpId="0"/>
      <p:bldP spid="8" grpId="0" animBg="1"/>
      <p:bldP spid="79" grpId="0" animBg="1"/>
      <p:bldP spid="80" grpId="0" animBg="1"/>
      <p:bldP spid="81" grpId="0" animBg="1"/>
      <p:bldP spid="82" grpId="0" animBg="1"/>
      <p:bldP spid="83" grpId="0"/>
      <p:bldP spid="84" grpId="0" animBg="1"/>
      <p:bldP spid="86" grpId="0"/>
      <p:bldP spid="87" grpId="0" animBg="1"/>
      <p:bldP spid="88" grpId="0" animBg="1"/>
      <p:bldP spid="89" grpId="0"/>
      <p:bldP spid="90" grpId="0" animBg="1"/>
      <p:bldP spid="91" grpId="0" animBg="1"/>
      <p:bldP spid="97" grpId="0" animBg="1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448780"/>
            <a:ext cx="7918648" cy="4536504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it-IT" dirty="0" err="1"/>
              <a:t>Plain</a:t>
            </a:r>
            <a:r>
              <a:rPr lang="it-IT" dirty="0"/>
              <a:t> ECB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OK </a:t>
            </a:r>
            <a:r>
              <a:rPr lang="it-IT" dirty="0" err="1"/>
              <a:t>if</a:t>
            </a:r>
            <a:endParaRPr lang="it-IT" dirty="0"/>
          </a:p>
          <a:p>
            <a:pPr lvl="1">
              <a:defRPr/>
            </a:pPr>
            <a:r>
              <a:rPr lang="it-IT" dirty="0"/>
              <a:t>Message </a:t>
            </a:r>
            <a:r>
              <a:rPr lang="it-IT" dirty="0" err="1"/>
              <a:t>smaller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one</a:t>
            </a:r>
            <a:r>
              <a:rPr lang="it-IT" dirty="0"/>
              <a:t> </a:t>
            </a:r>
            <a:r>
              <a:rPr lang="it-IT" dirty="0" err="1"/>
              <a:t>block</a:t>
            </a:r>
            <a:endParaRPr lang="it-IT" dirty="0"/>
          </a:p>
          <a:p>
            <a:pPr lvl="2">
              <a:defRPr/>
            </a:pPr>
            <a:r>
              <a:rPr lang="it-IT" dirty="0"/>
              <a:t>AES = 128 bits = 16 </a:t>
            </a:r>
            <a:r>
              <a:rPr lang="it-IT" dirty="0" err="1"/>
              <a:t>bytes</a:t>
            </a:r>
            <a:r>
              <a:rPr lang="it-IT" dirty="0"/>
              <a:t>, </a:t>
            </a:r>
            <a:r>
              <a:rPr lang="it-IT" dirty="0" err="1"/>
              <a:t>very</a:t>
            </a:r>
            <a:r>
              <a:rPr lang="it-IT" dirty="0"/>
              <a:t> rare </a:t>
            </a:r>
            <a:r>
              <a:rPr lang="it-IT" dirty="0" err="1"/>
              <a:t>as</a:t>
            </a:r>
            <a:r>
              <a:rPr lang="it-IT" dirty="0"/>
              <a:t> short</a:t>
            </a:r>
          </a:p>
          <a:p>
            <a:pPr lvl="1">
              <a:defRPr/>
            </a:pPr>
            <a:r>
              <a:rPr lang="it-IT" dirty="0"/>
              <a:t>Message </a:t>
            </a:r>
            <a:r>
              <a:rPr lang="it-IT" dirty="0" err="1"/>
              <a:t>will</a:t>
            </a:r>
            <a:r>
              <a:rPr lang="it-IT" dirty="0"/>
              <a:t> </a:t>
            </a:r>
            <a:r>
              <a:rPr lang="it-IT" dirty="0" err="1"/>
              <a:t>never</a:t>
            </a:r>
            <a:r>
              <a:rPr lang="it-IT" dirty="0"/>
              <a:t> </a:t>
            </a:r>
            <a:r>
              <a:rPr lang="it-IT" dirty="0" err="1"/>
              <a:t>repeat</a:t>
            </a:r>
            <a:endParaRPr lang="it-IT" dirty="0"/>
          </a:p>
          <a:p>
            <a:pPr lvl="4">
              <a:defRPr/>
            </a:pPr>
            <a:endParaRPr lang="it-IT" dirty="0"/>
          </a:p>
          <a:p>
            <a:pPr>
              <a:defRPr/>
            </a:pPr>
            <a:r>
              <a:rPr lang="it-IT" dirty="0"/>
              <a:t>For </a:t>
            </a:r>
            <a:r>
              <a:rPr lang="it-IT" dirty="0" err="1"/>
              <a:t>repeated</a:t>
            </a:r>
            <a:r>
              <a:rPr lang="it-IT" dirty="0"/>
              <a:t> </a:t>
            </a:r>
            <a:r>
              <a:rPr lang="it-IT" dirty="0" err="1"/>
              <a:t>messages</a:t>
            </a:r>
            <a:r>
              <a:rPr lang="it-IT" dirty="0"/>
              <a:t>: </a:t>
            </a:r>
          </a:p>
          <a:p>
            <a:pPr lvl="1">
              <a:defRPr/>
            </a:pPr>
            <a:r>
              <a:rPr lang="it-IT" dirty="0"/>
              <a:t>Use </a:t>
            </a:r>
            <a:r>
              <a:rPr lang="it-IT" dirty="0" err="1"/>
              <a:t>initialization</a:t>
            </a:r>
            <a:r>
              <a:rPr lang="it-IT" dirty="0"/>
              <a:t> </a:t>
            </a:r>
            <a:r>
              <a:rPr lang="it-IT" dirty="0" err="1"/>
              <a:t>vector</a:t>
            </a:r>
            <a:endParaRPr lang="it-IT" dirty="0"/>
          </a:p>
          <a:p>
            <a:pPr lvl="2">
              <a:defRPr/>
            </a:pPr>
            <a:r>
              <a:rPr lang="it-IT" dirty="0"/>
              <a:t>Random </a:t>
            </a:r>
            <a:r>
              <a:rPr lang="it-IT" dirty="0" err="1"/>
              <a:t>value</a:t>
            </a:r>
            <a:r>
              <a:rPr lang="it-IT" dirty="0"/>
              <a:t>, </a:t>
            </a:r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size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block</a:t>
            </a:r>
            <a:endParaRPr lang="it-IT" dirty="0"/>
          </a:p>
          <a:p>
            <a:pPr lvl="3">
              <a:defRPr/>
            </a:pPr>
            <a:endParaRPr lang="it-IT" dirty="0"/>
          </a:p>
          <a:p>
            <a:pPr>
              <a:defRPr/>
            </a:pPr>
            <a:r>
              <a:rPr lang="it-IT" dirty="0"/>
              <a:t>For </a:t>
            </a:r>
            <a:r>
              <a:rPr lang="it-IT" dirty="0" err="1"/>
              <a:t>longer</a:t>
            </a:r>
            <a:r>
              <a:rPr lang="it-IT" dirty="0"/>
              <a:t> </a:t>
            </a:r>
            <a:r>
              <a:rPr lang="it-IT" dirty="0" err="1"/>
              <a:t>messages</a:t>
            </a:r>
            <a:r>
              <a:rPr lang="it-IT" dirty="0"/>
              <a:t>: </a:t>
            </a:r>
          </a:p>
          <a:p>
            <a:pPr lvl="1">
              <a:defRPr/>
            </a:pPr>
            <a:r>
              <a:rPr lang="it-IT" b="1" dirty="0" err="1"/>
              <a:t>Modes</a:t>
            </a:r>
            <a:r>
              <a:rPr lang="it-IT" b="1" dirty="0"/>
              <a:t> of </a:t>
            </a:r>
            <a:r>
              <a:rPr lang="it-IT" b="1" dirty="0" err="1"/>
              <a:t>operation</a:t>
            </a:r>
            <a:r>
              <a:rPr lang="it-IT" dirty="0"/>
              <a:t>: “</a:t>
            </a:r>
            <a:r>
              <a:rPr lang="it-IT" dirty="0" err="1"/>
              <a:t>secure</a:t>
            </a:r>
            <a:r>
              <a:rPr lang="it-IT" dirty="0"/>
              <a:t>” way to combine </a:t>
            </a:r>
            <a:r>
              <a:rPr lang="it-IT" dirty="0" err="1"/>
              <a:t>blocks</a:t>
            </a:r>
            <a:endParaRPr lang="it-IT" dirty="0"/>
          </a:p>
          <a:p>
            <a:pPr lvl="1">
              <a:defRPr/>
            </a:pPr>
            <a:r>
              <a:rPr lang="it-IT" dirty="0" err="1"/>
              <a:t>Permits</a:t>
            </a:r>
            <a:r>
              <a:rPr lang="it-IT" dirty="0"/>
              <a:t> to </a:t>
            </a:r>
            <a:r>
              <a:rPr lang="it-IT" dirty="0" err="1"/>
              <a:t>encrypt</a:t>
            </a:r>
            <a:r>
              <a:rPr lang="it-IT" dirty="0"/>
              <a:t> a text of </a:t>
            </a:r>
            <a:r>
              <a:rPr lang="it-IT" dirty="0" err="1"/>
              <a:t>arbitrary</a:t>
            </a:r>
            <a:r>
              <a:rPr lang="it-IT" dirty="0"/>
              <a:t> </a:t>
            </a:r>
            <a:r>
              <a:rPr lang="it-IT" dirty="0" err="1"/>
              <a:t>length</a:t>
            </a:r>
            <a:r>
              <a:rPr lang="it-IT" dirty="0"/>
              <a:t>, </a:t>
            </a:r>
            <a:r>
              <a:rPr lang="it-IT" b="1" dirty="0" err="1">
                <a:solidFill>
                  <a:srgbClr val="FF0000"/>
                </a:solidFill>
              </a:rPr>
              <a:t>avoiding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that</a:t>
            </a:r>
            <a:r>
              <a:rPr lang="it-IT" b="1" dirty="0">
                <a:solidFill>
                  <a:srgbClr val="FF0000"/>
                </a:solidFill>
              </a:rPr>
              <a:t> a </a:t>
            </a:r>
            <a:r>
              <a:rPr lang="it-IT" b="1" dirty="0" err="1">
                <a:solidFill>
                  <a:srgbClr val="FF0000"/>
                </a:solidFill>
              </a:rPr>
              <a:t>same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plaintext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block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is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encrypted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twice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as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same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ciphertext</a:t>
            </a:r>
            <a:endParaRPr lang="it-IT" b="1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it-IT" dirty="0"/>
              <a:t>“</a:t>
            </a:r>
            <a:r>
              <a:rPr lang="it-IT" dirty="0" err="1"/>
              <a:t>secure</a:t>
            </a:r>
            <a:r>
              <a:rPr lang="it-IT" dirty="0"/>
              <a:t>” = </a:t>
            </a:r>
            <a:r>
              <a:rPr lang="it-IT" dirty="0" err="1"/>
              <a:t>semantic</a:t>
            </a:r>
            <a:r>
              <a:rPr lang="it-IT" dirty="0"/>
              <a:t> security, IND-CPA</a:t>
            </a:r>
          </a:p>
        </p:txBody>
      </p:sp>
      <p:sp>
        <p:nvSpPr>
          <p:cNvPr id="4" name="Titolo 1"/>
          <p:cNvSpPr>
            <a:spLocks noGrp="1"/>
          </p:cNvSpPr>
          <p:nvPr>
            <p:ph type="title"/>
          </p:nvPr>
        </p:nvSpPr>
        <p:spPr>
          <a:xfrm>
            <a:off x="35496" y="225425"/>
            <a:ext cx="9037004" cy="649288"/>
          </a:xfrm>
        </p:spPr>
        <p:txBody>
          <a:bodyPr/>
          <a:lstStyle/>
          <a:p>
            <a:r>
              <a:rPr lang="it-IT" dirty="0" err="1"/>
              <a:t>Block</a:t>
            </a:r>
            <a:r>
              <a:rPr lang="it-IT" dirty="0"/>
              <a:t> </a:t>
            </a:r>
            <a:r>
              <a:rPr lang="it-IT" dirty="0" err="1"/>
              <a:t>ciphers</a:t>
            </a:r>
            <a:r>
              <a:rPr lang="it-IT" dirty="0"/>
              <a:t>: </a:t>
            </a:r>
            <a:r>
              <a:rPr lang="it-IT" dirty="0" err="1"/>
              <a:t>modes</a:t>
            </a:r>
            <a:r>
              <a:rPr lang="it-IT" dirty="0"/>
              <a:t> of </a:t>
            </a:r>
            <a:r>
              <a:rPr lang="it-IT" dirty="0" err="1"/>
              <a:t>operation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6612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07504" y="80628"/>
            <a:ext cx="9001000" cy="649288"/>
          </a:xfrm>
        </p:spPr>
        <p:txBody>
          <a:bodyPr/>
          <a:lstStyle/>
          <a:p>
            <a:r>
              <a:rPr lang="it-IT" dirty="0" err="1"/>
              <a:t>Block</a:t>
            </a:r>
            <a:r>
              <a:rPr lang="it-IT" dirty="0"/>
              <a:t> </a:t>
            </a:r>
            <a:r>
              <a:rPr lang="it-IT" dirty="0" err="1"/>
              <a:t>ciphers</a:t>
            </a:r>
            <a:r>
              <a:rPr lang="it-IT" dirty="0"/>
              <a:t>: </a:t>
            </a:r>
            <a:r>
              <a:rPr lang="it-IT" dirty="0" err="1"/>
              <a:t>modes</a:t>
            </a:r>
            <a:r>
              <a:rPr lang="it-IT" dirty="0"/>
              <a:t> of </a:t>
            </a:r>
            <a:r>
              <a:rPr lang="it-IT" dirty="0" err="1"/>
              <a:t>operation</a:t>
            </a:r>
            <a:endParaRPr lang="it-IT" dirty="0"/>
          </a:p>
        </p:txBody>
      </p:sp>
      <p:pic>
        <p:nvPicPr>
          <p:cNvPr id="1026" name="Picture 2" descr="Risultato immagini per MBlock ciphers modes of oper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05644"/>
            <a:ext cx="5863716" cy="5863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tangolo 4"/>
          <p:cNvSpPr/>
          <p:nvPr/>
        </p:nvSpPr>
        <p:spPr>
          <a:xfrm>
            <a:off x="6120172" y="944724"/>
            <a:ext cx="2952328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b="1" dirty="0" err="1"/>
              <a:t>Most</a:t>
            </a:r>
            <a:r>
              <a:rPr lang="it-IT" b="1" dirty="0"/>
              <a:t> </a:t>
            </a:r>
            <a:r>
              <a:rPr lang="it-IT" b="1" dirty="0" err="1"/>
              <a:t>used</a:t>
            </a:r>
            <a:r>
              <a:rPr lang="it-IT" b="1" dirty="0"/>
              <a:t>:</a:t>
            </a:r>
          </a:p>
          <a:p>
            <a:r>
              <a:rPr lang="it-IT" dirty="0" err="1"/>
              <a:t>Cipher</a:t>
            </a:r>
            <a:r>
              <a:rPr lang="it-IT" dirty="0"/>
              <a:t> </a:t>
            </a:r>
            <a:r>
              <a:rPr lang="it-IT" dirty="0" err="1"/>
              <a:t>Block</a:t>
            </a:r>
            <a:r>
              <a:rPr lang="it-IT" dirty="0"/>
              <a:t> </a:t>
            </a:r>
            <a:r>
              <a:rPr lang="it-IT" dirty="0" err="1"/>
              <a:t>Chaining</a:t>
            </a:r>
            <a:r>
              <a:rPr lang="it-IT" dirty="0"/>
              <a:t> (CBC)</a:t>
            </a:r>
          </a:p>
          <a:p>
            <a:r>
              <a:rPr lang="it-IT" dirty="0" err="1"/>
              <a:t>Counter</a:t>
            </a:r>
            <a:r>
              <a:rPr lang="it-IT" dirty="0"/>
              <a:t> Mode (CTR)</a:t>
            </a:r>
          </a:p>
          <a:p>
            <a:endParaRPr lang="it-IT" b="1" dirty="0"/>
          </a:p>
          <a:p>
            <a:endParaRPr lang="it-IT" b="1" dirty="0"/>
          </a:p>
          <a:p>
            <a:r>
              <a:rPr lang="it-IT" b="1" dirty="0"/>
              <a:t>NIST </a:t>
            </a:r>
            <a:r>
              <a:rPr lang="it-IT" b="1" dirty="0" err="1"/>
              <a:t>recommended</a:t>
            </a:r>
            <a:r>
              <a:rPr lang="it-IT" b="1" dirty="0"/>
              <a:t> (in 2001 </a:t>
            </a:r>
            <a:r>
              <a:rPr lang="it-IT" b="1" dirty="0" err="1"/>
              <a:t>document</a:t>
            </a:r>
            <a:r>
              <a:rPr lang="it-IT" b="1" dirty="0"/>
              <a:t>) </a:t>
            </a:r>
            <a:r>
              <a:rPr lang="it-IT" b="1" dirty="0" err="1"/>
              <a:t>but</a:t>
            </a:r>
            <a:r>
              <a:rPr lang="it-IT" b="1" dirty="0"/>
              <a:t> </a:t>
            </a:r>
            <a:r>
              <a:rPr lang="it-IT" b="1" dirty="0" err="1"/>
              <a:t>not</a:t>
            </a:r>
            <a:r>
              <a:rPr lang="it-IT" b="1" dirty="0"/>
              <a:t> </a:t>
            </a:r>
            <a:r>
              <a:rPr lang="it-IT" b="1" dirty="0" err="1"/>
              <a:t>much</a:t>
            </a:r>
            <a:r>
              <a:rPr lang="it-IT" b="1" dirty="0"/>
              <a:t> </a:t>
            </a:r>
            <a:r>
              <a:rPr lang="it-IT" b="1" dirty="0" err="1"/>
              <a:t>used</a:t>
            </a:r>
            <a:r>
              <a:rPr lang="it-IT" b="1" dirty="0"/>
              <a:t> in </a:t>
            </a:r>
            <a:r>
              <a:rPr lang="it-IT" b="1" dirty="0" err="1"/>
              <a:t>practice</a:t>
            </a:r>
            <a:r>
              <a:rPr lang="it-IT" b="1" dirty="0"/>
              <a:t> – </a:t>
            </a:r>
            <a:r>
              <a:rPr lang="it-IT" b="1" dirty="0" err="1"/>
              <a:t>despite</a:t>
            </a:r>
            <a:r>
              <a:rPr lang="it-IT" b="1" dirty="0"/>
              <a:t> </a:t>
            </a:r>
            <a:r>
              <a:rPr lang="it-IT" b="1" dirty="0" err="1"/>
              <a:t>quite</a:t>
            </a:r>
            <a:r>
              <a:rPr lang="it-IT" b="1" dirty="0"/>
              <a:t> </a:t>
            </a:r>
            <a:r>
              <a:rPr lang="it-IT" b="1" dirty="0" err="1"/>
              <a:t>interesting</a:t>
            </a:r>
            <a:r>
              <a:rPr lang="it-IT" b="1" dirty="0"/>
              <a:t> </a:t>
            </a:r>
            <a:r>
              <a:rPr lang="it-IT" b="1" dirty="0" err="1"/>
              <a:t>properties</a:t>
            </a:r>
            <a:endParaRPr lang="it-IT" b="1" dirty="0"/>
          </a:p>
          <a:p>
            <a:r>
              <a:rPr lang="it-IT" dirty="0" err="1"/>
              <a:t>Cipher</a:t>
            </a:r>
            <a:r>
              <a:rPr lang="it-IT" dirty="0"/>
              <a:t> Feedback Mode (CFB)</a:t>
            </a:r>
          </a:p>
          <a:p>
            <a:r>
              <a:rPr lang="it-IT" dirty="0"/>
              <a:t>Output Feedback Mode (OFB)</a:t>
            </a:r>
          </a:p>
          <a:p>
            <a:endParaRPr lang="it-IT" b="1" dirty="0"/>
          </a:p>
          <a:p>
            <a:endParaRPr lang="it-IT" b="1" dirty="0"/>
          </a:p>
          <a:p>
            <a:r>
              <a:rPr lang="it-IT" b="1" dirty="0"/>
              <a:t>More </a:t>
            </a:r>
            <a:r>
              <a:rPr lang="it-IT" b="1" dirty="0" err="1"/>
              <a:t>advanced</a:t>
            </a:r>
            <a:r>
              <a:rPr lang="it-IT" b="1" dirty="0"/>
              <a:t> </a:t>
            </a:r>
            <a:r>
              <a:rPr lang="it-IT" b="1" dirty="0" err="1"/>
              <a:t>properties</a:t>
            </a:r>
            <a:endParaRPr lang="it-IT" b="1" dirty="0"/>
          </a:p>
          <a:p>
            <a:r>
              <a:rPr lang="it-IT" b="1" dirty="0"/>
              <a:t>(</a:t>
            </a:r>
            <a:r>
              <a:rPr lang="it-IT" b="1" dirty="0" err="1"/>
              <a:t>authenticated</a:t>
            </a:r>
            <a:r>
              <a:rPr lang="it-IT" b="1" dirty="0"/>
              <a:t> </a:t>
            </a:r>
            <a:r>
              <a:rPr lang="it-IT" b="1" dirty="0" err="1"/>
              <a:t>encryption</a:t>
            </a:r>
            <a:r>
              <a:rPr lang="it-IT" b="1" dirty="0"/>
              <a:t>)</a:t>
            </a:r>
            <a:r>
              <a:rPr lang="it-IT" b="1" dirty="0">
                <a:sym typeface="Wingdings" panose="05000000000000000000" pitchFamily="2" charset="2"/>
              </a:rPr>
              <a:t> </a:t>
            </a:r>
            <a:endParaRPr lang="it-IT" b="1" dirty="0"/>
          </a:p>
          <a:p>
            <a:r>
              <a:rPr lang="it-IT" dirty="0" err="1"/>
              <a:t>Galois</a:t>
            </a:r>
            <a:r>
              <a:rPr lang="it-IT" dirty="0"/>
              <a:t> </a:t>
            </a:r>
            <a:r>
              <a:rPr lang="it-IT" dirty="0" err="1"/>
              <a:t>Counter</a:t>
            </a:r>
            <a:r>
              <a:rPr lang="it-IT" dirty="0"/>
              <a:t> Mode (GCM)</a:t>
            </a:r>
          </a:p>
          <a:p>
            <a:r>
              <a:rPr lang="it-IT" dirty="0"/>
              <a:t>Offset </a:t>
            </a:r>
            <a:r>
              <a:rPr lang="it-IT" dirty="0" err="1"/>
              <a:t>Codebook</a:t>
            </a:r>
            <a:r>
              <a:rPr lang="it-IT" dirty="0"/>
              <a:t> Mode (OCB) </a:t>
            </a:r>
            <a:r>
              <a:rPr lang="it-IT" sz="1400" dirty="0">
                <a:solidFill>
                  <a:srgbClr val="FF0000"/>
                </a:solidFill>
              </a:rPr>
              <a:t>(more </a:t>
            </a:r>
            <a:r>
              <a:rPr lang="it-IT" sz="1400" dirty="0" err="1">
                <a:solidFill>
                  <a:srgbClr val="FF0000"/>
                </a:solidFill>
              </a:rPr>
              <a:t>later</a:t>
            </a:r>
            <a:r>
              <a:rPr lang="it-IT" sz="1400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97467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Semantic</a:t>
            </a:r>
            <a:r>
              <a:rPr lang="it-IT" dirty="0"/>
              <a:t> security: </a:t>
            </a:r>
            <a:r>
              <a:rPr lang="it-IT" dirty="0" err="1"/>
              <a:t>how</a:t>
            </a:r>
            <a:r>
              <a:rPr lang="it-IT" dirty="0"/>
              <a:t> to?</a:t>
            </a:r>
            <a:br>
              <a:rPr lang="it-IT" dirty="0"/>
            </a:br>
            <a:r>
              <a:rPr lang="it-IT" dirty="0"/>
              <a:t>(in </a:t>
            </a:r>
            <a:r>
              <a:rPr lang="it-IT" dirty="0" err="1"/>
              <a:t>principle</a:t>
            </a:r>
            <a:r>
              <a:rPr lang="it-IT" dirty="0"/>
              <a:t>)</a:t>
            </a: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2121362" y="3291014"/>
            <a:ext cx="669674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1907704" y="2142334"/>
            <a:ext cx="1116124" cy="34858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/>
              <a:t>m[0]</a:t>
            </a:r>
          </a:p>
        </p:txBody>
      </p:sp>
      <p:sp>
        <p:nvSpPr>
          <p:cNvPr id="5" name="Line 19"/>
          <p:cNvSpPr>
            <a:spLocks noChangeShapeType="1"/>
          </p:cNvSpPr>
          <p:nvPr/>
        </p:nvSpPr>
        <p:spPr bwMode="auto">
          <a:xfrm flipH="1">
            <a:off x="2455651" y="2490914"/>
            <a:ext cx="2375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" name="Line 27"/>
          <p:cNvSpPr>
            <a:spLocks noChangeShapeType="1"/>
          </p:cNvSpPr>
          <p:nvPr/>
        </p:nvSpPr>
        <p:spPr bwMode="auto">
          <a:xfrm>
            <a:off x="2455652" y="3919664"/>
            <a:ext cx="1163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7" name="Rectangle 44"/>
          <p:cNvSpPr>
            <a:spLocks noChangeArrowheads="1"/>
          </p:cNvSpPr>
          <p:nvPr/>
        </p:nvSpPr>
        <p:spPr bwMode="auto">
          <a:xfrm>
            <a:off x="1907704" y="4376864"/>
            <a:ext cx="1116124" cy="34290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/>
              <a:t>c[0]</a:t>
            </a:r>
          </a:p>
        </p:txBody>
      </p:sp>
      <p:cxnSp>
        <p:nvCxnSpPr>
          <p:cNvPr id="8" name="Connettore 2 45"/>
          <p:cNvCxnSpPr>
            <a:cxnSpLocks noChangeShapeType="1"/>
          </p:cNvCxnSpPr>
          <p:nvPr/>
        </p:nvCxnSpPr>
        <p:spPr bwMode="auto">
          <a:xfrm>
            <a:off x="1835696" y="3819664"/>
            <a:ext cx="285666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CasellaDiTesto 46"/>
          <p:cNvSpPr txBox="1">
            <a:spLocks noChangeArrowheads="1"/>
          </p:cNvSpPr>
          <p:nvPr/>
        </p:nvSpPr>
        <p:spPr bwMode="auto">
          <a:xfrm>
            <a:off x="1583668" y="3622802"/>
            <a:ext cx="227875" cy="369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K</a:t>
            </a: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798204" y="2142334"/>
            <a:ext cx="1116124" cy="34858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iv(0)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1914328" y="1299384"/>
            <a:ext cx="1116124" cy="34858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m[0]</a:t>
            </a: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3059832" y="1299384"/>
            <a:ext cx="1116124" cy="34858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m[1]</a:t>
            </a:r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4211960" y="1299384"/>
            <a:ext cx="1116124" cy="34858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m[2]</a:t>
            </a:r>
          </a:p>
        </p:txBody>
      </p:sp>
      <p:sp>
        <p:nvSpPr>
          <p:cNvPr id="18" name="CasellaDiTesto 17"/>
          <p:cNvSpPr txBox="1"/>
          <p:nvPr/>
        </p:nvSpPr>
        <p:spPr>
          <a:xfrm>
            <a:off x="5436096" y="1124744"/>
            <a:ext cx="7569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/>
              <a:t>. . . .</a:t>
            </a:r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2220362" y="2655726"/>
            <a:ext cx="504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20" name="Line 19"/>
          <p:cNvSpPr>
            <a:spLocks noChangeShapeType="1"/>
          </p:cNvSpPr>
          <p:nvPr/>
        </p:nvSpPr>
        <p:spPr bwMode="auto">
          <a:xfrm flipH="1">
            <a:off x="2447763" y="3048112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1" name="Freeform 26"/>
          <p:cNvSpPr>
            <a:spLocks/>
          </p:cNvSpPr>
          <p:nvPr/>
        </p:nvSpPr>
        <p:spPr bwMode="auto">
          <a:xfrm>
            <a:off x="1367644" y="2490914"/>
            <a:ext cx="998748" cy="468660"/>
          </a:xfrm>
          <a:custGeom>
            <a:avLst/>
            <a:gdLst>
              <a:gd name="T0" fmla="*/ 0 w 864"/>
              <a:gd name="T1" fmla="*/ 0 h 336"/>
              <a:gd name="T2" fmla="*/ 0 w 864"/>
              <a:gd name="T3" fmla="*/ 2147483647 h 336"/>
              <a:gd name="T4" fmla="*/ 2147483647 w 864"/>
              <a:gd name="T5" fmla="*/ 2147483647 h 336"/>
              <a:gd name="T6" fmla="*/ 0 60000 65536"/>
              <a:gd name="T7" fmla="*/ 0 60000 65536"/>
              <a:gd name="T8" fmla="*/ 0 60000 65536"/>
              <a:gd name="T9" fmla="*/ 0 w 864"/>
              <a:gd name="T10" fmla="*/ 0 h 336"/>
              <a:gd name="T11" fmla="*/ 864 w 864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64" h="336">
                <a:moveTo>
                  <a:pt x="0" y="0"/>
                </a:moveTo>
                <a:lnTo>
                  <a:pt x="0" y="336"/>
                </a:lnTo>
                <a:lnTo>
                  <a:pt x="864" y="336"/>
                </a:lnTo>
              </a:path>
            </a:pathLst>
          </a:custGeom>
          <a:noFill/>
          <a:ln w="12700" cmpd="sng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2" name="Rectangle 5"/>
          <p:cNvSpPr>
            <a:spLocks noChangeArrowheads="1"/>
          </p:cNvSpPr>
          <p:nvPr/>
        </p:nvSpPr>
        <p:spPr bwMode="auto">
          <a:xfrm>
            <a:off x="4418994" y="3291014"/>
            <a:ext cx="669674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23" name="Rectangle 10"/>
          <p:cNvSpPr>
            <a:spLocks noChangeArrowheads="1"/>
          </p:cNvSpPr>
          <p:nvPr/>
        </p:nvSpPr>
        <p:spPr bwMode="auto">
          <a:xfrm>
            <a:off x="4205336" y="2142334"/>
            <a:ext cx="1116124" cy="34858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m[1]</a:t>
            </a:r>
          </a:p>
        </p:txBody>
      </p:sp>
      <p:sp>
        <p:nvSpPr>
          <p:cNvPr id="24" name="Line 19"/>
          <p:cNvSpPr>
            <a:spLocks noChangeShapeType="1"/>
          </p:cNvSpPr>
          <p:nvPr/>
        </p:nvSpPr>
        <p:spPr bwMode="auto">
          <a:xfrm flipH="1">
            <a:off x="4753283" y="2490914"/>
            <a:ext cx="2375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5" name="Line 27"/>
          <p:cNvSpPr>
            <a:spLocks noChangeShapeType="1"/>
          </p:cNvSpPr>
          <p:nvPr/>
        </p:nvSpPr>
        <p:spPr bwMode="auto">
          <a:xfrm>
            <a:off x="4753284" y="3919664"/>
            <a:ext cx="1163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6" name="Rectangle 44"/>
          <p:cNvSpPr>
            <a:spLocks noChangeArrowheads="1"/>
          </p:cNvSpPr>
          <p:nvPr/>
        </p:nvSpPr>
        <p:spPr bwMode="auto">
          <a:xfrm>
            <a:off x="4205336" y="4376864"/>
            <a:ext cx="1116124" cy="34290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c[1]</a:t>
            </a:r>
          </a:p>
        </p:txBody>
      </p:sp>
      <p:cxnSp>
        <p:nvCxnSpPr>
          <p:cNvPr id="27" name="Connettore 2 45"/>
          <p:cNvCxnSpPr>
            <a:cxnSpLocks noChangeShapeType="1"/>
          </p:cNvCxnSpPr>
          <p:nvPr/>
        </p:nvCxnSpPr>
        <p:spPr bwMode="auto">
          <a:xfrm>
            <a:off x="4133328" y="3819664"/>
            <a:ext cx="285666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CasellaDiTesto 46"/>
          <p:cNvSpPr txBox="1">
            <a:spLocks noChangeArrowheads="1"/>
          </p:cNvSpPr>
          <p:nvPr/>
        </p:nvSpPr>
        <p:spPr bwMode="auto">
          <a:xfrm>
            <a:off x="3881300" y="3622802"/>
            <a:ext cx="227875" cy="369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K</a:t>
            </a:r>
          </a:p>
        </p:txBody>
      </p:sp>
      <p:sp>
        <p:nvSpPr>
          <p:cNvPr id="29" name="Rectangle 10"/>
          <p:cNvSpPr>
            <a:spLocks noChangeArrowheads="1"/>
          </p:cNvSpPr>
          <p:nvPr/>
        </p:nvSpPr>
        <p:spPr bwMode="auto">
          <a:xfrm>
            <a:off x="3095836" y="2142334"/>
            <a:ext cx="1116124" cy="34858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iv(1)</a:t>
            </a:r>
          </a:p>
        </p:txBody>
      </p:sp>
      <p:sp>
        <p:nvSpPr>
          <p:cNvPr id="30" name="Text Box 15"/>
          <p:cNvSpPr txBox="1">
            <a:spLocks noChangeArrowheads="1"/>
          </p:cNvSpPr>
          <p:nvPr/>
        </p:nvSpPr>
        <p:spPr bwMode="auto">
          <a:xfrm>
            <a:off x="4517994" y="2655726"/>
            <a:ext cx="504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31" name="Line 19"/>
          <p:cNvSpPr>
            <a:spLocks noChangeShapeType="1"/>
          </p:cNvSpPr>
          <p:nvPr/>
        </p:nvSpPr>
        <p:spPr bwMode="auto">
          <a:xfrm flipH="1">
            <a:off x="4745395" y="3048112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2" name="Freeform 26"/>
          <p:cNvSpPr>
            <a:spLocks/>
          </p:cNvSpPr>
          <p:nvPr/>
        </p:nvSpPr>
        <p:spPr bwMode="auto">
          <a:xfrm>
            <a:off x="3665276" y="2490914"/>
            <a:ext cx="998748" cy="468660"/>
          </a:xfrm>
          <a:custGeom>
            <a:avLst/>
            <a:gdLst>
              <a:gd name="T0" fmla="*/ 0 w 864"/>
              <a:gd name="T1" fmla="*/ 0 h 336"/>
              <a:gd name="T2" fmla="*/ 0 w 864"/>
              <a:gd name="T3" fmla="*/ 2147483647 h 336"/>
              <a:gd name="T4" fmla="*/ 2147483647 w 864"/>
              <a:gd name="T5" fmla="*/ 2147483647 h 336"/>
              <a:gd name="T6" fmla="*/ 0 60000 65536"/>
              <a:gd name="T7" fmla="*/ 0 60000 65536"/>
              <a:gd name="T8" fmla="*/ 0 60000 65536"/>
              <a:gd name="T9" fmla="*/ 0 w 864"/>
              <a:gd name="T10" fmla="*/ 0 h 336"/>
              <a:gd name="T11" fmla="*/ 864 w 864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64" h="336">
                <a:moveTo>
                  <a:pt x="0" y="0"/>
                </a:moveTo>
                <a:lnTo>
                  <a:pt x="0" y="336"/>
                </a:lnTo>
                <a:lnTo>
                  <a:pt x="864" y="336"/>
                </a:lnTo>
              </a:path>
            </a:pathLst>
          </a:custGeom>
          <a:noFill/>
          <a:ln w="12700" cmpd="sng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3" name="Rectangle 5"/>
          <p:cNvSpPr>
            <a:spLocks noChangeArrowheads="1"/>
          </p:cNvSpPr>
          <p:nvPr/>
        </p:nvSpPr>
        <p:spPr bwMode="auto">
          <a:xfrm>
            <a:off x="6687246" y="3291014"/>
            <a:ext cx="669674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 dirty="0"/>
              <a:t>PRP</a:t>
            </a:r>
            <a:endParaRPr lang="en-US" altLang="it-IT" sz="2400" dirty="0">
              <a:sym typeface="Symbol" pitchFamily="18" charset="2"/>
            </a:endParaRPr>
          </a:p>
        </p:txBody>
      </p:sp>
      <p:sp>
        <p:nvSpPr>
          <p:cNvPr id="34" name="Rectangle 10"/>
          <p:cNvSpPr>
            <a:spLocks noChangeArrowheads="1"/>
          </p:cNvSpPr>
          <p:nvPr/>
        </p:nvSpPr>
        <p:spPr bwMode="auto">
          <a:xfrm>
            <a:off x="6473588" y="2142334"/>
            <a:ext cx="1116124" cy="34858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m[2]</a:t>
            </a:r>
          </a:p>
        </p:txBody>
      </p:sp>
      <p:sp>
        <p:nvSpPr>
          <p:cNvPr id="35" name="Line 19"/>
          <p:cNvSpPr>
            <a:spLocks noChangeShapeType="1"/>
          </p:cNvSpPr>
          <p:nvPr/>
        </p:nvSpPr>
        <p:spPr bwMode="auto">
          <a:xfrm flipH="1">
            <a:off x="7021535" y="2490914"/>
            <a:ext cx="2375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6" name="Line 27"/>
          <p:cNvSpPr>
            <a:spLocks noChangeShapeType="1"/>
          </p:cNvSpPr>
          <p:nvPr/>
        </p:nvSpPr>
        <p:spPr bwMode="auto">
          <a:xfrm>
            <a:off x="7021536" y="3919664"/>
            <a:ext cx="1163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7" name="Rectangle 44"/>
          <p:cNvSpPr>
            <a:spLocks noChangeArrowheads="1"/>
          </p:cNvSpPr>
          <p:nvPr/>
        </p:nvSpPr>
        <p:spPr bwMode="auto">
          <a:xfrm>
            <a:off x="6473588" y="4376864"/>
            <a:ext cx="1116124" cy="34290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c[2]</a:t>
            </a:r>
          </a:p>
        </p:txBody>
      </p:sp>
      <p:cxnSp>
        <p:nvCxnSpPr>
          <p:cNvPr id="38" name="Connettore 2 45"/>
          <p:cNvCxnSpPr>
            <a:cxnSpLocks noChangeShapeType="1"/>
          </p:cNvCxnSpPr>
          <p:nvPr/>
        </p:nvCxnSpPr>
        <p:spPr bwMode="auto">
          <a:xfrm>
            <a:off x="6401580" y="3819664"/>
            <a:ext cx="285666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CasellaDiTesto 46"/>
          <p:cNvSpPr txBox="1">
            <a:spLocks noChangeArrowheads="1"/>
          </p:cNvSpPr>
          <p:nvPr/>
        </p:nvSpPr>
        <p:spPr bwMode="auto">
          <a:xfrm>
            <a:off x="6149552" y="3622802"/>
            <a:ext cx="227875" cy="369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K</a:t>
            </a:r>
          </a:p>
        </p:txBody>
      </p:sp>
      <p:sp>
        <p:nvSpPr>
          <p:cNvPr id="40" name="Rectangle 10"/>
          <p:cNvSpPr>
            <a:spLocks noChangeArrowheads="1"/>
          </p:cNvSpPr>
          <p:nvPr/>
        </p:nvSpPr>
        <p:spPr bwMode="auto">
          <a:xfrm>
            <a:off x="5364088" y="2142334"/>
            <a:ext cx="1116124" cy="34858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iv(2)</a:t>
            </a:r>
          </a:p>
        </p:txBody>
      </p:sp>
      <p:sp>
        <p:nvSpPr>
          <p:cNvPr id="41" name="Text Box 15"/>
          <p:cNvSpPr txBox="1">
            <a:spLocks noChangeArrowheads="1"/>
          </p:cNvSpPr>
          <p:nvPr/>
        </p:nvSpPr>
        <p:spPr bwMode="auto">
          <a:xfrm>
            <a:off x="6786246" y="2655726"/>
            <a:ext cx="504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42" name="Line 19"/>
          <p:cNvSpPr>
            <a:spLocks noChangeShapeType="1"/>
          </p:cNvSpPr>
          <p:nvPr/>
        </p:nvSpPr>
        <p:spPr bwMode="auto">
          <a:xfrm flipH="1">
            <a:off x="7013647" y="3048112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3" name="Freeform 26"/>
          <p:cNvSpPr>
            <a:spLocks/>
          </p:cNvSpPr>
          <p:nvPr/>
        </p:nvSpPr>
        <p:spPr bwMode="auto">
          <a:xfrm>
            <a:off x="5933528" y="2490914"/>
            <a:ext cx="998748" cy="468660"/>
          </a:xfrm>
          <a:custGeom>
            <a:avLst/>
            <a:gdLst>
              <a:gd name="T0" fmla="*/ 0 w 864"/>
              <a:gd name="T1" fmla="*/ 0 h 336"/>
              <a:gd name="T2" fmla="*/ 0 w 864"/>
              <a:gd name="T3" fmla="*/ 2147483647 h 336"/>
              <a:gd name="T4" fmla="*/ 2147483647 w 864"/>
              <a:gd name="T5" fmla="*/ 2147483647 h 336"/>
              <a:gd name="T6" fmla="*/ 0 60000 65536"/>
              <a:gd name="T7" fmla="*/ 0 60000 65536"/>
              <a:gd name="T8" fmla="*/ 0 60000 65536"/>
              <a:gd name="T9" fmla="*/ 0 w 864"/>
              <a:gd name="T10" fmla="*/ 0 h 336"/>
              <a:gd name="T11" fmla="*/ 864 w 864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64" h="336">
                <a:moveTo>
                  <a:pt x="0" y="0"/>
                </a:moveTo>
                <a:lnTo>
                  <a:pt x="0" y="336"/>
                </a:lnTo>
                <a:lnTo>
                  <a:pt x="864" y="336"/>
                </a:lnTo>
              </a:path>
            </a:pathLst>
          </a:custGeom>
          <a:noFill/>
          <a:ln w="12700" cmpd="sng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4" name="Rettangolo 43"/>
          <p:cNvSpPr/>
          <p:nvPr/>
        </p:nvSpPr>
        <p:spPr>
          <a:xfrm>
            <a:off x="71500" y="5863808"/>
            <a:ext cx="90725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b="1" dirty="0" err="1"/>
              <a:t>If</a:t>
            </a:r>
            <a:r>
              <a:rPr lang="it-IT" sz="2400" b="1" dirty="0"/>
              <a:t> </a:t>
            </a:r>
            <a:r>
              <a:rPr lang="it-IT" sz="2400" b="1" dirty="0" err="1"/>
              <a:t>all</a:t>
            </a:r>
            <a:r>
              <a:rPr lang="it-IT" sz="2400" b="1" dirty="0"/>
              <a:t> iv(x) random </a:t>
            </a:r>
            <a:r>
              <a:rPr lang="it-IT" sz="2400" b="1" dirty="0">
                <a:sym typeface="Wingdings" panose="05000000000000000000" pitchFamily="2" charset="2"/>
              </a:rPr>
              <a:t> </a:t>
            </a:r>
            <a:r>
              <a:rPr lang="it-IT" sz="2400" b="1" dirty="0" err="1">
                <a:sym typeface="Wingdings" panose="05000000000000000000" pitchFamily="2" charset="2"/>
              </a:rPr>
              <a:t>semantic</a:t>
            </a:r>
            <a:r>
              <a:rPr lang="it-IT" sz="2400" b="1" dirty="0">
                <a:sym typeface="Wingdings" panose="05000000000000000000" pitchFamily="2" charset="2"/>
              </a:rPr>
              <a:t> security. </a:t>
            </a:r>
            <a:r>
              <a:rPr lang="it-IT" sz="2400" b="1" dirty="0" err="1">
                <a:sym typeface="Wingdings" panose="05000000000000000000" pitchFamily="2" charset="2"/>
              </a:rPr>
              <a:t>But</a:t>
            </a:r>
            <a:r>
              <a:rPr lang="it-IT" sz="2400" b="1" dirty="0">
                <a:sym typeface="Wingdings" panose="05000000000000000000" pitchFamily="2" charset="2"/>
              </a:rPr>
              <a:t> LOTS of </a:t>
            </a:r>
            <a:r>
              <a:rPr lang="it-IT" sz="2400" b="1" dirty="0" err="1">
                <a:sym typeface="Wingdings" panose="05000000000000000000" pitchFamily="2" charset="2"/>
              </a:rPr>
              <a:t>overhead</a:t>
            </a:r>
            <a:r>
              <a:rPr lang="it-IT" sz="2400" b="1" dirty="0">
                <a:sym typeface="Wingdings" panose="05000000000000000000" pitchFamily="2" charset="2"/>
              </a:rPr>
              <a:t>! </a:t>
            </a:r>
            <a:r>
              <a:rPr lang="it-IT" sz="2000" b="1" dirty="0">
                <a:sym typeface="Wingdings" panose="05000000000000000000" pitchFamily="2" charset="2"/>
              </a:rPr>
              <a:t>(double </a:t>
            </a:r>
            <a:r>
              <a:rPr lang="it-IT" sz="2000" b="1" dirty="0" err="1">
                <a:sym typeface="Wingdings" panose="05000000000000000000" pitchFamily="2" charset="2"/>
              </a:rPr>
              <a:t>size</a:t>
            </a:r>
            <a:r>
              <a:rPr lang="it-IT" sz="2000" b="1" dirty="0">
                <a:sym typeface="Wingdings" panose="05000000000000000000" pitchFamily="2" charset="2"/>
              </a:rPr>
              <a:t>)</a:t>
            </a:r>
            <a:endParaRPr lang="it-IT" sz="1100" b="1" dirty="0"/>
          </a:p>
        </p:txBody>
      </p:sp>
    </p:spTree>
    <p:extLst>
      <p:ext uri="{BB962C8B-B14F-4D97-AF65-F5344CB8AC3E}">
        <p14:creationId xmlns:p14="http://schemas.microsoft.com/office/powerpoint/2010/main" val="3033922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.00093 L -0.00191 0.1224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6065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4.81481E-6 L 2.77778E-7 0.00024 C 0.00017 0.00579 0.00017 0.01181 0.00052 0.01783 C 0.00069 0.02061 0.00069 0.02315 0.00104 0.0257 C 0.00122 0.02686 0.00278 0.02917 0.00347 0.03033 C 0.00365 0.03102 0.00382 0.03195 0.00399 0.03264 C 0.00434 0.03357 0.00573 0.03565 0.00642 0.03588 C 0.00816 0.03704 0.0099 0.0375 0.01181 0.03797 C 0.01233 0.03843 0.01302 0.03889 0.01354 0.03913 C 0.01389 0.03959 0.01424 0.04005 0.01476 0.04051 C 0.01528 0.04098 0.01597 0.04098 0.01649 0.04121 C 0.01684 0.04213 0.01701 0.04329 0.01771 0.04375 C 0.01892 0.04491 0.02222 0.04538 0.02361 0.04561 C 0.02396 0.0463 0.02431 0.04653 0.02483 0.047 C 0.02778 0.04931 0.02778 0.04838 0.03194 0.04769 C 0.03264 0.04792 0.03351 0.04792 0.0342 0.04838 C 0.03524 0.04862 0.03611 0.04954 0.03715 0.04977 C 0.03958 0.05 0.04201 0.05 0.04427 0.05024 L 0.06389 0.05163 C 0.0658 0.05232 0.06771 0.05348 0.06979 0.05417 C 0.07135 0.05487 0.07292 0.05487 0.07448 0.05533 C 0.08177 0.05811 0.07135 0.05556 0.07986 0.05741 C 0.08038 0.05788 0.08108 0.05811 0.0816 0.05857 C 0.08194 0.05903 0.08229 0.05973 0.08281 0.05996 C 0.08333 0.06019 0.08403 0.06019 0.08455 0.06065 C 0.08628 0.0625 0.08611 0.06274 0.08993 0.0632 C 0.10156 0.06436 0.11319 0.06482 0.12483 0.06575 C 0.12552 0.06598 0.12639 0.06598 0.12708 0.06644 C 0.13125 0.06829 0.12691 0.0669 0.13003 0.06899 C 0.13056 0.06945 0.13125 0.06945 0.13194 0.06968 C 0.13229 0.07061 0.13264 0.0713 0.13299 0.07223 C 0.13333 0.07292 0.13403 0.07338 0.1342 0.07408 C 0.1349 0.07616 0.13611 0.0801 0.13611 0.08033 L 0.13299 0.08334 L 0.12309 0.11968 " pathEditMode="relative" rAng="0" ptsTypes="AAAAAAAAAAAAAAAAAAAAAAAAAAAAAAAAAAA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06" y="5972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"/>
                                            </p:cond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4.81481E-6 L 2.22222E-6 0.00024 C 0.00712 0.00047 0.01423 0.00093 0.02135 0.00301 C 0.02257 0.00325 0.02361 0.00463 0.02482 0.00533 C 0.02778 0.00625 0.0309 0.00649 0.03403 0.00718 C 0.03489 0.00811 0.03559 0.0088 0.03611 0.00926 C 0.0368 0.00996 0.03698 0.01088 0.03767 0.01158 C 0.03819 0.01227 0.03906 0.01227 0.03975 0.0125 C 0.04166 0.01343 0.04375 0.01366 0.04566 0.01459 C 0.04826 0.01598 0.05121 0.01783 0.05416 0.01922 C 0.05712 0.02014 0.06024 0.02038 0.06337 0.0213 C 0.06597 0.022 0.06857 0.02246 0.07118 0.02315 C 0.07222 0.02408 0.07309 0.02477 0.07413 0.02547 C 0.07673 0.02732 0.07621 0.0257 0.07916 0.02848 C 0.0842 0.03357 0.0743 0.02755 0.08472 0.03288 C 0.08559 0.03496 0.08576 0.03704 0.0868 0.03843 C 0.09062 0.04283 0.09357 0.04237 0.09757 0.04468 C 0.09861 0.04514 0.09948 0.04653 0.10052 0.04676 C 0.10364 0.04815 0.10677 0.04838 0.10972 0.04908 C 0.11094 0.04977 0.11215 0.0507 0.11319 0.05116 C 0.11423 0.05163 0.11528 0.05186 0.11614 0.05209 C 0.11771 0.05278 0.1191 0.05371 0.12066 0.0544 C 0.12812 0.06389 0.12118 0.05695 0.12986 0.06204 C 0.1316 0.0632 0.13333 0.06551 0.13541 0.06598 C 0.13715 0.0669 0.13871 0.0676 0.14045 0.06829 C 0.1434 0.06991 0.14618 0.0713 0.14913 0.07269 L 0.15416 0.07477 C 0.15469 0.07547 0.15555 0.0757 0.15625 0.07709 C 0.15677 0.07801 0.15677 0.08033 0.15764 0.08125 C 0.1592 0.08264 0.16493 0.08403 0.16684 0.08426 C 0.16771 0.08519 0.1684 0.08588 0.16892 0.08658 C 0.16962 0.08704 0.16979 0.0882 0.17048 0.08866 C 0.171 0.08936 0.17187 0.08936 0.17257 0.08959 C 0.17378 0.09028 0.175 0.09167 0.17604 0.0919 C 0.18455 0.09538 0.19219 0.09491 0.20121 0.0963 C 0.20208 0.097 0.20312 0.09792 0.20399 0.09838 C 0.21319 0.10278 0.21458 0.10325 0.22257 0.10579 C 0.22535 0.10973 0.22274 0.10695 0.2276 0.10926 C 0.2375 0.11366 0.22639 0.1088 0.23333 0.1132 C 0.2342 0.11389 0.23524 0.11389 0.23628 0.11459 C 0.2368 0.11528 0.23767 0.11551 0.23837 0.11644 C 0.23889 0.1176 0.23871 0.12014 0.23975 0.12084 C 0.24166 0.12223 0.24635 0.12176 0.24635 0.12223 L 0.24635 0.12176 L 0.24635 0.12223 L 0.24635 0.12176 " pathEditMode="relative" rAng="0" ptsTypes="AAAAAAAAAAAAAAAAAAAAAAAAAAAAAAAAAAAAAAAAAAAAAA">
                                      <p:cBhvr>
                                        <p:cTn id="1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09" y="6111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1.48148E-6 L -0.00104 0.45556 " pathEditMode="relative" rAng="0" ptsTypes="AA">
                                      <p:cBhvr>
                                        <p:cTn id="11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22778"/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1.48148E-6 L -0.00104 0.45556 " pathEditMode="relative" rAng="0" ptsTypes="AA">
                                      <p:cBhvr>
                                        <p:cTn id="12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22778"/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1.48148E-6 L -0.00104 0.45556 " pathEditMode="relative" rAng="0" ptsTypes="AA">
                                      <p:cBhvr>
                                        <p:cTn id="122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22778"/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4.44444E-6 L -0.00191 0.1301 " pathEditMode="relative" rAng="0" ptsTypes="AA">
                                      <p:cBhvr>
                                        <p:cTn id="12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6505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44444E-6 L -0.00191 0.1301 " pathEditMode="relative" rAng="0" ptsTypes="AA">
                                      <p:cBhvr>
                                        <p:cTn id="12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6505"/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4.44444E-6 L -0.00191 0.1301 " pathEditMode="relative" rAng="0" ptsTypes="AA">
                                      <p:cBhvr>
                                        <p:cTn id="12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65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7" grpId="1" animBg="1"/>
      <p:bldP spid="9" grpId="0"/>
      <p:bldP spid="10" grpId="0" animBg="1"/>
      <p:bldP spid="10" grpId="1" animBg="1"/>
      <p:bldP spid="15" grpId="0" animBg="1"/>
      <p:bldP spid="16" grpId="0" animBg="1"/>
      <p:bldP spid="17" grpId="0" animBg="1"/>
      <p:bldP spid="19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1" animBg="1"/>
      <p:bldP spid="26" grpId="2" animBg="1"/>
      <p:bldP spid="28" grpId="0"/>
      <p:bldP spid="29" grpId="1" animBg="1"/>
      <p:bldP spid="29" grpId="2" animBg="1"/>
      <p:bldP spid="30" grpId="0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1" animBg="1"/>
      <p:bldP spid="37" grpId="2" animBg="1"/>
      <p:bldP spid="39" grpId="0"/>
      <p:bldP spid="40" grpId="1" animBg="1"/>
      <p:bldP spid="40" grpId="2" animBg="1"/>
      <p:bldP spid="41" grpId="0"/>
      <p:bldP spid="42" grpId="0" animBg="1"/>
      <p:bldP spid="43" grpId="0" animBg="1"/>
      <p:bldP spid="4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Cipher</a:t>
            </a:r>
            <a:r>
              <a:rPr lang="it-IT" dirty="0"/>
              <a:t> </a:t>
            </a:r>
            <a:r>
              <a:rPr lang="it-IT" dirty="0" err="1"/>
              <a:t>Block</a:t>
            </a:r>
            <a:r>
              <a:rPr lang="it-IT" dirty="0"/>
              <a:t> </a:t>
            </a:r>
            <a:r>
              <a:rPr lang="it-IT" dirty="0" err="1"/>
              <a:t>Chaining</a:t>
            </a:r>
            <a:endParaRPr lang="it-IT" dirty="0"/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2133600" y="4069680"/>
            <a:ext cx="914400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3810000" y="4069680"/>
            <a:ext cx="914400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400" dirty="0"/>
              <a:t>PRP</a:t>
            </a:r>
            <a:endParaRPr lang="en-US" altLang="it-IT" sz="2400" dirty="0">
              <a:sym typeface="Symbol" pitchFamily="18" charset="2"/>
            </a:endParaRPr>
          </a:p>
        </p:txBody>
      </p:sp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7010400" y="4069680"/>
            <a:ext cx="914400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400" dirty="0"/>
              <a:t>PRP</a:t>
            </a:r>
            <a:endParaRPr lang="en-US" altLang="it-IT" sz="2400" dirty="0">
              <a:sym typeface="Symbol" pitchFamily="18" charset="2"/>
            </a:endParaRP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1828800" y="2983830"/>
            <a:ext cx="15240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000" b="1"/>
              <a:t>m[0]</a:t>
            </a:r>
          </a:p>
        </p:txBody>
      </p:sp>
      <p:sp>
        <p:nvSpPr>
          <p:cNvPr id="19" name="Rectangle 11"/>
          <p:cNvSpPr>
            <a:spLocks noChangeArrowheads="1"/>
          </p:cNvSpPr>
          <p:nvPr/>
        </p:nvSpPr>
        <p:spPr bwMode="auto">
          <a:xfrm>
            <a:off x="3352800" y="2983830"/>
            <a:ext cx="16764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000" b="1"/>
              <a:t>m[1]</a:t>
            </a:r>
          </a:p>
        </p:txBody>
      </p:sp>
      <p:sp>
        <p:nvSpPr>
          <p:cNvPr id="20" name="Rectangle 12"/>
          <p:cNvSpPr>
            <a:spLocks noChangeArrowheads="1"/>
          </p:cNvSpPr>
          <p:nvPr/>
        </p:nvSpPr>
        <p:spPr bwMode="auto">
          <a:xfrm>
            <a:off x="5029200" y="2983830"/>
            <a:ext cx="16002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000" b="1"/>
              <a:t>m[2]</a:t>
            </a:r>
          </a:p>
        </p:txBody>
      </p:sp>
      <p:sp>
        <p:nvSpPr>
          <p:cNvPr id="21" name="Rectangle 13"/>
          <p:cNvSpPr>
            <a:spLocks noChangeArrowheads="1"/>
          </p:cNvSpPr>
          <p:nvPr/>
        </p:nvSpPr>
        <p:spPr bwMode="auto">
          <a:xfrm>
            <a:off x="6629400" y="2983830"/>
            <a:ext cx="15240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000" b="1"/>
              <a:t>m[3]</a:t>
            </a:r>
          </a:p>
        </p:txBody>
      </p: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685800" y="2983830"/>
            <a:ext cx="838200" cy="28575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000" b="1"/>
              <a:t>IV</a:t>
            </a:r>
          </a:p>
        </p:txBody>
      </p:sp>
      <p:sp>
        <p:nvSpPr>
          <p:cNvPr id="23" name="Text Box 15"/>
          <p:cNvSpPr txBox="1">
            <a:spLocks noChangeArrowheads="1"/>
          </p:cNvSpPr>
          <p:nvPr/>
        </p:nvSpPr>
        <p:spPr bwMode="auto">
          <a:xfrm>
            <a:off x="2322513" y="3371180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>
                <a:sym typeface="Symbol" pitchFamily="18" charset="2"/>
              </a:rPr>
              <a:t></a:t>
            </a:r>
          </a:p>
        </p:txBody>
      </p:sp>
      <p:sp>
        <p:nvSpPr>
          <p:cNvPr id="24" name="Text Box 16"/>
          <p:cNvSpPr txBox="1">
            <a:spLocks noChangeArrowheads="1"/>
          </p:cNvSpPr>
          <p:nvPr/>
        </p:nvSpPr>
        <p:spPr bwMode="auto">
          <a:xfrm>
            <a:off x="7239000" y="3371180"/>
            <a:ext cx="500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>
                <a:sym typeface="Symbol" pitchFamily="18" charset="2"/>
              </a:rPr>
              <a:t></a:t>
            </a:r>
          </a:p>
        </p:txBody>
      </p:sp>
      <p:sp>
        <p:nvSpPr>
          <p:cNvPr id="25" name="Text Box 17"/>
          <p:cNvSpPr txBox="1">
            <a:spLocks noChangeArrowheads="1"/>
          </p:cNvSpPr>
          <p:nvPr/>
        </p:nvSpPr>
        <p:spPr bwMode="auto">
          <a:xfrm>
            <a:off x="4038600" y="3371180"/>
            <a:ext cx="500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>
                <a:sym typeface="Symbol" pitchFamily="18" charset="2"/>
              </a:rPr>
              <a:t></a:t>
            </a:r>
          </a:p>
        </p:txBody>
      </p:sp>
      <p:sp>
        <p:nvSpPr>
          <p:cNvPr id="26" name="Line 19"/>
          <p:cNvSpPr>
            <a:spLocks noChangeShapeType="1"/>
          </p:cNvSpPr>
          <p:nvPr/>
        </p:nvSpPr>
        <p:spPr bwMode="auto">
          <a:xfrm>
            <a:off x="2559050" y="3269580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7" name="Line 20"/>
          <p:cNvSpPr>
            <a:spLocks noChangeShapeType="1"/>
          </p:cNvSpPr>
          <p:nvPr/>
        </p:nvSpPr>
        <p:spPr bwMode="auto">
          <a:xfrm>
            <a:off x="4267200" y="3293393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8" name="Line 21"/>
          <p:cNvSpPr>
            <a:spLocks noChangeShapeType="1"/>
          </p:cNvSpPr>
          <p:nvPr/>
        </p:nvSpPr>
        <p:spPr bwMode="auto">
          <a:xfrm>
            <a:off x="7467600" y="3269580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9" name="Line 22"/>
          <p:cNvSpPr>
            <a:spLocks noChangeShapeType="1"/>
          </p:cNvSpPr>
          <p:nvPr/>
        </p:nvSpPr>
        <p:spPr bwMode="auto">
          <a:xfrm>
            <a:off x="4267200" y="3783930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0" name="Line 23"/>
          <p:cNvSpPr>
            <a:spLocks noChangeShapeType="1"/>
          </p:cNvSpPr>
          <p:nvPr/>
        </p:nvSpPr>
        <p:spPr bwMode="auto">
          <a:xfrm>
            <a:off x="7467600" y="3783930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1" name="Line 24"/>
          <p:cNvSpPr>
            <a:spLocks noChangeShapeType="1"/>
          </p:cNvSpPr>
          <p:nvPr/>
        </p:nvSpPr>
        <p:spPr bwMode="auto">
          <a:xfrm>
            <a:off x="2514600" y="3783930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2" name="Freeform 26"/>
          <p:cNvSpPr>
            <a:spLocks/>
          </p:cNvSpPr>
          <p:nvPr/>
        </p:nvSpPr>
        <p:spPr bwMode="auto">
          <a:xfrm>
            <a:off x="1066800" y="3269580"/>
            <a:ext cx="1371600" cy="400050"/>
          </a:xfrm>
          <a:custGeom>
            <a:avLst/>
            <a:gdLst>
              <a:gd name="T0" fmla="*/ 0 w 864"/>
              <a:gd name="T1" fmla="*/ 0 h 336"/>
              <a:gd name="T2" fmla="*/ 0 w 864"/>
              <a:gd name="T3" fmla="*/ 2147483647 h 336"/>
              <a:gd name="T4" fmla="*/ 2147483647 w 864"/>
              <a:gd name="T5" fmla="*/ 2147483647 h 336"/>
              <a:gd name="T6" fmla="*/ 0 60000 65536"/>
              <a:gd name="T7" fmla="*/ 0 60000 65536"/>
              <a:gd name="T8" fmla="*/ 0 60000 65536"/>
              <a:gd name="T9" fmla="*/ 0 w 864"/>
              <a:gd name="T10" fmla="*/ 0 h 336"/>
              <a:gd name="T11" fmla="*/ 864 w 864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64" h="336">
                <a:moveTo>
                  <a:pt x="0" y="0"/>
                </a:moveTo>
                <a:lnTo>
                  <a:pt x="0" y="336"/>
                </a:lnTo>
                <a:lnTo>
                  <a:pt x="864" y="336"/>
                </a:lnTo>
              </a:path>
            </a:pathLst>
          </a:custGeom>
          <a:noFill/>
          <a:ln w="12700" cmpd="sng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3" name="Line 27"/>
          <p:cNvSpPr>
            <a:spLocks noChangeShapeType="1"/>
          </p:cNvSpPr>
          <p:nvPr/>
        </p:nvSpPr>
        <p:spPr bwMode="auto">
          <a:xfrm>
            <a:off x="2514600" y="4698330"/>
            <a:ext cx="1588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4" name="Freeform 28"/>
          <p:cNvSpPr>
            <a:spLocks/>
          </p:cNvSpPr>
          <p:nvPr/>
        </p:nvSpPr>
        <p:spPr bwMode="auto">
          <a:xfrm>
            <a:off x="2514600" y="3669630"/>
            <a:ext cx="1600200" cy="1257300"/>
          </a:xfrm>
          <a:custGeom>
            <a:avLst/>
            <a:gdLst>
              <a:gd name="T0" fmla="*/ 0 w 1008"/>
              <a:gd name="T1" fmla="*/ 2147483647 h 1056"/>
              <a:gd name="T2" fmla="*/ 2147483647 w 1008"/>
              <a:gd name="T3" fmla="*/ 2147483647 h 1056"/>
              <a:gd name="T4" fmla="*/ 2147483647 w 1008"/>
              <a:gd name="T5" fmla="*/ 0 h 1056"/>
              <a:gd name="T6" fmla="*/ 2147483647 w 1008"/>
              <a:gd name="T7" fmla="*/ 0 h 1056"/>
              <a:gd name="T8" fmla="*/ 0 60000 65536"/>
              <a:gd name="T9" fmla="*/ 0 60000 65536"/>
              <a:gd name="T10" fmla="*/ 0 60000 65536"/>
              <a:gd name="T11" fmla="*/ 0 60000 65536"/>
              <a:gd name="T12" fmla="*/ 0 w 1008"/>
              <a:gd name="T13" fmla="*/ 0 h 1056"/>
              <a:gd name="T14" fmla="*/ 1008 w 1008"/>
              <a:gd name="T15" fmla="*/ 1056 h 10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8" h="1056">
                <a:moveTo>
                  <a:pt x="0" y="1056"/>
                </a:moveTo>
                <a:lnTo>
                  <a:pt x="576" y="1056"/>
                </a:lnTo>
                <a:lnTo>
                  <a:pt x="576" y="0"/>
                </a:lnTo>
                <a:lnTo>
                  <a:pt x="100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5" name="Line 29"/>
          <p:cNvSpPr>
            <a:spLocks noChangeShapeType="1"/>
          </p:cNvSpPr>
          <p:nvPr/>
        </p:nvSpPr>
        <p:spPr bwMode="auto">
          <a:xfrm>
            <a:off x="4267200" y="4698330"/>
            <a:ext cx="1588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6" name="Rectangle 36"/>
          <p:cNvSpPr>
            <a:spLocks noChangeArrowheads="1"/>
          </p:cNvSpPr>
          <p:nvPr/>
        </p:nvSpPr>
        <p:spPr bwMode="auto">
          <a:xfrm>
            <a:off x="5486400" y="4069680"/>
            <a:ext cx="914400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37" name="Freeform 37"/>
          <p:cNvSpPr>
            <a:spLocks/>
          </p:cNvSpPr>
          <p:nvPr/>
        </p:nvSpPr>
        <p:spPr bwMode="auto">
          <a:xfrm>
            <a:off x="4267200" y="3669630"/>
            <a:ext cx="1600200" cy="1257300"/>
          </a:xfrm>
          <a:custGeom>
            <a:avLst/>
            <a:gdLst>
              <a:gd name="T0" fmla="*/ 0 w 1008"/>
              <a:gd name="T1" fmla="*/ 2147483647 h 1056"/>
              <a:gd name="T2" fmla="*/ 2147483647 w 1008"/>
              <a:gd name="T3" fmla="*/ 2147483647 h 1056"/>
              <a:gd name="T4" fmla="*/ 2147483647 w 1008"/>
              <a:gd name="T5" fmla="*/ 0 h 1056"/>
              <a:gd name="T6" fmla="*/ 2147483647 w 1008"/>
              <a:gd name="T7" fmla="*/ 0 h 1056"/>
              <a:gd name="T8" fmla="*/ 0 60000 65536"/>
              <a:gd name="T9" fmla="*/ 0 60000 65536"/>
              <a:gd name="T10" fmla="*/ 0 60000 65536"/>
              <a:gd name="T11" fmla="*/ 0 60000 65536"/>
              <a:gd name="T12" fmla="*/ 0 w 1008"/>
              <a:gd name="T13" fmla="*/ 0 h 1056"/>
              <a:gd name="T14" fmla="*/ 1008 w 1008"/>
              <a:gd name="T15" fmla="*/ 1056 h 10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8" h="1056">
                <a:moveTo>
                  <a:pt x="0" y="1056"/>
                </a:moveTo>
                <a:lnTo>
                  <a:pt x="576" y="1056"/>
                </a:lnTo>
                <a:lnTo>
                  <a:pt x="576" y="0"/>
                </a:lnTo>
                <a:lnTo>
                  <a:pt x="100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8" name="Freeform 38"/>
          <p:cNvSpPr>
            <a:spLocks/>
          </p:cNvSpPr>
          <p:nvPr/>
        </p:nvSpPr>
        <p:spPr bwMode="auto">
          <a:xfrm>
            <a:off x="5943600" y="3669630"/>
            <a:ext cx="1371600" cy="1257300"/>
          </a:xfrm>
          <a:custGeom>
            <a:avLst/>
            <a:gdLst>
              <a:gd name="T0" fmla="*/ 0 w 1008"/>
              <a:gd name="T1" fmla="*/ 2147483647 h 1056"/>
              <a:gd name="T2" fmla="*/ 2147483647 w 1008"/>
              <a:gd name="T3" fmla="*/ 2147483647 h 1056"/>
              <a:gd name="T4" fmla="*/ 2147483647 w 1008"/>
              <a:gd name="T5" fmla="*/ 0 h 1056"/>
              <a:gd name="T6" fmla="*/ 2147483647 w 1008"/>
              <a:gd name="T7" fmla="*/ 0 h 1056"/>
              <a:gd name="T8" fmla="*/ 0 60000 65536"/>
              <a:gd name="T9" fmla="*/ 0 60000 65536"/>
              <a:gd name="T10" fmla="*/ 0 60000 65536"/>
              <a:gd name="T11" fmla="*/ 0 60000 65536"/>
              <a:gd name="T12" fmla="*/ 0 w 1008"/>
              <a:gd name="T13" fmla="*/ 0 h 1056"/>
              <a:gd name="T14" fmla="*/ 1008 w 1008"/>
              <a:gd name="T15" fmla="*/ 1056 h 10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8" h="1056">
                <a:moveTo>
                  <a:pt x="0" y="1056"/>
                </a:moveTo>
                <a:lnTo>
                  <a:pt x="576" y="1056"/>
                </a:lnTo>
                <a:lnTo>
                  <a:pt x="576" y="0"/>
                </a:lnTo>
                <a:lnTo>
                  <a:pt x="100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9" name="Text Box 39"/>
          <p:cNvSpPr txBox="1">
            <a:spLocks noChangeArrowheads="1"/>
          </p:cNvSpPr>
          <p:nvPr/>
        </p:nvSpPr>
        <p:spPr bwMode="auto">
          <a:xfrm>
            <a:off x="5751513" y="3371180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>
                <a:sym typeface="Symbol" pitchFamily="18" charset="2"/>
              </a:rPr>
              <a:t></a:t>
            </a:r>
          </a:p>
        </p:txBody>
      </p:sp>
      <p:sp>
        <p:nvSpPr>
          <p:cNvPr id="40" name="Line 40"/>
          <p:cNvSpPr>
            <a:spLocks noChangeShapeType="1"/>
          </p:cNvSpPr>
          <p:nvPr/>
        </p:nvSpPr>
        <p:spPr bwMode="auto">
          <a:xfrm>
            <a:off x="5980113" y="3293393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1" name="Line 41"/>
          <p:cNvSpPr>
            <a:spLocks noChangeShapeType="1"/>
          </p:cNvSpPr>
          <p:nvPr/>
        </p:nvSpPr>
        <p:spPr bwMode="auto">
          <a:xfrm>
            <a:off x="5980113" y="3783930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2" name="Line 42"/>
          <p:cNvSpPr>
            <a:spLocks noChangeShapeType="1"/>
          </p:cNvSpPr>
          <p:nvPr/>
        </p:nvSpPr>
        <p:spPr bwMode="auto">
          <a:xfrm>
            <a:off x="5943600" y="4698330"/>
            <a:ext cx="1588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3" name="Line 43"/>
          <p:cNvSpPr>
            <a:spLocks noChangeShapeType="1"/>
          </p:cNvSpPr>
          <p:nvPr/>
        </p:nvSpPr>
        <p:spPr bwMode="auto">
          <a:xfrm>
            <a:off x="7466013" y="4698330"/>
            <a:ext cx="1587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4" name="Rectangle 44"/>
          <p:cNvSpPr>
            <a:spLocks noChangeArrowheads="1"/>
          </p:cNvSpPr>
          <p:nvPr/>
        </p:nvSpPr>
        <p:spPr bwMode="auto">
          <a:xfrm>
            <a:off x="1828800" y="5155530"/>
            <a:ext cx="1524000" cy="28575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000" b="1"/>
              <a:t>c[0]</a:t>
            </a:r>
          </a:p>
        </p:txBody>
      </p:sp>
      <p:sp>
        <p:nvSpPr>
          <p:cNvPr id="45" name="Rectangle 45"/>
          <p:cNvSpPr>
            <a:spLocks noChangeArrowheads="1"/>
          </p:cNvSpPr>
          <p:nvPr/>
        </p:nvSpPr>
        <p:spPr bwMode="auto">
          <a:xfrm>
            <a:off x="3352800" y="5155530"/>
            <a:ext cx="1676400" cy="28575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000" b="1"/>
              <a:t>c[1]</a:t>
            </a:r>
          </a:p>
        </p:txBody>
      </p:sp>
      <p:sp>
        <p:nvSpPr>
          <p:cNvPr id="46" name="Rectangle 46"/>
          <p:cNvSpPr>
            <a:spLocks noChangeArrowheads="1"/>
          </p:cNvSpPr>
          <p:nvPr/>
        </p:nvSpPr>
        <p:spPr bwMode="auto">
          <a:xfrm>
            <a:off x="5029200" y="5155530"/>
            <a:ext cx="1600200" cy="28575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000" b="1"/>
              <a:t>c[2]</a:t>
            </a:r>
          </a:p>
        </p:txBody>
      </p:sp>
      <p:sp>
        <p:nvSpPr>
          <p:cNvPr id="47" name="Rectangle 47"/>
          <p:cNvSpPr>
            <a:spLocks noChangeArrowheads="1"/>
          </p:cNvSpPr>
          <p:nvPr/>
        </p:nvSpPr>
        <p:spPr bwMode="auto">
          <a:xfrm>
            <a:off x="6629400" y="5155530"/>
            <a:ext cx="1524000" cy="28575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000" b="1"/>
              <a:t>c[3]</a:t>
            </a:r>
          </a:p>
        </p:txBody>
      </p:sp>
      <p:sp>
        <p:nvSpPr>
          <p:cNvPr id="48" name="Rectangle 48"/>
          <p:cNvSpPr>
            <a:spLocks noChangeArrowheads="1"/>
          </p:cNvSpPr>
          <p:nvPr/>
        </p:nvSpPr>
        <p:spPr bwMode="auto">
          <a:xfrm>
            <a:off x="685800" y="5155530"/>
            <a:ext cx="838200" cy="28575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000" b="1"/>
              <a:t>IV</a:t>
            </a:r>
          </a:p>
        </p:txBody>
      </p:sp>
      <p:sp>
        <p:nvSpPr>
          <p:cNvPr id="49" name="AutoShape 49"/>
          <p:cNvSpPr>
            <a:spLocks/>
          </p:cNvSpPr>
          <p:nvPr/>
        </p:nvSpPr>
        <p:spPr bwMode="auto">
          <a:xfrm rot="16200000" flipV="1">
            <a:off x="4305300" y="1821780"/>
            <a:ext cx="228600" cy="7467600"/>
          </a:xfrm>
          <a:prstGeom prst="leftBrace">
            <a:avLst>
              <a:gd name="adj1" fmla="val 2041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50" name="Text Box 50"/>
          <p:cNvSpPr txBox="1">
            <a:spLocks noChangeArrowheads="1"/>
          </p:cNvSpPr>
          <p:nvPr/>
        </p:nvSpPr>
        <p:spPr bwMode="auto">
          <a:xfrm>
            <a:off x="3778250" y="5580980"/>
            <a:ext cx="11461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/>
              <a:t>ciphertext</a:t>
            </a:r>
          </a:p>
        </p:txBody>
      </p:sp>
      <p:cxnSp>
        <p:nvCxnSpPr>
          <p:cNvPr id="51" name="Connettore 2 43"/>
          <p:cNvCxnSpPr>
            <a:cxnSpLocks noChangeShapeType="1"/>
          </p:cNvCxnSpPr>
          <p:nvPr/>
        </p:nvCxnSpPr>
        <p:spPr bwMode="auto">
          <a:xfrm>
            <a:off x="3635375" y="4607843"/>
            <a:ext cx="144463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2" name="CasellaDiTesto 44"/>
          <p:cNvSpPr txBox="1">
            <a:spLocks noChangeArrowheads="1"/>
          </p:cNvSpPr>
          <p:nvPr/>
        </p:nvSpPr>
        <p:spPr bwMode="auto">
          <a:xfrm>
            <a:off x="3397250" y="4391943"/>
            <a:ext cx="311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/>
              <a:t>K</a:t>
            </a:r>
          </a:p>
        </p:txBody>
      </p:sp>
      <p:cxnSp>
        <p:nvCxnSpPr>
          <p:cNvPr id="53" name="Connettore 2 45"/>
          <p:cNvCxnSpPr>
            <a:cxnSpLocks noChangeShapeType="1"/>
          </p:cNvCxnSpPr>
          <p:nvPr/>
        </p:nvCxnSpPr>
        <p:spPr bwMode="auto">
          <a:xfrm>
            <a:off x="1979613" y="4617368"/>
            <a:ext cx="144462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" name="CasellaDiTesto 46"/>
          <p:cNvSpPr txBox="1">
            <a:spLocks noChangeArrowheads="1"/>
          </p:cNvSpPr>
          <p:nvPr/>
        </p:nvSpPr>
        <p:spPr bwMode="auto">
          <a:xfrm>
            <a:off x="1739900" y="4401468"/>
            <a:ext cx="311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/>
              <a:t>K</a:t>
            </a:r>
          </a:p>
        </p:txBody>
      </p:sp>
      <p:cxnSp>
        <p:nvCxnSpPr>
          <p:cNvPr id="55" name="Connettore 2 47"/>
          <p:cNvCxnSpPr>
            <a:cxnSpLocks noChangeShapeType="1"/>
          </p:cNvCxnSpPr>
          <p:nvPr/>
        </p:nvCxnSpPr>
        <p:spPr bwMode="auto">
          <a:xfrm>
            <a:off x="5364163" y="4617368"/>
            <a:ext cx="144462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" name="CasellaDiTesto 48"/>
          <p:cNvSpPr txBox="1">
            <a:spLocks noChangeArrowheads="1"/>
          </p:cNvSpPr>
          <p:nvPr/>
        </p:nvSpPr>
        <p:spPr bwMode="auto">
          <a:xfrm>
            <a:off x="5124450" y="4401468"/>
            <a:ext cx="311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/>
              <a:t>K</a:t>
            </a:r>
          </a:p>
        </p:txBody>
      </p:sp>
      <p:cxnSp>
        <p:nvCxnSpPr>
          <p:cNvPr id="57" name="Connettore 2 49"/>
          <p:cNvCxnSpPr>
            <a:cxnSpLocks noChangeShapeType="1"/>
          </p:cNvCxnSpPr>
          <p:nvPr/>
        </p:nvCxnSpPr>
        <p:spPr bwMode="auto">
          <a:xfrm>
            <a:off x="6899275" y="4617368"/>
            <a:ext cx="144463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" name="CasellaDiTesto 50"/>
          <p:cNvSpPr txBox="1">
            <a:spLocks noChangeArrowheads="1"/>
          </p:cNvSpPr>
          <p:nvPr/>
        </p:nvSpPr>
        <p:spPr bwMode="auto">
          <a:xfrm>
            <a:off x="6659563" y="4401468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/>
              <a:t>K</a:t>
            </a:r>
          </a:p>
        </p:txBody>
      </p:sp>
      <p:sp>
        <p:nvSpPr>
          <p:cNvPr id="59" name="Segnaposto contenuto 2"/>
          <p:cNvSpPr>
            <a:spLocks noGrp="1"/>
          </p:cNvSpPr>
          <p:nvPr>
            <p:ph idx="1"/>
          </p:nvPr>
        </p:nvSpPr>
        <p:spPr>
          <a:xfrm>
            <a:off x="899592" y="1088740"/>
            <a:ext cx="7740860" cy="1788442"/>
          </a:xfrm>
        </p:spPr>
        <p:txBody>
          <a:bodyPr>
            <a:normAutofit fontScale="62500" lnSpcReduction="20000"/>
          </a:bodyPr>
          <a:lstStyle/>
          <a:p>
            <a:r>
              <a:rPr lang="it-IT" dirty="0" err="1"/>
              <a:t>Good</a:t>
            </a:r>
            <a:r>
              <a:rPr lang="it-IT" dirty="0"/>
              <a:t> PRP </a:t>
            </a:r>
            <a:r>
              <a:rPr lang="it-IT" dirty="0">
                <a:sym typeface="Wingdings" panose="05000000000000000000" pitchFamily="2" charset="2"/>
              </a:rPr>
              <a:t> </a:t>
            </a:r>
            <a:r>
              <a:rPr lang="it-IT" dirty="0" err="1">
                <a:sym typeface="Wingdings" panose="05000000000000000000" pitchFamily="2" charset="2"/>
              </a:rPr>
              <a:t>pseudorandom</a:t>
            </a:r>
            <a:r>
              <a:rPr lang="it-IT" dirty="0">
                <a:sym typeface="Wingdings" panose="05000000000000000000" pitchFamily="2" charset="2"/>
              </a:rPr>
              <a:t> output  c[i] «</a:t>
            </a:r>
            <a:r>
              <a:rPr lang="it-IT" dirty="0" err="1">
                <a:sym typeface="Wingdings" panose="05000000000000000000" pitchFamily="2" charset="2"/>
              </a:rPr>
              <a:t>looks</a:t>
            </a:r>
            <a:r>
              <a:rPr lang="it-IT" dirty="0">
                <a:sym typeface="Wingdings" panose="05000000000000000000" pitchFamily="2" charset="2"/>
              </a:rPr>
              <a:t>» </a:t>
            </a:r>
            <a:r>
              <a:rPr lang="it-IT" dirty="0" err="1">
                <a:sym typeface="Wingdings" panose="05000000000000000000" pitchFamily="2" charset="2"/>
              </a:rPr>
              <a:t>as</a:t>
            </a:r>
            <a:r>
              <a:rPr lang="it-IT" dirty="0">
                <a:sym typeface="Wingdings" panose="05000000000000000000" pitchFamily="2" charset="2"/>
              </a:rPr>
              <a:t> random </a:t>
            </a:r>
          </a:p>
          <a:p>
            <a:r>
              <a:rPr lang="it-IT" dirty="0">
                <a:sym typeface="Wingdings" panose="05000000000000000000" pitchFamily="2" charset="2"/>
              </a:rPr>
              <a:t>CBC idea: use </a:t>
            </a:r>
            <a:r>
              <a:rPr lang="it-IT" dirty="0" err="1">
                <a:solidFill>
                  <a:srgbClr val="FF0000"/>
                </a:solidFill>
                <a:sym typeface="Wingdings" panose="05000000000000000000" pitchFamily="2" charset="2"/>
              </a:rPr>
              <a:t>previous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it-IT" dirty="0" err="1">
                <a:solidFill>
                  <a:srgbClr val="FF0000"/>
                </a:solidFill>
                <a:sym typeface="Wingdings" panose="05000000000000000000" pitchFamily="2" charset="2"/>
              </a:rPr>
              <a:t>ciphertext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it-IT" dirty="0" err="1">
                <a:solidFill>
                  <a:srgbClr val="FF0000"/>
                </a:solidFill>
                <a:sym typeface="Wingdings" panose="05000000000000000000" pitchFamily="2" charset="2"/>
              </a:rPr>
              <a:t>block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as</a:t>
            </a:r>
            <a:r>
              <a:rPr lang="it-IT" dirty="0">
                <a:sym typeface="Wingdings" panose="05000000000000000000" pitchFamily="2" charset="2"/>
              </a:rPr>
              <a:t> </a:t>
            </a:r>
            <a:br>
              <a:rPr lang="it-IT" dirty="0">
                <a:sym typeface="Wingdings" panose="05000000000000000000" pitchFamily="2" charset="2"/>
              </a:rPr>
            </a:b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IV for </a:t>
            </a:r>
            <a:r>
              <a:rPr lang="it-IT" dirty="0" err="1">
                <a:solidFill>
                  <a:srgbClr val="FF0000"/>
                </a:solidFill>
                <a:sym typeface="Wingdings" panose="05000000000000000000" pitchFamily="2" charset="2"/>
              </a:rPr>
              <a:t>next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it-IT" dirty="0" err="1">
                <a:solidFill>
                  <a:srgbClr val="FF0000"/>
                </a:solidFill>
                <a:sym typeface="Wingdings" panose="05000000000000000000" pitchFamily="2" charset="2"/>
              </a:rPr>
              <a:t>block</a:t>
            </a:r>
            <a:r>
              <a:rPr lang="it-IT" dirty="0">
                <a:sym typeface="Wingdings" panose="05000000000000000000" pitchFamily="2" charset="2"/>
              </a:rPr>
              <a:t>!!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c[0] = ENC( K,   IV   </a:t>
            </a:r>
            <a:r>
              <a:rPr lang="en-US" dirty="0">
                <a:sym typeface="Symbol" pitchFamily="18" charset="2"/>
              </a:rPr>
              <a:t> m[0] )</a:t>
            </a:r>
          </a:p>
          <a:p>
            <a:pPr lvl="1"/>
            <a:r>
              <a:rPr lang="en-US" dirty="0">
                <a:sym typeface="Symbol" pitchFamily="18" charset="2"/>
              </a:rPr>
              <a:t>c[</a:t>
            </a:r>
            <a:r>
              <a:rPr lang="en-US" dirty="0" err="1">
                <a:sym typeface="Symbol" pitchFamily="18" charset="2"/>
              </a:rPr>
              <a:t>i</a:t>
            </a:r>
            <a:r>
              <a:rPr lang="en-US" dirty="0">
                <a:sym typeface="Symbol" pitchFamily="18" charset="2"/>
              </a:rPr>
              <a:t>]  = ENC( K, c[i-1]  m[</a:t>
            </a:r>
            <a:r>
              <a:rPr lang="en-US" dirty="0" err="1">
                <a:sym typeface="Symbol" pitchFamily="18" charset="2"/>
              </a:rPr>
              <a:t>i</a:t>
            </a:r>
            <a:r>
              <a:rPr lang="en-US" dirty="0">
                <a:sym typeface="Symbol" pitchFamily="18" charset="2"/>
              </a:rPr>
              <a:t>]  )</a:t>
            </a:r>
            <a:endParaRPr lang="it-IT" dirty="0"/>
          </a:p>
        </p:txBody>
      </p:sp>
      <p:sp>
        <p:nvSpPr>
          <p:cNvPr id="60" name="Rettangolo 59"/>
          <p:cNvSpPr/>
          <p:nvPr/>
        </p:nvSpPr>
        <p:spPr>
          <a:xfrm>
            <a:off x="71500" y="5863808"/>
            <a:ext cx="90725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2400" b="1" dirty="0" err="1"/>
              <a:t>Ciphertext</a:t>
            </a:r>
            <a:r>
              <a:rPr lang="it-IT" sz="2400" b="1" dirty="0"/>
              <a:t> </a:t>
            </a:r>
            <a:r>
              <a:rPr lang="it-IT" sz="2400" b="1" dirty="0" err="1"/>
              <a:t>overhead</a:t>
            </a:r>
            <a:r>
              <a:rPr lang="it-IT" sz="2400" b="1" dirty="0"/>
              <a:t>: just the </a:t>
            </a:r>
            <a:r>
              <a:rPr lang="it-IT" sz="2400" b="1" dirty="0" err="1"/>
              <a:t>initial</a:t>
            </a:r>
            <a:r>
              <a:rPr lang="it-IT" sz="2400" b="1" dirty="0"/>
              <a:t> IV </a:t>
            </a:r>
            <a:r>
              <a:rPr lang="it-IT" sz="2400" b="1" dirty="0">
                <a:sym typeface="Wingdings" panose="05000000000000000000" pitchFamily="2" charset="2"/>
              </a:rPr>
              <a:t> </a:t>
            </a:r>
            <a:r>
              <a:rPr lang="it-IT" sz="2400" b="1" dirty="0" err="1">
                <a:sym typeface="Wingdings" panose="05000000000000000000" pitchFamily="2" charset="2"/>
              </a:rPr>
              <a:t>marginal</a:t>
            </a:r>
            <a:r>
              <a:rPr lang="it-IT" sz="2400" b="1" dirty="0">
                <a:sym typeface="Wingdings" panose="05000000000000000000" pitchFamily="2" charset="2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652476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/>
      <p:bldP spid="24" grpId="0"/>
      <p:bldP spid="25" grpId="0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/>
      <p:bldP spid="52" grpId="0"/>
      <p:bldP spid="54" grpId="0"/>
      <p:bldP spid="56" grpId="0"/>
      <p:bldP spid="58" grpId="0"/>
      <p:bldP spid="59" grpId="0" uiExpand="1" build="p"/>
      <p:bldP spid="6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CBC </a:t>
            </a:r>
            <a:r>
              <a:rPr lang="it-IT" dirty="0" err="1"/>
              <a:t>decryption</a:t>
            </a:r>
            <a:endParaRPr lang="it-IT" dirty="0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2133600" y="2119722"/>
            <a:ext cx="914400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400" dirty="0"/>
              <a:t>PRP</a:t>
            </a:r>
            <a:r>
              <a:rPr lang="en-US" altLang="it-IT" sz="2400" baseline="30000" dirty="0"/>
              <a:t>-1</a:t>
            </a:r>
            <a:endParaRPr lang="en-US" altLang="it-IT" sz="2400" baseline="30000" dirty="0">
              <a:sym typeface="Symbol" pitchFamily="18" charset="2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3810000" y="2119722"/>
            <a:ext cx="914400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400" dirty="0"/>
              <a:t>PRP</a:t>
            </a:r>
            <a:r>
              <a:rPr lang="en-US" altLang="it-IT" sz="2400" baseline="30000" dirty="0"/>
              <a:t>-1</a:t>
            </a:r>
            <a:endParaRPr lang="en-US" altLang="it-IT" sz="2400" dirty="0">
              <a:sym typeface="Symbol" pitchFamily="18" charset="2"/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7010400" y="2119722"/>
            <a:ext cx="914400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400" dirty="0"/>
              <a:t>PRP</a:t>
            </a:r>
            <a:r>
              <a:rPr lang="en-US" altLang="it-IT" sz="2400" baseline="30000" dirty="0"/>
              <a:t>-1</a:t>
            </a:r>
            <a:endParaRPr lang="en-US" altLang="it-IT" sz="2400" dirty="0">
              <a:sym typeface="Symbol" pitchFamily="18" charset="2"/>
            </a:endParaRP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828800" y="3548472"/>
            <a:ext cx="15240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000" b="1"/>
              <a:t>m[0]</a:t>
            </a: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3352800" y="3548472"/>
            <a:ext cx="16764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000" b="1"/>
              <a:t>m[1]</a:t>
            </a:r>
          </a:p>
        </p:txBody>
      </p: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5029200" y="3548472"/>
            <a:ext cx="16002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000" b="1"/>
              <a:t>m[2]</a:t>
            </a: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6629400" y="3548472"/>
            <a:ext cx="15240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000" b="1"/>
              <a:t>m[3]</a:t>
            </a:r>
          </a:p>
        </p:txBody>
      </p:sp>
      <p:sp>
        <p:nvSpPr>
          <p:cNvPr id="12" name="Text Box 15"/>
          <p:cNvSpPr txBox="1">
            <a:spLocks noChangeArrowheads="1"/>
          </p:cNvSpPr>
          <p:nvPr/>
        </p:nvSpPr>
        <p:spPr bwMode="auto">
          <a:xfrm flipV="1">
            <a:off x="2322513" y="2862672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>
                <a:sym typeface="Symbol" pitchFamily="18" charset="2"/>
              </a:rPr>
              <a:t></a:t>
            </a:r>
          </a:p>
        </p:txBody>
      </p:sp>
      <p:sp>
        <p:nvSpPr>
          <p:cNvPr id="13" name="Text Box 16"/>
          <p:cNvSpPr txBox="1">
            <a:spLocks noChangeArrowheads="1"/>
          </p:cNvSpPr>
          <p:nvPr/>
        </p:nvSpPr>
        <p:spPr bwMode="auto">
          <a:xfrm flipV="1">
            <a:off x="7239000" y="2862672"/>
            <a:ext cx="500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>
                <a:sym typeface="Symbol" pitchFamily="18" charset="2"/>
              </a:rPr>
              <a:t></a:t>
            </a:r>
          </a:p>
        </p:txBody>
      </p:sp>
      <p:sp>
        <p:nvSpPr>
          <p:cNvPr id="14" name="Text Box 17"/>
          <p:cNvSpPr txBox="1">
            <a:spLocks noChangeArrowheads="1"/>
          </p:cNvSpPr>
          <p:nvPr/>
        </p:nvSpPr>
        <p:spPr bwMode="auto">
          <a:xfrm flipV="1">
            <a:off x="4038600" y="2862672"/>
            <a:ext cx="500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>
                <a:sym typeface="Symbol" pitchFamily="18" charset="2"/>
              </a:rPr>
              <a:t></a:t>
            </a:r>
          </a:p>
        </p:txBody>
      </p:sp>
      <p:sp>
        <p:nvSpPr>
          <p:cNvPr id="15" name="Line 19"/>
          <p:cNvSpPr>
            <a:spLocks noChangeShapeType="1"/>
          </p:cNvSpPr>
          <p:nvPr/>
        </p:nvSpPr>
        <p:spPr bwMode="auto">
          <a:xfrm flipV="1">
            <a:off x="2559050" y="3262722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6" name="Line 20"/>
          <p:cNvSpPr>
            <a:spLocks noChangeShapeType="1"/>
          </p:cNvSpPr>
          <p:nvPr/>
        </p:nvSpPr>
        <p:spPr bwMode="auto">
          <a:xfrm flipV="1">
            <a:off x="4267200" y="3238909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7" name="Line 21"/>
          <p:cNvSpPr>
            <a:spLocks noChangeShapeType="1"/>
          </p:cNvSpPr>
          <p:nvPr/>
        </p:nvSpPr>
        <p:spPr bwMode="auto">
          <a:xfrm flipV="1">
            <a:off x="7467600" y="3262722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8" name="Line 22"/>
          <p:cNvSpPr>
            <a:spLocks noChangeShapeType="1"/>
          </p:cNvSpPr>
          <p:nvPr/>
        </p:nvSpPr>
        <p:spPr bwMode="auto">
          <a:xfrm flipV="1">
            <a:off x="4267200" y="2748372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9" name="Line 23"/>
          <p:cNvSpPr>
            <a:spLocks noChangeShapeType="1"/>
          </p:cNvSpPr>
          <p:nvPr/>
        </p:nvSpPr>
        <p:spPr bwMode="auto">
          <a:xfrm flipV="1">
            <a:off x="7467600" y="2748372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0" name="Line 24"/>
          <p:cNvSpPr>
            <a:spLocks noChangeShapeType="1"/>
          </p:cNvSpPr>
          <p:nvPr/>
        </p:nvSpPr>
        <p:spPr bwMode="auto">
          <a:xfrm flipV="1">
            <a:off x="2514600" y="2748372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1" name="Freeform 26"/>
          <p:cNvSpPr>
            <a:spLocks/>
          </p:cNvSpPr>
          <p:nvPr/>
        </p:nvSpPr>
        <p:spPr bwMode="auto">
          <a:xfrm>
            <a:off x="1066800" y="1662522"/>
            <a:ext cx="1371600" cy="1485900"/>
          </a:xfrm>
          <a:custGeom>
            <a:avLst/>
            <a:gdLst>
              <a:gd name="T0" fmla="*/ 0 w 864"/>
              <a:gd name="T1" fmla="*/ 0 h 336"/>
              <a:gd name="T2" fmla="*/ 0 w 864"/>
              <a:gd name="T3" fmla="*/ 2147483647 h 336"/>
              <a:gd name="T4" fmla="*/ 2147483647 w 864"/>
              <a:gd name="T5" fmla="*/ 2147483647 h 336"/>
              <a:gd name="T6" fmla="*/ 0 60000 65536"/>
              <a:gd name="T7" fmla="*/ 0 60000 65536"/>
              <a:gd name="T8" fmla="*/ 0 60000 65536"/>
              <a:gd name="T9" fmla="*/ 0 w 864"/>
              <a:gd name="T10" fmla="*/ 0 h 336"/>
              <a:gd name="T11" fmla="*/ 864 w 864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64" h="336">
                <a:moveTo>
                  <a:pt x="0" y="0"/>
                </a:moveTo>
                <a:lnTo>
                  <a:pt x="0" y="336"/>
                </a:lnTo>
                <a:lnTo>
                  <a:pt x="864" y="336"/>
                </a:lnTo>
              </a:path>
            </a:pathLst>
          </a:custGeom>
          <a:noFill/>
          <a:ln w="12700" cmpd="sng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2" name="Line 27"/>
          <p:cNvSpPr>
            <a:spLocks noChangeShapeType="1"/>
          </p:cNvSpPr>
          <p:nvPr/>
        </p:nvSpPr>
        <p:spPr bwMode="auto">
          <a:xfrm flipV="1">
            <a:off x="2514600" y="1662522"/>
            <a:ext cx="1588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3" name="Freeform 28"/>
          <p:cNvSpPr>
            <a:spLocks/>
          </p:cNvSpPr>
          <p:nvPr/>
        </p:nvSpPr>
        <p:spPr bwMode="auto">
          <a:xfrm flipV="1">
            <a:off x="2514600" y="1891122"/>
            <a:ext cx="1600200" cy="1257300"/>
          </a:xfrm>
          <a:custGeom>
            <a:avLst/>
            <a:gdLst>
              <a:gd name="T0" fmla="*/ 0 w 1008"/>
              <a:gd name="T1" fmla="*/ 2147483647 h 1056"/>
              <a:gd name="T2" fmla="*/ 2147483647 w 1008"/>
              <a:gd name="T3" fmla="*/ 2147483647 h 1056"/>
              <a:gd name="T4" fmla="*/ 2147483647 w 1008"/>
              <a:gd name="T5" fmla="*/ 0 h 1056"/>
              <a:gd name="T6" fmla="*/ 2147483647 w 1008"/>
              <a:gd name="T7" fmla="*/ 0 h 1056"/>
              <a:gd name="T8" fmla="*/ 0 60000 65536"/>
              <a:gd name="T9" fmla="*/ 0 60000 65536"/>
              <a:gd name="T10" fmla="*/ 0 60000 65536"/>
              <a:gd name="T11" fmla="*/ 0 60000 65536"/>
              <a:gd name="T12" fmla="*/ 0 w 1008"/>
              <a:gd name="T13" fmla="*/ 0 h 1056"/>
              <a:gd name="T14" fmla="*/ 1008 w 1008"/>
              <a:gd name="T15" fmla="*/ 1056 h 10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8" h="1056">
                <a:moveTo>
                  <a:pt x="0" y="1056"/>
                </a:moveTo>
                <a:lnTo>
                  <a:pt x="576" y="1056"/>
                </a:lnTo>
                <a:lnTo>
                  <a:pt x="576" y="0"/>
                </a:lnTo>
                <a:lnTo>
                  <a:pt x="100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4" name="Line 29"/>
          <p:cNvSpPr>
            <a:spLocks noChangeShapeType="1"/>
          </p:cNvSpPr>
          <p:nvPr/>
        </p:nvSpPr>
        <p:spPr bwMode="auto">
          <a:xfrm flipV="1">
            <a:off x="4267200" y="1662522"/>
            <a:ext cx="1588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5" name="Rectangle 36"/>
          <p:cNvSpPr>
            <a:spLocks noChangeArrowheads="1"/>
          </p:cNvSpPr>
          <p:nvPr/>
        </p:nvSpPr>
        <p:spPr bwMode="auto">
          <a:xfrm>
            <a:off x="5486400" y="2119722"/>
            <a:ext cx="914400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400" dirty="0"/>
              <a:t>PRP</a:t>
            </a:r>
            <a:r>
              <a:rPr lang="en-US" altLang="it-IT" sz="2400" baseline="30000" dirty="0"/>
              <a:t>-1</a:t>
            </a:r>
            <a:endParaRPr lang="en-US" altLang="it-IT" sz="2400" dirty="0">
              <a:sym typeface="Symbol" pitchFamily="18" charset="2"/>
            </a:endParaRPr>
          </a:p>
        </p:txBody>
      </p:sp>
      <p:sp>
        <p:nvSpPr>
          <p:cNvPr id="26" name="Freeform 37"/>
          <p:cNvSpPr>
            <a:spLocks/>
          </p:cNvSpPr>
          <p:nvPr/>
        </p:nvSpPr>
        <p:spPr bwMode="auto">
          <a:xfrm flipV="1">
            <a:off x="4267200" y="1891122"/>
            <a:ext cx="1600200" cy="1257300"/>
          </a:xfrm>
          <a:custGeom>
            <a:avLst/>
            <a:gdLst>
              <a:gd name="T0" fmla="*/ 0 w 1008"/>
              <a:gd name="T1" fmla="*/ 2147483647 h 1056"/>
              <a:gd name="T2" fmla="*/ 2147483647 w 1008"/>
              <a:gd name="T3" fmla="*/ 2147483647 h 1056"/>
              <a:gd name="T4" fmla="*/ 2147483647 w 1008"/>
              <a:gd name="T5" fmla="*/ 0 h 1056"/>
              <a:gd name="T6" fmla="*/ 2147483647 w 1008"/>
              <a:gd name="T7" fmla="*/ 0 h 1056"/>
              <a:gd name="T8" fmla="*/ 0 60000 65536"/>
              <a:gd name="T9" fmla="*/ 0 60000 65536"/>
              <a:gd name="T10" fmla="*/ 0 60000 65536"/>
              <a:gd name="T11" fmla="*/ 0 60000 65536"/>
              <a:gd name="T12" fmla="*/ 0 w 1008"/>
              <a:gd name="T13" fmla="*/ 0 h 1056"/>
              <a:gd name="T14" fmla="*/ 1008 w 1008"/>
              <a:gd name="T15" fmla="*/ 1056 h 10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8" h="1056">
                <a:moveTo>
                  <a:pt x="0" y="1056"/>
                </a:moveTo>
                <a:lnTo>
                  <a:pt x="576" y="1056"/>
                </a:lnTo>
                <a:lnTo>
                  <a:pt x="576" y="0"/>
                </a:lnTo>
                <a:lnTo>
                  <a:pt x="100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7" name="Freeform 38"/>
          <p:cNvSpPr>
            <a:spLocks/>
          </p:cNvSpPr>
          <p:nvPr/>
        </p:nvSpPr>
        <p:spPr bwMode="auto">
          <a:xfrm flipV="1">
            <a:off x="5943600" y="1891122"/>
            <a:ext cx="1371600" cy="1257300"/>
          </a:xfrm>
          <a:custGeom>
            <a:avLst/>
            <a:gdLst>
              <a:gd name="T0" fmla="*/ 0 w 1008"/>
              <a:gd name="T1" fmla="*/ 2147483647 h 1056"/>
              <a:gd name="T2" fmla="*/ 2147483647 w 1008"/>
              <a:gd name="T3" fmla="*/ 2147483647 h 1056"/>
              <a:gd name="T4" fmla="*/ 2147483647 w 1008"/>
              <a:gd name="T5" fmla="*/ 0 h 1056"/>
              <a:gd name="T6" fmla="*/ 2147483647 w 1008"/>
              <a:gd name="T7" fmla="*/ 0 h 1056"/>
              <a:gd name="T8" fmla="*/ 0 60000 65536"/>
              <a:gd name="T9" fmla="*/ 0 60000 65536"/>
              <a:gd name="T10" fmla="*/ 0 60000 65536"/>
              <a:gd name="T11" fmla="*/ 0 60000 65536"/>
              <a:gd name="T12" fmla="*/ 0 w 1008"/>
              <a:gd name="T13" fmla="*/ 0 h 1056"/>
              <a:gd name="T14" fmla="*/ 1008 w 1008"/>
              <a:gd name="T15" fmla="*/ 1056 h 10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8" h="1056">
                <a:moveTo>
                  <a:pt x="0" y="1056"/>
                </a:moveTo>
                <a:lnTo>
                  <a:pt x="576" y="1056"/>
                </a:lnTo>
                <a:lnTo>
                  <a:pt x="576" y="0"/>
                </a:lnTo>
                <a:lnTo>
                  <a:pt x="100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8" name="Text Box 39"/>
          <p:cNvSpPr txBox="1">
            <a:spLocks noChangeArrowheads="1"/>
          </p:cNvSpPr>
          <p:nvPr/>
        </p:nvSpPr>
        <p:spPr bwMode="auto">
          <a:xfrm flipV="1">
            <a:off x="5751513" y="2862672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>
                <a:sym typeface="Symbol" pitchFamily="18" charset="2"/>
              </a:rPr>
              <a:t></a:t>
            </a:r>
          </a:p>
        </p:txBody>
      </p:sp>
      <p:sp>
        <p:nvSpPr>
          <p:cNvPr id="29" name="Line 40"/>
          <p:cNvSpPr>
            <a:spLocks noChangeShapeType="1"/>
          </p:cNvSpPr>
          <p:nvPr/>
        </p:nvSpPr>
        <p:spPr bwMode="auto">
          <a:xfrm flipV="1">
            <a:off x="5980113" y="3238909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0" name="Line 41"/>
          <p:cNvSpPr>
            <a:spLocks noChangeShapeType="1"/>
          </p:cNvSpPr>
          <p:nvPr/>
        </p:nvSpPr>
        <p:spPr bwMode="auto">
          <a:xfrm flipV="1">
            <a:off x="5980113" y="2748372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1" name="Line 42"/>
          <p:cNvSpPr>
            <a:spLocks noChangeShapeType="1"/>
          </p:cNvSpPr>
          <p:nvPr/>
        </p:nvSpPr>
        <p:spPr bwMode="auto">
          <a:xfrm flipV="1">
            <a:off x="5943600" y="1662522"/>
            <a:ext cx="1588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2" name="Line 43"/>
          <p:cNvSpPr>
            <a:spLocks noChangeShapeType="1"/>
          </p:cNvSpPr>
          <p:nvPr/>
        </p:nvSpPr>
        <p:spPr bwMode="auto">
          <a:xfrm flipV="1">
            <a:off x="7466013" y="1662522"/>
            <a:ext cx="1587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3" name="Rectangle 44"/>
          <p:cNvSpPr>
            <a:spLocks noChangeArrowheads="1"/>
          </p:cNvSpPr>
          <p:nvPr/>
        </p:nvSpPr>
        <p:spPr bwMode="auto">
          <a:xfrm>
            <a:off x="1828800" y="1376772"/>
            <a:ext cx="1524000" cy="28575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000" b="1"/>
              <a:t>c[0]</a:t>
            </a:r>
          </a:p>
        </p:txBody>
      </p:sp>
      <p:sp>
        <p:nvSpPr>
          <p:cNvPr id="34" name="Rectangle 45"/>
          <p:cNvSpPr>
            <a:spLocks noChangeArrowheads="1"/>
          </p:cNvSpPr>
          <p:nvPr/>
        </p:nvSpPr>
        <p:spPr bwMode="auto">
          <a:xfrm>
            <a:off x="3352800" y="1376772"/>
            <a:ext cx="1676400" cy="28575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000" b="1"/>
              <a:t>c[1]</a:t>
            </a:r>
          </a:p>
        </p:txBody>
      </p:sp>
      <p:sp>
        <p:nvSpPr>
          <p:cNvPr id="35" name="Rectangle 46"/>
          <p:cNvSpPr>
            <a:spLocks noChangeArrowheads="1"/>
          </p:cNvSpPr>
          <p:nvPr/>
        </p:nvSpPr>
        <p:spPr bwMode="auto">
          <a:xfrm>
            <a:off x="5029200" y="1376772"/>
            <a:ext cx="1600200" cy="28575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000" b="1"/>
              <a:t>c[2]</a:t>
            </a:r>
          </a:p>
        </p:txBody>
      </p:sp>
      <p:sp>
        <p:nvSpPr>
          <p:cNvPr id="36" name="Rectangle 47"/>
          <p:cNvSpPr>
            <a:spLocks noChangeArrowheads="1"/>
          </p:cNvSpPr>
          <p:nvPr/>
        </p:nvSpPr>
        <p:spPr bwMode="auto">
          <a:xfrm>
            <a:off x="6629400" y="1376772"/>
            <a:ext cx="1524000" cy="28575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000" b="1"/>
              <a:t>c[3]</a:t>
            </a:r>
          </a:p>
        </p:txBody>
      </p:sp>
      <p:sp>
        <p:nvSpPr>
          <p:cNvPr id="37" name="Rectangle 48"/>
          <p:cNvSpPr>
            <a:spLocks noChangeArrowheads="1"/>
          </p:cNvSpPr>
          <p:nvPr/>
        </p:nvSpPr>
        <p:spPr bwMode="auto">
          <a:xfrm>
            <a:off x="685800" y="1376772"/>
            <a:ext cx="838200" cy="28575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000" b="1"/>
              <a:t>IV</a:t>
            </a:r>
          </a:p>
        </p:txBody>
      </p:sp>
      <p:cxnSp>
        <p:nvCxnSpPr>
          <p:cNvPr id="39" name="Connettore 2 43"/>
          <p:cNvCxnSpPr>
            <a:cxnSpLocks noChangeShapeType="1"/>
          </p:cNvCxnSpPr>
          <p:nvPr/>
        </p:nvCxnSpPr>
        <p:spPr bwMode="auto">
          <a:xfrm flipV="1">
            <a:off x="3635375" y="2210209"/>
            <a:ext cx="144463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CasellaDiTesto 44"/>
          <p:cNvSpPr txBox="1">
            <a:spLocks noChangeArrowheads="1"/>
          </p:cNvSpPr>
          <p:nvPr/>
        </p:nvSpPr>
        <p:spPr bwMode="auto">
          <a:xfrm>
            <a:off x="3397250" y="2056222"/>
            <a:ext cx="311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/>
              <a:t>K</a:t>
            </a:r>
          </a:p>
        </p:txBody>
      </p:sp>
      <p:cxnSp>
        <p:nvCxnSpPr>
          <p:cNvPr id="41" name="Connettore 2 45"/>
          <p:cNvCxnSpPr>
            <a:cxnSpLocks noChangeShapeType="1"/>
          </p:cNvCxnSpPr>
          <p:nvPr/>
        </p:nvCxnSpPr>
        <p:spPr bwMode="auto">
          <a:xfrm flipV="1">
            <a:off x="1979613" y="2200684"/>
            <a:ext cx="144462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CasellaDiTesto 46"/>
          <p:cNvSpPr txBox="1">
            <a:spLocks noChangeArrowheads="1"/>
          </p:cNvSpPr>
          <p:nvPr/>
        </p:nvSpPr>
        <p:spPr bwMode="auto">
          <a:xfrm>
            <a:off x="1739900" y="2046697"/>
            <a:ext cx="311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K</a:t>
            </a:r>
          </a:p>
        </p:txBody>
      </p:sp>
      <p:cxnSp>
        <p:nvCxnSpPr>
          <p:cNvPr id="43" name="Connettore 2 47"/>
          <p:cNvCxnSpPr>
            <a:cxnSpLocks noChangeShapeType="1"/>
          </p:cNvCxnSpPr>
          <p:nvPr/>
        </p:nvCxnSpPr>
        <p:spPr bwMode="auto">
          <a:xfrm flipV="1">
            <a:off x="5364163" y="2200684"/>
            <a:ext cx="144462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" name="CasellaDiTesto 48"/>
          <p:cNvSpPr txBox="1">
            <a:spLocks noChangeArrowheads="1"/>
          </p:cNvSpPr>
          <p:nvPr/>
        </p:nvSpPr>
        <p:spPr bwMode="auto">
          <a:xfrm>
            <a:off x="5124450" y="2046697"/>
            <a:ext cx="311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/>
              <a:t>K</a:t>
            </a:r>
          </a:p>
        </p:txBody>
      </p:sp>
      <p:cxnSp>
        <p:nvCxnSpPr>
          <p:cNvPr id="45" name="Connettore 2 49"/>
          <p:cNvCxnSpPr>
            <a:cxnSpLocks noChangeShapeType="1"/>
          </p:cNvCxnSpPr>
          <p:nvPr/>
        </p:nvCxnSpPr>
        <p:spPr bwMode="auto">
          <a:xfrm flipV="1">
            <a:off x="6899275" y="2200684"/>
            <a:ext cx="144463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CasellaDiTesto 50"/>
          <p:cNvSpPr txBox="1">
            <a:spLocks noChangeArrowheads="1"/>
          </p:cNvSpPr>
          <p:nvPr/>
        </p:nvSpPr>
        <p:spPr bwMode="auto">
          <a:xfrm>
            <a:off x="6659563" y="2046697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/>
              <a:t>K</a:t>
            </a:r>
          </a:p>
        </p:txBody>
      </p:sp>
      <p:sp>
        <p:nvSpPr>
          <p:cNvPr id="48" name="Segnaposto contenuto 2"/>
          <p:cNvSpPr>
            <a:spLocks noGrp="1"/>
          </p:cNvSpPr>
          <p:nvPr>
            <p:ph idx="1"/>
          </p:nvPr>
        </p:nvSpPr>
        <p:spPr>
          <a:xfrm>
            <a:off x="685800" y="4149874"/>
            <a:ext cx="8098668" cy="1835410"/>
          </a:xfrm>
        </p:spPr>
        <p:txBody>
          <a:bodyPr>
            <a:normAutofit fontScale="92500"/>
          </a:bodyPr>
          <a:lstStyle/>
          <a:p>
            <a:r>
              <a:rPr lang="it-IT" dirty="0"/>
              <a:t>CBC </a:t>
            </a:r>
            <a:r>
              <a:rPr lang="it-IT" dirty="0" err="1"/>
              <a:t>decryption</a:t>
            </a:r>
            <a:r>
              <a:rPr lang="it-IT" dirty="0"/>
              <a:t>: </a:t>
            </a:r>
            <a:r>
              <a:rPr lang="it-IT" dirty="0" err="1"/>
              <a:t>parallelizable</a:t>
            </a:r>
            <a:r>
              <a:rPr lang="it-IT" dirty="0"/>
              <a:t>!</a:t>
            </a:r>
          </a:p>
          <a:p>
            <a:pPr lvl="1"/>
            <a:r>
              <a:rPr lang="it-IT" dirty="0" err="1"/>
              <a:t>Unlike</a:t>
            </a:r>
            <a:r>
              <a:rPr lang="it-IT" dirty="0"/>
              <a:t> CBC </a:t>
            </a:r>
            <a:r>
              <a:rPr lang="it-IT" dirty="0" err="1"/>
              <a:t>encryption</a:t>
            </a:r>
            <a:r>
              <a:rPr lang="it-IT" dirty="0"/>
              <a:t>,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 to be </a:t>
            </a:r>
            <a:r>
              <a:rPr lang="it-IT" dirty="0" err="1"/>
              <a:t>sequential</a:t>
            </a:r>
            <a:r>
              <a:rPr lang="it-IT" dirty="0"/>
              <a:t> </a:t>
            </a:r>
          </a:p>
          <a:p>
            <a:pPr lvl="2"/>
            <a:r>
              <a:rPr lang="it-IT" dirty="0" err="1">
                <a:sym typeface="Wingdings" panose="05000000000000000000" pitchFamily="2" charset="2"/>
              </a:rPr>
              <a:t>not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suitable</a:t>
            </a:r>
            <a:r>
              <a:rPr lang="it-IT" dirty="0">
                <a:sym typeface="Wingdings" panose="05000000000000000000" pitchFamily="2" charset="2"/>
              </a:rPr>
              <a:t> for high </a:t>
            </a:r>
            <a:r>
              <a:rPr lang="it-IT" dirty="0" err="1">
                <a:sym typeface="Wingdings" panose="05000000000000000000" pitchFamily="2" charset="2"/>
              </a:rPr>
              <a:t>speed</a:t>
            </a:r>
            <a:r>
              <a:rPr lang="it-IT" dirty="0">
                <a:sym typeface="Wingdings" panose="05000000000000000000" pitchFamily="2" charset="2"/>
              </a:rPr>
              <a:t> HW </a:t>
            </a:r>
            <a:r>
              <a:rPr lang="it-IT" dirty="0" err="1">
                <a:sym typeface="Wingdings" panose="05000000000000000000" pitchFamily="2" charset="2"/>
              </a:rPr>
              <a:t>implementation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80673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CBC </a:t>
            </a:r>
            <a:r>
              <a:rPr lang="it-IT" dirty="0" err="1"/>
              <a:t>discussion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31540" y="1016732"/>
            <a:ext cx="8712460" cy="5543822"/>
          </a:xfrm>
        </p:spPr>
        <p:txBody>
          <a:bodyPr>
            <a:normAutofit fontScale="70000" lnSpcReduction="20000"/>
          </a:bodyPr>
          <a:lstStyle/>
          <a:p>
            <a:r>
              <a:rPr lang="it-IT" dirty="0" err="1"/>
              <a:t>widely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(</a:t>
            </a:r>
            <a:r>
              <a:rPr lang="it-IT" dirty="0" err="1"/>
              <a:t>most</a:t>
            </a:r>
            <a:r>
              <a:rPr lang="it-IT" dirty="0"/>
              <a:t> common) &amp; </a:t>
            </a:r>
            <a:r>
              <a:rPr lang="it-IT" dirty="0" err="1"/>
              <a:t>secure</a:t>
            </a:r>
            <a:endParaRPr lang="it-IT" dirty="0"/>
          </a:p>
          <a:p>
            <a:pPr lvl="1"/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secure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Nonce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random </a:t>
            </a:r>
            <a:r>
              <a:rPr lang="it-IT" b="1" u="sng" dirty="0">
                <a:solidFill>
                  <a:srgbClr val="FF0000"/>
                </a:solidFill>
              </a:rPr>
              <a:t>and non </a:t>
            </a:r>
            <a:r>
              <a:rPr lang="it-IT" b="1" u="sng" dirty="0" err="1">
                <a:solidFill>
                  <a:srgbClr val="FF0000"/>
                </a:solidFill>
              </a:rPr>
              <a:t>predictable</a:t>
            </a:r>
            <a:endParaRPr lang="it-IT" b="1" u="sng" dirty="0">
              <a:solidFill>
                <a:srgbClr val="FF0000"/>
              </a:solidFill>
            </a:endParaRPr>
          </a:p>
          <a:p>
            <a:pPr lvl="2"/>
            <a:r>
              <a:rPr lang="it-IT" dirty="0" err="1">
                <a:solidFill>
                  <a:srgbClr val="FF0000"/>
                </a:solidFill>
              </a:rPr>
              <a:t>Predictable</a:t>
            </a:r>
            <a:r>
              <a:rPr lang="it-IT" dirty="0">
                <a:solidFill>
                  <a:srgbClr val="FF0000"/>
                </a:solidFill>
              </a:rPr>
              <a:t> IV 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 CPA  </a:t>
            </a:r>
            <a:r>
              <a:rPr lang="it-IT" dirty="0" err="1">
                <a:solidFill>
                  <a:srgbClr val="FF0000"/>
                </a:solidFill>
                <a:sym typeface="Wingdings" panose="05000000000000000000" pitchFamily="2" charset="2"/>
              </a:rPr>
              <a:t>attack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  </a:t>
            </a:r>
            <a:r>
              <a:rPr lang="it-IT" dirty="0" err="1">
                <a:solidFill>
                  <a:srgbClr val="FF0000"/>
                </a:solidFill>
                <a:sym typeface="Wingdings" panose="05000000000000000000" pitchFamily="2" charset="2"/>
              </a:rPr>
              <a:t>exploited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 in TLS (2011, BEAST)</a:t>
            </a:r>
            <a:endParaRPr lang="it-IT" dirty="0">
              <a:solidFill>
                <a:srgbClr val="FF0000"/>
              </a:solidFill>
            </a:endParaRPr>
          </a:p>
          <a:p>
            <a:pPr lvl="4"/>
            <a:endParaRPr lang="it-IT" dirty="0"/>
          </a:p>
          <a:p>
            <a:r>
              <a:rPr lang="it-IT" dirty="0"/>
              <a:t>Slow </a:t>
            </a:r>
            <a:r>
              <a:rPr lang="it-IT" dirty="0" err="1"/>
              <a:t>during</a:t>
            </a:r>
            <a:r>
              <a:rPr lang="it-IT" dirty="0"/>
              <a:t> </a:t>
            </a:r>
            <a:r>
              <a:rPr lang="it-IT" dirty="0" err="1"/>
              <a:t>encryption</a:t>
            </a:r>
            <a:endParaRPr lang="it-IT" dirty="0"/>
          </a:p>
          <a:p>
            <a:pPr lvl="1"/>
            <a:r>
              <a:rPr lang="it-IT" dirty="0"/>
              <a:t>Non-</a:t>
            </a:r>
            <a:r>
              <a:rPr lang="it-IT" dirty="0" err="1"/>
              <a:t>parallelizable</a:t>
            </a:r>
            <a:r>
              <a:rPr lang="it-IT" dirty="0"/>
              <a:t> </a:t>
            </a:r>
            <a:r>
              <a:rPr lang="it-IT" dirty="0" err="1"/>
              <a:t>encryption</a:t>
            </a:r>
            <a:r>
              <a:rPr lang="it-IT" dirty="0"/>
              <a:t> </a:t>
            </a:r>
            <a:r>
              <a:rPr lang="it-IT" dirty="0">
                <a:sym typeface="Wingdings" panose="05000000000000000000" pitchFamily="2" charset="2"/>
              </a:rPr>
              <a:t> 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appropriate for </a:t>
            </a:r>
            <a:r>
              <a:rPr lang="it-IT" dirty="0" err="1"/>
              <a:t>very</a:t>
            </a:r>
            <a:r>
              <a:rPr lang="it-IT" dirty="0"/>
              <a:t> high performance </a:t>
            </a:r>
            <a:r>
              <a:rPr lang="it-IT" dirty="0" err="1"/>
              <a:t>scenarios</a:t>
            </a:r>
            <a:endParaRPr lang="it-IT" dirty="0"/>
          </a:p>
          <a:p>
            <a:pPr lvl="7"/>
            <a:endParaRPr lang="it-IT" dirty="0"/>
          </a:p>
          <a:p>
            <a:r>
              <a:rPr lang="it-IT" dirty="0" err="1"/>
              <a:t>Encryption</a:t>
            </a:r>
            <a:r>
              <a:rPr lang="it-IT" dirty="0"/>
              <a:t> and </a:t>
            </a:r>
            <a:r>
              <a:rPr lang="it-IT" dirty="0" err="1"/>
              <a:t>decryption</a:t>
            </a:r>
            <a:r>
              <a:rPr lang="it-IT" dirty="0"/>
              <a:t>: </a:t>
            </a:r>
            <a:r>
              <a:rPr lang="it-IT" dirty="0" err="1"/>
              <a:t>require</a:t>
            </a:r>
            <a:r>
              <a:rPr lang="it-IT" dirty="0"/>
              <a:t> </a:t>
            </a:r>
            <a:r>
              <a:rPr lang="it-IT" dirty="0" err="1"/>
              <a:t>two</a:t>
            </a:r>
            <a:r>
              <a:rPr lang="it-IT" dirty="0"/>
              <a:t> </a:t>
            </a:r>
            <a:r>
              <a:rPr lang="it-IT" dirty="0" err="1"/>
              <a:t>different</a:t>
            </a:r>
            <a:r>
              <a:rPr lang="it-IT" dirty="0"/>
              <a:t> </a:t>
            </a:r>
            <a:r>
              <a:rPr lang="it-IT" dirty="0" err="1"/>
              <a:t>circuits</a:t>
            </a:r>
            <a:endParaRPr lang="it-IT" dirty="0"/>
          </a:p>
          <a:p>
            <a:pPr lvl="1"/>
            <a:r>
              <a:rPr lang="it-IT" dirty="0" err="1"/>
              <a:t>Encryption</a:t>
            </a:r>
            <a:r>
              <a:rPr lang="it-IT" dirty="0"/>
              <a:t> = PRP, </a:t>
            </a:r>
            <a:r>
              <a:rPr lang="it-IT" dirty="0" err="1"/>
              <a:t>decryption</a:t>
            </a:r>
            <a:r>
              <a:rPr lang="it-IT" dirty="0"/>
              <a:t> = PRP</a:t>
            </a:r>
            <a:r>
              <a:rPr lang="it-IT" baseline="30000" dirty="0"/>
              <a:t>-1</a:t>
            </a:r>
            <a:r>
              <a:rPr lang="it-IT" dirty="0"/>
              <a:t> </a:t>
            </a:r>
            <a:r>
              <a:rPr lang="it-IT" dirty="0">
                <a:sym typeface="Wingdings" panose="05000000000000000000" pitchFamily="2" charset="2"/>
              </a:rPr>
              <a:t> </a:t>
            </a:r>
            <a:r>
              <a:rPr lang="it-IT" dirty="0"/>
              <a:t>more </a:t>
            </a:r>
            <a:r>
              <a:rPr lang="it-IT" dirty="0" err="1"/>
              <a:t>circuitry</a:t>
            </a:r>
            <a:endParaRPr lang="it-IT" baseline="30000" dirty="0"/>
          </a:p>
          <a:p>
            <a:pPr lvl="1"/>
            <a:r>
              <a:rPr lang="it-IT" dirty="0" err="1"/>
              <a:t>Other</a:t>
            </a:r>
            <a:r>
              <a:rPr lang="it-IT" dirty="0"/>
              <a:t> </a:t>
            </a:r>
            <a:r>
              <a:rPr lang="it-IT" dirty="0" err="1"/>
              <a:t>modes</a:t>
            </a:r>
            <a:r>
              <a:rPr lang="it-IT" dirty="0"/>
              <a:t> (CTR, CFB, OFB) use the PRP </a:t>
            </a:r>
            <a:r>
              <a:rPr lang="it-IT" dirty="0" err="1"/>
              <a:t>encryption</a:t>
            </a:r>
            <a:r>
              <a:rPr lang="it-IT" dirty="0"/>
              <a:t> </a:t>
            </a:r>
            <a:r>
              <a:rPr lang="it-IT" dirty="0" err="1"/>
              <a:t>block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in reception</a:t>
            </a:r>
          </a:p>
          <a:p>
            <a:endParaRPr lang="it-IT" dirty="0"/>
          </a:p>
          <a:p>
            <a:r>
              <a:rPr lang="it-IT" dirty="0" err="1"/>
              <a:t>Plaintext</a:t>
            </a:r>
            <a:r>
              <a:rPr lang="it-IT" dirty="0"/>
              <a:t> must be multiple of </a:t>
            </a:r>
            <a:r>
              <a:rPr lang="it-IT" dirty="0" err="1"/>
              <a:t>block</a:t>
            </a:r>
            <a:r>
              <a:rPr lang="it-IT" dirty="0"/>
              <a:t> </a:t>
            </a:r>
            <a:r>
              <a:rPr lang="it-IT" dirty="0" err="1"/>
              <a:t>size</a:t>
            </a:r>
            <a:endParaRPr lang="it-IT" dirty="0"/>
          </a:p>
          <a:p>
            <a:pPr lvl="1"/>
            <a:r>
              <a:rPr lang="it-IT" dirty="0" err="1"/>
              <a:t>Padding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to «</a:t>
            </a:r>
            <a:r>
              <a:rPr lang="it-IT" dirty="0" err="1"/>
              <a:t>fill</a:t>
            </a:r>
            <a:r>
              <a:rPr lang="it-IT" dirty="0"/>
              <a:t>» </a:t>
            </a:r>
            <a:r>
              <a:rPr lang="it-IT" dirty="0" err="1"/>
              <a:t>space</a:t>
            </a:r>
            <a:r>
              <a:rPr lang="it-IT" dirty="0"/>
              <a:t> </a:t>
            </a:r>
            <a:r>
              <a:rPr lang="it-IT" dirty="0">
                <a:sym typeface="Wingdings" panose="05000000000000000000" pitchFamily="2" charset="2"/>
              </a:rPr>
              <a:t> </a:t>
            </a:r>
            <a:r>
              <a:rPr lang="it-IT" dirty="0" err="1">
                <a:sym typeface="Wingdings" panose="05000000000000000000" pitchFamily="2" charset="2"/>
              </a:rPr>
              <a:t>standards</a:t>
            </a:r>
            <a:r>
              <a:rPr lang="it-IT" dirty="0">
                <a:sym typeface="Wingdings" panose="05000000000000000000" pitchFamily="2" charset="2"/>
              </a:rPr>
              <a:t> do </a:t>
            </a:r>
            <a:r>
              <a:rPr lang="it-IT" dirty="0" err="1">
                <a:sym typeface="Wingdings" panose="05000000000000000000" pitchFamily="2" charset="2"/>
              </a:rPr>
              <a:t>exist</a:t>
            </a:r>
            <a:r>
              <a:rPr lang="it-IT" dirty="0">
                <a:sym typeface="Wingdings" panose="05000000000000000000" pitchFamily="2" charset="2"/>
              </a:rPr>
              <a:t> (e.g. PKCS#7)</a:t>
            </a:r>
            <a:endParaRPr lang="it-IT" dirty="0"/>
          </a:p>
          <a:p>
            <a:pPr lvl="1"/>
            <a:r>
              <a:rPr lang="it-IT" dirty="0" err="1"/>
              <a:t>Padding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in (some) </a:t>
            </a:r>
            <a:r>
              <a:rPr lang="it-IT" dirty="0" err="1"/>
              <a:t>other</a:t>
            </a:r>
            <a:r>
              <a:rPr lang="it-IT" dirty="0"/>
              <a:t> </a:t>
            </a:r>
            <a:r>
              <a:rPr lang="it-IT" dirty="0" err="1"/>
              <a:t>modes</a:t>
            </a:r>
            <a:r>
              <a:rPr lang="it-IT" dirty="0"/>
              <a:t>, e.g. ECB</a:t>
            </a:r>
          </a:p>
          <a:p>
            <a:pPr lvl="6"/>
            <a:endParaRPr lang="it-IT" dirty="0"/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6071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Test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understanding</a:t>
            </a:r>
            <a:endParaRPr lang="it-IT" dirty="0"/>
          </a:p>
        </p:txBody>
      </p:sp>
      <p:grpSp>
        <p:nvGrpSpPr>
          <p:cNvPr id="4" name="Gruppo 3"/>
          <p:cNvGrpSpPr>
            <a:grpSpLocks noChangeAspect="1"/>
          </p:cNvGrpSpPr>
          <p:nvPr/>
        </p:nvGrpSpPr>
        <p:grpSpPr>
          <a:xfrm>
            <a:off x="395536" y="1594945"/>
            <a:ext cx="2142238" cy="4210319"/>
            <a:chOff x="1007604" y="6547"/>
            <a:chExt cx="3060340" cy="6014741"/>
          </a:xfrm>
        </p:grpSpPr>
        <p:sp>
          <p:nvSpPr>
            <p:cNvPr id="5" name="CasellaDiTesto 4"/>
            <p:cNvSpPr txBox="1"/>
            <p:nvPr/>
          </p:nvSpPr>
          <p:spPr>
            <a:xfrm>
              <a:off x="1264078" y="1016732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000</a:t>
              </a:r>
            </a:p>
          </p:txBody>
        </p:sp>
        <p:sp>
          <p:nvSpPr>
            <p:cNvPr id="6" name="CasellaDiTesto 5"/>
            <p:cNvSpPr txBox="1"/>
            <p:nvPr/>
          </p:nvSpPr>
          <p:spPr>
            <a:xfrm>
              <a:off x="1264078" y="1636349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001</a:t>
              </a:r>
            </a:p>
          </p:txBody>
        </p:sp>
        <p:sp>
          <p:nvSpPr>
            <p:cNvPr id="7" name="CasellaDiTesto 6"/>
            <p:cNvSpPr txBox="1"/>
            <p:nvPr/>
          </p:nvSpPr>
          <p:spPr>
            <a:xfrm>
              <a:off x="1264078" y="2255966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010</a:t>
              </a:r>
            </a:p>
          </p:txBody>
        </p:sp>
        <p:sp>
          <p:nvSpPr>
            <p:cNvPr id="8" name="CasellaDiTesto 7"/>
            <p:cNvSpPr txBox="1"/>
            <p:nvPr/>
          </p:nvSpPr>
          <p:spPr>
            <a:xfrm>
              <a:off x="1264078" y="2875584"/>
              <a:ext cx="697444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011</a:t>
              </a:r>
            </a:p>
          </p:txBody>
        </p:sp>
        <p:sp>
          <p:nvSpPr>
            <p:cNvPr id="9" name="CasellaDiTesto 8"/>
            <p:cNvSpPr txBox="1"/>
            <p:nvPr/>
          </p:nvSpPr>
          <p:spPr>
            <a:xfrm>
              <a:off x="1264078" y="3495199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100</a:t>
              </a:r>
            </a:p>
          </p:txBody>
        </p:sp>
        <p:sp>
          <p:nvSpPr>
            <p:cNvPr id="10" name="CasellaDiTesto 9"/>
            <p:cNvSpPr txBox="1"/>
            <p:nvPr/>
          </p:nvSpPr>
          <p:spPr>
            <a:xfrm>
              <a:off x="1264078" y="4114816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101</a:t>
              </a:r>
            </a:p>
          </p:txBody>
        </p:sp>
        <p:sp>
          <p:nvSpPr>
            <p:cNvPr id="11" name="CasellaDiTesto 10"/>
            <p:cNvSpPr txBox="1"/>
            <p:nvPr/>
          </p:nvSpPr>
          <p:spPr>
            <a:xfrm>
              <a:off x="1264078" y="4734434"/>
              <a:ext cx="697444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110</a:t>
              </a:r>
            </a:p>
          </p:txBody>
        </p:sp>
        <p:sp>
          <p:nvSpPr>
            <p:cNvPr id="12" name="CasellaDiTesto 11"/>
            <p:cNvSpPr txBox="1"/>
            <p:nvPr/>
          </p:nvSpPr>
          <p:spPr>
            <a:xfrm>
              <a:off x="1285623" y="5354052"/>
              <a:ext cx="677659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111</a:t>
              </a:r>
            </a:p>
          </p:txBody>
        </p:sp>
        <p:sp>
          <p:nvSpPr>
            <p:cNvPr id="13" name="Ovale 12"/>
            <p:cNvSpPr/>
            <p:nvPr/>
          </p:nvSpPr>
          <p:spPr bwMode="auto">
            <a:xfrm>
              <a:off x="1007604" y="872716"/>
              <a:ext cx="1188132" cy="5148572"/>
            </a:xfrm>
            <a:prstGeom prst="ellips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14" name="CasellaDiTesto 13"/>
            <p:cNvSpPr txBox="1"/>
            <p:nvPr/>
          </p:nvSpPr>
          <p:spPr>
            <a:xfrm>
              <a:off x="1403648" y="260648"/>
              <a:ext cx="504260" cy="6595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dirty="0"/>
                <a:t>S</a:t>
              </a:r>
            </a:p>
          </p:txBody>
        </p:sp>
        <p:sp>
          <p:nvSpPr>
            <p:cNvPr id="15" name="CasellaDiTesto 14"/>
            <p:cNvSpPr txBox="1"/>
            <p:nvPr/>
          </p:nvSpPr>
          <p:spPr>
            <a:xfrm>
              <a:off x="3136285" y="1016732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000</a:t>
              </a:r>
            </a:p>
          </p:txBody>
        </p:sp>
        <p:sp>
          <p:nvSpPr>
            <p:cNvPr id="16" name="CasellaDiTesto 15"/>
            <p:cNvSpPr txBox="1"/>
            <p:nvPr/>
          </p:nvSpPr>
          <p:spPr>
            <a:xfrm>
              <a:off x="3136285" y="1636349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001</a:t>
              </a:r>
            </a:p>
          </p:txBody>
        </p:sp>
        <p:sp>
          <p:nvSpPr>
            <p:cNvPr id="17" name="CasellaDiTesto 16"/>
            <p:cNvSpPr txBox="1"/>
            <p:nvPr/>
          </p:nvSpPr>
          <p:spPr>
            <a:xfrm>
              <a:off x="3136285" y="2255966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010</a:t>
              </a:r>
            </a:p>
          </p:txBody>
        </p:sp>
        <p:sp>
          <p:nvSpPr>
            <p:cNvPr id="18" name="CasellaDiTesto 17"/>
            <p:cNvSpPr txBox="1"/>
            <p:nvPr/>
          </p:nvSpPr>
          <p:spPr>
            <a:xfrm>
              <a:off x="3136285" y="2875584"/>
              <a:ext cx="697444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011</a:t>
              </a:r>
            </a:p>
          </p:txBody>
        </p:sp>
        <p:sp>
          <p:nvSpPr>
            <p:cNvPr id="19" name="CasellaDiTesto 18"/>
            <p:cNvSpPr txBox="1"/>
            <p:nvPr/>
          </p:nvSpPr>
          <p:spPr>
            <a:xfrm>
              <a:off x="3136285" y="3495199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100</a:t>
              </a:r>
            </a:p>
          </p:txBody>
        </p:sp>
        <p:sp>
          <p:nvSpPr>
            <p:cNvPr id="20" name="CasellaDiTesto 19"/>
            <p:cNvSpPr txBox="1"/>
            <p:nvPr/>
          </p:nvSpPr>
          <p:spPr>
            <a:xfrm>
              <a:off x="3136285" y="4114816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101</a:t>
              </a:r>
            </a:p>
          </p:txBody>
        </p:sp>
        <p:sp>
          <p:nvSpPr>
            <p:cNvPr id="21" name="CasellaDiTesto 20"/>
            <p:cNvSpPr txBox="1"/>
            <p:nvPr/>
          </p:nvSpPr>
          <p:spPr>
            <a:xfrm>
              <a:off x="3136285" y="4734434"/>
              <a:ext cx="697444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110</a:t>
              </a:r>
            </a:p>
          </p:txBody>
        </p:sp>
        <p:sp>
          <p:nvSpPr>
            <p:cNvPr id="22" name="CasellaDiTesto 21"/>
            <p:cNvSpPr txBox="1"/>
            <p:nvPr/>
          </p:nvSpPr>
          <p:spPr>
            <a:xfrm>
              <a:off x="3157830" y="5354052"/>
              <a:ext cx="677659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111</a:t>
              </a:r>
            </a:p>
          </p:txBody>
        </p:sp>
        <p:sp>
          <p:nvSpPr>
            <p:cNvPr id="23" name="Ovale 22"/>
            <p:cNvSpPr/>
            <p:nvPr/>
          </p:nvSpPr>
          <p:spPr bwMode="auto">
            <a:xfrm>
              <a:off x="2879812" y="872716"/>
              <a:ext cx="1188132" cy="5148572"/>
            </a:xfrm>
            <a:prstGeom prst="ellips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24" name="CasellaDiTesto 23"/>
            <p:cNvSpPr txBox="1"/>
            <p:nvPr/>
          </p:nvSpPr>
          <p:spPr>
            <a:xfrm>
              <a:off x="3275855" y="260648"/>
              <a:ext cx="504260" cy="6595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dirty="0"/>
                <a:t>S</a:t>
              </a:r>
            </a:p>
          </p:txBody>
        </p:sp>
        <p:cxnSp>
          <p:nvCxnSpPr>
            <p:cNvPr id="25" name="Connettore 2 24"/>
            <p:cNvCxnSpPr>
              <a:stCxn id="14" idx="3"/>
              <a:endCxn id="24" idx="1"/>
            </p:cNvCxnSpPr>
            <p:nvPr/>
          </p:nvCxnSpPr>
          <p:spPr bwMode="auto">
            <a:xfrm>
              <a:off x="1907908" y="590409"/>
              <a:ext cx="1367947" cy="0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26" name="CasellaDiTesto 25"/>
            <p:cNvSpPr txBox="1"/>
            <p:nvPr/>
          </p:nvSpPr>
          <p:spPr>
            <a:xfrm>
              <a:off x="2311418" y="6547"/>
              <a:ext cx="518000" cy="6595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>
                  <a:solidFill>
                    <a:srgbClr val="FF0000"/>
                  </a:solidFill>
                  <a:latin typeface="Symbol" panose="05050102010706020507" pitchFamily="18" charset="2"/>
                </a:rPr>
                <a:t>P</a:t>
              </a:r>
              <a:endParaRPr lang="it-IT" sz="2400" dirty="0">
                <a:solidFill>
                  <a:srgbClr val="FF0000"/>
                </a:solidFill>
                <a:latin typeface="Symbol" panose="05050102010706020507" pitchFamily="18" charset="2"/>
              </a:endParaRPr>
            </a:p>
          </p:txBody>
        </p:sp>
        <p:cxnSp>
          <p:nvCxnSpPr>
            <p:cNvPr id="27" name="Connettore 2 26"/>
            <p:cNvCxnSpPr>
              <a:stCxn id="5" idx="3"/>
              <a:endCxn id="16" idx="1"/>
            </p:cNvCxnSpPr>
            <p:nvPr/>
          </p:nvCxnSpPr>
          <p:spPr bwMode="auto">
            <a:xfrm>
              <a:off x="1981308" y="1280541"/>
              <a:ext cx="1154977" cy="619617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28" name="Connettore 2 27"/>
            <p:cNvCxnSpPr>
              <a:stCxn id="6" idx="3"/>
              <a:endCxn id="17" idx="1"/>
            </p:cNvCxnSpPr>
            <p:nvPr/>
          </p:nvCxnSpPr>
          <p:spPr bwMode="auto">
            <a:xfrm>
              <a:off x="1981308" y="1900158"/>
              <a:ext cx="1154977" cy="619617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29" name="Connettore 2 28"/>
            <p:cNvCxnSpPr>
              <a:stCxn id="7" idx="3"/>
              <a:endCxn id="22" idx="1"/>
            </p:cNvCxnSpPr>
            <p:nvPr/>
          </p:nvCxnSpPr>
          <p:spPr bwMode="auto">
            <a:xfrm>
              <a:off x="1981308" y="2519775"/>
              <a:ext cx="1176521" cy="3098086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0" name="Connettore 2 29"/>
            <p:cNvCxnSpPr>
              <a:stCxn id="8" idx="3"/>
              <a:endCxn id="20" idx="1"/>
            </p:cNvCxnSpPr>
            <p:nvPr/>
          </p:nvCxnSpPr>
          <p:spPr bwMode="auto">
            <a:xfrm>
              <a:off x="1961523" y="3139392"/>
              <a:ext cx="1174763" cy="1239233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1" name="Connettore 2 30"/>
            <p:cNvCxnSpPr>
              <a:stCxn id="9" idx="3"/>
              <a:endCxn id="15" idx="1"/>
            </p:cNvCxnSpPr>
            <p:nvPr/>
          </p:nvCxnSpPr>
          <p:spPr bwMode="auto">
            <a:xfrm flipV="1">
              <a:off x="1981308" y="1280541"/>
              <a:ext cx="1154977" cy="2478467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2" name="Connettore 2 31"/>
            <p:cNvCxnSpPr>
              <a:stCxn id="10" idx="3"/>
              <a:endCxn id="21" idx="1"/>
            </p:cNvCxnSpPr>
            <p:nvPr/>
          </p:nvCxnSpPr>
          <p:spPr bwMode="auto">
            <a:xfrm>
              <a:off x="1981308" y="4378625"/>
              <a:ext cx="1154977" cy="619617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3" name="Connettore 2 32"/>
            <p:cNvCxnSpPr>
              <a:stCxn id="11" idx="3"/>
              <a:endCxn id="18" idx="1"/>
            </p:cNvCxnSpPr>
            <p:nvPr/>
          </p:nvCxnSpPr>
          <p:spPr bwMode="auto">
            <a:xfrm flipV="1">
              <a:off x="1961523" y="3139392"/>
              <a:ext cx="1174763" cy="1858850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4" name="Connettore 2 33"/>
            <p:cNvCxnSpPr>
              <a:stCxn id="12" idx="3"/>
              <a:endCxn id="19" idx="1"/>
            </p:cNvCxnSpPr>
            <p:nvPr/>
          </p:nvCxnSpPr>
          <p:spPr bwMode="auto">
            <a:xfrm flipV="1">
              <a:off x="1963281" y="3759008"/>
              <a:ext cx="1173004" cy="1858853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</p:grpSp>
      <p:sp>
        <p:nvSpPr>
          <p:cNvPr id="35" name="CasellaDiTesto 34"/>
          <p:cNvSpPr txBox="1"/>
          <p:nvPr/>
        </p:nvSpPr>
        <p:spPr>
          <a:xfrm>
            <a:off x="467544" y="1016732"/>
            <a:ext cx="21001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FF0000"/>
                </a:solidFill>
              </a:rPr>
              <a:t>3-bit </a:t>
            </a:r>
            <a:r>
              <a:rPr lang="it-IT" dirty="0" err="1">
                <a:solidFill>
                  <a:srgbClr val="FF0000"/>
                </a:solidFill>
              </a:rPr>
              <a:t>blocks</a:t>
            </a:r>
            <a:r>
              <a:rPr lang="it-IT" dirty="0">
                <a:solidFill>
                  <a:srgbClr val="FF0000"/>
                </a:solidFill>
              </a:rPr>
              <a:t>; </a:t>
            </a:r>
          </a:p>
          <a:p>
            <a:r>
              <a:rPr lang="it-IT" dirty="0" err="1">
                <a:solidFill>
                  <a:srgbClr val="FF0000"/>
                </a:solidFill>
              </a:rPr>
              <a:t>Specific</a:t>
            </a:r>
            <a:r>
              <a:rPr lang="it-IT" dirty="0">
                <a:solidFill>
                  <a:srgbClr val="FF0000"/>
                </a:solidFill>
              </a:rPr>
              <a:t> PRP </a:t>
            </a:r>
            <a:r>
              <a:rPr lang="it-IT" dirty="0" err="1">
                <a:solidFill>
                  <a:srgbClr val="FF0000"/>
                </a:solidFill>
              </a:rPr>
              <a:t>selected</a:t>
            </a:r>
            <a:r>
              <a:rPr lang="it-IT" dirty="0">
                <a:solidFill>
                  <a:srgbClr val="FF0000"/>
                </a:solidFill>
              </a:rPr>
              <a:t> </a:t>
            </a:r>
          </a:p>
          <a:p>
            <a:r>
              <a:rPr lang="it-IT" dirty="0">
                <a:solidFill>
                  <a:srgbClr val="FF0000"/>
                </a:solidFill>
              </a:rPr>
              <a:t>by </a:t>
            </a:r>
            <a:r>
              <a:rPr lang="it-IT" dirty="0" err="1">
                <a:solidFill>
                  <a:srgbClr val="FF0000"/>
                </a:solidFill>
              </a:rPr>
              <a:t>key</a:t>
            </a:r>
            <a:r>
              <a:rPr lang="it-IT" dirty="0">
                <a:solidFill>
                  <a:srgbClr val="FF0000"/>
                </a:solidFill>
              </a:rPr>
              <a:t> K: </a:t>
            </a:r>
          </a:p>
        </p:txBody>
      </p:sp>
      <p:sp>
        <p:nvSpPr>
          <p:cNvPr id="36" name="CasellaDiTesto 35"/>
          <p:cNvSpPr txBox="1"/>
          <p:nvPr/>
        </p:nvSpPr>
        <p:spPr>
          <a:xfrm>
            <a:off x="3419872" y="1484784"/>
            <a:ext cx="555607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/>
              <a:t>1) </a:t>
            </a:r>
            <a:r>
              <a:rPr lang="it-IT" sz="2800" b="1" dirty="0" err="1"/>
              <a:t>Encrypt</a:t>
            </a:r>
            <a:r>
              <a:rPr lang="it-IT" sz="2800" b="1" dirty="0"/>
              <a:t> M = 001 001 001 </a:t>
            </a:r>
            <a:r>
              <a:rPr lang="it-IT" sz="2800" b="1" dirty="0" err="1"/>
              <a:t>using</a:t>
            </a:r>
            <a:r>
              <a:rPr lang="it-IT" sz="2800" b="1" dirty="0"/>
              <a:t> ECB</a:t>
            </a:r>
          </a:p>
          <a:p>
            <a:endParaRPr lang="it-IT" sz="2800" b="1" dirty="0"/>
          </a:p>
          <a:p>
            <a:endParaRPr lang="it-IT" sz="2800" b="1" dirty="0"/>
          </a:p>
          <a:p>
            <a:endParaRPr lang="it-IT" sz="2800" b="1" dirty="0"/>
          </a:p>
          <a:p>
            <a:r>
              <a:rPr lang="it-IT" sz="2800" b="1" dirty="0"/>
              <a:t>2) </a:t>
            </a:r>
            <a:r>
              <a:rPr lang="it-IT" sz="2800" b="1" dirty="0" err="1"/>
              <a:t>Encrypt</a:t>
            </a:r>
            <a:r>
              <a:rPr lang="it-IT" sz="2800" b="1" dirty="0"/>
              <a:t> M = 001 001 001 </a:t>
            </a:r>
            <a:r>
              <a:rPr lang="it-IT" sz="2800" b="1" dirty="0" err="1"/>
              <a:t>using</a:t>
            </a:r>
            <a:r>
              <a:rPr lang="it-IT" sz="2800" b="1" dirty="0"/>
              <a:t> CBC </a:t>
            </a:r>
          </a:p>
          <a:p>
            <a:r>
              <a:rPr lang="it-IT" sz="2800" b="1" dirty="0"/>
              <a:t>    with IV=010</a:t>
            </a:r>
          </a:p>
        </p:txBody>
      </p:sp>
      <p:sp>
        <p:nvSpPr>
          <p:cNvPr id="37" name="CasellaDiTesto 36"/>
          <p:cNvSpPr txBox="1"/>
          <p:nvPr/>
        </p:nvSpPr>
        <p:spPr>
          <a:xfrm>
            <a:off x="4788024" y="2209668"/>
            <a:ext cx="2547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>
                <a:solidFill>
                  <a:srgbClr val="FF0000"/>
                </a:solidFill>
              </a:rPr>
              <a:t>CT = 010 010 010</a:t>
            </a:r>
          </a:p>
        </p:txBody>
      </p:sp>
      <p:sp>
        <p:nvSpPr>
          <p:cNvPr id="38" name="CasellaDiTesto 37"/>
          <p:cNvSpPr txBox="1"/>
          <p:nvPr/>
        </p:nvSpPr>
        <p:spPr>
          <a:xfrm>
            <a:off x="4009131" y="4422218"/>
            <a:ext cx="3315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>
                <a:solidFill>
                  <a:srgbClr val="FF0000"/>
                </a:solidFill>
              </a:rPr>
              <a:t>CT = (010) 101 000 010</a:t>
            </a:r>
          </a:p>
        </p:txBody>
      </p:sp>
    </p:spTree>
    <p:extLst>
      <p:ext uri="{BB962C8B-B14F-4D97-AF65-F5344CB8AC3E}">
        <p14:creationId xmlns:p14="http://schemas.microsoft.com/office/powerpoint/2010/main" val="1525168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Other</a:t>
            </a:r>
            <a:r>
              <a:rPr lang="it-IT" dirty="0"/>
              <a:t> </a:t>
            </a:r>
            <a:r>
              <a:rPr lang="it-IT" dirty="0" err="1"/>
              <a:t>modes</a:t>
            </a:r>
            <a:r>
              <a:rPr lang="it-IT" dirty="0"/>
              <a:t>: CFB, OFB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36196" y="6465150"/>
            <a:ext cx="26548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it-IT" altLang="it-IT" dirty="0"/>
              <a:t>Graphics: source = Wikipedia</a:t>
            </a:r>
            <a:endParaRPr lang="en-US" altLang="it-IT" sz="2000" dirty="0"/>
          </a:p>
        </p:txBody>
      </p:sp>
      <p:pic>
        <p:nvPicPr>
          <p:cNvPr id="8" name="Picture 2" descr="OFB encryption.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3658512"/>
            <a:ext cx="6583204" cy="265080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CFB encryption.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994216"/>
            <a:ext cx="6583204" cy="265080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/>
          <p:cNvSpPr txBox="1"/>
          <p:nvPr/>
        </p:nvSpPr>
        <p:spPr>
          <a:xfrm>
            <a:off x="6608787" y="807087"/>
            <a:ext cx="260772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Block</a:t>
            </a:r>
            <a:r>
              <a:rPr lang="it-IT" b="1" dirty="0"/>
              <a:t> </a:t>
            </a:r>
            <a:r>
              <a:rPr lang="it-IT" b="1" dirty="0" err="1"/>
              <a:t>cipher</a:t>
            </a:r>
            <a:r>
              <a:rPr lang="it-IT" b="1" dirty="0"/>
              <a:t> </a:t>
            </a:r>
            <a:r>
              <a:rPr lang="it-IT" b="1" dirty="0" err="1"/>
              <a:t>used</a:t>
            </a:r>
            <a:r>
              <a:rPr lang="it-IT" b="1" dirty="0"/>
              <a:t> in «</a:t>
            </a:r>
            <a:r>
              <a:rPr lang="it-IT" b="1" dirty="0" err="1"/>
              <a:t>stream</a:t>
            </a:r>
            <a:r>
              <a:rPr lang="it-IT" b="1" dirty="0"/>
              <a:t>» </a:t>
            </a:r>
            <a:r>
              <a:rPr lang="it-IT" b="1" dirty="0" err="1"/>
              <a:t>manner</a:t>
            </a:r>
            <a:endParaRPr lang="it-IT" b="1" dirty="0"/>
          </a:p>
          <a:p>
            <a:pPr marL="285750" indent="-285750">
              <a:buFontTx/>
              <a:buChar char="-"/>
            </a:pPr>
            <a:r>
              <a:rPr lang="it-IT" dirty="0"/>
              <a:t>PT </a:t>
            </a:r>
            <a:r>
              <a:rPr lang="it-IT" dirty="0" err="1"/>
              <a:t>encrypted</a:t>
            </a:r>
            <a:r>
              <a:rPr lang="it-IT" dirty="0"/>
              <a:t> with XOR</a:t>
            </a:r>
          </a:p>
          <a:p>
            <a:pPr marL="285750" indent="-285750">
              <a:buFontTx/>
              <a:buChar char="-"/>
            </a:pPr>
            <a:r>
              <a:rPr lang="it-IT" dirty="0"/>
              <a:t>No </a:t>
            </a:r>
            <a:r>
              <a:rPr lang="it-IT" dirty="0" err="1"/>
              <a:t>need</a:t>
            </a:r>
            <a:r>
              <a:rPr lang="it-IT" dirty="0"/>
              <a:t> for </a:t>
            </a:r>
            <a:r>
              <a:rPr lang="it-IT" dirty="0" err="1"/>
              <a:t>padding</a:t>
            </a:r>
            <a:endParaRPr lang="it-IT" dirty="0"/>
          </a:p>
          <a:p>
            <a:pPr marL="285750" indent="-285750">
              <a:buFontTx/>
              <a:buChar char="-"/>
            </a:pPr>
            <a:endParaRPr lang="it-IT" dirty="0"/>
          </a:p>
          <a:p>
            <a:r>
              <a:rPr lang="it-IT" b="1" dirty="0"/>
              <a:t>Non </a:t>
            </a:r>
            <a:r>
              <a:rPr lang="it-IT" b="1" dirty="0" err="1"/>
              <a:t>parallelizable</a:t>
            </a:r>
            <a:r>
              <a:rPr lang="it-IT" b="1" dirty="0"/>
              <a:t> in </a:t>
            </a:r>
            <a:r>
              <a:rPr lang="it-IT" b="1" dirty="0" err="1"/>
              <a:t>encryption</a:t>
            </a:r>
            <a:endParaRPr lang="it-IT" b="1" dirty="0"/>
          </a:p>
          <a:p>
            <a:pPr marL="285750" indent="-285750">
              <a:buFontTx/>
              <a:buChar char="-"/>
            </a:pPr>
            <a:r>
              <a:rPr lang="it-IT" dirty="0" err="1"/>
              <a:t>But</a:t>
            </a:r>
            <a:r>
              <a:rPr lang="it-IT" dirty="0"/>
              <a:t> OFB </a:t>
            </a:r>
            <a:r>
              <a:rPr lang="it-IT" dirty="0" err="1"/>
              <a:t>advantage</a:t>
            </a:r>
            <a:r>
              <a:rPr lang="it-IT" dirty="0"/>
              <a:t>: </a:t>
            </a:r>
            <a:r>
              <a:rPr lang="it-IT" dirty="0" err="1"/>
              <a:t>permits</a:t>
            </a:r>
            <a:r>
              <a:rPr lang="it-IT" dirty="0"/>
              <a:t> </a:t>
            </a:r>
            <a:r>
              <a:rPr lang="it-IT" dirty="0" err="1"/>
              <a:t>preprocessing</a:t>
            </a:r>
            <a:r>
              <a:rPr lang="it-IT" dirty="0"/>
              <a:t>!</a:t>
            </a:r>
          </a:p>
          <a:p>
            <a:endParaRPr lang="it-IT" b="1" dirty="0"/>
          </a:p>
          <a:p>
            <a:r>
              <a:rPr lang="it-IT" b="1" dirty="0" err="1">
                <a:solidFill>
                  <a:srgbClr val="FF0000"/>
                </a:solidFill>
              </a:rPr>
              <a:t>Reason</a:t>
            </a:r>
            <a:r>
              <a:rPr lang="it-IT" b="1" dirty="0">
                <a:solidFill>
                  <a:srgbClr val="FF0000"/>
                </a:solidFill>
              </a:rPr>
              <a:t>: CFB, </a:t>
            </a:r>
            <a:r>
              <a:rPr lang="it-IT" b="1" dirty="0" err="1">
                <a:solidFill>
                  <a:srgbClr val="FF0000"/>
                </a:solidFill>
              </a:rPr>
              <a:t>like</a:t>
            </a:r>
            <a:r>
              <a:rPr lang="it-IT" b="1" dirty="0">
                <a:solidFill>
                  <a:srgbClr val="FF0000"/>
                </a:solidFill>
              </a:rPr>
              <a:t> CBC, </a:t>
            </a:r>
            <a:r>
              <a:rPr lang="it-IT" b="1" dirty="0" err="1">
                <a:solidFill>
                  <a:srgbClr val="FF0000"/>
                </a:solidFill>
              </a:rPr>
              <a:t>depends</a:t>
            </a:r>
            <a:r>
              <a:rPr lang="it-IT" b="1" dirty="0">
                <a:solidFill>
                  <a:srgbClr val="FF0000"/>
                </a:solidFill>
              </a:rPr>
              <a:t> on </a:t>
            </a:r>
            <a:r>
              <a:rPr lang="it-IT" b="1" dirty="0" err="1">
                <a:solidFill>
                  <a:srgbClr val="FF0000"/>
                </a:solidFill>
              </a:rPr>
              <a:t>previous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ciphertexts</a:t>
            </a:r>
            <a:endParaRPr lang="it-IT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c[0] = m[0]</a:t>
            </a:r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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ENC</a:t>
            </a:r>
            <a:r>
              <a:rPr lang="it-IT" baseline="-25000" dirty="0">
                <a:solidFill>
                  <a:srgbClr val="FF0000"/>
                </a:solidFill>
                <a:sym typeface="Wingdings" panose="05000000000000000000" pitchFamily="2" charset="2"/>
              </a:rPr>
              <a:t>K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(IV</a:t>
            </a:r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c[</a:t>
            </a:r>
            <a:r>
              <a:rPr lang="en-US" dirty="0" err="1">
                <a:solidFill>
                  <a:srgbClr val="FF0000"/>
                </a:solidFill>
                <a:sym typeface="Symbol" pitchFamily="18" charset="2"/>
              </a:rPr>
              <a:t>i</a:t>
            </a:r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]  = 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m[0]</a:t>
            </a:r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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ENC</a:t>
            </a:r>
            <a:r>
              <a:rPr lang="it-IT" baseline="-25000" dirty="0">
                <a:solidFill>
                  <a:srgbClr val="FF0000"/>
                </a:solidFill>
                <a:sym typeface="Wingdings" panose="05000000000000000000" pitchFamily="2" charset="2"/>
              </a:rPr>
              <a:t>K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(c[i-1]</a:t>
            </a:r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)</a:t>
            </a:r>
            <a:endParaRPr lang="it-IT" dirty="0">
              <a:solidFill>
                <a:srgbClr val="FF0000"/>
              </a:solidFill>
            </a:endParaRPr>
          </a:p>
          <a:p>
            <a:r>
              <a:rPr lang="it-IT" b="1" dirty="0">
                <a:solidFill>
                  <a:srgbClr val="FF0000"/>
                </a:solidFill>
              </a:rPr>
              <a:t>OFB «</a:t>
            </a:r>
            <a:r>
              <a:rPr lang="it-IT" b="1" dirty="0" err="1">
                <a:solidFill>
                  <a:srgbClr val="FF0000"/>
                </a:solidFill>
              </a:rPr>
              <a:t>keystream</a:t>
            </a:r>
            <a:r>
              <a:rPr lang="it-IT" b="1" dirty="0">
                <a:solidFill>
                  <a:srgbClr val="FF0000"/>
                </a:solidFill>
              </a:rPr>
              <a:t>» </a:t>
            </a:r>
            <a:r>
              <a:rPr lang="it-IT" b="1" dirty="0" err="1">
                <a:solidFill>
                  <a:srgbClr val="FF0000"/>
                </a:solidFill>
              </a:rPr>
              <a:t>depends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only</a:t>
            </a:r>
            <a:r>
              <a:rPr lang="it-IT" b="1" dirty="0">
                <a:solidFill>
                  <a:srgbClr val="FF0000"/>
                </a:solidFill>
              </a:rPr>
              <a:t> on IV! </a:t>
            </a:r>
          </a:p>
          <a:p>
            <a:pPr marL="285750" indent="-285750">
              <a:buFontTx/>
              <a:buChar char="-"/>
            </a:pPr>
            <a:r>
              <a:rPr lang="it-IT" b="1" dirty="0" err="1">
                <a:solidFill>
                  <a:srgbClr val="FF0000"/>
                </a:solidFill>
              </a:rPr>
              <a:t>Robust</a:t>
            </a:r>
            <a:r>
              <a:rPr lang="it-IT" b="1" dirty="0">
                <a:solidFill>
                  <a:srgbClr val="FF0000"/>
                </a:solidFill>
              </a:rPr>
              <a:t> to </a:t>
            </a:r>
            <a:r>
              <a:rPr lang="it-IT" b="1" dirty="0" err="1">
                <a:solidFill>
                  <a:srgbClr val="FF0000"/>
                </a:solidFill>
              </a:rPr>
              <a:t>errors</a:t>
            </a:r>
            <a:endParaRPr lang="it-IT" b="1" dirty="0">
              <a:solidFill>
                <a:srgbClr val="FF0000"/>
              </a:solidFill>
            </a:endParaRPr>
          </a:p>
          <a:p>
            <a:r>
              <a:rPr lang="it-IT" b="1" dirty="0" err="1"/>
              <a:t>Looks</a:t>
            </a:r>
            <a:r>
              <a:rPr lang="it-IT" b="1" dirty="0"/>
              <a:t> </a:t>
            </a:r>
            <a:r>
              <a:rPr lang="it-IT" b="1" dirty="0" err="1"/>
              <a:t>like</a:t>
            </a:r>
            <a:r>
              <a:rPr lang="it-IT" b="1" dirty="0"/>
              <a:t> a </a:t>
            </a:r>
            <a:r>
              <a:rPr lang="it-IT" b="1" dirty="0" err="1"/>
              <a:t>classical</a:t>
            </a:r>
            <a:r>
              <a:rPr lang="it-IT" b="1" dirty="0"/>
              <a:t> </a:t>
            </a:r>
            <a:r>
              <a:rPr lang="it-IT" b="1" dirty="0" err="1"/>
              <a:t>stream</a:t>
            </a:r>
            <a:r>
              <a:rPr lang="it-IT" b="1" dirty="0"/>
              <a:t> </a:t>
            </a:r>
            <a:r>
              <a:rPr lang="it-IT" b="1" dirty="0" err="1"/>
              <a:t>cipher</a:t>
            </a:r>
            <a:r>
              <a:rPr lang="it-IT" b="1" dirty="0"/>
              <a:t>!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79942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Other</a:t>
            </a:r>
            <a:r>
              <a:rPr lang="it-IT" dirty="0"/>
              <a:t> </a:t>
            </a:r>
            <a:r>
              <a:rPr lang="it-IT" dirty="0" err="1"/>
              <a:t>modes</a:t>
            </a:r>
            <a:r>
              <a:rPr lang="it-IT" dirty="0"/>
              <a:t>: CFB, OFB</a:t>
            </a:r>
          </a:p>
        </p:txBody>
      </p:sp>
      <p:pic>
        <p:nvPicPr>
          <p:cNvPr id="4098" name="Picture 2" descr="CFB decryption.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922208"/>
            <a:ext cx="6583204" cy="265080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OFB decryption.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24" y="3586504"/>
            <a:ext cx="6583204" cy="265080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/>
          <p:cNvSpPr txBox="1"/>
          <p:nvPr/>
        </p:nvSpPr>
        <p:spPr>
          <a:xfrm>
            <a:off x="6597502" y="2236800"/>
            <a:ext cx="25880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DECRYPTION </a:t>
            </a:r>
            <a:r>
              <a:rPr lang="it-IT" b="1" dirty="0" err="1"/>
              <a:t>advantage</a:t>
            </a:r>
            <a:r>
              <a:rPr lang="it-IT" b="1" dirty="0"/>
              <a:t>:</a:t>
            </a:r>
          </a:p>
          <a:p>
            <a:r>
              <a:rPr lang="it-IT" b="1" dirty="0" err="1">
                <a:solidFill>
                  <a:srgbClr val="FF0000"/>
                </a:solidFill>
              </a:rPr>
              <a:t>Reuse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encryption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block</a:t>
            </a:r>
            <a:r>
              <a:rPr lang="it-IT" b="1" dirty="0">
                <a:solidFill>
                  <a:srgbClr val="FF0000"/>
                </a:solidFill>
              </a:rPr>
              <a:t>!</a:t>
            </a:r>
          </a:p>
          <a:p>
            <a:r>
              <a:rPr lang="it-IT" b="1" dirty="0">
                <a:solidFill>
                  <a:srgbClr val="FF0000"/>
                </a:solidFill>
              </a:rPr>
              <a:t>No </a:t>
            </a:r>
            <a:r>
              <a:rPr lang="it-IT" b="1" dirty="0" err="1">
                <a:solidFill>
                  <a:srgbClr val="FF0000"/>
                </a:solidFill>
              </a:rPr>
              <a:t>need</a:t>
            </a:r>
            <a:r>
              <a:rPr lang="it-IT" b="1" dirty="0">
                <a:solidFill>
                  <a:srgbClr val="FF0000"/>
                </a:solidFill>
              </a:rPr>
              <a:t> for «inverse» PRP </a:t>
            </a:r>
            <a:r>
              <a:rPr lang="it-IT" b="1" dirty="0" err="1">
                <a:solidFill>
                  <a:srgbClr val="FF0000"/>
                </a:solidFill>
              </a:rPr>
              <a:t>implementation</a:t>
            </a:r>
            <a:r>
              <a:rPr lang="it-IT" b="1" dirty="0">
                <a:solidFill>
                  <a:srgbClr val="FF0000"/>
                </a:solidFill>
              </a:rPr>
              <a:t>  </a:t>
            </a:r>
          </a:p>
          <a:p>
            <a:endParaRPr lang="it-IT" dirty="0"/>
          </a:p>
          <a:p>
            <a:r>
              <a:rPr lang="it-IT" b="1" dirty="0" err="1"/>
              <a:t>Further</a:t>
            </a:r>
            <a:r>
              <a:rPr lang="it-IT" b="1" dirty="0"/>
              <a:t> CFB </a:t>
            </a:r>
            <a:r>
              <a:rPr lang="it-IT" b="1" dirty="0" err="1"/>
              <a:t>advantage</a:t>
            </a:r>
            <a:r>
              <a:rPr lang="it-IT" b="1" dirty="0"/>
              <a:t>:</a:t>
            </a:r>
          </a:p>
          <a:p>
            <a:r>
              <a:rPr lang="it-IT" b="1" dirty="0" err="1">
                <a:solidFill>
                  <a:srgbClr val="FF0000"/>
                </a:solidFill>
              </a:rPr>
              <a:t>Parallel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decryption</a:t>
            </a:r>
            <a:endParaRPr lang="it-IT" b="1" dirty="0">
              <a:solidFill>
                <a:srgbClr val="FF0000"/>
              </a:solidFill>
            </a:endParaRPr>
          </a:p>
          <a:p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OFB </a:t>
            </a:r>
            <a:r>
              <a:rPr lang="it-IT" dirty="0" err="1">
                <a:solidFill>
                  <a:srgbClr val="FF0000"/>
                </a:solidFill>
                <a:sym typeface="Wingdings" panose="05000000000000000000" pitchFamily="2" charset="2"/>
              </a:rPr>
              <a:t>still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 serial </a:t>
            </a:r>
            <a:r>
              <a:rPr lang="it-IT" dirty="0" err="1">
                <a:solidFill>
                  <a:srgbClr val="FF0000"/>
                </a:solidFill>
                <a:sym typeface="Wingdings" panose="05000000000000000000" pitchFamily="2" charset="2"/>
              </a:rPr>
              <a:t>decrypt</a:t>
            </a:r>
            <a:endParaRPr lang="it-IT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19758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23528" y="225425"/>
            <a:ext cx="8568952" cy="649288"/>
          </a:xfrm>
        </p:spPr>
        <p:txBody>
          <a:bodyPr/>
          <a:lstStyle/>
          <a:p>
            <a:r>
              <a:rPr lang="it-IT" dirty="0" err="1"/>
              <a:t>Chaining</a:t>
            </a:r>
            <a:r>
              <a:rPr lang="it-IT" dirty="0"/>
              <a:t> </a:t>
            </a:r>
            <a:r>
              <a:rPr lang="it-IT" dirty="0" err="1"/>
              <a:t>blocks</a:t>
            </a:r>
            <a:r>
              <a:rPr lang="it-IT" dirty="0"/>
              <a:t>:</a:t>
            </a:r>
            <a:br>
              <a:rPr lang="it-IT" dirty="0"/>
            </a:br>
            <a:r>
              <a:rPr lang="it-IT" dirty="0"/>
              <a:t>short </a:t>
            </a:r>
            <a:r>
              <a:rPr lang="it-IT" dirty="0" err="1"/>
              <a:t>cycle</a:t>
            </a:r>
            <a:r>
              <a:rPr lang="it-IT" dirty="0"/>
              <a:t> </a:t>
            </a:r>
            <a:r>
              <a:rPr lang="it-IT" dirty="0" err="1"/>
              <a:t>problem</a:t>
            </a:r>
            <a:r>
              <a:rPr lang="it-IT" dirty="0"/>
              <a:t>!</a:t>
            </a:r>
          </a:p>
        </p:txBody>
      </p:sp>
      <p:grpSp>
        <p:nvGrpSpPr>
          <p:cNvPr id="4" name="Gruppo 3"/>
          <p:cNvGrpSpPr>
            <a:grpSpLocks noChangeAspect="1"/>
          </p:cNvGrpSpPr>
          <p:nvPr/>
        </p:nvGrpSpPr>
        <p:grpSpPr>
          <a:xfrm>
            <a:off x="395536" y="1954985"/>
            <a:ext cx="2142238" cy="4210319"/>
            <a:chOff x="1007604" y="6547"/>
            <a:chExt cx="3060340" cy="6014741"/>
          </a:xfrm>
        </p:grpSpPr>
        <p:sp>
          <p:nvSpPr>
            <p:cNvPr id="5" name="CasellaDiTesto 4"/>
            <p:cNvSpPr txBox="1"/>
            <p:nvPr/>
          </p:nvSpPr>
          <p:spPr>
            <a:xfrm>
              <a:off x="1264078" y="1016732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000</a:t>
              </a:r>
            </a:p>
          </p:txBody>
        </p:sp>
        <p:sp>
          <p:nvSpPr>
            <p:cNvPr id="6" name="CasellaDiTesto 5"/>
            <p:cNvSpPr txBox="1"/>
            <p:nvPr/>
          </p:nvSpPr>
          <p:spPr>
            <a:xfrm>
              <a:off x="1264078" y="1636349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001</a:t>
              </a:r>
            </a:p>
          </p:txBody>
        </p:sp>
        <p:sp>
          <p:nvSpPr>
            <p:cNvPr id="7" name="CasellaDiTesto 6"/>
            <p:cNvSpPr txBox="1"/>
            <p:nvPr/>
          </p:nvSpPr>
          <p:spPr>
            <a:xfrm>
              <a:off x="1264078" y="2255966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010</a:t>
              </a:r>
            </a:p>
          </p:txBody>
        </p:sp>
        <p:sp>
          <p:nvSpPr>
            <p:cNvPr id="8" name="CasellaDiTesto 7"/>
            <p:cNvSpPr txBox="1"/>
            <p:nvPr/>
          </p:nvSpPr>
          <p:spPr>
            <a:xfrm>
              <a:off x="1264078" y="2875584"/>
              <a:ext cx="697444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011</a:t>
              </a:r>
            </a:p>
          </p:txBody>
        </p:sp>
        <p:sp>
          <p:nvSpPr>
            <p:cNvPr id="9" name="CasellaDiTesto 8"/>
            <p:cNvSpPr txBox="1"/>
            <p:nvPr/>
          </p:nvSpPr>
          <p:spPr>
            <a:xfrm>
              <a:off x="1264078" y="3495199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100</a:t>
              </a:r>
            </a:p>
          </p:txBody>
        </p:sp>
        <p:sp>
          <p:nvSpPr>
            <p:cNvPr id="10" name="CasellaDiTesto 9"/>
            <p:cNvSpPr txBox="1"/>
            <p:nvPr/>
          </p:nvSpPr>
          <p:spPr>
            <a:xfrm>
              <a:off x="1264078" y="4114816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101</a:t>
              </a:r>
            </a:p>
          </p:txBody>
        </p:sp>
        <p:sp>
          <p:nvSpPr>
            <p:cNvPr id="11" name="CasellaDiTesto 10"/>
            <p:cNvSpPr txBox="1"/>
            <p:nvPr/>
          </p:nvSpPr>
          <p:spPr>
            <a:xfrm>
              <a:off x="1264078" y="4734434"/>
              <a:ext cx="697444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110</a:t>
              </a:r>
            </a:p>
          </p:txBody>
        </p:sp>
        <p:sp>
          <p:nvSpPr>
            <p:cNvPr id="12" name="CasellaDiTesto 11"/>
            <p:cNvSpPr txBox="1"/>
            <p:nvPr/>
          </p:nvSpPr>
          <p:spPr>
            <a:xfrm>
              <a:off x="1285623" y="5354052"/>
              <a:ext cx="677659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111</a:t>
              </a:r>
            </a:p>
          </p:txBody>
        </p:sp>
        <p:sp>
          <p:nvSpPr>
            <p:cNvPr id="13" name="Ovale 12"/>
            <p:cNvSpPr/>
            <p:nvPr/>
          </p:nvSpPr>
          <p:spPr bwMode="auto">
            <a:xfrm>
              <a:off x="1007604" y="872716"/>
              <a:ext cx="1188132" cy="5148572"/>
            </a:xfrm>
            <a:prstGeom prst="ellips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14" name="CasellaDiTesto 13"/>
            <p:cNvSpPr txBox="1"/>
            <p:nvPr/>
          </p:nvSpPr>
          <p:spPr>
            <a:xfrm>
              <a:off x="1403648" y="260648"/>
              <a:ext cx="504260" cy="6595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dirty="0"/>
                <a:t>S</a:t>
              </a:r>
            </a:p>
          </p:txBody>
        </p:sp>
        <p:sp>
          <p:nvSpPr>
            <p:cNvPr id="15" name="CasellaDiTesto 14"/>
            <p:cNvSpPr txBox="1"/>
            <p:nvPr/>
          </p:nvSpPr>
          <p:spPr>
            <a:xfrm>
              <a:off x="3136285" y="1016732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000</a:t>
              </a:r>
            </a:p>
          </p:txBody>
        </p:sp>
        <p:sp>
          <p:nvSpPr>
            <p:cNvPr id="16" name="CasellaDiTesto 15"/>
            <p:cNvSpPr txBox="1"/>
            <p:nvPr/>
          </p:nvSpPr>
          <p:spPr>
            <a:xfrm>
              <a:off x="3136285" y="1636349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001</a:t>
              </a:r>
            </a:p>
          </p:txBody>
        </p:sp>
        <p:sp>
          <p:nvSpPr>
            <p:cNvPr id="17" name="CasellaDiTesto 16"/>
            <p:cNvSpPr txBox="1"/>
            <p:nvPr/>
          </p:nvSpPr>
          <p:spPr>
            <a:xfrm>
              <a:off x="3136285" y="2255966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010</a:t>
              </a:r>
            </a:p>
          </p:txBody>
        </p:sp>
        <p:sp>
          <p:nvSpPr>
            <p:cNvPr id="18" name="CasellaDiTesto 17"/>
            <p:cNvSpPr txBox="1"/>
            <p:nvPr/>
          </p:nvSpPr>
          <p:spPr>
            <a:xfrm>
              <a:off x="3136285" y="2875584"/>
              <a:ext cx="697444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011</a:t>
              </a:r>
            </a:p>
          </p:txBody>
        </p:sp>
        <p:sp>
          <p:nvSpPr>
            <p:cNvPr id="19" name="CasellaDiTesto 18"/>
            <p:cNvSpPr txBox="1"/>
            <p:nvPr/>
          </p:nvSpPr>
          <p:spPr>
            <a:xfrm>
              <a:off x="3136285" y="3495199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100</a:t>
              </a:r>
            </a:p>
          </p:txBody>
        </p:sp>
        <p:sp>
          <p:nvSpPr>
            <p:cNvPr id="20" name="CasellaDiTesto 19"/>
            <p:cNvSpPr txBox="1"/>
            <p:nvPr/>
          </p:nvSpPr>
          <p:spPr>
            <a:xfrm>
              <a:off x="3136285" y="4114816"/>
              <a:ext cx="717230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101</a:t>
              </a:r>
            </a:p>
          </p:txBody>
        </p:sp>
        <p:sp>
          <p:nvSpPr>
            <p:cNvPr id="21" name="CasellaDiTesto 20"/>
            <p:cNvSpPr txBox="1"/>
            <p:nvPr/>
          </p:nvSpPr>
          <p:spPr>
            <a:xfrm>
              <a:off x="3136285" y="4734434"/>
              <a:ext cx="697444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110</a:t>
              </a:r>
            </a:p>
          </p:txBody>
        </p:sp>
        <p:sp>
          <p:nvSpPr>
            <p:cNvPr id="22" name="CasellaDiTesto 21"/>
            <p:cNvSpPr txBox="1"/>
            <p:nvPr/>
          </p:nvSpPr>
          <p:spPr>
            <a:xfrm>
              <a:off x="3157830" y="5354052"/>
              <a:ext cx="677659" cy="5276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dirty="0"/>
                <a:t>111</a:t>
              </a:r>
            </a:p>
          </p:txBody>
        </p:sp>
        <p:sp>
          <p:nvSpPr>
            <p:cNvPr id="23" name="Ovale 22"/>
            <p:cNvSpPr/>
            <p:nvPr/>
          </p:nvSpPr>
          <p:spPr bwMode="auto">
            <a:xfrm>
              <a:off x="2879812" y="872716"/>
              <a:ext cx="1188132" cy="5148572"/>
            </a:xfrm>
            <a:prstGeom prst="ellips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24" name="CasellaDiTesto 23"/>
            <p:cNvSpPr txBox="1"/>
            <p:nvPr/>
          </p:nvSpPr>
          <p:spPr>
            <a:xfrm>
              <a:off x="3275855" y="260648"/>
              <a:ext cx="504260" cy="6595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dirty="0"/>
                <a:t>S</a:t>
              </a:r>
            </a:p>
          </p:txBody>
        </p:sp>
        <p:cxnSp>
          <p:nvCxnSpPr>
            <p:cNvPr id="25" name="Connettore 2 24"/>
            <p:cNvCxnSpPr>
              <a:stCxn id="14" idx="3"/>
              <a:endCxn id="24" idx="1"/>
            </p:cNvCxnSpPr>
            <p:nvPr/>
          </p:nvCxnSpPr>
          <p:spPr bwMode="auto">
            <a:xfrm>
              <a:off x="1907908" y="590409"/>
              <a:ext cx="1367947" cy="0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26" name="CasellaDiTesto 25"/>
            <p:cNvSpPr txBox="1"/>
            <p:nvPr/>
          </p:nvSpPr>
          <p:spPr>
            <a:xfrm>
              <a:off x="2311418" y="6547"/>
              <a:ext cx="518000" cy="6595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>
                  <a:solidFill>
                    <a:srgbClr val="FF0000"/>
                  </a:solidFill>
                  <a:latin typeface="Symbol" panose="05050102010706020507" pitchFamily="18" charset="2"/>
                </a:rPr>
                <a:t>P</a:t>
              </a:r>
              <a:endParaRPr lang="it-IT" sz="2400" dirty="0">
                <a:solidFill>
                  <a:srgbClr val="FF0000"/>
                </a:solidFill>
                <a:latin typeface="Symbol" panose="05050102010706020507" pitchFamily="18" charset="2"/>
              </a:endParaRPr>
            </a:p>
          </p:txBody>
        </p:sp>
        <p:cxnSp>
          <p:nvCxnSpPr>
            <p:cNvPr id="27" name="Connettore 2 26"/>
            <p:cNvCxnSpPr>
              <a:stCxn id="5" idx="3"/>
              <a:endCxn id="16" idx="1"/>
            </p:cNvCxnSpPr>
            <p:nvPr/>
          </p:nvCxnSpPr>
          <p:spPr bwMode="auto">
            <a:xfrm>
              <a:off x="1981308" y="1280541"/>
              <a:ext cx="1154977" cy="619617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28" name="Connettore 2 27"/>
            <p:cNvCxnSpPr>
              <a:stCxn id="6" idx="3"/>
              <a:endCxn id="17" idx="1"/>
            </p:cNvCxnSpPr>
            <p:nvPr/>
          </p:nvCxnSpPr>
          <p:spPr bwMode="auto">
            <a:xfrm>
              <a:off x="1981308" y="1900158"/>
              <a:ext cx="1154977" cy="619617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29" name="Connettore 2 28"/>
            <p:cNvCxnSpPr>
              <a:stCxn id="7" idx="3"/>
              <a:endCxn id="22" idx="1"/>
            </p:cNvCxnSpPr>
            <p:nvPr/>
          </p:nvCxnSpPr>
          <p:spPr bwMode="auto">
            <a:xfrm>
              <a:off x="1981308" y="2519775"/>
              <a:ext cx="1176521" cy="3098086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0" name="Connettore 2 29"/>
            <p:cNvCxnSpPr>
              <a:stCxn id="8" idx="3"/>
              <a:endCxn id="20" idx="1"/>
            </p:cNvCxnSpPr>
            <p:nvPr/>
          </p:nvCxnSpPr>
          <p:spPr bwMode="auto">
            <a:xfrm>
              <a:off x="1961523" y="3139392"/>
              <a:ext cx="1174763" cy="1239233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1" name="Connettore 2 30"/>
            <p:cNvCxnSpPr>
              <a:stCxn id="9" idx="3"/>
              <a:endCxn id="15" idx="1"/>
            </p:cNvCxnSpPr>
            <p:nvPr/>
          </p:nvCxnSpPr>
          <p:spPr bwMode="auto">
            <a:xfrm flipV="1">
              <a:off x="1981308" y="1280541"/>
              <a:ext cx="1154977" cy="2478467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2" name="Connettore 2 31"/>
            <p:cNvCxnSpPr>
              <a:stCxn id="10" idx="3"/>
              <a:endCxn id="21" idx="1"/>
            </p:cNvCxnSpPr>
            <p:nvPr/>
          </p:nvCxnSpPr>
          <p:spPr bwMode="auto">
            <a:xfrm>
              <a:off x="1981308" y="4378625"/>
              <a:ext cx="1154977" cy="619617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3" name="Connettore 2 32"/>
            <p:cNvCxnSpPr>
              <a:stCxn id="11" idx="3"/>
              <a:endCxn id="18" idx="1"/>
            </p:cNvCxnSpPr>
            <p:nvPr/>
          </p:nvCxnSpPr>
          <p:spPr bwMode="auto">
            <a:xfrm flipV="1">
              <a:off x="1961523" y="3139392"/>
              <a:ext cx="1174763" cy="1858850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4" name="Connettore 2 33"/>
            <p:cNvCxnSpPr>
              <a:stCxn id="12" idx="3"/>
              <a:endCxn id="19" idx="1"/>
            </p:cNvCxnSpPr>
            <p:nvPr/>
          </p:nvCxnSpPr>
          <p:spPr bwMode="auto">
            <a:xfrm flipV="1">
              <a:off x="1963281" y="3759008"/>
              <a:ext cx="1173004" cy="1858853"/>
            </a:xfrm>
            <a:prstGeom prst="straightConnector1">
              <a:avLst/>
            </a:prstGeom>
            <a:solidFill>
              <a:srgbClr val="FFFF99">
                <a:alpha val="50000"/>
              </a:srgb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</p:grpSp>
      <p:sp>
        <p:nvSpPr>
          <p:cNvPr id="35" name="CasellaDiTesto 34"/>
          <p:cNvSpPr txBox="1"/>
          <p:nvPr/>
        </p:nvSpPr>
        <p:spPr>
          <a:xfrm>
            <a:off x="467544" y="1376772"/>
            <a:ext cx="21001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Example</a:t>
            </a:r>
            <a:r>
              <a:rPr lang="it-IT" dirty="0">
                <a:solidFill>
                  <a:srgbClr val="FF0000"/>
                </a:solidFill>
              </a:rPr>
              <a:t>: 3-bit </a:t>
            </a:r>
            <a:r>
              <a:rPr lang="it-IT" dirty="0" err="1">
                <a:solidFill>
                  <a:srgbClr val="FF0000"/>
                </a:solidFill>
              </a:rPr>
              <a:t>blocks</a:t>
            </a:r>
            <a:r>
              <a:rPr lang="it-IT" dirty="0">
                <a:solidFill>
                  <a:srgbClr val="FF0000"/>
                </a:solidFill>
              </a:rPr>
              <a:t>; </a:t>
            </a:r>
          </a:p>
          <a:p>
            <a:r>
              <a:rPr lang="it-IT" dirty="0" err="1">
                <a:solidFill>
                  <a:srgbClr val="FF0000"/>
                </a:solidFill>
              </a:rPr>
              <a:t>Specific</a:t>
            </a:r>
            <a:r>
              <a:rPr lang="it-IT" dirty="0">
                <a:solidFill>
                  <a:srgbClr val="FF0000"/>
                </a:solidFill>
              </a:rPr>
              <a:t> PRP </a:t>
            </a:r>
            <a:r>
              <a:rPr lang="it-IT" dirty="0" err="1">
                <a:solidFill>
                  <a:srgbClr val="FF0000"/>
                </a:solidFill>
              </a:rPr>
              <a:t>selected</a:t>
            </a:r>
            <a:r>
              <a:rPr lang="it-IT" dirty="0">
                <a:solidFill>
                  <a:srgbClr val="FF0000"/>
                </a:solidFill>
              </a:rPr>
              <a:t> </a:t>
            </a:r>
          </a:p>
          <a:p>
            <a:r>
              <a:rPr lang="it-IT" dirty="0">
                <a:solidFill>
                  <a:srgbClr val="FF0000"/>
                </a:solidFill>
              </a:rPr>
              <a:t>by </a:t>
            </a:r>
            <a:r>
              <a:rPr lang="it-IT" dirty="0" err="1">
                <a:solidFill>
                  <a:srgbClr val="FF0000"/>
                </a:solidFill>
              </a:rPr>
              <a:t>key</a:t>
            </a:r>
            <a:r>
              <a:rPr lang="it-IT" dirty="0">
                <a:solidFill>
                  <a:srgbClr val="FF0000"/>
                </a:solidFill>
              </a:rPr>
              <a:t> K: </a:t>
            </a:r>
          </a:p>
        </p:txBody>
      </p:sp>
      <p:sp>
        <p:nvSpPr>
          <p:cNvPr id="36" name="CasellaDiTesto 35"/>
          <p:cNvSpPr txBox="1"/>
          <p:nvPr/>
        </p:nvSpPr>
        <p:spPr>
          <a:xfrm>
            <a:off x="3057899" y="1340768"/>
            <a:ext cx="46394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/>
              <a:t>1) OFB </a:t>
            </a:r>
            <a:r>
              <a:rPr lang="it-IT" sz="2800" b="1" dirty="0" err="1"/>
              <a:t>keystream</a:t>
            </a:r>
            <a:r>
              <a:rPr lang="it-IT" sz="2800" b="1" dirty="0"/>
              <a:t>, with IV=010?</a:t>
            </a:r>
          </a:p>
        </p:txBody>
      </p:sp>
      <p:sp>
        <p:nvSpPr>
          <p:cNvPr id="37" name="CasellaDiTesto 36"/>
          <p:cNvSpPr txBox="1"/>
          <p:nvPr/>
        </p:nvSpPr>
        <p:spPr>
          <a:xfrm>
            <a:off x="3669967" y="1808820"/>
            <a:ext cx="44208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>
                <a:solidFill>
                  <a:srgbClr val="FF0000"/>
                </a:solidFill>
              </a:rPr>
              <a:t>010 111 100 000 001 </a:t>
            </a:r>
            <a:r>
              <a:rPr lang="it-IT" sz="2800" b="1" dirty="0">
                <a:solidFill>
                  <a:srgbClr val="00B0F0"/>
                </a:solidFill>
              </a:rPr>
              <a:t>010 111</a:t>
            </a:r>
            <a:r>
              <a:rPr lang="it-IT" sz="2800" b="1" dirty="0">
                <a:solidFill>
                  <a:srgbClr val="FF0000"/>
                </a:solidFill>
              </a:rPr>
              <a:t> </a:t>
            </a:r>
            <a:r>
              <a:rPr lang="it-IT" sz="2800" b="1" dirty="0">
                <a:solidFill>
                  <a:srgbClr val="00B0F0"/>
                </a:solidFill>
              </a:rPr>
              <a:t>…</a:t>
            </a:r>
          </a:p>
          <a:p>
            <a:r>
              <a:rPr lang="it-IT" sz="2000" b="1" dirty="0" err="1"/>
              <a:t>cycle</a:t>
            </a:r>
            <a:r>
              <a:rPr lang="it-IT" sz="2000" b="1" dirty="0"/>
              <a:t> = 5</a:t>
            </a:r>
          </a:p>
        </p:txBody>
      </p:sp>
      <p:sp>
        <p:nvSpPr>
          <p:cNvPr id="38" name="CasellaDiTesto 37"/>
          <p:cNvSpPr txBox="1"/>
          <p:nvPr/>
        </p:nvSpPr>
        <p:spPr>
          <a:xfrm>
            <a:off x="3647158" y="3356992"/>
            <a:ext cx="4777270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>
                <a:solidFill>
                  <a:srgbClr val="FF0000"/>
                </a:solidFill>
              </a:rPr>
              <a:t>011 101 110 </a:t>
            </a:r>
            <a:r>
              <a:rPr lang="it-IT" sz="2800" b="1" dirty="0">
                <a:solidFill>
                  <a:srgbClr val="00B0F0"/>
                </a:solidFill>
              </a:rPr>
              <a:t>011 101 110 </a:t>
            </a:r>
            <a:r>
              <a:rPr lang="it-IT" sz="2800" b="1" dirty="0">
                <a:solidFill>
                  <a:srgbClr val="00B050"/>
                </a:solidFill>
              </a:rPr>
              <a:t>011 …</a:t>
            </a:r>
          </a:p>
          <a:p>
            <a:r>
              <a:rPr lang="it-IT" sz="2000" b="1" dirty="0" err="1">
                <a:solidFill>
                  <a:srgbClr val="000000"/>
                </a:solidFill>
              </a:rPr>
              <a:t>cycle</a:t>
            </a:r>
            <a:r>
              <a:rPr lang="it-IT" sz="2000" b="1" dirty="0">
                <a:solidFill>
                  <a:srgbClr val="000000"/>
                </a:solidFill>
              </a:rPr>
              <a:t> = 3 – </a:t>
            </a:r>
            <a:r>
              <a:rPr lang="it-IT" sz="2000" b="1" dirty="0" err="1">
                <a:solidFill>
                  <a:srgbClr val="000000"/>
                </a:solidFill>
              </a:rPr>
              <a:t>shorter</a:t>
            </a:r>
            <a:r>
              <a:rPr lang="it-IT" sz="2000" b="1" dirty="0">
                <a:solidFill>
                  <a:srgbClr val="000000"/>
                </a:solidFill>
              </a:rPr>
              <a:t>! </a:t>
            </a:r>
            <a:r>
              <a:rPr lang="it-IT" sz="2000" b="1" dirty="0" err="1">
                <a:solidFill>
                  <a:srgbClr val="000000"/>
                </a:solidFill>
              </a:rPr>
              <a:t>Cycle</a:t>
            </a:r>
            <a:r>
              <a:rPr lang="it-IT" sz="2000" b="1" dirty="0">
                <a:solidFill>
                  <a:srgbClr val="000000"/>
                </a:solidFill>
              </a:rPr>
              <a:t> </a:t>
            </a:r>
            <a:r>
              <a:rPr lang="it-IT" sz="2000" b="1" dirty="0" err="1">
                <a:solidFill>
                  <a:srgbClr val="000000"/>
                </a:solidFill>
              </a:rPr>
              <a:t>may</a:t>
            </a:r>
            <a:r>
              <a:rPr lang="it-IT" sz="2000" b="1" dirty="0">
                <a:solidFill>
                  <a:srgbClr val="000000"/>
                </a:solidFill>
              </a:rPr>
              <a:t> </a:t>
            </a:r>
            <a:r>
              <a:rPr lang="it-IT" sz="2000" b="1" dirty="0" err="1">
                <a:solidFill>
                  <a:srgbClr val="000000"/>
                </a:solidFill>
              </a:rPr>
              <a:t>depend</a:t>
            </a:r>
            <a:r>
              <a:rPr lang="it-IT" sz="2000" b="1" dirty="0">
                <a:solidFill>
                  <a:srgbClr val="000000"/>
                </a:solidFill>
              </a:rPr>
              <a:t> on IV…</a:t>
            </a:r>
          </a:p>
          <a:p>
            <a:endParaRPr lang="it-IT" sz="2800" b="1" dirty="0">
              <a:solidFill>
                <a:srgbClr val="00B0F0"/>
              </a:solidFill>
            </a:endParaRPr>
          </a:p>
        </p:txBody>
      </p:sp>
      <p:sp>
        <p:nvSpPr>
          <p:cNvPr id="39" name="CasellaDiTesto 38"/>
          <p:cNvSpPr txBox="1"/>
          <p:nvPr/>
        </p:nvSpPr>
        <p:spPr>
          <a:xfrm>
            <a:off x="3057899" y="2816932"/>
            <a:ext cx="46394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/>
              <a:t>2) OFB </a:t>
            </a:r>
            <a:r>
              <a:rPr lang="it-IT" sz="2800" b="1" dirty="0" err="1"/>
              <a:t>keystream</a:t>
            </a:r>
            <a:r>
              <a:rPr lang="it-IT" sz="2800" b="1" dirty="0"/>
              <a:t>, with IV=011?</a:t>
            </a:r>
          </a:p>
        </p:txBody>
      </p:sp>
      <p:sp>
        <p:nvSpPr>
          <p:cNvPr id="40" name="CasellaDiTesto 39"/>
          <p:cNvSpPr txBox="1"/>
          <p:nvPr/>
        </p:nvSpPr>
        <p:spPr>
          <a:xfrm>
            <a:off x="3057899" y="4401108"/>
            <a:ext cx="599677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/>
              <a:t>3) </a:t>
            </a:r>
            <a:r>
              <a:rPr lang="it-IT" sz="2800" b="1" dirty="0" err="1"/>
              <a:t>Same</a:t>
            </a:r>
            <a:r>
              <a:rPr lang="it-IT" sz="2800" b="1" dirty="0"/>
              <a:t> </a:t>
            </a:r>
            <a:r>
              <a:rPr lang="it-IT" sz="2800" b="1" dirty="0" err="1"/>
              <a:t>problem</a:t>
            </a:r>
            <a:r>
              <a:rPr lang="it-IT" sz="2800" b="1" dirty="0"/>
              <a:t> in CBC </a:t>
            </a:r>
            <a:r>
              <a:rPr lang="it-IT" sz="2800" b="1" dirty="0" err="1"/>
              <a:t>when</a:t>
            </a:r>
            <a:r>
              <a:rPr lang="it-IT" sz="2800" b="1" dirty="0"/>
              <a:t> </a:t>
            </a:r>
          </a:p>
          <a:p>
            <a:r>
              <a:rPr lang="it-IT" sz="2800" b="1" dirty="0"/>
              <a:t>    </a:t>
            </a:r>
            <a:r>
              <a:rPr lang="it-IT" sz="2800" b="1" dirty="0" err="1"/>
              <a:t>encrypting</a:t>
            </a:r>
            <a:r>
              <a:rPr lang="it-IT" sz="2800" b="1" dirty="0"/>
              <a:t> a «regular» </a:t>
            </a:r>
            <a:r>
              <a:rPr lang="it-IT" sz="2800" b="1" dirty="0" err="1"/>
              <a:t>plaintext</a:t>
            </a:r>
            <a:r>
              <a:rPr lang="it-IT" sz="2800" b="1" dirty="0"/>
              <a:t>.</a:t>
            </a:r>
          </a:p>
          <a:p>
            <a:r>
              <a:rPr lang="it-IT" sz="2800" b="1" dirty="0" err="1"/>
              <a:t>Example</a:t>
            </a:r>
            <a:r>
              <a:rPr lang="it-IT" sz="2800" b="1" dirty="0"/>
              <a:t>: </a:t>
            </a:r>
            <a:r>
              <a:rPr lang="it-IT" sz="2800" b="1" dirty="0" err="1"/>
              <a:t>encrypt</a:t>
            </a:r>
            <a:r>
              <a:rPr lang="it-IT" sz="2800" b="1" dirty="0"/>
              <a:t> 011 011 011 with IV=010</a:t>
            </a:r>
          </a:p>
        </p:txBody>
      </p:sp>
      <p:sp>
        <p:nvSpPr>
          <p:cNvPr id="41" name="CasellaDiTesto 40"/>
          <p:cNvSpPr txBox="1"/>
          <p:nvPr/>
        </p:nvSpPr>
        <p:spPr>
          <a:xfrm>
            <a:off x="3635896" y="5750096"/>
            <a:ext cx="3315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>
                <a:solidFill>
                  <a:srgbClr val="FF0000"/>
                </a:solidFill>
              </a:rPr>
              <a:t>CT = (010) 010 010 010</a:t>
            </a:r>
          </a:p>
        </p:txBody>
      </p:sp>
    </p:spTree>
    <p:extLst>
      <p:ext uri="{BB962C8B-B14F-4D97-AF65-F5344CB8AC3E}">
        <p14:creationId xmlns:p14="http://schemas.microsoft.com/office/powerpoint/2010/main" val="1166289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Counter</a:t>
            </a:r>
            <a:r>
              <a:rPr lang="it-IT" dirty="0"/>
              <a:t> Mode (CTR)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986913" y="3614700"/>
            <a:ext cx="669674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359532" y="4490256"/>
            <a:ext cx="1116124" cy="34858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/>
              <a:t>m[0]</a:t>
            </a:r>
          </a:p>
        </p:txBody>
      </p:sp>
      <p:sp>
        <p:nvSpPr>
          <p:cNvPr id="6" name="Line 19"/>
          <p:cNvSpPr>
            <a:spLocks noChangeShapeType="1"/>
          </p:cNvSpPr>
          <p:nvPr/>
        </p:nvSpPr>
        <p:spPr bwMode="auto">
          <a:xfrm flipH="1">
            <a:off x="2320563" y="4211303"/>
            <a:ext cx="2375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7" name="Line 27"/>
          <p:cNvSpPr>
            <a:spLocks noChangeShapeType="1"/>
          </p:cNvSpPr>
          <p:nvPr/>
        </p:nvSpPr>
        <p:spPr bwMode="auto">
          <a:xfrm>
            <a:off x="2321169" y="3146648"/>
            <a:ext cx="1163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" name="Rectangle 44"/>
          <p:cNvSpPr>
            <a:spLocks noChangeArrowheads="1"/>
          </p:cNvSpPr>
          <p:nvPr/>
        </p:nvSpPr>
        <p:spPr bwMode="auto">
          <a:xfrm>
            <a:off x="1767632" y="5054860"/>
            <a:ext cx="1116124" cy="34290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/>
              <a:t>c[0]</a:t>
            </a:r>
          </a:p>
        </p:txBody>
      </p:sp>
      <p:cxnSp>
        <p:nvCxnSpPr>
          <p:cNvPr id="9" name="Connettore 2 45"/>
          <p:cNvCxnSpPr>
            <a:cxnSpLocks noChangeShapeType="1"/>
          </p:cNvCxnSpPr>
          <p:nvPr/>
        </p:nvCxnSpPr>
        <p:spPr bwMode="auto">
          <a:xfrm>
            <a:off x="1708448" y="4143350"/>
            <a:ext cx="285666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CasellaDiTesto 46"/>
          <p:cNvSpPr txBox="1">
            <a:spLocks noChangeArrowheads="1"/>
          </p:cNvSpPr>
          <p:nvPr/>
        </p:nvSpPr>
        <p:spPr bwMode="auto">
          <a:xfrm>
            <a:off x="1456420" y="3946488"/>
            <a:ext cx="227875" cy="369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K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763688" y="2888940"/>
            <a:ext cx="1116124" cy="34858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 err="1"/>
              <a:t>ctr</a:t>
            </a:r>
            <a:endParaRPr lang="en-US" altLang="it-IT" sz="2000" b="1" dirty="0"/>
          </a:p>
        </p:txBody>
      </p:sp>
      <p:sp>
        <p:nvSpPr>
          <p:cNvPr id="12" name="Text Box 15"/>
          <p:cNvSpPr txBox="1">
            <a:spLocks noChangeArrowheads="1"/>
          </p:cNvSpPr>
          <p:nvPr/>
        </p:nvSpPr>
        <p:spPr bwMode="auto">
          <a:xfrm>
            <a:off x="2069722" y="4370784"/>
            <a:ext cx="504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13" name="Line 19"/>
          <p:cNvSpPr>
            <a:spLocks noChangeShapeType="1"/>
          </p:cNvSpPr>
          <p:nvPr/>
        </p:nvSpPr>
        <p:spPr bwMode="auto">
          <a:xfrm flipH="1">
            <a:off x="2317807" y="4804505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7" name="Segnaposto contenuto 2"/>
          <p:cNvSpPr>
            <a:spLocks noGrp="1"/>
          </p:cNvSpPr>
          <p:nvPr>
            <p:ph idx="1"/>
          </p:nvPr>
        </p:nvSpPr>
        <p:spPr>
          <a:xfrm>
            <a:off x="-144524" y="794395"/>
            <a:ext cx="9253028" cy="2065737"/>
          </a:xfrm>
        </p:spPr>
        <p:txBody>
          <a:bodyPr>
            <a:normAutofit fontScale="70000" lnSpcReduction="20000"/>
          </a:bodyPr>
          <a:lstStyle/>
          <a:p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simple</a:t>
            </a:r>
            <a:r>
              <a:rPr lang="it-IT" dirty="0"/>
              <a:t>: </a:t>
            </a:r>
          </a:p>
          <a:p>
            <a:pPr lvl="1"/>
            <a:r>
              <a:rPr lang="it-IT" dirty="0" err="1"/>
              <a:t>Initialize</a:t>
            </a:r>
            <a:r>
              <a:rPr lang="it-IT" dirty="0"/>
              <a:t> </a:t>
            </a:r>
            <a:r>
              <a:rPr lang="it-IT" dirty="0" err="1"/>
              <a:t>counter</a:t>
            </a:r>
            <a:r>
              <a:rPr lang="it-IT" dirty="0"/>
              <a:t> </a:t>
            </a:r>
            <a:r>
              <a:rPr lang="it-IT" dirty="0" err="1"/>
              <a:t>ctr</a:t>
            </a:r>
            <a:r>
              <a:rPr lang="it-IT" dirty="0"/>
              <a:t>, and </a:t>
            </a:r>
            <a:r>
              <a:rPr lang="it-IT" dirty="0" err="1"/>
              <a:t>increase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every</a:t>
            </a:r>
            <a:r>
              <a:rPr lang="it-IT" dirty="0"/>
              <a:t> new </a:t>
            </a:r>
            <a:r>
              <a:rPr lang="it-IT" dirty="0" err="1"/>
              <a:t>block</a:t>
            </a:r>
            <a:endParaRPr lang="it-IT" dirty="0"/>
          </a:p>
          <a:p>
            <a:pPr lvl="1"/>
            <a:r>
              <a:rPr lang="it-IT" dirty="0"/>
              <a:t>«</a:t>
            </a:r>
            <a:r>
              <a:rPr lang="it-IT" dirty="0" err="1"/>
              <a:t>encrypt</a:t>
            </a:r>
            <a:r>
              <a:rPr lang="it-IT" dirty="0"/>
              <a:t>» </a:t>
            </a:r>
            <a:r>
              <a:rPr lang="it-IT" dirty="0" err="1"/>
              <a:t>counter</a:t>
            </a:r>
            <a:r>
              <a:rPr lang="it-IT" dirty="0"/>
              <a:t> with </a:t>
            </a:r>
            <a:r>
              <a:rPr lang="it-IT" dirty="0" err="1"/>
              <a:t>block</a:t>
            </a:r>
            <a:r>
              <a:rPr lang="it-IT" dirty="0"/>
              <a:t> </a:t>
            </a:r>
            <a:r>
              <a:rPr lang="it-IT" dirty="0" err="1"/>
              <a:t>cipher</a:t>
            </a:r>
            <a:r>
              <a:rPr lang="it-IT" dirty="0"/>
              <a:t> (</a:t>
            </a:r>
            <a:r>
              <a:rPr lang="it-IT" sz="2900" dirty="0" err="1"/>
              <a:t>independent</a:t>
            </a:r>
            <a:r>
              <a:rPr lang="it-IT" sz="2900" dirty="0"/>
              <a:t> of </a:t>
            </a:r>
            <a:r>
              <a:rPr lang="it-IT" sz="2900" dirty="0" err="1"/>
              <a:t>plaintext</a:t>
            </a:r>
            <a:r>
              <a:rPr lang="it-IT" sz="2900" dirty="0"/>
              <a:t>, can be </a:t>
            </a:r>
            <a:r>
              <a:rPr lang="it-IT" sz="2900" dirty="0" err="1"/>
              <a:t>precomputed</a:t>
            </a:r>
            <a:r>
              <a:rPr lang="it-IT" dirty="0"/>
              <a:t>)</a:t>
            </a:r>
          </a:p>
          <a:p>
            <a:pPr lvl="1"/>
            <a:r>
              <a:rPr lang="it-IT" dirty="0"/>
              <a:t>XOR output with </a:t>
            </a:r>
            <a:r>
              <a:rPr lang="it-IT" dirty="0" err="1"/>
              <a:t>plaintext</a:t>
            </a:r>
            <a:r>
              <a:rPr lang="it-IT" dirty="0"/>
              <a:t> </a:t>
            </a:r>
            <a:r>
              <a:rPr lang="it-IT" dirty="0" err="1"/>
              <a:t>block</a:t>
            </a:r>
            <a:r>
              <a:rPr lang="it-IT" dirty="0"/>
              <a:t> </a:t>
            </a:r>
            <a:r>
              <a:rPr lang="it-IT" dirty="0">
                <a:sym typeface="Wingdings" panose="05000000000000000000" pitchFamily="2" charset="2"/>
              </a:rPr>
              <a:t> </a:t>
            </a:r>
            <a:r>
              <a:rPr lang="it-IT" dirty="0" err="1">
                <a:sym typeface="Wingdings" panose="05000000000000000000" pitchFamily="2" charset="2"/>
              </a:rPr>
              <a:t>looks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like</a:t>
            </a:r>
            <a:r>
              <a:rPr lang="it-IT" dirty="0">
                <a:sym typeface="Wingdings" panose="05000000000000000000" pitchFamily="2" charset="2"/>
              </a:rPr>
              <a:t> a </a:t>
            </a:r>
            <a:r>
              <a:rPr lang="it-IT" dirty="0" err="1">
                <a:sym typeface="Wingdings" panose="05000000000000000000" pitchFamily="2" charset="2"/>
              </a:rPr>
              <a:t>keystream</a:t>
            </a:r>
            <a:r>
              <a:rPr lang="it-IT" dirty="0">
                <a:sym typeface="Wingdings" panose="05000000000000000000" pitchFamily="2" charset="2"/>
              </a:rPr>
              <a:t> in </a:t>
            </a:r>
            <a:r>
              <a:rPr lang="it-IT" dirty="0" err="1">
                <a:sym typeface="Wingdings" panose="05000000000000000000" pitchFamily="2" charset="2"/>
              </a:rPr>
              <a:t>stream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cipher</a:t>
            </a:r>
            <a:endParaRPr lang="it-IT" dirty="0">
              <a:sym typeface="Wingdings" panose="05000000000000000000" pitchFamily="2" charset="2"/>
            </a:endParaRPr>
          </a:p>
          <a:p>
            <a:r>
              <a:rPr lang="it-IT" dirty="0">
                <a:sym typeface="Wingdings" panose="05000000000000000000" pitchFamily="2" charset="2"/>
              </a:rPr>
              <a:t>In </a:t>
            </a:r>
            <a:r>
              <a:rPr lang="it-IT" dirty="0" err="1">
                <a:sym typeface="Wingdings" panose="05000000000000000000" pitchFamily="2" charset="2"/>
              </a:rPr>
              <a:t>pratice</a:t>
            </a:r>
            <a:r>
              <a:rPr lang="it-IT" dirty="0">
                <a:sym typeface="Wingdings" panose="05000000000000000000" pitchFamily="2" charset="2"/>
              </a:rPr>
              <a:t>: </a:t>
            </a:r>
            <a:r>
              <a:rPr lang="it-IT" dirty="0" err="1">
                <a:sym typeface="Wingdings" panose="05000000000000000000" pitchFamily="2" charset="2"/>
              </a:rPr>
              <a:t>builds</a:t>
            </a:r>
            <a:r>
              <a:rPr lang="it-IT" dirty="0">
                <a:sym typeface="Wingdings" panose="05000000000000000000" pitchFamily="2" charset="2"/>
              </a:rPr>
              <a:t> a PRNG </a:t>
            </a:r>
            <a:r>
              <a:rPr lang="it-IT" dirty="0" err="1">
                <a:sym typeface="Wingdings" panose="05000000000000000000" pitchFamily="2" charset="2"/>
              </a:rPr>
              <a:t>keystream</a:t>
            </a:r>
            <a:r>
              <a:rPr lang="it-IT" dirty="0">
                <a:sym typeface="Wingdings" panose="05000000000000000000" pitchFamily="2" charset="2"/>
              </a:rPr>
              <a:t> out of a </a:t>
            </a:r>
            <a:r>
              <a:rPr lang="it-IT" dirty="0" err="1">
                <a:sym typeface="Wingdings" panose="05000000000000000000" pitchFamily="2" charset="2"/>
              </a:rPr>
              <a:t>block</a:t>
            </a:r>
            <a:r>
              <a:rPr lang="it-IT" dirty="0">
                <a:sym typeface="Wingdings" panose="05000000000000000000" pitchFamily="2" charset="2"/>
              </a:rPr>
              <a:t> PRP!</a:t>
            </a:r>
          </a:p>
          <a:p>
            <a:pPr lvl="1"/>
            <a:r>
              <a:rPr lang="it-IT" dirty="0" err="1">
                <a:sym typeface="Wingdings" panose="05000000000000000000" pitchFamily="2" charset="2"/>
              </a:rPr>
              <a:t>Provably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secure</a:t>
            </a:r>
            <a:r>
              <a:rPr lang="it-IT" dirty="0">
                <a:sym typeface="Wingdings" panose="05000000000000000000" pitchFamily="2" charset="2"/>
              </a:rPr>
              <a:t>: </a:t>
            </a:r>
            <a:r>
              <a:rPr lang="it-IT" dirty="0" err="1">
                <a:sym typeface="Wingdings" panose="05000000000000000000" pitchFamily="2" charset="2"/>
              </a:rPr>
              <a:t>if</a:t>
            </a:r>
            <a:r>
              <a:rPr lang="it-IT" dirty="0">
                <a:sym typeface="Wingdings" panose="05000000000000000000" pitchFamily="2" charset="2"/>
              </a:rPr>
              <a:t> PRP </a:t>
            </a:r>
            <a:r>
              <a:rPr lang="it-IT" dirty="0" err="1">
                <a:sym typeface="Wingdings" panose="05000000000000000000" pitchFamily="2" charset="2"/>
              </a:rPr>
              <a:t>is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secure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then</a:t>
            </a:r>
            <a:r>
              <a:rPr lang="it-IT" dirty="0">
                <a:sym typeface="Wingdings" panose="05000000000000000000" pitchFamily="2" charset="2"/>
              </a:rPr>
              <a:t> PRNG </a:t>
            </a:r>
            <a:r>
              <a:rPr lang="it-IT" dirty="0" err="1">
                <a:sym typeface="Wingdings" panose="05000000000000000000" pitchFamily="2" charset="2"/>
              </a:rPr>
              <a:t>is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secure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as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well</a:t>
            </a:r>
            <a:endParaRPr lang="it-IT" dirty="0">
              <a:sym typeface="Wingdings" panose="05000000000000000000" pitchFamily="2" charset="2"/>
            </a:endParaRPr>
          </a:p>
        </p:txBody>
      </p:sp>
      <p:cxnSp>
        <p:nvCxnSpPr>
          <p:cNvPr id="38" name="Connettore 2 45"/>
          <p:cNvCxnSpPr>
            <a:cxnSpLocks noChangeShapeType="1"/>
          </p:cNvCxnSpPr>
          <p:nvPr/>
        </p:nvCxnSpPr>
        <p:spPr bwMode="auto">
          <a:xfrm>
            <a:off x="1510426" y="4694819"/>
            <a:ext cx="613302" cy="1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" name="Rectangle 5"/>
          <p:cNvSpPr>
            <a:spLocks noChangeArrowheads="1"/>
          </p:cNvSpPr>
          <p:nvPr/>
        </p:nvSpPr>
        <p:spPr bwMode="auto">
          <a:xfrm>
            <a:off x="4755277" y="3624086"/>
            <a:ext cx="669674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42" name="Rectangle 10"/>
          <p:cNvSpPr>
            <a:spLocks noChangeArrowheads="1"/>
          </p:cNvSpPr>
          <p:nvPr/>
        </p:nvSpPr>
        <p:spPr bwMode="auto">
          <a:xfrm>
            <a:off x="3127896" y="4499642"/>
            <a:ext cx="1116124" cy="34858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m[1]</a:t>
            </a:r>
          </a:p>
        </p:txBody>
      </p:sp>
      <p:sp>
        <p:nvSpPr>
          <p:cNvPr id="43" name="Line 19"/>
          <p:cNvSpPr>
            <a:spLocks noChangeShapeType="1"/>
          </p:cNvSpPr>
          <p:nvPr/>
        </p:nvSpPr>
        <p:spPr bwMode="auto">
          <a:xfrm flipH="1">
            <a:off x="5088927" y="4220689"/>
            <a:ext cx="2375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4" name="Line 27"/>
          <p:cNvSpPr>
            <a:spLocks noChangeShapeType="1"/>
          </p:cNvSpPr>
          <p:nvPr/>
        </p:nvSpPr>
        <p:spPr bwMode="auto">
          <a:xfrm>
            <a:off x="5089533" y="3156034"/>
            <a:ext cx="1163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4535996" y="5064246"/>
            <a:ext cx="1116124" cy="34290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c[1]</a:t>
            </a:r>
          </a:p>
        </p:txBody>
      </p:sp>
      <p:cxnSp>
        <p:nvCxnSpPr>
          <p:cNvPr id="46" name="Connettore 2 45"/>
          <p:cNvCxnSpPr>
            <a:cxnSpLocks noChangeShapeType="1"/>
          </p:cNvCxnSpPr>
          <p:nvPr/>
        </p:nvCxnSpPr>
        <p:spPr bwMode="auto">
          <a:xfrm>
            <a:off x="4476812" y="4152736"/>
            <a:ext cx="285666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CasellaDiTesto 46"/>
          <p:cNvSpPr txBox="1">
            <a:spLocks noChangeArrowheads="1"/>
          </p:cNvSpPr>
          <p:nvPr/>
        </p:nvSpPr>
        <p:spPr bwMode="auto">
          <a:xfrm>
            <a:off x="4224784" y="3955874"/>
            <a:ext cx="227875" cy="369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K</a:t>
            </a:r>
          </a:p>
        </p:txBody>
      </p:sp>
      <p:sp>
        <p:nvSpPr>
          <p:cNvPr id="48" name="Rectangle 10"/>
          <p:cNvSpPr>
            <a:spLocks noChangeArrowheads="1"/>
          </p:cNvSpPr>
          <p:nvPr/>
        </p:nvSpPr>
        <p:spPr bwMode="auto">
          <a:xfrm>
            <a:off x="4532052" y="2898326"/>
            <a:ext cx="1116124" cy="34858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ctr+1</a:t>
            </a:r>
          </a:p>
        </p:txBody>
      </p:sp>
      <p:sp>
        <p:nvSpPr>
          <p:cNvPr id="49" name="Text Box 15"/>
          <p:cNvSpPr txBox="1">
            <a:spLocks noChangeArrowheads="1"/>
          </p:cNvSpPr>
          <p:nvPr/>
        </p:nvSpPr>
        <p:spPr bwMode="auto">
          <a:xfrm>
            <a:off x="4838086" y="4380170"/>
            <a:ext cx="504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50" name="Line 19"/>
          <p:cNvSpPr>
            <a:spLocks noChangeShapeType="1"/>
          </p:cNvSpPr>
          <p:nvPr/>
        </p:nvSpPr>
        <p:spPr bwMode="auto">
          <a:xfrm flipH="1">
            <a:off x="5086171" y="4813891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cxnSp>
        <p:nvCxnSpPr>
          <p:cNvPr id="51" name="Connettore 2 45"/>
          <p:cNvCxnSpPr>
            <a:cxnSpLocks noChangeShapeType="1"/>
          </p:cNvCxnSpPr>
          <p:nvPr/>
        </p:nvCxnSpPr>
        <p:spPr bwMode="auto">
          <a:xfrm>
            <a:off x="4278790" y="4704205"/>
            <a:ext cx="613302" cy="1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2" name="Rectangle 5"/>
          <p:cNvSpPr>
            <a:spLocks noChangeArrowheads="1"/>
          </p:cNvSpPr>
          <p:nvPr/>
        </p:nvSpPr>
        <p:spPr bwMode="auto">
          <a:xfrm>
            <a:off x="7527585" y="3624086"/>
            <a:ext cx="669674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53" name="Rectangle 10"/>
          <p:cNvSpPr>
            <a:spLocks noChangeArrowheads="1"/>
          </p:cNvSpPr>
          <p:nvPr/>
        </p:nvSpPr>
        <p:spPr bwMode="auto">
          <a:xfrm>
            <a:off x="5900204" y="4499642"/>
            <a:ext cx="1116124" cy="34858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m[2]</a:t>
            </a:r>
          </a:p>
        </p:txBody>
      </p:sp>
      <p:sp>
        <p:nvSpPr>
          <p:cNvPr id="54" name="Line 19"/>
          <p:cNvSpPr>
            <a:spLocks noChangeShapeType="1"/>
          </p:cNvSpPr>
          <p:nvPr/>
        </p:nvSpPr>
        <p:spPr bwMode="auto">
          <a:xfrm flipH="1">
            <a:off x="7861235" y="4220689"/>
            <a:ext cx="2375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55" name="Line 27"/>
          <p:cNvSpPr>
            <a:spLocks noChangeShapeType="1"/>
          </p:cNvSpPr>
          <p:nvPr/>
        </p:nvSpPr>
        <p:spPr bwMode="auto">
          <a:xfrm>
            <a:off x="7861841" y="3156034"/>
            <a:ext cx="1163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56" name="Rectangle 44"/>
          <p:cNvSpPr>
            <a:spLocks noChangeArrowheads="1"/>
          </p:cNvSpPr>
          <p:nvPr/>
        </p:nvSpPr>
        <p:spPr bwMode="auto">
          <a:xfrm>
            <a:off x="7308304" y="5064246"/>
            <a:ext cx="1116124" cy="34290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c[2]</a:t>
            </a:r>
          </a:p>
        </p:txBody>
      </p:sp>
      <p:cxnSp>
        <p:nvCxnSpPr>
          <p:cNvPr id="57" name="Connettore 2 56"/>
          <p:cNvCxnSpPr>
            <a:cxnSpLocks noChangeShapeType="1"/>
          </p:cNvCxnSpPr>
          <p:nvPr/>
        </p:nvCxnSpPr>
        <p:spPr bwMode="auto">
          <a:xfrm>
            <a:off x="7249120" y="4152736"/>
            <a:ext cx="285666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" name="CasellaDiTesto 57"/>
          <p:cNvSpPr txBox="1">
            <a:spLocks noChangeArrowheads="1"/>
          </p:cNvSpPr>
          <p:nvPr/>
        </p:nvSpPr>
        <p:spPr bwMode="auto">
          <a:xfrm>
            <a:off x="6997092" y="3955874"/>
            <a:ext cx="227875" cy="369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K</a:t>
            </a:r>
          </a:p>
        </p:txBody>
      </p:sp>
      <p:sp>
        <p:nvSpPr>
          <p:cNvPr id="59" name="Rectangle 10"/>
          <p:cNvSpPr>
            <a:spLocks noChangeArrowheads="1"/>
          </p:cNvSpPr>
          <p:nvPr/>
        </p:nvSpPr>
        <p:spPr bwMode="auto">
          <a:xfrm>
            <a:off x="7304360" y="2898326"/>
            <a:ext cx="1116124" cy="34858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ctr+2</a:t>
            </a:r>
          </a:p>
        </p:txBody>
      </p:sp>
      <p:sp>
        <p:nvSpPr>
          <p:cNvPr id="60" name="Text Box 15"/>
          <p:cNvSpPr txBox="1">
            <a:spLocks noChangeArrowheads="1"/>
          </p:cNvSpPr>
          <p:nvPr/>
        </p:nvSpPr>
        <p:spPr bwMode="auto">
          <a:xfrm>
            <a:off x="7610394" y="4380170"/>
            <a:ext cx="504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61" name="Line 19"/>
          <p:cNvSpPr>
            <a:spLocks noChangeShapeType="1"/>
          </p:cNvSpPr>
          <p:nvPr/>
        </p:nvSpPr>
        <p:spPr bwMode="auto">
          <a:xfrm flipH="1">
            <a:off x="7858479" y="4813891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cxnSp>
        <p:nvCxnSpPr>
          <p:cNvPr id="62" name="Connettore 2 45"/>
          <p:cNvCxnSpPr>
            <a:cxnSpLocks noChangeShapeType="1"/>
          </p:cNvCxnSpPr>
          <p:nvPr/>
        </p:nvCxnSpPr>
        <p:spPr bwMode="auto">
          <a:xfrm>
            <a:off x="7051098" y="4704205"/>
            <a:ext cx="613302" cy="1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3" name="CasellaDiTesto 62"/>
          <p:cNvSpPr txBox="1"/>
          <p:nvPr/>
        </p:nvSpPr>
        <p:spPr>
          <a:xfrm>
            <a:off x="688733" y="5572325"/>
            <a:ext cx="76418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400" dirty="0">
                <a:solidFill>
                  <a:srgbClr val="FF0000"/>
                </a:solidFill>
              </a:rPr>
              <a:t>AES-CTR </a:t>
            </a:r>
            <a:r>
              <a:rPr lang="it-IT" sz="2400" dirty="0" err="1">
                <a:solidFill>
                  <a:srgbClr val="FF0000"/>
                </a:solidFill>
              </a:rPr>
              <a:t>detail</a:t>
            </a:r>
            <a:r>
              <a:rPr lang="it-IT" sz="2400" dirty="0">
                <a:solidFill>
                  <a:srgbClr val="FF0000"/>
                </a:solidFill>
              </a:rPr>
              <a:t> on </a:t>
            </a:r>
            <a:r>
              <a:rPr lang="it-IT" sz="2400" dirty="0" err="1">
                <a:solidFill>
                  <a:srgbClr val="FF0000"/>
                </a:solidFill>
              </a:rPr>
              <a:t>Initial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 err="1">
                <a:solidFill>
                  <a:srgbClr val="FF0000"/>
                </a:solidFill>
              </a:rPr>
              <a:t>Counter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 err="1">
                <a:solidFill>
                  <a:srgbClr val="FF0000"/>
                </a:solidFill>
              </a:rPr>
              <a:t>Block</a:t>
            </a:r>
            <a:r>
              <a:rPr lang="it-IT" sz="2400" dirty="0">
                <a:solidFill>
                  <a:srgbClr val="FF0000"/>
                </a:solidFill>
              </a:rPr>
              <a:t> (ICB), </a:t>
            </a:r>
            <a:r>
              <a:rPr lang="it-IT" sz="2400" dirty="0" err="1">
                <a:solidFill>
                  <a:srgbClr val="FF0000"/>
                </a:solidFill>
              </a:rPr>
              <a:t>see</a:t>
            </a:r>
            <a:r>
              <a:rPr lang="it-IT" sz="2400" dirty="0">
                <a:solidFill>
                  <a:srgbClr val="FF0000"/>
                </a:solidFill>
              </a:rPr>
              <a:t> e.g. RFC3686: </a:t>
            </a:r>
          </a:p>
          <a:p>
            <a:pPr algn="ctr"/>
            <a:r>
              <a:rPr lang="it-IT" sz="2400" dirty="0">
                <a:solidFill>
                  <a:srgbClr val="FF0000"/>
                </a:solidFill>
              </a:rPr>
              <a:t>first 96 bits = IV, </a:t>
            </a:r>
            <a:r>
              <a:rPr lang="it-IT" sz="2400" dirty="0" err="1">
                <a:solidFill>
                  <a:srgbClr val="FF0000"/>
                </a:solidFill>
              </a:rPr>
              <a:t>next</a:t>
            </a:r>
            <a:r>
              <a:rPr lang="it-IT" sz="2400" dirty="0">
                <a:solidFill>
                  <a:srgbClr val="FF0000"/>
                </a:solidFill>
              </a:rPr>
              <a:t> 32 bits = </a:t>
            </a:r>
            <a:r>
              <a:rPr lang="it-IT" sz="2400" dirty="0" err="1">
                <a:solidFill>
                  <a:srgbClr val="FF0000"/>
                </a:solidFill>
              </a:rPr>
              <a:t>counter</a:t>
            </a:r>
            <a:r>
              <a:rPr lang="it-IT" sz="2400" dirty="0">
                <a:solidFill>
                  <a:srgbClr val="FF0000"/>
                </a:solidFill>
              </a:rPr>
              <a:t>, </a:t>
            </a:r>
            <a:r>
              <a:rPr lang="it-IT" sz="2400" dirty="0" err="1">
                <a:solidFill>
                  <a:srgbClr val="FF0000"/>
                </a:solidFill>
              </a:rPr>
              <a:t>starting</a:t>
            </a:r>
            <a:r>
              <a:rPr lang="it-IT" sz="2400" dirty="0">
                <a:solidFill>
                  <a:srgbClr val="FF0000"/>
                </a:solidFill>
              </a:rPr>
              <a:t> from 1 </a:t>
            </a:r>
          </a:p>
        </p:txBody>
      </p:sp>
    </p:spTree>
    <p:extLst>
      <p:ext uri="{BB962C8B-B14F-4D97-AF65-F5344CB8AC3E}">
        <p14:creationId xmlns:p14="http://schemas.microsoft.com/office/powerpoint/2010/main" val="842556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/>
      <p:bldP spid="11" grpId="0" animBg="1"/>
      <p:bldP spid="12" grpId="0"/>
      <p:bldP spid="13" grpId="0" animBg="1"/>
      <p:bldP spid="37" grpId="0" uiExpand="1" build="p"/>
      <p:bldP spid="41" grpId="0" animBg="1"/>
      <p:bldP spid="42" grpId="0" animBg="1"/>
      <p:bldP spid="43" grpId="0" animBg="1"/>
      <p:bldP spid="44" grpId="0" animBg="1"/>
      <p:bldP spid="45" grpId="0" animBg="1"/>
      <p:bldP spid="47" grpId="0"/>
      <p:bldP spid="48" grpId="0" animBg="1"/>
      <p:bldP spid="49" grpId="0"/>
      <p:bldP spid="50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8" grpId="0"/>
      <p:bldP spid="59" grpId="0" animBg="1"/>
      <p:bldP spid="60" grpId="0"/>
      <p:bldP spid="61" grpId="0" animBg="1"/>
      <p:bldP spid="6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Counter</a:t>
            </a:r>
            <a:r>
              <a:rPr lang="it-IT" dirty="0"/>
              <a:t> Mode (CTR)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51520" y="1125538"/>
            <a:ext cx="8892480" cy="5543822"/>
          </a:xfrm>
        </p:spPr>
        <p:txBody>
          <a:bodyPr>
            <a:normAutofit fontScale="70000" lnSpcReduction="20000"/>
          </a:bodyPr>
          <a:lstStyle/>
          <a:p>
            <a:r>
              <a:rPr lang="it-IT" sz="3300" dirty="0"/>
              <a:t>Mode with </a:t>
            </a:r>
            <a:r>
              <a:rPr lang="it-IT" sz="3300" dirty="0" err="1"/>
              <a:t>most</a:t>
            </a:r>
            <a:r>
              <a:rPr lang="it-IT" sz="3300" dirty="0"/>
              <a:t> of the </a:t>
            </a:r>
            <a:r>
              <a:rPr lang="it-IT" sz="3300" dirty="0" err="1"/>
              <a:t>advantages</a:t>
            </a:r>
            <a:r>
              <a:rPr lang="it-IT" sz="3300" dirty="0"/>
              <a:t>!</a:t>
            </a:r>
          </a:p>
          <a:p>
            <a:pPr lvl="1"/>
            <a:r>
              <a:rPr lang="it-IT" dirty="0" err="1"/>
              <a:t>Turns</a:t>
            </a:r>
            <a:r>
              <a:rPr lang="it-IT" dirty="0"/>
              <a:t> </a:t>
            </a:r>
            <a:r>
              <a:rPr lang="it-IT" dirty="0" err="1"/>
              <a:t>block</a:t>
            </a:r>
            <a:r>
              <a:rPr lang="it-IT" dirty="0"/>
              <a:t> </a:t>
            </a:r>
            <a:r>
              <a:rPr lang="it-IT" dirty="0" err="1"/>
              <a:t>cipher</a:t>
            </a:r>
            <a:r>
              <a:rPr lang="it-IT" dirty="0"/>
              <a:t> </a:t>
            </a:r>
            <a:r>
              <a:rPr lang="it-IT" dirty="0" err="1"/>
              <a:t>into</a:t>
            </a:r>
            <a:r>
              <a:rPr lang="it-IT" dirty="0"/>
              <a:t> a </a:t>
            </a:r>
            <a:r>
              <a:rPr lang="it-IT" dirty="0" err="1"/>
              <a:t>stream</a:t>
            </a:r>
            <a:r>
              <a:rPr lang="it-IT" dirty="0"/>
              <a:t> </a:t>
            </a:r>
            <a:r>
              <a:rPr lang="it-IT" dirty="0" err="1"/>
              <a:t>one</a:t>
            </a:r>
            <a:endParaRPr lang="it-IT" dirty="0"/>
          </a:p>
          <a:p>
            <a:pPr lvl="1"/>
            <a:r>
              <a:rPr lang="it-IT" dirty="0" err="1"/>
              <a:t>Combines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the </a:t>
            </a:r>
            <a:r>
              <a:rPr lang="it-IT" dirty="0" err="1"/>
              <a:t>advantages</a:t>
            </a:r>
            <a:r>
              <a:rPr lang="it-IT" dirty="0"/>
              <a:t> of CFB and OFB!</a:t>
            </a:r>
          </a:p>
          <a:p>
            <a:r>
              <a:rPr lang="it-IT" sz="3300" dirty="0" err="1"/>
              <a:t>Implementation</a:t>
            </a:r>
            <a:r>
              <a:rPr lang="it-IT" sz="3300" dirty="0"/>
              <a:t> </a:t>
            </a:r>
            <a:r>
              <a:rPr lang="it-IT" sz="3300" dirty="0" err="1"/>
              <a:t>efficiency</a:t>
            </a:r>
            <a:r>
              <a:rPr lang="it-IT" sz="3300" dirty="0"/>
              <a:t> (SW/HW)</a:t>
            </a:r>
          </a:p>
          <a:p>
            <a:pPr lvl="2"/>
            <a:r>
              <a:rPr lang="it-IT" dirty="0" err="1"/>
              <a:t>Parallel</a:t>
            </a:r>
            <a:r>
              <a:rPr lang="it-IT" dirty="0"/>
              <a:t> </a:t>
            </a:r>
            <a:r>
              <a:rPr lang="it-IT" dirty="0" err="1"/>
              <a:t>encryption</a:t>
            </a:r>
            <a:r>
              <a:rPr lang="it-IT" dirty="0"/>
              <a:t> AND </a:t>
            </a:r>
            <a:r>
              <a:rPr lang="it-IT" dirty="0" err="1"/>
              <a:t>Parallel</a:t>
            </a:r>
            <a:r>
              <a:rPr lang="it-IT" dirty="0"/>
              <a:t> </a:t>
            </a:r>
            <a:r>
              <a:rPr lang="it-IT" dirty="0" err="1"/>
              <a:t>decryption</a:t>
            </a:r>
            <a:endParaRPr lang="it-IT" dirty="0"/>
          </a:p>
          <a:p>
            <a:r>
              <a:rPr lang="it-IT" sz="3300" dirty="0" err="1"/>
              <a:t>Requires</a:t>
            </a:r>
            <a:r>
              <a:rPr lang="it-IT" sz="3300" dirty="0"/>
              <a:t> </a:t>
            </a:r>
            <a:r>
              <a:rPr lang="it-IT" sz="3300" dirty="0" err="1"/>
              <a:t>implementation</a:t>
            </a:r>
            <a:r>
              <a:rPr lang="it-IT" sz="3300" dirty="0"/>
              <a:t> of </a:t>
            </a:r>
            <a:r>
              <a:rPr lang="it-IT" sz="3300" dirty="0" err="1"/>
              <a:t>encryption</a:t>
            </a:r>
            <a:r>
              <a:rPr lang="it-IT" sz="3300" dirty="0"/>
              <a:t> </a:t>
            </a:r>
            <a:r>
              <a:rPr lang="it-IT" sz="3300" dirty="0" err="1"/>
              <a:t>block</a:t>
            </a:r>
            <a:r>
              <a:rPr lang="it-IT" sz="3300" dirty="0"/>
              <a:t> </a:t>
            </a:r>
            <a:r>
              <a:rPr lang="it-IT" sz="3300" dirty="0" err="1"/>
              <a:t>only</a:t>
            </a:r>
            <a:endParaRPr lang="it-IT" sz="3300" dirty="0"/>
          </a:p>
          <a:p>
            <a:pPr lvl="1"/>
            <a:r>
              <a:rPr lang="it-IT" dirty="0" err="1"/>
              <a:t>Unlike</a:t>
            </a:r>
            <a:r>
              <a:rPr lang="it-IT" dirty="0"/>
              <a:t> ECB and CBC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require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inverse </a:t>
            </a:r>
            <a:r>
              <a:rPr lang="it-IT" dirty="0" err="1"/>
              <a:t>block</a:t>
            </a:r>
            <a:endParaRPr lang="it-IT" dirty="0"/>
          </a:p>
          <a:p>
            <a:r>
              <a:rPr lang="it-IT" sz="3300" dirty="0"/>
              <a:t>Random </a:t>
            </a:r>
            <a:r>
              <a:rPr lang="it-IT" sz="3300" dirty="0" err="1"/>
              <a:t>access</a:t>
            </a:r>
            <a:endParaRPr lang="it-IT" sz="3300" dirty="0"/>
          </a:p>
          <a:p>
            <a:pPr lvl="1"/>
            <a:r>
              <a:rPr lang="it-IT" dirty="0" err="1"/>
              <a:t>Decryption</a:t>
            </a:r>
            <a:r>
              <a:rPr lang="it-IT" dirty="0"/>
              <a:t> of </a:t>
            </a:r>
            <a:r>
              <a:rPr lang="it-IT" dirty="0" err="1"/>
              <a:t>i</a:t>
            </a:r>
            <a:r>
              <a:rPr lang="it-IT" baseline="30000" dirty="0" err="1"/>
              <a:t>th</a:t>
            </a:r>
            <a:r>
              <a:rPr lang="it-IT" dirty="0"/>
              <a:t> </a:t>
            </a:r>
            <a:r>
              <a:rPr lang="it-IT" dirty="0" err="1"/>
              <a:t>block</a:t>
            </a:r>
            <a:r>
              <a:rPr lang="it-IT" dirty="0"/>
              <a:t>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depend</a:t>
            </a:r>
            <a:r>
              <a:rPr lang="it-IT" dirty="0"/>
              <a:t> on </a:t>
            </a:r>
            <a:r>
              <a:rPr lang="it-IT" dirty="0" err="1"/>
              <a:t>previous</a:t>
            </a:r>
            <a:r>
              <a:rPr lang="it-IT" dirty="0"/>
              <a:t> </a:t>
            </a:r>
            <a:r>
              <a:rPr lang="it-IT" dirty="0" err="1"/>
              <a:t>blocks</a:t>
            </a:r>
            <a:endParaRPr lang="it-IT" dirty="0"/>
          </a:p>
          <a:p>
            <a:pPr lvl="2"/>
            <a:r>
              <a:rPr lang="it-IT" dirty="0" err="1"/>
              <a:t>Unlike</a:t>
            </a:r>
            <a:r>
              <a:rPr lang="it-IT" dirty="0"/>
              <a:t> CBC or CFB, </a:t>
            </a:r>
            <a:r>
              <a:rPr lang="it-IT" dirty="0" err="1"/>
              <a:t>where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need</a:t>
            </a:r>
            <a:r>
              <a:rPr lang="it-IT" dirty="0"/>
              <a:t> to </a:t>
            </a:r>
            <a:r>
              <a:rPr lang="it-IT" dirty="0" err="1"/>
              <a:t>decrypt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previous</a:t>
            </a:r>
            <a:r>
              <a:rPr lang="it-IT" dirty="0"/>
              <a:t> </a:t>
            </a:r>
            <a:r>
              <a:rPr lang="it-IT" dirty="0" err="1"/>
              <a:t>blocks</a:t>
            </a:r>
            <a:endParaRPr lang="it-IT" dirty="0"/>
          </a:p>
          <a:p>
            <a:r>
              <a:rPr lang="it-IT" sz="3300" dirty="0" err="1"/>
              <a:t>Secure</a:t>
            </a:r>
            <a:r>
              <a:rPr lang="it-IT" sz="3300" dirty="0"/>
              <a:t> </a:t>
            </a:r>
          </a:p>
          <a:p>
            <a:pPr lvl="1"/>
            <a:r>
              <a:rPr lang="it-IT" dirty="0" err="1"/>
              <a:t>Counters</a:t>
            </a:r>
            <a:r>
              <a:rPr lang="it-IT" dirty="0"/>
              <a:t> (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properly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)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repeat</a:t>
            </a:r>
            <a:r>
              <a:rPr lang="it-IT" dirty="0"/>
              <a:t>! </a:t>
            </a:r>
            <a:r>
              <a:rPr lang="it-IT" dirty="0" err="1"/>
              <a:t>Predictability</a:t>
            </a:r>
            <a:r>
              <a:rPr lang="it-IT" dirty="0"/>
              <a:t> NOT a </a:t>
            </a:r>
            <a:r>
              <a:rPr lang="it-IT" dirty="0" err="1"/>
              <a:t>concern</a:t>
            </a:r>
            <a:r>
              <a:rPr lang="it-IT" dirty="0"/>
              <a:t>! </a:t>
            </a:r>
          </a:p>
          <a:p>
            <a:pPr lvl="1"/>
            <a:r>
              <a:rPr lang="it-IT" dirty="0" err="1"/>
              <a:t>Guaranteed</a:t>
            </a:r>
            <a:r>
              <a:rPr lang="it-IT" dirty="0"/>
              <a:t> NO short </a:t>
            </a:r>
            <a:r>
              <a:rPr lang="it-IT" dirty="0" err="1"/>
              <a:t>cycle</a:t>
            </a:r>
            <a:r>
              <a:rPr lang="it-IT" dirty="0"/>
              <a:t> </a:t>
            </a:r>
            <a:r>
              <a:rPr lang="it-IT" dirty="0" err="1"/>
              <a:t>problems</a:t>
            </a:r>
            <a:r>
              <a:rPr lang="it-IT" dirty="0"/>
              <a:t>!</a:t>
            </a:r>
          </a:p>
          <a:p>
            <a:pPr lvl="2"/>
            <a:r>
              <a:rPr lang="it-IT" dirty="0" err="1"/>
              <a:t>Since</a:t>
            </a:r>
            <a:r>
              <a:rPr lang="it-IT" dirty="0"/>
              <a:t> </a:t>
            </a:r>
            <a:r>
              <a:rPr lang="it-IT" dirty="0" err="1"/>
              <a:t>block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permutation</a:t>
            </a:r>
            <a:r>
              <a:rPr lang="it-IT" dirty="0"/>
              <a:t>, </a:t>
            </a:r>
            <a:r>
              <a:rPr lang="it-IT" dirty="0" err="1"/>
              <a:t>same</a:t>
            </a:r>
            <a:r>
              <a:rPr lang="it-IT" dirty="0"/>
              <a:t> output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same</a:t>
            </a:r>
            <a:r>
              <a:rPr lang="it-IT" dirty="0"/>
              <a:t> input </a:t>
            </a:r>
            <a:r>
              <a:rPr lang="it-IT" dirty="0" err="1"/>
              <a:t>repeats</a:t>
            </a:r>
            <a:r>
              <a:rPr lang="it-IT" dirty="0"/>
              <a:t> </a:t>
            </a:r>
          </a:p>
          <a:p>
            <a:pPr lvl="3"/>
            <a:r>
              <a:rPr lang="it-IT" dirty="0" err="1">
                <a:sym typeface="Wingdings" panose="05000000000000000000" pitchFamily="2" charset="2"/>
              </a:rPr>
              <a:t>periodicity</a:t>
            </a:r>
            <a:r>
              <a:rPr lang="it-IT" dirty="0">
                <a:sym typeface="Wingdings" panose="05000000000000000000" pitchFamily="2" charset="2"/>
              </a:rPr>
              <a:t> = 2</a:t>
            </a:r>
            <a:r>
              <a:rPr lang="it-IT" baseline="30000" dirty="0">
                <a:sym typeface="Wingdings" panose="05000000000000000000" pitchFamily="2" charset="2"/>
              </a:rPr>
              <a:t>n</a:t>
            </a:r>
            <a:r>
              <a:rPr lang="it-IT" dirty="0">
                <a:sym typeface="Wingdings" panose="05000000000000000000" pitchFamily="2" charset="2"/>
              </a:rPr>
              <a:t>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0235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1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3200" dirty="0"/>
              <a:t>Authentication with Block </a:t>
            </a:r>
            <a:r>
              <a:rPr lang="it-IT" sz="3200" dirty="0" err="1"/>
              <a:t>ciphers</a:t>
            </a:r>
            <a:r>
              <a:rPr lang="it-IT" sz="3200" dirty="0"/>
              <a:t>:</a:t>
            </a:r>
            <a:br>
              <a:rPr lang="it-IT" sz="3200" dirty="0"/>
            </a:br>
            <a:r>
              <a:rPr lang="it-IT" sz="3200" dirty="0" err="1"/>
              <a:t>Which</a:t>
            </a:r>
            <a:r>
              <a:rPr lang="it-IT" sz="3200" dirty="0"/>
              <a:t> mode? </a:t>
            </a:r>
          </a:p>
        </p:txBody>
      </p:sp>
    </p:spTree>
    <p:extLst>
      <p:ext uri="{BB962C8B-B14F-4D97-AF65-F5344CB8AC3E}">
        <p14:creationId xmlns:p14="http://schemas.microsoft.com/office/powerpoint/2010/main" val="16738884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0439A9-95B5-41FB-9AA3-A4E29C869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333375"/>
            <a:ext cx="8712968" cy="576263"/>
          </a:xfrm>
        </p:spPr>
        <p:txBody>
          <a:bodyPr/>
          <a:lstStyle/>
          <a:p>
            <a:pPr>
              <a:defRPr/>
            </a:pPr>
            <a:r>
              <a:rPr lang="it-IT" dirty="0"/>
              <a:t>Back to CHAP-</a:t>
            </a:r>
            <a:r>
              <a:rPr lang="it-IT" dirty="0" err="1"/>
              <a:t>type</a:t>
            </a:r>
            <a:r>
              <a:rPr lang="it-IT" dirty="0"/>
              <a:t> authentication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4AE9F82-B65C-4B2E-8DC0-B3AC1FD66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68413"/>
            <a:ext cx="7989888" cy="1894839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How to “prove” I know a secret?</a:t>
            </a:r>
          </a:p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Two practical approaches </a:t>
            </a:r>
            <a:r>
              <a:rPr lang="en-US" sz="2000" dirty="0">
                <a:solidFill>
                  <a:srgbClr val="FF0000"/>
                </a:solidFill>
              </a:rPr>
              <a:t>(no ZK today 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)</a:t>
            </a:r>
            <a:r>
              <a:rPr lang="en-US" sz="4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endParaRPr lang="en-US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dirty="0"/>
              <a:t>Hash(secret, challenge)</a:t>
            </a:r>
          </a:p>
          <a:p>
            <a:pPr lvl="1">
              <a:defRPr/>
            </a:pPr>
            <a:r>
              <a:rPr lang="en-US" dirty="0" err="1"/>
              <a:t>ENC</a:t>
            </a:r>
            <a:r>
              <a:rPr lang="en-US" sz="2800" baseline="-25000" dirty="0" err="1"/>
              <a:t>secret</a:t>
            </a:r>
            <a:r>
              <a:rPr lang="en-US" dirty="0"/>
              <a:t>(challenge)</a:t>
            </a:r>
          </a:p>
        </p:txBody>
      </p:sp>
      <p:graphicFrame>
        <p:nvGraphicFramePr>
          <p:cNvPr id="4" name="Object 8">
            <a:extLst>
              <a:ext uri="{FF2B5EF4-FFF2-40B4-BE49-F238E27FC236}">
                <a16:creationId xmlns:a16="http://schemas.microsoft.com/office/drawing/2014/main" id="{D5C2B7F2-ADB0-A4A3-C439-405A4CA54B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05663" y="2378339"/>
          <a:ext cx="1252537" cy="277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2" imgW="1562100" imgH="5059363" progId="MS_ClipArt_Gallery.2">
                  <p:embed/>
                </p:oleObj>
              </mc:Choice>
              <mc:Fallback>
                <p:oleObj name="ClipArt" r:id="rId2" imgW="1562100" imgH="5059363" progId="MS_ClipArt_Gallery.2">
                  <p:embed/>
                  <p:pic>
                    <p:nvPicPr>
                      <p:cNvPr id="4" name="Object 8">
                        <a:extLst>
                          <a:ext uri="{FF2B5EF4-FFF2-40B4-BE49-F238E27FC236}">
                            <a16:creationId xmlns:a16="http://schemas.microsoft.com/office/drawing/2014/main" id="{D5C2B7F2-ADB0-A4A3-C439-405A4CA54B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5663" y="2378339"/>
                        <a:ext cx="1252537" cy="277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7">
            <a:extLst>
              <a:ext uri="{FF2B5EF4-FFF2-40B4-BE49-F238E27FC236}">
                <a16:creationId xmlns:a16="http://schemas.microsoft.com/office/drawing/2014/main" id="{48B2BE2D-1D54-932B-CDC1-BFA540F5E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7" y="3177803"/>
            <a:ext cx="1490662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4">
            <a:extLst>
              <a:ext uri="{FF2B5EF4-FFF2-40B4-BE49-F238E27FC236}">
                <a16:creationId xmlns:a16="http://schemas.microsoft.com/office/drawing/2014/main" id="{29794C7C-B8A6-DDF0-D812-D3661C4B779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87562" y="3284166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Challenge</a:t>
            </a: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207E2F88-9A71-68DF-B869-BD2B2BD6A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4" y="4076328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ENC</a:t>
            </a:r>
            <a:r>
              <a:rPr kumimoji="0" lang="it-IT" altLang="it-IT" sz="1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K</a:t>
            </a:r>
            <a:r>
              <a:rPr kumimoji="0" lang="it-IT" alt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(Challenge)</a:t>
            </a:r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8F6B6A90-8C3A-B8FE-A941-3BFDCF3A6866}"/>
              </a:ext>
            </a:extLst>
          </p:cNvPr>
          <p:cNvSpPr txBox="1">
            <a:spLocks/>
          </p:cNvSpPr>
          <p:nvPr/>
        </p:nvSpPr>
        <p:spPr bwMode="auto">
          <a:xfrm>
            <a:off x="287016" y="5027504"/>
            <a:ext cx="8856984" cy="1245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 fontScale="55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it-IT" kern="0" dirty="0" err="1"/>
              <a:t>Is</a:t>
            </a:r>
            <a:r>
              <a:rPr lang="it-IT" kern="0" dirty="0"/>
              <a:t> </a:t>
            </a:r>
            <a:r>
              <a:rPr lang="it-IT" kern="0" dirty="0" err="1"/>
              <a:t>this</a:t>
            </a:r>
            <a:r>
              <a:rPr lang="it-IT" kern="0" dirty="0"/>
              <a:t> a good </a:t>
            </a:r>
            <a:r>
              <a:rPr lang="it-IT" kern="0" dirty="0" err="1"/>
              <a:t>approach</a:t>
            </a:r>
            <a:r>
              <a:rPr lang="it-IT" kern="0" dirty="0"/>
              <a:t>? </a:t>
            </a:r>
          </a:p>
          <a:p>
            <a:r>
              <a:rPr lang="it-IT" kern="0" dirty="0" err="1"/>
              <a:t>Let’s</a:t>
            </a:r>
            <a:r>
              <a:rPr lang="it-IT" kern="0" dirty="0"/>
              <a:t> check the Menezes </a:t>
            </a:r>
            <a:r>
              <a:rPr lang="it-IT" kern="0" dirty="0" err="1"/>
              <a:t>handbook</a:t>
            </a:r>
            <a:r>
              <a:rPr lang="it-IT" kern="0" dirty="0"/>
              <a:t> - https://cacr.uwaterloo.ca/hac/</a:t>
            </a:r>
          </a:p>
          <a:p>
            <a:pPr lvl="1"/>
            <a:r>
              <a:rPr lang="it-IT" kern="0" dirty="0"/>
              <a:t>Yes, </a:t>
            </a:r>
            <a:r>
              <a:rPr lang="it-IT" kern="0" dirty="0" err="1"/>
              <a:t>chapter</a:t>
            </a:r>
            <a:r>
              <a:rPr lang="it-IT" kern="0" dirty="0"/>
              <a:t> 10.3.2 </a:t>
            </a:r>
            <a:r>
              <a:rPr lang="it-IT" kern="0" dirty="0" err="1"/>
              <a:t>mentions</a:t>
            </a:r>
            <a:r>
              <a:rPr lang="it-IT" kern="0" dirty="0"/>
              <a:t> </a:t>
            </a:r>
            <a:r>
              <a:rPr lang="it-IT" kern="0" dirty="0" err="1"/>
              <a:t>this</a:t>
            </a:r>
            <a:endParaRPr lang="it-IT" kern="0" dirty="0"/>
          </a:p>
          <a:p>
            <a:pPr lvl="1"/>
            <a:r>
              <a:rPr lang="it-IT" kern="0" dirty="0" err="1"/>
              <a:t>As</a:t>
            </a:r>
            <a:r>
              <a:rPr lang="it-IT" kern="0" dirty="0"/>
              <a:t> long </a:t>
            </a:r>
            <a:r>
              <a:rPr lang="it-IT" kern="0" dirty="0" err="1"/>
              <a:t>as</a:t>
            </a:r>
            <a:r>
              <a:rPr lang="it-IT" kern="0" dirty="0"/>
              <a:t> challenge random and </a:t>
            </a:r>
            <a:r>
              <a:rPr lang="it-IT" kern="0" dirty="0" err="1"/>
              <a:t>never</a:t>
            </a:r>
            <a:r>
              <a:rPr lang="it-IT" kern="0" dirty="0"/>
              <a:t> </a:t>
            </a:r>
            <a:r>
              <a:rPr lang="it-IT" kern="0" dirty="0" err="1"/>
              <a:t>repeats</a:t>
            </a:r>
            <a:r>
              <a:rPr lang="it-IT" kern="0" dirty="0"/>
              <a:t>, </a:t>
            </a:r>
            <a:r>
              <a:rPr lang="it-IT" kern="0" dirty="0" err="1"/>
              <a:t>I’m</a:t>
            </a:r>
            <a:r>
              <a:rPr lang="it-IT" kern="0" dirty="0"/>
              <a:t> OK </a:t>
            </a:r>
            <a:r>
              <a:rPr lang="it-IT" kern="0" dirty="0" err="1"/>
              <a:t>then</a:t>
            </a:r>
            <a:endParaRPr lang="it-IT" kern="0" dirty="0"/>
          </a:p>
        </p:txBody>
      </p:sp>
    </p:spTree>
    <p:extLst>
      <p:ext uri="{BB962C8B-B14F-4D97-AF65-F5344CB8AC3E}">
        <p14:creationId xmlns:p14="http://schemas.microsoft.com/office/powerpoint/2010/main" val="2044503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8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2F66CA-5D20-4095-9899-EB8E9C9BE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225425"/>
            <a:ext cx="8928992" cy="649288"/>
          </a:xfrm>
        </p:spPr>
        <p:txBody>
          <a:bodyPr/>
          <a:lstStyle/>
          <a:p>
            <a:pPr>
              <a:defRPr/>
            </a:pPr>
            <a:r>
              <a:rPr lang="it-IT" sz="3200" dirty="0"/>
              <a:t>WiFi WEP (</a:t>
            </a:r>
            <a:r>
              <a:rPr lang="it-IT" sz="3200" dirty="0" err="1"/>
              <a:t>badly</a:t>
            </a:r>
            <a:r>
              <a:rPr lang="it-IT" sz="3200" dirty="0"/>
              <a:t> </a:t>
            </a:r>
            <a:r>
              <a:rPr lang="it-IT" sz="3200" dirty="0" err="1"/>
              <a:t>broken</a:t>
            </a:r>
            <a:r>
              <a:rPr lang="it-IT" sz="3200" dirty="0"/>
              <a:t>) authentication</a:t>
            </a:r>
          </a:p>
        </p:txBody>
      </p:sp>
      <p:sp>
        <p:nvSpPr>
          <p:cNvPr id="36867" name="Segnaposto contenuto 2">
            <a:extLst>
              <a:ext uri="{FF2B5EF4-FFF2-40B4-BE49-F238E27FC236}">
                <a16:creationId xmlns:a16="http://schemas.microsoft.com/office/drawing/2014/main" id="{3A80421C-C5DB-476E-8D6A-48574DBDF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24744"/>
            <a:ext cx="8206680" cy="532859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r>
              <a:rPr lang="it-IT" altLang="it-IT" dirty="0" err="1"/>
              <a:t>What’s</a:t>
            </a:r>
            <a:r>
              <a:rPr lang="it-IT" altLang="it-IT" dirty="0"/>
              <a:t> </a:t>
            </a:r>
            <a:r>
              <a:rPr lang="it-IT" altLang="it-IT" dirty="0" err="1"/>
              <a:t>wrong</a:t>
            </a:r>
            <a:r>
              <a:rPr lang="it-IT" altLang="it-IT" dirty="0"/>
              <a:t>???</a:t>
            </a:r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r>
              <a:rPr lang="it-IT" altLang="it-IT" dirty="0"/>
              <a:t>Ha </a:t>
            </a:r>
            <a:r>
              <a:rPr lang="it-IT" altLang="it-IT" dirty="0" err="1"/>
              <a:t>Ha</a:t>
            </a:r>
            <a:r>
              <a:rPr lang="it-IT" altLang="it-IT" dirty="0"/>
              <a:t>, RC4 </a:t>
            </a:r>
            <a:r>
              <a:rPr lang="it-IT" altLang="it-IT" dirty="0" err="1"/>
              <a:t>is</a:t>
            </a:r>
            <a:r>
              <a:rPr lang="it-IT" altLang="it-IT" dirty="0"/>
              <a:t> </a:t>
            </a:r>
            <a:r>
              <a:rPr lang="it-IT" altLang="it-IT" dirty="0" err="1"/>
              <a:t>broken</a:t>
            </a: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r>
              <a:rPr lang="it-IT" altLang="it-IT" dirty="0" err="1"/>
              <a:t>Let’s</a:t>
            </a:r>
            <a:r>
              <a:rPr lang="it-IT" altLang="it-IT" dirty="0"/>
              <a:t> fix by </a:t>
            </a:r>
            <a:r>
              <a:rPr lang="it-IT" altLang="it-IT" dirty="0" err="1"/>
              <a:t>using</a:t>
            </a:r>
            <a:r>
              <a:rPr lang="it-IT" altLang="it-IT" dirty="0"/>
              <a:t> AES!!</a:t>
            </a:r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</p:txBody>
      </p:sp>
      <p:graphicFrame>
        <p:nvGraphicFramePr>
          <p:cNvPr id="14340" name="Object 8">
            <a:extLst>
              <a:ext uri="{FF2B5EF4-FFF2-40B4-BE49-F238E27FC236}">
                <a16:creationId xmlns:a16="http://schemas.microsoft.com/office/drawing/2014/main" id="{660F0289-5D32-478C-9F32-F1A7558940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51911" y="1124744"/>
          <a:ext cx="1252537" cy="277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2" imgW="1562100" imgH="5059363" progId="MS_ClipArt_Gallery.2">
                  <p:embed/>
                </p:oleObj>
              </mc:Choice>
              <mc:Fallback>
                <p:oleObj name="ClipArt" r:id="rId2" imgW="1562100" imgH="5059363" progId="MS_ClipArt_Gallery.2">
                  <p:embed/>
                  <p:pic>
                    <p:nvPicPr>
                      <p:cNvPr id="14340" name="Object 8">
                        <a:extLst>
                          <a:ext uri="{FF2B5EF4-FFF2-40B4-BE49-F238E27FC236}">
                            <a16:creationId xmlns:a16="http://schemas.microsoft.com/office/drawing/2014/main" id="{660F0289-5D32-478C-9F32-F1A7558940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1911" y="1124744"/>
                        <a:ext cx="1252537" cy="277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341" name="Picture 7">
            <a:extLst>
              <a:ext uri="{FF2B5EF4-FFF2-40B4-BE49-F238E27FC236}">
                <a16:creationId xmlns:a16="http://schemas.microsoft.com/office/drawing/2014/main" id="{3EA19CE1-2402-464D-9358-56FFA83AE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836" y="1520031"/>
            <a:ext cx="1490662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AutoShape 4">
            <a:extLst>
              <a:ext uri="{FF2B5EF4-FFF2-40B4-BE49-F238E27FC236}">
                <a16:creationId xmlns:a16="http://schemas.microsoft.com/office/drawing/2014/main" id="{83666858-9165-41F9-B33C-C0C52BACB72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202061" y="1627981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Challenge</a:t>
            </a:r>
          </a:p>
        </p:txBody>
      </p:sp>
      <p:sp>
        <p:nvSpPr>
          <p:cNvPr id="14343" name="AutoShape 5">
            <a:extLst>
              <a:ext uri="{FF2B5EF4-FFF2-40B4-BE49-F238E27FC236}">
                <a16:creationId xmlns:a16="http://schemas.microsoft.com/office/drawing/2014/main" id="{2E2B328B-59F6-4100-928D-37E39BA94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573" y="2420144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RC4</a:t>
            </a:r>
            <a:r>
              <a:rPr kumimoji="0" lang="it-IT" altLang="it-IT" sz="1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K</a:t>
            </a:r>
            <a:r>
              <a:rPr kumimoji="0" lang="it-IT" alt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(Challenge</a:t>
            </a:r>
            <a:r>
              <a:rPr kumimoji="0" lang="it-IT" alt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  <a:sym typeface="Symbol" panose="05050102010706020507" pitchFamily="18" charset="2"/>
              </a:rPr>
              <a:t>)</a:t>
            </a:r>
            <a:endParaRPr kumimoji="0" lang="it-IT" altLang="it-IT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A0E6619-20DF-FDC8-7B28-A17F2F4611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192" y="4581288"/>
            <a:ext cx="2304256" cy="15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19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uiExpand="1" build="p"/>
      <p:bldP spid="1434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2F66CA-5D20-4095-9899-EB8E9C9BE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225425"/>
            <a:ext cx="8928992" cy="649288"/>
          </a:xfrm>
        </p:spPr>
        <p:txBody>
          <a:bodyPr/>
          <a:lstStyle/>
          <a:p>
            <a:pPr>
              <a:defRPr/>
            </a:pPr>
            <a:r>
              <a:rPr lang="it-IT" sz="3200" dirty="0" err="1"/>
              <a:t>Let’s</a:t>
            </a:r>
            <a:r>
              <a:rPr lang="it-IT" sz="3200" dirty="0"/>
              <a:t> </a:t>
            </a:r>
            <a:r>
              <a:rPr lang="it-IT" sz="3200" dirty="0" err="1"/>
              <a:t>replace</a:t>
            </a:r>
            <a:r>
              <a:rPr lang="it-IT" sz="3200" dirty="0"/>
              <a:t> (</a:t>
            </a:r>
            <a:r>
              <a:rPr lang="it-IT" sz="3200" dirty="0" err="1"/>
              <a:t>broken</a:t>
            </a:r>
            <a:r>
              <a:rPr lang="it-IT" sz="3200" dirty="0"/>
              <a:t>) RC4 with AES</a:t>
            </a:r>
          </a:p>
        </p:txBody>
      </p:sp>
      <p:sp>
        <p:nvSpPr>
          <p:cNvPr id="36867" name="Segnaposto contenuto 2">
            <a:extLst>
              <a:ext uri="{FF2B5EF4-FFF2-40B4-BE49-F238E27FC236}">
                <a16:creationId xmlns:a16="http://schemas.microsoft.com/office/drawing/2014/main" id="{3A80421C-C5DB-476E-8D6A-48574DBDF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24744"/>
            <a:ext cx="8458200" cy="5042694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 marL="0" indent="0">
              <a:buNone/>
              <a:defRPr/>
            </a:pPr>
            <a:endParaRPr lang="it-IT" altLang="it-IT" dirty="0"/>
          </a:p>
          <a:p>
            <a:pPr>
              <a:defRPr/>
            </a:pPr>
            <a:r>
              <a:rPr lang="it-IT" altLang="it-IT" dirty="0" err="1"/>
              <a:t>Which</a:t>
            </a:r>
            <a:r>
              <a:rPr lang="it-IT" altLang="it-IT" dirty="0"/>
              <a:t> AES mode </a:t>
            </a:r>
            <a:r>
              <a:rPr lang="it-IT" altLang="it-IT" dirty="0" err="1"/>
              <a:t>among</a:t>
            </a:r>
            <a:r>
              <a:rPr lang="it-IT" altLang="it-IT" dirty="0"/>
              <a:t>:</a:t>
            </a:r>
          </a:p>
          <a:p>
            <a:pPr lvl="1">
              <a:defRPr/>
            </a:pPr>
            <a:r>
              <a:rPr lang="it-IT" altLang="it-IT" dirty="0"/>
              <a:t>AES-ECB? (</a:t>
            </a:r>
            <a:r>
              <a:rPr lang="it-IT" altLang="it-IT" dirty="0" err="1"/>
              <a:t>worst</a:t>
            </a:r>
            <a:r>
              <a:rPr lang="it-IT" altLang="it-IT" dirty="0"/>
              <a:t> mode, </a:t>
            </a:r>
            <a:r>
              <a:rPr lang="it-IT" altLang="it-IT" dirty="0" err="1"/>
              <a:t>insecure</a:t>
            </a:r>
            <a:r>
              <a:rPr lang="it-IT" altLang="it-IT" dirty="0"/>
              <a:t>)</a:t>
            </a:r>
          </a:p>
          <a:p>
            <a:pPr lvl="1">
              <a:defRPr/>
            </a:pPr>
            <a:r>
              <a:rPr lang="it-IT" altLang="it-IT" dirty="0"/>
              <a:t>AES-CBC? (ok-</a:t>
            </a:r>
            <a:r>
              <a:rPr lang="it-IT" altLang="it-IT" dirty="0" err="1"/>
              <a:t>ish</a:t>
            </a:r>
            <a:r>
              <a:rPr lang="it-IT" altLang="it-IT" dirty="0"/>
              <a:t>, </a:t>
            </a:r>
            <a:r>
              <a:rPr lang="it-IT" altLang="it-IT" dirty="0" err="1"/>
              <a:t>but</a:t>
            </a:r>
            <a:r>
              <a:rPr lang="it-IT" altLang="it-IT" dirty="0"/>
              <a:t> </a:t>
            </a:r>
            <a:r>
              <a:rPr lang="it-IT" altLang="it-IT" dirty="0" err="1"/>
              <a:t>old-ish</a:t>
            </a:r>
            <a:r>
              <a:rPr lang="it-IT" altLang="it-IT" dirty="0"/>
              <a:t>)</a:t>
            </a:r>
          </a:p>
          <a:p>
            <a:pPr lvl="1">
              <a:defRPr/>
            </a:pPr>
            <a:r>
              <a:rPr lang="it-IT" altLang="it-IT" dirty="0"/>
              <a:t>AES-CTR? (best mode)</a:t>
            </a:r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</p:txBody>
      </p:sp>
      <p:graphicFrame>
        <p:nvGraphicFramePr>
          <p:cNvPr id="14340" name="Object 8">
            <a:extLst>
              <a:ext uri="{FF2B5EF4-FFF2-40B4-BE49-F238E27FC236}">
                <a16:creationId xmlns:a16="http://schemas.microsoft.com/office/drawing/2014/main" id="{660F0289-5D32-478C-9F32-F1A7558940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51911" y="1124744"/>
          <a:ext cx="1252537" cy="277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2" imgW="1562100" imgH="5059363" progId="MS_ClipArt_Gallery.2">
                  <p:embed/>
                </p:oleObj>
              </mc:Choice>
              <mc:Fallback>
                <p:oleObj name="ClipArt" r:id="rId2" imgW="1562100" imgH="5059363" progId="MS_ClipArt_Gallery.2">
                  <p:embed/>
                  <p:pic>
                    <p:nvPicPr>
                      <p:cNvPr id="14340" name="Object 8">
                        <a:extLst>
                          <a:ext uri="{FF2B5EF4-FFF2-40B4-BE49-F238E27FC236}">
                            <a16:creationId xmlns:a16="http://schemas.microsoft.com/office/drawing/2014/main" id="{660F0289-5D32-478C-9F32-F1A7558940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1911" y="1124744"/>
                        <a:ext cx="1252537" cy="277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341" name="Picture 7">
            <a:extLst>
              <a:ext uri="{FF2B5EF4-FFF2-40B4-BE49-F238E27FC236}">
                <a16:creationId xmlns:a16="http://schemas.microsoft.com/office/drawing/2014/main" id="{3EA19CE1-2402-464D-9358-56FFA83AE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836" y="1520031"/>
            <a:ext cx="1490662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AutoShape 4">
            <a:extLst>
              <a:ext uri="{FF2B5EF4-FFF2-40B4-BE49-F238E27FC236}">
                <a16:creationId xmlns:a16="http://schemas.microsoft.com/office/drawing/2014/main" id="{83666858-9165-41F9-B33C-C0C52BACB72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202061" y="1627981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Challenge</a:t>
            </a:r>
          </a:p>
        </p:txBody>
      </p:sp>
      <p:sp>
        <p:nvSpPr>
          <p:cNvPr id="14343" name="AutoShape 5">
            <a:extLst>
              <a:ext uri="{FF2B5EF4-FFF2-40B4-BE49-F238E27FC236}">
                <a16:creationId xmlns:a16="http://schemas.microsoft.com/office/drawing/2014/main" id="{2E2B328B-59F6-4100-928D-37E39BA94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573" y="2420144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AES</a:t>
            </a:r>
            <a:r>
              <a:rPr kumimoji="0" lang="it-IT" altLang="it-IT" sz="1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K</a:t>
            </a:r>
            <a:r>
              <a:rPr kumimoji="0" lang="it-IT" alt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(Challenge</a:t>
            </a:r>
            <a:r>
              <a:rPr kumimoji="0" lang="it-IT" alt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  <a:sym typeface="Symbol" panose="05050102010706020507" pitchFamily="18" charset="2"/>
              </a:rPr>
              <a:t>)</a:t>
            </a:r>
            <a:endParaRPr kumimoji="0" lang="it-IT" altLang="it-IT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3" name="Ovale 2">
            <a:extLst>
              <a:ext uri="{FF2B5EF4-FFF2-40B4-BE49-F238E27FC236}">
                <a16:creationId xmlns:a16="http://schemas.microsoft.com/office/drawing/2014/main" id="{22D364A6-3B38-F10F-E179-77126CA73028}"/>
              </a:ext>
            </a:extLst>
          </p:cNvPr>
          <p:cNvSpPr>
            <a:spLocks noChangeAspect="1"/>
          </p:cNvSpPr>
          <p:nvPr/>
        </p:nvSpPr>
        <p:spPr>
          <a:xfrm>
            <a:off x="6873659" y="4173916"/>
            <a:ext cx="1730789" cy="1730896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79701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uiExpand="1" build="p"/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Risultati immagini per terrified  smiley face">
            <a:extLst>
              <a:ext uri="{FF2B5EF4-FFF2-40B4-BE49-F238E27FC236}">
                <a16:creationId xmlns:a16="http://schemas.microsoft.com/office/drawing/2014/main" id="{8D7EC2A6-C0CF-461D-9EE4-53520AA01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2103" y="3201654"/>
            <a:ext cx="1903613" cy="135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6B2F66CA-5D20-4095-9899-EB8E9C9BE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225425"/>
            <a:ext cx="9036496" cy="649288"/>
          </a:xfrm>
        </p:spPr>
        <p:txBody>
          <a:bodyPr/>
          <a:lstStyle/>
          <a:p>
            <a:pPr>
              <a:defRPr/>
            </a:pPr>
            <a:r>
              <a:rPr lang="it-IT" dirty="0" err="1"/>
              <a:t>Let’s</a:t>
            </a:r>
            <a:r>
              <a:rPr lang="it-IT" dirty="0"/>
              <a:t> </a:t>
            </a:r>
            <a:r>
              <a:rPr lang="it-IT" dirty="0" err="1"/>
              <a:t>recap</a:t>
            </a:r>
            <a:r>
              <a:rPr lang="it-IT" dirty="0"/>
              <a:t> </a:t>
            </a:r>
            <a:r>
              <a:rPr lang="it-IT" u="sng" dirty="0"/>
              <a:t>WHY</a:t>
            </a:r>
            <a:r>
              <a:rPr lang="it-IT" dirty="0"/>
              <a:t> WEP </a:t>
            </a:r>
            <a:r>
              <a:rPr lang="it-IT" dirty="0" err="1"/>
              <a:t>auth</a:t>
            </a:r>
            <a:r>
              <a:rPr lang="it-IT" dirty="0"/>
              <a:t> </a:t>
            </a:r>
            <a:br>
              <a:rPr lang="it-IT" dirty="0"/>
            </a:b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broken</a:t>
            </a:r>
            <a:r>
              <a:rPr lang="it-IT" dirty="0"/>
              <a:t>!</a:t>
            </a:r>
          </a:p>
        </p:txBody>
      </p:sp>
      <p:sp>
        <p:nvSpPr>
          <p:cNvPr id="36867" name="Segnaposto contenuto 2">
            <a:extLst>
              <a:ext uri="{FF2B5EF4-FFF2-40B4-BE49-F238E27FC236}">
                <a16:creationId xmlns:a16="http://schemas.microsoft.com/office/drawing/2014/main" id="{3A80421C-C5DB-476E-8D6A-48574DBDF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24744"/>
            <a:ext cx="8206680" cy="3672408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altLang="it-IT" dirty="0" err="1"/>
              <a:t>Attacker</a:t>
            </a:r>
            <a:r>
              <a:rPr lang="it-IT" altLang="it-IT" dirty="0"/>
              <a:t> </a:t>
            </a:r>
            <a:r>
              <a:rPr lang="it-IT" altLang="it-IT" dirty="0" err="1"/>
              <a:t>sees</a:t>
            </a:r>
            <a:r>
              <a:rPr lang="it-IT" altLang="it-IT" dirty="0"/>
              <a:t>:</a:t>
            </a:r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r>
              <a:rPr lang="it-IT" altLang="it-IT" dirty="0" err="1"/>
              <a:t>Extracts</a:t>
            </a:r>
            <a:r>
              <a:rPr lang="it-IT" altLang="it-IT" dirty="0"/>
              <a:t> </a:t>
            </a:r>
            <a:r>
              <a:rPr lang="it-IT" altLang="it-IT" dirty="0" err="1"/>
              <a:t>keystream</a:t>
            </a:r>
            <a:r>
              <a:rPr lang="it-IT" altLang="it-IT" dirty="0"/>
              <a:t> RC4(IV,K)</a:t>
            </a:r>
          </a:p>
          <a:p>
            <a:pPr lvl="1">
              <a:defRPr/>
            </a:pPr>
            <a:r>
              <a:rPr lang="it-IT" altLang="it-IT" dirty="0"/>
              <a:t>(a </a:t>
            </a:r>
            <a:r>
              <a:rPr lang="it-IT" altLang="it-IT" dirty="0" err="1"/>
              <a:t>Known</a:t>
            </a:r>
            <a:r>
              <a:rPr lang="it-IT" altLang="it-IT" dirty="0"/>
              <a:t> </a:t>
            </a:r>
            <a:r>
              <a:rPr lang="it-IT" altLang="it-IT" dirty="0" err="1"/>
              <a:t>Plaintext</a:t>
            </a:r>
            <a:r>
              <a:rPr lang="it-IT" altLang="it-IT" dirty="0"/>
              <a:t> Attack situation!)</a:t>
            </a:r>
          </a:p>
          <a:p>
            <a:pPr>
              <a:defRPr/>
            </a:pPr>
            <a:r>
              <a:rPr lang="it-IT" altLang="it-IT" dirty="0"/>
              <a:t>And «</a:t>
            </a:r>
            <a:r>
              <a:rPr lang="it-IT" altLang="it-IT" dirty="0" err="1"/>
              <a:t>encrypts</a:t>
            </a:r>
            <a:r>
              <a:rPr lang="it-IT" altLang="it-IT" dirty="0"/>
              <a:t>» a NEW challenge </a:t>
            </a:r>
            <a:br>
              <a:rPr lang="it-IT" altLang="it-IT" dirty="0"/>
            </a:br>
            <a:r>
              <a:rPr lang="it-IT" altLang="it-IT" dirty="0"/>
              <a:t>by </a:t>
            </a:r>
            <a:r>
              <a:rPr lang="it-IT" altLang="it-IT" dirty="0" err="1"/>
              <a:t>reusing</a:t>
            </a:r>
            <a:r>
              <a:rPr lang="it-IT" altLang="it-IT" dirty="0"/>
              <a:t> </a:t>
            </a:r>
            <a:r>
              <a:rPr lang="it-IT" altLang="it-IT" dirty="0" err="1"/>
              <a:t>previous</a:t>
            </a:r>
            <a:r>
              <a:rPr lang="it-IT" altLang="it-IT" dirty="0"/>
              <a:t> IV and </a:t>
            </a:r>
            <a:r>
              <a:rPr lang="it-IT" altLang="it-IT" dirty="0" err="1"/>
              <a:t>keystream</a:t>
            </a:r>
            <a:r>
              <a:rPr lang="it-IT" altLang="it-IT" dirty="0"/>
              <a:t>!</a:t>
            </a:r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</p:txBody>
      </p:sp>
      <p:graphicFrame>
        <p:nvGraphicFramePr>
          <p:cNvPr id="14340" name="Object 8">
            <a:extLst>
              <a:ext uri="{FF2B5EF4-FFF2-40B4-BE49-F238E27FC236}">
                <a16:creationId xmlns:a16="http://schemas.microsoft.com/office/drawing/2014/main" id="{660F0289-5D32-478C-9F32-F1A7558940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61960" y="1328516"/>
          <a:ext cx="813492" cy="18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3" imgW="1562100" imgH="5059363" progId="MS_ClipArt_Gallery.2">
                  <p:embed/>
                </p:oleObj>
              </mc:Choice>
              <mc:Fallback>
                <p:oleObj name="ClipArt" r:id="rId3" imgW="1562100" imgH="5059363" progId="MS_ClipArt_Gallery.2">
                  <p:embed/>
                  <p:pic>
                    <p:nvPicPr>
                      <p:cNvPr id="14340" name="Object 8">
                        <a:extLst>
                          <a:ext uri="{FF2B5EF4-FFF2-40B4-BE49-F238E27FC236}">
                            <a16:creationId xmlns:a16="http://schemas.microsoft.com/office/drawing/2014/main" id="{660F0289-5D32-478C-9F32-F1A7558940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1960" y="1328516"/>
                        <a:ext cx="813492" cy="18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341" name="Picture 7">
            <a:extLst>
              <a:ext uri="{FF2B5EF4-FFF2-40B4-BE49-F238E27FC236}">
                <a16:creationId xmlns:a16="http://schemas.microsoft.com/office/drawing/2014/main" id="{3EA19CE1-2402-464D-9358-56FFA83AE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298" y="1741026"/>
            <a:ext cx="1081044" cy="1330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AutoShape 4">
            <a:extLst>
              <a:ext uri="{FF2B5EF4-FFF2-40B4-BE49-F238E27FC236}">
                <a16:creationId xmlns:a16="http://schemas.microsoft.com/office/drawing/2014/main" id="{83666858-9165-41F9-B33C-C0C52BACB72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265050" y="1741026"/>
            <a:ext cx="4968875" cy="612427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Challenge</a:t>
            </a:r>
          </a:p>
        </p:txBody>
      </p:sp>
      <p:sp>
        <p:nvSpPr>
          <p:cNvPr id="14343" name="AutoShape 5">
            <a:extLst>
              <a:ext uri="{FF2B5EF4-FFF2-40B4-BE49-F238E27FC236}">
                <a16:creationId xmlns:a16="http://schemas.microsoft.com/office/drawing/2014/main" id="{2E2B328B-59F6-4100-928D-37E39BA94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050" y="2353453"/>
            <a:ext cx="4968875" cy="612427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IV, Challenge</a:t>
            </a:r>
            <a:r>
              <a:rPr kumimoji="0" lang="it-IT" alt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  <a:sym typeface="Symbol" panose="05050102010706020507" pitchFamily="18" charset="2"/>
              </a:rPr>
              <a:t>RC4(IV,K)</a:t>
            </a:r>
            <a:endParaRPr kumimoji="0" lang="it-IT" altLang="it-IT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graphicFrame>
        <p:nvGraphicFramePr>
          <p:cNvPr id="3" name="Object 8">
            <a:extLst>
              <a:ext uri="{FF2B5EF4-FFF2-40B4-BE49-F238E27FC236}">
                <a16:creationId xmlns:a16="http://schemas.microsoft.com/office/drawing/2014/main" id="{DD6ED100-57B0-93E6-0C89-28A23256B1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60417" y="4745253"/>
          <a:ext cx="813492" cy="18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3" imgW="1562100" imgH="5059363" progId="MS_ClipArt_Gallery.2">
                  <p:embed/>
                </p:oleObj>
              </mc:Choice>
              <mc:Fallback>
                <p:oleObj name="ClipArt" r:id="rId3" imgW="1562100" imgH="5059363" progId="MS_ClipArt_Gallery.2">
                  <p:embed/>
                  <p:pic>
                    <p:nvPicPr>
                      <p:cNvPr id="3" name="Object 8">
                        <a:extLst>
                          <a:ext uri="{FF2B5EF4-FFF2-40B4-BE49-F238E27FC236}">
                            <a16:creationId xmlns:a16="http://schemas.microsoft.com/office/drawing/2014/main" id="{DD6ED100-57B0-93E6-0C89-28A23256B1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0417" y="4745253"/>
                        <a:ext cx="813492" cy="18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AutoShape 4">
            <a:extLst>
              <a:ext uri="{FF2B5EF4-FFF2-40B4-BE49-F238E27FC236}">
                <a16:creationId xmlns:a16="http://schemas.microsoft.com/office/drawing/2014/main" id="{F90820A8-8FBB-7C3A-0E6E-AD4C046E342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263508" y="4957539"/>
            <a:ext cx="4968875" cy="612427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NewChal</a:t>
            </a:r>
            <a:endParaRPr kumimoji="0" lang="it-IT" altLang="it-IT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9AFD5AD1-1F8A-B8F1-B00A-DC4871B1E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3508" y="5569966"/>
            <a:ext cx="4968875" cy="612427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IV, </a:t>
            </a:r>
            <a:r>
              <a:rPr kumimoji="0" lang="it-IT" alt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NewChal</a:t>
            </a:r>
            <a:r>
              <a:rPr kumimoji="0" lang="it-IT" alt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  <a:sym typeface="Symbol" panose="05050102010706020507" pitchFamily="18" charset="2"/>
              </a:rPr>
              <a:t>RC4(IV,K)</a:t>
            </a:r>
            <a:endParaRPr kumimoji="0" lang="it-IT" altLang="it-IT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pic>
        <p:nvPicPr>
          <p:cNvPr id="7" name="Picture 12">
            <a:extLst>
              <a:ext uri="{FF2B5EF4-FFF2-40B4-BE49-F238E27FC236}">
                <a16:creationId xmlns:a16="http://schemas.microsoft.com/office/drawing/2014/main" id="{8BB57292-6FD2-0C1B-092B-6CFFE734B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75653" y="4797152"/>
            <a:ext cx="1123838" cy="1401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1240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uiExpand="1" build="p"/>
      <p:bldP spid="14342" grpId="0" animBg="1"/>
      <p:bldP spid="14343" grpId="0" animBg="1"/>
      <p:bldP spid="5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42E370-CADD-9CF9-FA5E-48EA442DA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25480"/>
            <a:ext cx="7696200" cy="648494"/>
          </a:xfrm>
        </p:spPr>
        <p:txBody>
          <a:bodyPr/>
          <a:lstStyle/>
          <a:p>
            <a:r>
              <a:rPr lang="it-IT" dirty="0">
                <a:solidFill>
                  <a:schemeClr val="tx1"/>
                </a:solidFill>
              </a:rPr>
              <a:t>What </a:t>
            </a:r>
            <a:r>
              <a:rPr lang="it-IT" dirty="0" err="1">
                <a:solidFill>
                  <a:schemeClr val="tx1"/>
                </a:solidFill>
              </a:rPr>
              <a:t>if</a:t>
            </a:r>
            <a:r>
              <a:rPr lang="it-IT" dirty="0">
                <a:solidFill>
                  <a:schemeClr val="tx1"/>
                </a:solidFill>
              </a:rPr>
              <a:t> </a:t>
            </a:r>
            <a:r>
              <a:rPr lang="it-IT" dirty="0" err="1">
                <a:solidFill>
                  <a:schemeClr val="tx1"/>
                </a:solidFill>
              </a:rPr>
              <a:t>we</a:t>
            </a:r>
            <a:r>
              <a:rPr lang="it-IT" dirty="0">
                <a:solidFill>
                  <a:schemeClr val="tx1"/>
                </a:solidFill>
              </a:rPr>
              <a:t> use AES-CTR?</a:t>
            </a:r>
            <a:br>
              <a:rPr lang="it-IT" dirty="0">
                <a:solidFill>
                  <a:schemeClr val="tx1"/>
                </a:solidFill>
              </a:rPr>
            </a:br>
            <a:r>
              <a:rPr lang="it-IT" dirty="0" err="1">
                <a:solidFill>
                  <a:schemeClr val="tx1"/>
                </a:solidFill>
              </a:rPr>
              <a:t>Identical</a:t>
            </a:r>
            <a:r>
              <a:rPr lang="it-IT" dirty="0">
                <a:solidFill>
                  <a:schemeClr val="tx1"/>
                </a:solidFill>
              </a:rPr>
              <a:t> (!!) </a:t>
            </a:r>
            <a:r>
              <a:rPr lang="it-IT" dirty="0" err="1">
                <a:solidFill>
                  <a:schemeClr val="tx1"/>
                </a:solidFill>
              </a:rPr>
              <a:t>attack</a:t>
            </a:r>
            <a:r>
              <a:rPr lang="it-IT" dirty="0">
                <a:solidFill>
                  <a:schemeClr val="tx1"/>
                </a:solidFill>
              </a:rPr>
              <a:t> pattern!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944130E4-2A0D-54EF-D4B5-3FA1A4D2A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660" y="1248671"/>
            <a:ext cx="8206680" cy="1258825"/>
          </a:xfrm>
        </p:spPr>
        <p:txBody>
          <a:bodyPr>
            <a:normAutofit fontScale="62500" lnSpcReduction="20000"/>
          </a:bodyPr>
          <a:lstStyle/>
          <a:p>
            <a:pPr>
              <a:defRPr/>
            </a:pPr>
            <a:r>
              <a:rPr lang="it-IT" altLang="it-IT" dirty="0"/>
              <a:t>AES-CTR </a:t>
            </a:r>
            <a:r>
              <a:rPr lang="it-IT" altLang="it-IT" dirty="0" err="1"/>
              <a:t>encryption</a:t>
            </a:r>
            <a:r>
              <a:rPr lang="it-IT" altLang="it-IT" dirty="0"/>
              <a:t> </a:t>
            </a:r>
            <a:r>
              <a:rPr lang="it-IT" altLang="it-IT" dirty="0" err="1"/>
              <a:t>also</a:t>
            </a:r>
            <a:r>
              <a:rPr lang="it-IT" altLang="it-IT" dirty="0"/>
              <a:t> </a:t>
            </a:r>
            <a:r>
              <a:rPr lang="it-IT" altLang="it-IT" dirty="0" err="1"/>
              <a:t>based</a:t>
            </a:r>
            <a:r>
              <a:rPr lang="it-IT" altLang="it-IT" dirty="0"/>
              <a:t> on XOR:</a:t>
            </a:r>
          </a:p>
          <a:p>
            <a:pPr lvl="1">
              <a:defRPr/>
            </a:pPr>
            <a:r>
              <a:rPr lang="it-IT" altLang="it-IT" dirty="0" err="1"/>
              <a:t>Ciphertext</a:t>
            </a:r>
            <a:r>
              <a:rPr lang="it-IT" altLang="it-IT" dirty="0"/>
              <a:t> = </a:t>
            </a:r>
            <a:r>
              <a:rPr lang="it-IT" altLang="it-IT" dirty="0" err="1"/>
              <a:t>Initial</a:t>
            </a:r>
            <a:r>
              <a:rPr lang="it-IT" altLang="it-IT" dirty="0"/>
              <a:t> counter, Challenge </a:t>
            </a:r>
            <a:r>
              <a:rPr lang="it-IT" altLang="it-IT" b="1" kern="1200" dirty="0">
                <a:solidFill>
                  <a:srgbClr val="000000"/>
                </a:solidFill>
                <a:sym typeface="Symbol" panose="05050102010706020507" pitchFamily="18" charset="2"/>
              </a:rPr>
              <a:t></a:t>
            </a:r>
            <a:r>
              <a:rPr lang="it-IT" altLang="it-IT" dirty="0">
                <a:sym typeface="Wingdings" panose="05000000000000000000" pitchFamily="2" charset="2"/>
              </a:rPr>
              <a:t> AES</a:t>
            </a:r>
            <a:r>
              <a:rPr lang="it-IT" altLang="it-IT" baseline="-25000" dirty="0">
                <a:sym typeface="Wingdings" panose="05000000000000000000" pitchFamily="2" charset="2"/>
              </a:rPr>
              <a:t>K</a:t>
            </a:r>
            <a:r>
              <a:rPr lang="it-IT" altLang="it-IT" dirty="0">
                <a:sym typeface="Wingdings" panose="05000000000000000000" pitchFamily="2" charset="2"/>
              </a:rPr>
              <a:t>(</a:t>
            </a:r>
            <a:r>
              <a:rPr lang="it-IT" altLang="it-IT" dirty="0" err="1">
                <a:sym typeface="Wingdings" panose="05000000000000000000" pitchFamily="2" charset="2"/>
              </a:rPr>
              <a:t>initial</a:t>
            </a:r>
            <a:r>
              <a:rPr lang="it-IT" altLang="it-IT" dirty="0">
                <a:sym typeface="Wingdings" panose="05000000000000000000" pitchFamily="2" charset="2"/>
              </a:rPr>
              <a:t> counter)</a:t>
            </a:r>
            <a:endParaRPr lang="it-IT" altLang="it-IT" dirty="0"/>
          </a:p>
          <a:p>
            <a:pPr>
              <a:defRPr/>
            </a:pPr>
            <a:r>
              <a:rPr lang="it-IT" altLang="it-IT" dirty="0"/>
              <a:t>Same </a:t>
            </a:r>
            <a:r>
              <a:rPr lang="it-IT" altLang="it-IT" dirty="0" err="1"/>
              <a:t>attack</a:t>
            </a:r>
            <a:r>
              <a:rPr lang="it-IT" altLang="it-IT" dirty="0"/>
              <a:t>!</a:t>
            </a:r>
          </a:p>
          <a:p>
            <a:pPr lvl="1">
              <a:defRPr/>
            </a:pPr>
            <a:r>
              <a:rPr lang="it-IT" altLang="it-IT" dirty="0" err="1"/>
              <a:t>NewCiphertext</a:t>
            </a:r>
            <a:r>
              <a:rPr lang="it-IT" altLang="it-IT" dirty="0"/>
              <a:t> = </a:t>
            </a:r>
            <a:r>
              <a:rPr lang="it-IT" altLang="it-IT" dirty="0" err="1"/>
              <a:t>Initial</a:t>
            </a:r>
            <a:r>
              <a:rPr lang="it-IT" altLang="it-IT" dirty="0"/>
              <a:t> counter, </a:t>
            </a:r>
            <a:r>
              <a:rPr lang="it-IT" altLang="it-IT" dirty="0" err="1"/>
              <a:t>Newchallenge</a:t>
            </a:r>
            <a:r>
              <a:rPr lang="it-IT" altLang="it-IT" dirty="0"/>
              <a:t> </a:t>
            </a:r>
            <a:r>
              <a:rPr lang="it-IT" altLang="it-IT" kern="1200" dirty="0">
                <a:solidFill>
                  <a:srgbClr val="000000"/>
                </a:solidFill>
                <a:sym typeface="Symbol" panose="05050102010706020507" pitchFamily="18" charset="2"/>
              </a:rPr>
              <a:t></a:t>
            </a:r>
            <a:r>
              <a:rPr lang="it-IT" altLang="it-IT" dirty="0">
                <a:sym typeface="Wingdings" panose="05000000000000000000" pitchFamily="2" charset="2"/>
              </a:rPr>
              <a:t> AES</a:t>
            </a:r>
            <a:r>
              <a:rPr lang="it-IT" altLang="it-IT" baseline="-25000" dirty="0">
                <a:sym typeface="Wingdings" panose="05000000000000000000" pitchFamily="2" charset="2"/>
              </a:rPr>
              <a:t>K</a:t>
            </a:r>
            <a:r>
              <a:rPr lang="it-IT" altLang="it-IT" dirty="0">
                <a:sym typeface="Wingdings" panose="05000000000000000000" pitchFamily="2" charset="2"/>
              </a:rPr>
              <a:t>(</a:t>
            </a:r>
            <a:r>
              <a:rPr lang="it-IT" altLang="it-IT" dirty="0" err="1">
                <a:sym typeface="Wingdings" panose="05000000000000000000" pitchFamily="2" charset="2"/>
              </a:rPr>
              <a:t>initial</a:t>
            </a:r>
            <a:r>
              <a:rPr lang="it-IT" altLang="it-IT" dirty="0">
                <a:sym typeface="Wingdings" panose="05000000000000000000" pitchFamily="2" charset="2"/>
              </a:rPr>
              <a:t> counter)</a:t>
            </a: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</p:txBody>
      </p:sp>
      <p:pic>
        <p:nvPicPr>
          <p:cNvPr id="3" name="Picture 4" descr="Risultati immagini per terrified  smiley face">
            <a:extLst>
              <a:ext uri="{FF2B5EF4-FFF2-40B4-BE49-F238E27FC236}">
                <a16:creationId xmlns:a16="http://schemas.microsoft.com/office/drawing/2014/main" id="{A6B1B4C1-70CC-DA9D-43E5-364B95F82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2103" y="3201654"/>
            <a:ext cx="1903613" cy="135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Object 8">
            <a:extLst>
              <a:ext uri="{FF2B5EF4-FFF2-40B4-BE49-F238E27FC236}">
                <a16:creationId xmlns:a16="http://schemas.microsoft.com/office/drawing/2014/main" id="{0D4CCB3E-A4A2-E3D7-92BD-91D61CBB54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599826"/>
              </p:ext>
            </p:extLst>
          </p:nvPr>
        </p:nvGraphicFramePr>
        <p:xfrm>
          <a:off x="6546925" y="2528900"/>
          <a:ext cx="813492" cy="18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3" imgW="1562100" imgH="5059363" progId="MS_ClipArt_Gallery.2">
                  <p:embed/>
                </p:oleObj>
              </mc:Choice>
              <mc:Fallback>
                <p:oleObj name="ClipArt" r:id="rId3" imgW="1562100" imgH="5059363" progId="MS_ClipArt_Gallery.2">
                  <p:embed/>
                  <p:pic>
                    <p:nvPicPr>
                      <p:cNvPr id="14340" name="Object 8">
                        <a:extLst>
                          <a:ext uri="{FF2B5EF4-FFF2-40B4-BE49-F238E27FC236}">
                            <a16:creationId xmlns:a16="http://schemas.microsoft.com/office/drawing/2014/main" id="{660F0289-5D32-478C-9F32-F1A7558940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6925" y="2528900"/>
                        <a:ext cx="813492" cy="18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7">
            <a:extLst>
              <a:ext uri="{FF2B5EF4-FFF2-40B4-BE49-F238E27FC236}">
                <a16:creationId xmlns:a16="http://schemas.microsoft.com/office/drawing/2014/main" id="{9A681082-3CCC-A7D7-5595-F7ABC0669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263" y="2813877"/>
            <a:ext cx="1081044" cy="1330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AutoShape 4">
            <a:extLst>
              <a:ext uri="{FF2B5EF4-FFF2-40B4-BE49-F238E27FC236}">
                <a16:creationId xmlns:a16="http://schemas.microsoft.com/office/drawing/2014/main" id="{D8148540-932F-FCAD-A48B-0F943BBBD13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450015" y="2813877"/>
            <a:ext cx="4968875" cy="612427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Challenge</a:t>
            </a:r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12561A48-7763-3C18-B803-7B92905EC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0015" y="3426304"/>
            <a:ext cx="4968875" cy="612427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ICB, </a:t>
            </a:r>
            <a:r>
              <a:rPr kumimoji="0" lang="it-IT" altLang="it-IT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Challenge</a:t>
            </a:r>
            <a:r>
              <a:rPr kumimoji="0" lang="it-IT" altLang="it-IT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  <a:sym typeface="Symbol" panose="05050102010706020507" pitchFamily="18" charset="2"/>
              </a:rPr>
              <a:t>AES</a:t>
            </a:r>
            <a:r>
              <a:rPr kumimoji="0" lang="it-IT" altLang="it-IT" sz="1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  <a:sym typeface="Symbol" panose="05050102010706020507" pitchFamily="18" charset="2"/>
              </a:rPr>
              <a:t>K</a:t>
            </a:r>
            <a:r>
              <a:rPr kumimoji="0" lang="it-IT" alt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  <a:sym typeface="Symbol" panose="05050102010706020507" pitchFamily="18" charset="2"/>
              </a:rPr>
              <a:t>(ICB)</a:t>
            </a:r>
            <a:endParaRPr kumimoji="0" lang="it-IT" altLang="it-IT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D758B8CB-1EB9-56F7-800F-0501FCD909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60417" y="4745253"/>
          <a:ext cx="813492" cy="18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3" imgW="1562100" imgH="5059363" progId="MS_ClipArt_Gallery.2">
                  <p:embed/>
                </p:oleObj>
              </mc:Choice>
              <mc:Fallback>
                <p:oleObj name="ClipArt" r:id="rId3" imgW="1562100" imgH="5059363" progId="MS_ClipArt_Gallery.2">
                  <p:embed/>
                  <p:pic>
                    <p:nvPicPr>
                      <p:cNvPr id="3" name="Object 8">
                        <a:extLst>
                          <a:ext uri="{FF2B5EF4-FFF2-40B4-BE49-F238E27FC236}">
                            <a16:creationId xmlns:a16="http://schemas.microsoft.com/office/drawing/2014/main" id="{DD6ED100-57B0-93E6-0C89-28A23256B1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0417" y="4745253"/>
                        <a:ext cx="813492" cy="18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AutoShape 4">
            <a:extLst>
              <a:ext uri="{FF2B5EF4-FFF2-40B4-BE49-F238E27FC236}">
                <a16:creationId xmlns:a16="http://schemas.microsoft.com/office/drawing/2014/main" id="{BC804509-0F43-D0E1-F6A6-0DA924B1469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263508" y="4957539"/>
            <a:ext cx="4968875" cy="612427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NewChal</a:t>
            </a:r>
            <a:endParaRPr kumimoji="0" lang="it-IT" altLang="it-IT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12" name="AutoShape 5">
            <a:extLst>
              <a:ext uri="{FF2B5EF4-FFF2-40B4-BE49-F238E27FC236}">
                <a16:creationId xmlns:a16="http://schemas.microsoft.com/office/drawing/2014/main" id="{CB4A93C2-DF77-ECFB-47DE-C42D18BE2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3508" y="5569966"/>
            <a:ext cx="4968875" cy="612427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0" algn="ctr" eaLnBrk="1" hangingPunct="1">
              <a:spcBef>
                <a:spcPct val="0"/>
              </a:spcBef>
              <a:buClrTx/>
              <a:buNone/>
              <a:defRPr/>
            </a:pPr>
            <a:r>
              <a:rPr kumimoji="0" lang="it-IT" alt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ICB, </a:t>
            </a:r>
            <a:r>
              <a:rPr kumimoji="0" lang="it-IT" altLang="it-IT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NewChal</a:t>
            </a:r>
            <a:r>
              <a:rPr kumimoji="0" lang="it-IT" alt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  <a:sym typeface="Symbol" panose="05050102010706020507" pitchFamily="18" charset="2"/>
              </a:rPr>
              <a:t></a:t>
            </a:r>
            <a:r>
              <a:rPr lang="it-IT" altLang="it-IT" sz="1800" dirty="0">
                <a:solidFill>
                  <a:srgbClr val="00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 AES</a:t>
            </a:r>
            <a:r>
              <a:rPr lang="it-IT" altLang="it-IT" sz="1800" baseline="-25000" dirty="0">
                <a:solidFill>
                  <a:srgbClr val="00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K</a:t>
            </a:r>
            <a:r>
              <a:rPr lang="it-IT" altLang="it-IT" sz="1800" dirty="0">
                <a:solidFill>
                  <a:srgbClr val="00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(ICB)</a:t>
            </a:r>
            <a:endParaRPr kumimoji="0" lang="it-IT" altLang="it-IT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806927-FD8C-8626-7C64-051184E7F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75653" y="4797152"/>
            <a:ext cx="1123838" cy="1401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699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8" grpId="0" animBg="1"/>
      <p:bldP spid="9" grpId="0" animBg="1"/>
      <p:bldP spid="11" grpId="0" animBg="1"/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5"/>
          <p:cNvSpPr>
            <a:spLocks noChangeArrowheads="1"/>
          </p:cNvSpPr>
          <p:nvPr/>
        </p:nvSpPr>
        <p:spPr bwMode="auto">
          <a:xfrm>
            <a:off x="2073796" y="4004826"/>
            <a:ext cx="914400" cy="6286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35846" name="Rectangle 10"/>
          <p:cNvSpPr>
            <a:spLocks noChangeArrowheads="1"/>
          </p:cNvSpPr>
          <p:nvPr/>
        </p:nvSpPr>
        <p:spPr bwMode="auto">
          <a:xfrm>
            <a:off x="1768996" y="2918976"/>
            <a:ext cx="1524000" cy="28575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dirty="0"/>
              <a:t>123456</a:t>
            </a:r>
          </a:p>
        </p:txBody>
      </p:sp>
      <p:sp>
        <p:nvSpPr>
          <p:cNvPr id="35848" name="Rectangle 14"/>
          <p:cNvSpPr>
            <a:spLocks noChangeArrowheads="1"/>
          </p:cNvSpPr>
          <p:nvPr/>
        </p:nvSpPr>
        <p:spPr bwMode="auto">
          <a:xfrm>
            <a:off x="337593" y="2918976"/>
            <a:ext cx="1310753" cy="28575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dirty="0"/>
              <a:t>ABCDEF</a:t>
            </a:r>
          </a:p>
        </p:txBody>
      </p:sp>
      <p:sp>
        <p:nvSpPr>
          <p:cNvPr id="35849" name="Text Box 15"/>
          <p:cNvSpPr txBox="1">
            <a:spLocks noChangeArrowheads="1"/>
          </p:cNvSpPr>
          <p:nvPr/>
        </p:nvSpPr>
        <p:spPr bwMode="auto">
          <a:xfrm>
            <a:off x="2262709" y="3306326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>
                <a:sym typeface="Symbol" pitchFamily="18" charset="2"/>
              </a:rPr>
              <a:t></a:t>
            </a:r>
          </a:p>
        </p:txBody>
      </p:sp>
      <p:sp>
        <p:nvSpPr>
          <p:cNvPr id="35851" name="Line 19"/>
          <p:cNvSpPr>
            <a:spLocks noChangeShapeType="1"/>
          </p:cNvSpPr>
          <p:nvPr/>
        </p:nvSpPr>
        <p:spPr bwMode="auto">
          <a:xfrm>
            <a:off x="2499246" y="3204726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5854" name="Line 24"/>
          <p:cNvSpPr>
            <a:spLocks noChangeShapeType="1"/>
          </p:cNvSpPr>
          <p:nvPr/>
        </p:nvSpPr>
        <p:spPr bwMode="auto">
          <a:xfrm>
            <a:off x="2454796" y="3719076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5855" name="Freeform 26"/>
          <p:cNvSpPr>
            <a:spLocks/>
          </p:cNvSpPr>
          <p:nvPr/>
        </p:nvSpPr>
        <p:spPr bwMode="auto">
          <a:xfrm>
            <a:off x="1006996" y="3204726"/>
            <a:ext cx="1371600" cy="400050"/>
          </a:xfrm>
          <a:custGeom>
            <a:avLst/>
            <a:gdLst>
              <a:gd name="T0" fmla="*/ 0 w 864"/>
              <a:gd name="T1" fmla="*/ 0 h 336"/>
              <a:gd name="T2" fmla="*/ 0 w 864"/>
              <a:gd name="T3" fmla="*/ 2147483647 h 336"/>
              <a:gd name="T4" fmla="*/ 2147483647 w 864"/>
              <a:gd name="T5" fmla="*/ 2147483647 h 336"/>
              <a:gd name="T6" fmla="*/ 0 60000 65536"/>
              <a:gd name="T7" fmla="*/ 0 60000 65536"/>
              <a:gd name="T8" fmla="*/ 0 60000 65536"/>
              <a:gd name="T9" fmla="*/ 0 w 864"/>
              <a:gd name="T10" fmla="*/ 0 h 336"/>
              <a:gd name="T11" fmla="*/ 864 w 864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64" h="336">
                <a:moveTo>
                  <a:pt x="0" y="0"/>
                </a:moveTo>
                <a:lnTo>
                  <a:pt x="0" y="336"/>
                </a:lnTo>
                <a:lnTo>
                  <a:pt x="864" y="336"/>
                </a:lnTo>
              </a:path>
            </a:pathLst>
          </a:custGeom>
          <a:noFill/>
          <a:ln w="12700" cmpd="sng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5856" name="Line 27"/>
          <p:cNvSpPr>
            <a:spLocks noChangeShapeType="1"/>
          </p:cNvSpPr>
          <p:nvPr/>
        </p:nvSpPr>
        <p:spPr bwMode="auto">
          <a:xfrm>
            <a:off x="2454796" y="4633476"/>
            <a:ext cx="1588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5860" name="Rectangle 44"/>
          <p:cNvSpPr>
            <a:spLocks noChangeArrowheads="1"/>
          </p:cNvSpPr>
          <p:nvPr/>
        </p:nvSpPr>
        <p:spPr bwMode="auto">
          <a:xfrm>
            <a:off x="1768996" y="5090676"/>
            <a:ext cx="15240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dirty="0" err="1">
                <a:latin typeface="Symbol" panose="05050102010706020507" pitchFamily="18" charset="2"/>
              </a:rPr>
              <a:t>nctuth</a:t>
            </a:r>
            <a:endParaRPr lang="en-US" altLang="it-IT" dirty="0">
              <a:latin typeface="Symbol" panose="05050102010706020507" pitchFamily="18" charset="2"/>
            </a:endParaRPr>
          </a:p>
        </p:txBody>
      </p:sp>
      <p:cxnSp>
        <p:nvCxnSpPr>
          <p:cNvPr id="35864" name="Connettore 2 45"/>
          <p:cNvCxnSpPr>
            <a:cxnSpLocks noChangeShapeType="1"/>
          </p:cNvCxnSpPr>
          <p:nvPr/>
        </p:nvCxnSpPr>
        <p:spPr bwMode="auto">
          <a:xfrm>
            <a:off x="1919809" y="4552514"/>
            <a:ext cx="144462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65" name="CasellaDiTesto 46"/>
          <p:cNvSpPr txBox="1">
            <a:spLocks noChangeArrowheads="1"/>
          </p:cNvSpPr>
          <p:nvPr/>
        </p:nvSpPr>
        <p:spPr bwMode="auto">
          <a:xfrm>
            <a:off x="1680096" y="4336614"/>
            <a:ext cx="311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/>
              <a:t>K</a:t>
            </a:r>
          </a:p>
        </p:txBody>
      </p:sp>
      <p:sp>
        <p:nvSpPr>
          <p:cNvPr id="35866" name="CasellaDiTesto 47"/>
          <p:cNvSpPr txBox="1">
            <a:spLocks noChangeArrowheads="1"/>
          </p:cNvSpPr>
          <p:nvPr/>
        </p:nvSpPr>
        <p:spPr bwMode="auto">
          <a:xfrm>
            <a:off x="597748" y="2247953"/>
            <a:ext cx="10823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sz="1800" dirty="0"/>
              <a:t>IV </a:t>
            </a:r>
            <a:r>
              <a:rPr lang="it-IT" altLang="it-IT" sz="1800" dirty="0" err="1"/>
              <a:t>chosen</a:t>
            </a:r>
            <a:r>
              <a:rPr lang="it-IT" altLang="it-IT" sz="1800" dirty="0"/>
              <a:t> </a:t>
            </a:r>
            <a:br>
              <a:rPr lang="it-IT" altLang="it-IT" sz="1800" dirty="0"/>
            </a:br>
            <a:r>
              <a:rPr lang="it-IT" altLang="it-IT" sz="1800" dirty="0"/>
              <a:t>by </a:t>
            </a:r>
            <a:r>
              <a:rPr lang="it-IT" altLang="it-IT" sz="1800" dirty="0" err="1"/>
              <a:t>victim</a:t>
            </a:r>
            <a:endParaRPr lang="it-IT" altLang="it-IT" sz="1800" dirty="0"/>
          </a:p>
        </p:txBody>
      </p:sp>
      <p:sp>
        <p:nvSpPr>
          <p:cNvPr id="35867" name="CasellaDiTesto 48"/>
          <p:cNvSpPr txBox="1">
            <a:spLocks noChangeArrowheads="1"/>
          </p:cNvSpPr>
          <p:nvPr/>
        </p:nvSpPr>
        <p:spPr bwMode="auto">
          <a:xfrm>
            <a:off x="1979712" y="2276872"/>
            <a:ext cx="103906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sz="1800" dirty="0" err="1"/>
              <a:t>Original</a:t>
            </a:r>
            <a:r>
              <a:rPr lang="it-IT" altLang="it-IT" sz="1800" dirty="0"/>
              <a:t> </a:t>
            </a:r>
            <a:br>
              <a:rPr lang="it-IT" altLang="it-IT" sz="1800" dirty="0"/>
            </a:br>
            <a:r>
              <a:rPr lang="it-IT" altLang="it-IT" sz="1800" dirty="0"/>
              <a:t>Challenge</a:t>
            </a:r>
          </a:p>
        </p:txBody>
      </p:sp>
      <p:sp>
        <p:nvSpPr>
          <p:cNvPr id="35868" name="CasellaDiTesto 27"/>
          <p:cNvSpPr txBox="1">
            <a:spLocks noChangeArrowheads="1"/>
          </p:cNvSpPr>
          <p:nvPr/>
        </p:nvSpPr>
        <p:spPr bwMode="auto">
          <a:xfrm>
            <a:off x="6872671" y="1205078"/>
            <a:ext cx="177163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sz="2000" b="1" dirty="0">
                <a:solidFill>
                  <a:srgbClr val="FF0000"/>
                </a:solidFill>
              </a:rPr>
              <a:t>New challenge: </a:t>
            </a:r>
          </a:p>
          <a:p>
            <a:pPr eaLnBrk="1" hangingPunct="1"/>
            <a:r>
              <a:rPr lang="it-IT" altLang="it-IT" sz="2000" b="1" dirty="0">
                <a:solidFill>
                  <a:srgbClr val="FF0000"/>
                </a:solidFill>
              </a:rPr>
              <a:t>789012</a:t>
            </a:r>
          </a:p>
        </p:txBody>
      </p:sp>
      <p:cxnSp>
        <p:nvCxnSpPr>
          <p:cNvPr id="5" name="Connettore 1 37">
            <a:extLst>
              <a:ext uri="{FF2B5EF4-FFF2-40B4-BE49-F238E27FC236}">
                <a16:creationId xmlns:a16="http://schemas.microsoft.com/office/drawing/2014/main" id="{68140CEF-E708-8FD2-A0BE-C7FF19EEE57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572000" y="1052513"/>
            <a:ext cx="0" cy="5040312"/>
          </a:xfrm>
          <a:prstGeom prst="line">
            <a:avLst/>
          </a:prstGeom>
          <a:noFill/>
          <a:ln w="508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CasellaDiTesto 27">
            <a:extLst>
              <a:ext uri="{FF2B5EF4-FFF2-40B4-BE49-F238E27FC236}">
                <a16:creationId xmlns:a16="http://schemas.microsoft.com/office/drawing/2014/main" id="{EACBA5A7-013D-D18A-CEC2-4149261EB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8421" y="2007869"/>
            <a:ext cx="393126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sz="2000" b="1" dirty="0" err="1"/>
              <a:t>Attacker</a:t>
            </a:r>
            <a:r>
              <a:rPr lang="it-IT" altLang="it-IT" sz="2000" b="1" dirty="0"/>
              <a:t> </a:t>
            </a:r>
            <a:r>
              <a:rPr lang="it-IT" altLang="it-IT" sz="2000" b="1" dirty="0" err="1"/>
              <a:t>responds</a:t>
            </a:r>
            <a:r>
              <a:rPr lang="it-IT" altLang="it-IT" sz="2000" b="1" dirty="0"/>
              <a:t> with:</a:t>
            </a:r>
          </a:p>
          <a:p>
            <a:pPr eaLnBrk="1" hangingPunct="1"/>
            <a:r>
              <a:rPr lang="it-IT" altLang="it-IT" sz="2000" b="1" dirty="0" err="1"/>
              <a:t>newIV</a:t>
            </a:r>
            <a:r>
              <a:rPr lang="it-IT" altLang="it-IT" sz="2000" b="1" dirty="0"/>
              <a:t> = ABCDEF </a:t>
            </a:r>
            <a:r>
              <a:rPr lang="it-IT" altLang="it-IT" sz="2000" b="1" dirty="0">
                <a:sym typeface="Symbol" panose="05050102010706020507" pitchFamily="18" charset="2"/>
              </a:rPr>
              <a:t> 123456 </a:t>
            </a:r>
            <a:r>
              <a:rPr lang="it-IT" altLang="it-IT" sz="2000" b="1" dirty="0">
                <a:solidFill>
                  <a:srgbClr val="000000"/>
                </a:solidFill>
                <a:sym typeface="Symbol" panose="05050102010706020507" pitchFamily="18" charset="2"/>
              </a:rPr>
              <a:t> 789012</a:t>
            </a:r>
          </a:p>
          <a:p>
            <a:pPr eaLnBrk="1" hangingPunct="1"/>
            <a:r>
              <a:rPr lang="it-IT" altLang="it-IT" sz="2000" b="1" dirty="0">
                <a:solidFill>
                  <a:srgbClr val="000000"/>
                </a:solidFill>
                <a:sym typeface="Symbol" panose="05050102010706020507" pitchFamily="18" charset="2"/>
              </a:rPr>
              <a:t>CT = replay </a:t>
            </a:r>
            <a:r>
              <a:rPr lang="it-IT" altLang="it-IT" sz="2000" b="1" dirty="0" err="1">
                <a:solidFill>
                  <a:srgbClr val="000000"/>
                </a:solidFill>
                <a:sym typeface="Symbol" panose="05050102010706020507" pitchFamily="18" charset="2"/>
              </a:rPr>
              <a:t>previous</a:t>
            </a:r>
            <a:r>
              <a:rPr lang="it-IT" altLang="it-IT" sz="2000" b="1" dirty="0">
                <a:solidFill>
                  <a:srgbClr val="000000"/>
                </a:solidFill>
                <a:sym typeface="Symbol" panose="05050102010706020507" pitchFamily="18" charset="2"/>
              </a:rPr>
              <a:t> CT =</a:t>
            </a:r>
            <a:r>
              <a:rPr lang="it-IT" altLang="it-IT" sz="2000" b="1" dirty="0">
                <a:sym typeface="Symbol" panose="05050102010706020507" pitchFamily="18" charset="2"/>
              </a:rPr>
              <a:t>  </a:t>
            </a:r>
            <a:r>
              <a:rPr lang="en-US" altLang="it-IT" sz="2000" dirty="0" err="1">
                <a:latin typeface="Symbol" panose="05050102010706020507" pitchFamily="18" charset="2"/>
              </a:rPr>
              <a:t>nctuth</a:t>
            </a:r>
            <a:endParaRPr lang="en-US" altLang="it-IT" sz="2000" dirty="0">
              <a:latin typeface="Symbol" panose="05050102010706020507" pitchFamily="18" charset="2"/>
            </a:endParaRP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B7714FBF-E290-F4C2-5665-E756F3D3C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5851" y="4478571"/>
            <a:ext cx="914400" cy="6286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 dirty="0"/>
              <a:t>PRP</a:t>
            </a:r>
            <a:r>
              <a:rPr lang="en-US" altLang="it-IT" sz="2400" baseline="30000" dirty="0"/>
              <a:t>-1</a:t>
            </a:r>
            <a:endParaRPr lang="en-US" altLang="it-IT" sz="2400" baseline="30000" dirty="0">
              <a:sym typeface="Symbol" pitchFamily="18" charset="2"/>
            </a:endParaRPr>
          </a:p>
        </p:txBody>
      </p:sp>
      <p:sp>
        <p:nvSpPr>
          <p:cNvPr id="22" name="Rectangle 14">
            <a:extLst>
              <a:ext uri="{FF2B5EF4-FFF2-40B4-BE49-F238E27FC236}">
                <a16:creationId xmlns:a16="http://schemas.microsoft.com/office/drawing/2014/main" id="{797E8407-F3AD-E93B-A461-E206418EC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032" y="3737124"/>
            <a:ext cx="1310753" cy="28575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endParaRPr lang="en-US" altLang="it-IT" dirty="0"/>
          </a:p>
        </p:txBody>
      </p:sp>
      <p:sp>
        <p:nvSpPr>
          <p:cNvPr id="23" name="Text Box 15">
            <a:extLst>
              <a:ext uri="{FF2B5EF4-FFF2-40B4-BE49-F238E27FC236}">
                <a16:creationId xmlns:a16="http://schemas.microsoft.com/office/drawing/2014/main" id="{AD859050-CDC4-3AD5-6EA4-F638D14E1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5883" y="5610820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24" name="Line 19">
            <a:extLst>
              <a:ext uri="{FF2B5EF4-FFF2-40B4-BE49-F238E27FC236}">
                <a16:creationId xmlns:a16="http://schemas.microsoft.com/office/drawing/2014/main" id="{03B0FC93-6E90-5732-DBD3-3B572EFB3F05}"/>
              </a:ext>
            </a:extLst>
          </p:cNvPr>
          <p:cNvSpPr>
            <a:spLocks noChangeShapeType="1"/>
          </p:cNvSpPr>
          <p:nvPr/>
        </p:nvSpPr>
        <p:spPr bwMode="auto">
          <a:xfrm>
            <a:off x="7473837" y="5129390"/>
            <a:ext cx="12077" cy="628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6F2C4710-FF74-2F60-1F89-BB08DB802430}"/>
              </a:ext>
            </a:extLst>
          </p:cNvPr>
          <p:cNvSpPr>
            <a:spLocks noChangeShapeType="1"/>
          </p:cNvSpPr>
          <p:nvPr/>
        </p:nvSpPr>
        <p:spPr bwMode="auto">
          <a:xfrm>
            <a:off x="7427970" y="6023570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6904E1DF-FD65-B13E-EA5A-6A556A2C4CC9}"/>
              </a:ext>
            </a:extLst>
          </p:cNvPr>
          <p:cNvSpPr>
            <a:spLocks/>
          </p:cNvSpPr>
          <p:nvPr/>
        </p:nvSpPr>
        <p:spPr bwMode="auto">
          <a:xfrm>
            <a:off x="5572760" y="4036750"/>
            <a:ext cx="1797886" cy="1876954"/>
          </a:xfrm>
          <a:custGeom>
            <a:avLst/>
            <a:gdLst>
              <a:gd name="T0" fmla="*/ 0 w 864"/>
              <a:gd name="T1" fmla="*/ 0 h 336"/>
              <a:gd name="T2" fmla="*/ 0 w 864"/>
              <a:gd name="T3" fmla="*/ 2147483647 h 336"/>
              <a:gd name="T4" fmla="*/ 2147483647 w 864"/>
              <a:gd name="T5" fmla="*/ 2147483647 h 336"/>
              <a:gd name="T6" fmla="*/ 0 60000 65536"/>
              <a:gd name="T7" fmla="*/ 0 60000 65536"/>
              <a:gd name="T8" fmla="*/ 0 60000 65536"/>
              <a:gd name="T9" fmla="*/ 0 w 864"/>
              <a:gd name="T10" fmla="*/ 0 h 336"/>
              <a:gd name="T11" fmla="*/ 864 w 864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64" h="336">
                <a:moveTo>
                  <a:pt x="0" y="0"/>
                </a:moveTo>
                <a:lnTo>
                  <a:pt x="0" y="336"/>
                </a:lnTo>
                <a:lnTo>
                  <a:pt x="864" y="336"/>
                </a:lnTo>
              </a:path>
            </a:pathLst>
          </a:custGeom>
          <a:noFill/>
          <a:ln w="12700" cmpd="sng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7" name="Line 27">
            <a:extLst>
              <a:ext uri="{FF2B5EF4-FFF2-40B4-BE49-F238E27FC236}">
                <a16:creationId xmlns:a16="http://schemas.microsoft.com/office/drawing/2014/main" id="{10757728-25C2-85A6-E327-73F3B8D20594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5938" y="4022874"/>
            <a:ext cx="1588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8" name="Rectangle 44">
            <a:extLst>
              <a:ext uri="{FF2B5EF4-FFF2-40B4-BE49-F238E27FC236}">
                <a16:creationId xmlns:a16="http://schemas.microsoft.com/office/drawing/2014/main" id="{C0DB998D-EF66-FC28-E032-D4AE85E5C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9262" y="3729215"/>
            <a:ext cx="15240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dirty="0" err="1">
                <a:latin typeface="Symbol" panose="05050102010706020507" pitchFamily="18" charset="2"/>
              </a:rPr>
              <a:t>nctuth</a:t>
            </a:r>
            <a:endParaRPr lang="en-US" altLang="it-IT" dirty="0">
              <a:latin typeface="Symbol" panose="05050102010706020507" pitchFamily="18" charset="2"/>
            </a:endParaRPr>
          </a:p>
        </p:txBody>
      </p:sp>
      <p:cxnSp>
        <p:nvCxnSpPr>
          <p:cNvPr id="29" name="Connettore 2 45">
            <a:extLst>
              <a:ext uri="{FF2B5EF4-FFF2-40B4-BE49-F238E27FC236}">
                <a16:creationId xmlns:a16="http://schemas.microsoft.com/office/drawing/2014/main" id="{869B336F-F084-92BA-6D3B-BFA7F2E3EE0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72671" y="4876978"/>
            <a:ext cx="144462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CasellaDiTesto 46">
            <a:extLst>
              <a:ext uri="{FF2B5EF4-FFF2-40B4-BE49-F238E27FC236}">
                <a16:creationId xmlns:a16="http://schemas.microsoft.com/office/drawing/2014/main" id="{BC0155F6-B588-E44F-C839-7FECB6CB8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2958" y="4661078"/>
            <a:ext cx="311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/>
              <a:t>K</a:t>
            </a:r>
          </a:p>
        </p:txBody>
      </p:sp>
      <p:sp>
        <p:nvSpPr>
          <p:cNvPr id="33" name="CasellaDiTesto 27">
            <a:extLst>
              <a:ext uri="{FF2B5EF4-FFF2-40B4-BE49-F238E27FC236}">
                <a16:creationId xmlns:a16="http://schemas.microsoft.com/office/drawing/2014/main" id="{13A6D0C8-44F7-730D-EA5E-43AD9350A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1515" y="3126108"/>
            <a:ext cx="28344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sz="2000" b="1" dirty="0" err="1">
                <a:solidFill>
                  <a:srgbClr val="FF0000"/>
                </a:solidFill>
              </a:rPr>
              <a:t>Authenticator’s</a:t>
            </a:r>
            <a:r>
              <a:rPr lang="it-IT" altLang="it-IT" sz="2000" b="1" dirty="0">
                <a:solidFill>
                  <a:srgbClr val="FF0000"/>
                </a:solidFill>
              </a:rPr>
              <a:t> </a:t>
            </a:r>
            <a:r>
              <a:rPr lang="it-IT" altLang="it-IT" sz="2000" b="1" dirty="0" err="1">
                <a:solidFill>
                  <a:srgbClr val="FF0000"/>
                </a:solidFill>
              </a:rPr>
              <a:t>validation</a:t>
            </a:r>
            <a:r>
              <a:rPr lang="it-IT" altLang="it-IT" sz="2000" b="1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474DDABD-9463-C1C4-81B4-7343713FFF09}"/>
              </a:ext>
            </a:extLst>
          </p:cNvPr>
          <p:cNvSpPr txBox="1"/>
          <p:nvPr/>
        </p:nvSpPr>
        <p:spPr>
          <a:xfrm>
            <a:off x="7473051" y="5312372"/>
            <a:ext cx="18624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altLang="it-IT" sz="1600" b="1" dirty="0"/>
              <a:t>ABCDEF </a:t>
            </a:r>
            <a:r>
              <a:rPr lang="it-IT" altLang="it-IT" sz="1600" b="1" dirty="0">
                <a:sym typeface="Symbol" panose="05050102010706020507" pitchFamily="18" charset="2"/>
              </a:rPr>
              <a:t> 123456 </a:t>
            </a:r>
            <a:endParaRPr lang="it-IT" sz="1600" dirty="0"/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2F3F054B-E7B6-A048-D0B4-40D2F141F73F}"/>
              </a:ext>
            </a:extLst>
          </p:cNvPr>
          <p:cNvSpPr txBox="1"/>
          <p:nvPr/>
        </p:nvSpPr>
        <p:spPr>
          <a:xfrm>
            <a:off x="4708007" y="5927580"/>
            <a:ext cx="28344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altLang="it-IT" sz="1600" b="1" dirty="0"/>
              <a:t>ABCDEF </a:t>
            </a:r>
            <a:r>
              <a:rPr lang="it-IT" altLang="it-IT" sz="1600" b="1" dirty="0">
                <a:sym typeface="Symbol" panose="05050102010706020507" pitchFamily="18" charset="2"/>
              </a:rPr>
              <a:t> 123456 </a:t>
            </a:r>
            <a:r>
              <a:rPr lang="it-IT" altLang="it-IT" sz="1600" b="1" dirty="0">
                <a:solidFill>
                  <a:srgbClr val="000000"/>
                </a:solidFill>
                <a:sym typeface="Symbol" panose="05050102010706020507" pitchFamily="18" charset="2"/>
              </a:rPr>
              <a:t> 789012</a:t>
            </a:r>
            <a:endParaRPr lang="it-IT" sz="1600" dirty="0"/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3E7DC1EB-3EC9-E015-847F-A79A3F0BA2A8}"/>
              </a:ext>
            </a:extLst>
          </p:cNvPr>
          <p:cNvSpPr txBox="1"/>
          <p:nvPr/>
        </p:nvSpPr>
        <p:spPr>
          <a:xfrm>
            <a:off x="7534444" y="6002002"/>
            <a:ext cx="16095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altLang="it-IT" sz="2400" b="1" dirty="0">
                <a:solidFill>
                  <a:srgbClr val="FF0000"/>
                </a:solidFill>
                <a:sym typeface="Symbol" panose="05050102010706020507" pitchFamily="18" charset="2"/>
              </a:rPr>
              <a:t>789012 </a:t>
            </a:r>
            <a:r>
              <a:rPr lang="it-IT" altLang="it-IT" sz="2400" b="1" dirty="0">
                <a:solidFill>
                  <a:srgbClr val="00B050"/>
                </a:solidFill>
                <a:sym typeface="Symbol" panose="05050102010706020507" pitchFamily="18" charset="2"/>
              </a:rPr>
              <a:t>OK!</a:t>
            </a:r>
            <a:endParaRPr lang="it-IT" dirty="0">
              <a:solidFill>
                <a:srgbClr val="00B050"/>
              </a:solidFill>
            </a:endParaRPr>
          </a:p>
        </p:txBody>
      </p:sp>
      <p:sp>
        <p:nvSpPr>
          <p:cNvPr id="40" name="CasellaDiTesto 48">
            <a:extLst>
              <a:ext uri="{FF2B5EF4-FFF2-40B4-BE49-F238E27FC236}">
                <a16:creationId xmlns:a16="http://schemas.microsoft.com/office/drawing/2014/main" id="{7EBBD579-E9D8-A64D-8C00-352B3BF14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1246" y="5446494"/>
            <a:ext cx="96532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sz="1800" dirty="0" err="1"/>
              <a:t>Original</a:t>
            </a:r>
            <a:r>
              <a:rPr lang="it-IT" altLang="it-IT" sz="1800" dirty="0"/>
              <a:t> </a:t>
            </a:r>
            <a:br>
              <a:rPr lang="it-IT" altLang="it-IT" sz="1800" dirty="0"/>
            </a:br>
            <a:r>
              <a:rPr lang="it-IT" altLang="it-IT" sz="1800" dirty="0" err="1"/>
              <a:t>response</a:t>
            </a:r>
            <a:endParaRPr lang="it-IT" altLang="it-IT" sz="1800" dirty="0"/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456F1703-2849-761A-4941-221E7CCE8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474" y="930492"/>
            <a:ext cx="1081044" cy="1330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2">
            <a:extLst>
              <a:ext uri="{FF2B5EF4-FFF2-40B4-BE49-F238E27FC236}">
                <a16:creationId xmlns:a16="http://schemas.microsoft.com/office/drawing/2014/main" id="{0E70A072-3901-8593-71EB-73BE9B008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348764" y="894944"/>
            <a:ext cx="1123838" cy="1401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8414E91A-C9C4-FFC0-FBDF-2A0CF1A8E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51420"/>
            <a:ext cx="7696200" cy="649288"/>
          </a:xfrm>
        </p:spPr>
        <p:txBody>
          <a:bodyPr/>
          <a:lstStyle/>
          <a:p>
            <a:r>
              <a:rPr lang="it-IT" kern="0" dirty="0">
                <a:solidFill>
                  <a:schemeClr val="tx1"/>
                </a:solidFill>
              </a:rPr>
              <a:t>And what </a:t>
            </a:r>
            <a:r>
              <a:rPr lang="it-IT" kern="0" dirty="0" err="1">
                <a:solidFill>
                  <a:schemeClr val="tx1"/>
                </a:solidFill>
              </a:rPr>
              <a:t>about</a:t>
            </a:r>
            <a:r>
              <a:rPr lang="it-IT" kern="0" dirty="0">
                <a:solidFill>
                  <a:schemeClr val="tx1"/>
                </a:solidFill>
              </a:rPr>
              <a:t> AES-CBC? </a:t>
            </a:r>
            <a:br>
              <a:rPr lang="it-IT" kern="0" dirty="0">
                <a:solidFill>
                  <a:schemeClr val="tx1"/>
                </a:solidFill>
              </a:rPr>
            </a:br>
            <a:r>
              <a:rPr lang="it-IT" sz="2400" kern="0" dirty="0">
                <a:solidFill>
                  <a:schemeClr val="tx1"/>
                </a:solidFill>
              </a:rPr>
              <a:t>Deadly, </a:t>
            </a:r>
            <a:r>
              <a:rPr lang="it-IT" sz="2400" kern="0" dirty="0" err="1">
                <a:solidFill>
                  <a:schemeClr val="tx1"/>
                </a:solidFill>
              </a:rPr>
              <a:t>again</a:t>
            </a:r>
            <a:r>
              <a:rPr lang="it-IT" sz="2400" kern="0" dirty="0">
                <a:solidFill>
                  <a:schemeClr val="tx1"/>
                </a:solidFill>
              </a:rPr>
              <a:t>!</a:t>
            </a:r>
            <a:endParaRPr lang="it-I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939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5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5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5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 animBg="1"/>
      <p:bldP spid="35846" grpId="0" animBg="1"/>
      <p:bldP spid="35848" grpId="0" animBg="1"/>
      <p:bldP spid="35849" grpId="0"/>
      <p:bldP spid="35851" grpId="0" animBg="1"/>
      <p:bldP spid="35854" grpId="0" animBg="1"/>
      <p:bldP spid="35855" grpId="0" animBg="1"/>
      <p:bldP spid="35856" grpId="0" animBg="1"/>
      <p:bldP spid="35860" grpId="0" animBg="1"/>
      <p:bldP spid="35865" grpId="0"/>
      <p:bldP spid="35866" grpId="0"/>
      <p:bldP spid="35867" grpId="0"/>
      <p:bldP spid="35868" grpId="0"/>
      <p:bldP spid="19" grpId="0"/>
      <p:bldP spid="20" grpId="0" animBg="1"/>
      <p:bldP spid="22" grpId="0" animBg="1"/>
      <p:bldP spid="23" grpId="0"/>
      <p:bldP spid="24" grpId="0" animBg="1"/>
      <p:bldP spid="25" grpId="0" animBg="1"/>
      <p:bldP spid="26" grpId="0" animBg="1"/>
      <p:bldP spid="27" grpId="0" animBg="1"/>
      <p:bldP spid="28" grpId="0" animBg="1"/>
      <p:bldP spid="30" grpId="0"/>
      <p:bldP spid="33" grpId="0"/>
      <p:bldP spid="35" grpId="0"/>
      <p:bldP spid="37" grpId="0"/>
      <p:bldP spid="39" grpId="0"/>
      <p:bldP spid="4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4B5D61-41E3-C032-74B8-CBA229D3F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067" y="2924944"/>
            <a:ext cx="7696200" cy="649288"/>
          </a:xfrm>
        </p:spPr>
        <p:txBody>
          <a:bodyPr/>
          <a:lstStyle/>
          <a:p>
            <a:r>
              <a:rPr lang="it-IT" dirty="0"/>
              <a:t>Take home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8F1B8FB-43E9-8CE3-570E-B22AFAE27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3784868"/>
            <a:ext cx="8098668" cy="231113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it-IT" dirty="0"/>
              <a:t>1. </a:t>
            </a:r>
            <a:r>
              <a:rPr lang="it-IT" dirty="0" err="1"/>
              <a:t>We</a:t>
            </a:r>
            <a:r>
              <a:rPr lang="it-IT" dirty="0"/>
              <a:t> are </a:t>
            </a:r>
            <a:r>
              <a:rPr lang="it-IT" dirty="0" err="1"/>
              <a:t>using</a:t>
            </a:r>
            <a:r>
              <a:rPr lang="it-IT" dirty="0"/>
              <a:t> an ENC </a:t>
            </a:r>
            <a:r>
              <a:rPr lang="it-IT" dirty="0" err="1"/>
              <a:t>algo</a:t>
            </a:r>
            <a:r>
              <a:rPr lang="it-IT" dirty="0"/>
              <a:t> for a DIFFERENT </a:t>
            </a:r>
            <a:r>
              <a:rPr lang="it-IT" dirty="0" err="1"/>
              <a:t>purpose</a:t>
            </a:r>
            <a:r>
              <a:rPr lang="it-IT" dirty="0"/>
              <a:t>!</a:t>
            </a:r>
          </a:p>
          <a:p>
            <a:pPr lvl="1"/>
            <a:r>
              <a:rPr lang="it-IT" dirty="0"/>
              <a:t>The </a:t>
            </a:r>
            <a:r>
              <a:rPr lang="it-IT" dirty="0" err="1"/>
              <a:t>worst</a:t>
            </a:r>
            <a:r>
              <a:rPr lang="it-IT" dirty="0"/>
              <a:t> ENC </a:t>
            </a:r>
            <a:r>
              <a:rPr lang="it-IT" dirty="0" err="1"/>
              <a:t>algo</a:t>
            </a:r>
            <a:r>
              <a:rPr lang="it-IT" dirty="0"/>
              <a:t> can </a:t>
            </a:r>
            <a:r>
              <a:rPr lang="it-IT" dirty="0" err="1"/>
              <a:t>become</a:t>
            </a:r>
            <a:r>
              <a:rPr lang="it-IT" dirty="0"/>
              <a:t> the best </a:t>
            </a:r>
            <a:r>
              <a:rPr lang="it-IT" dirty="0" err="1"/>
              <a:t>now</a:t>
            </a:r>
            <a:r>
              <a:rPr lang="it-IT" dirty="0"/>
              <a:t>!</a:t>
            </a:r>
          </a:p>
          <a:p>
            <a:pPr lvl="1"/>
            <a:endParaRPr lang="it-IT" dirty="0"/>
          </a:p>
          <a:p>
            <a:pPr marL="0" indent="0">
              <a:buNone/>
            </a:pPr>
            <a:r>
              <a:rPr lang="it-IT" dirty="0"/>
              <a:t>2. Golden AUTH rule: </a:t>
            </a:r>
            <a:r>
              <a:rPr lang="it-IT" dirty="0" err="1"/>
              <a:t>leave</a:t>
            </a:r>
            <a:r>
              <a:rPr lang="it-IT" dirty="0"/>
              <a:t> ZERO </a:t>
            </a:r>
            <a:r>
              <a:rPr lang="it-IT" dirty="0" err="1"/>
              <a:t>freedom</a:t>
            </a:r>
            <a:r>
              <a:rPr lang="it-IT" dirty="0"/>
              <a:t> to </a:t>
            </a:r>
            <a:r>
              <a:rPr lang="it-IT" dirty="0" err="1"/>
              <a:t>authenticating</a:t>
            </a:r>
            <a:r>
              <a:rPr lang="it-IT" dirty="0"/>
              <a:t> device! And </a:t>
            </a:r>
            <a:r>
              <a:rPr lang="it-IT" dirty="0" err="1"/>
              <a:t>nonce</a:t>
            </a:r>
            <a:r>
              <a:rPr lang="it-IT" dirty="0"/>
              <a:t> (</a:t>
            </a:r>
            <a:r>
              <a:rPr lang="it-IT" dirty="0" err="1"/>
              <a:t>e,g</a:t>
            </a:r>
            <a:r>
              <a:rPr lang="it-IT" dirty="0"/>
              <a:t>, challenge) </a:t>
            </a:r>
            <a:r>
              <a:rPr lang="it-IT" dirty="0" err="1"/>
              <a:t>dediced</a:t>
            </a:r>
            <a:r>
              <a:rPr lang="it-IT" dirty="0"/>
              <a:t> by </a:t>
            </a:r>
            <a:r>
              <a:rPr lang="it-IT" dirty="0" err="1"/>
              <a:t>authenticator</a:t>
            </a:r>
            <a:r>
              <a:rPr lang="it-IT" dirty="0"/>
              <a:t>!</a:t>
            </a:r>
          </a:p>
          <a:p>
            <a:pPr lvl="1"/>
            <a:r>
              <a:rPr lang="it-IT" dirty="0"/>
              <a:t>Device </a:t>
            </a:r>
            <a:r>
              <a:rPr lang="it-IT" dirty="0" err="1"/>
              <a:t>much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respond</a:t>
            </a:r>
            <a:r>
              <a:rPr lang="it-IT" dirty="0"/>
              <a:t> to </a:t>
            </a:r>
            <a:r>
              <a:rPr lang="it-IT" dirty="0" err="1"/>
              <a:t>authenticator</a:t>
            </a:r>
            <a:r>
              <a:rPr lang="it-IT" dirty="0"/>
              <a:t> </a:t>
            </a:r>
            <a:r>
              <a:rPr lang="it-IT" dirty="0" err="1"/>
              <a:t>requests</a:t>
            </a:r>
            <a:r>
              <a:rPr lang="it-IT" dirty="0"/>
              <a:t>, with no extra </a:t>
            </a:r>
            <a:r>
              <a:rPr lang="it-IT" dirty="0" err="1"/>
              <a:t>parameters</a:t>
            </a:r>
            <a:r>
              <a:rPr lang="it-IT" dirty="0"/>
              <a:t> to «decide» (e.g. IV)</a:t>
            </a: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2115D73E-AEF5-6484-6C64-12B7716AF0D0}"/>
              </a:ext>
            </a:extLst>
          </p:cNvPr>
          <p:cNvSpPr txBox="1">
            <a:spLocks/>
          </p:cNvSpPr>
          <p:nvPr/>
        </p:nvSpPr>
        <p:spPr bwMode="auto">
          <a:xfrm>
            <a:off x="565067" y="437752"/>
            <a:ext cx="8424936" cy="649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9pPr>
          </a:lstStyle>
          <a:p>
            <a:r>
              <a:rPr lang="it-IT" kern="0" dirty="0">
                <a:solidFill>
                  <a:srgbClr val="FF0000"/>
                </a:solidFill>
              </a:rPr>
              <a:t>Are </a:t>
            </a:r>
            <a:r>
              <a:rPr lang="it-IT" kern="0" dirty="0" err="1">
                <a:solidFill>
                  <a:srgbClr val="FF0000"/>
                </a:solidFill>
              </a:rPr>
              <a:t>you</a:t>
            </a:r>
            <a:r>
              <a:rPr lang="it-IT" kern="0" dirty="0">
                <a:solidFill>
                  <a:srgbClr val="FF0000"/>
                </a:solidFill>
              </a:rPr>
              <a:t> </a:t>
            </a:r>
            <a:r>
              <a:rPr lang="it-IT" kern="0" dirty="0" err="1">
                <a:solidFill>
                  <a:srgbClr val="FF0000"/>
                </a:solidFill>
              </a:rPr>
              <a:t>saying</a:t>
            </a:r>
            <a:r>
              <a:rPr lang="it-IT" kern="0" dirty="0">
                <a:solidFill>
                  <a:srgbClr val="FF0000"/>
                </a:solidFill>
              </a:rPr>
              <a:t> the </a:t>
            </a:r>
            <a:r>
              <a:rPr lang="it-IT" kern="0" dirty="0" err="1">
                <a:solidFill>
                  <a:srgbClr val="FF0000"/>
                </a:solidFill>
              </a:rPr>
              <a:t>most</a:t>
            </a:r>
            <a:r>
              <a:rPr lang="it-IT" kern="0" dirty="0">
                <a:solidFill>
                  <a:srgbClr val="FF0000"/>
                </a:solidFill>
              </a:rPr>
              <a:t> secure mode </a:t>
            </a:r>
            <a:r>
              <a:rPr lang="it-IT" kern="0" dirty="0" err="1">
                <a:solidFill>
                  <a:srgbClr val="FF0000"/>
                </a:solidFill>
              </a:rPr>
              <a:t>is</a:t>
            </a:r>
            <a:r>
              <a:rPr lang="it-IT" kern="0" dirty="0">
                <a:solidFill>
                  <a:srgbClr val="FF0000"/>
                </a:solidFill>
              </a:rPr>
              <a:t> </a:t>
            </a:r>
            <a:r>
              <a:rPr lang="it-IT" u="sng" kern="0" dirty="0">
                <a:solidFill>
                  <a:srgbClr val="FF0000"/>
                </a:solidFill>
              </a:rPr>
              <a:t>the </a:t>
            </a:r>
            <a:r>
              <a:rPr lang="it-IT" u="sng" kern="0" dirty="0" err="1">
                <a:solidFill>
                  <a:srgbClr val="FF0000"/>
                </a:solidFill>
              </a:rPr>
              <a:t>worst</a:t>
            </a:r>
            <a:r>
              <a:rPr lang="it-IT" u="sng" kern="0" dirty="0">
                <a:solidFill>
                  <a:srgbClr val="FF0000"/>
                </a:solidFill>
              </a:rPr>
              <a:t> one</a:t>
            </a:r>
            <a:r>
              <a:rPr lang="it-IT" kern="0" dirty="0">
                <a:solidFill>
                  <a:srgbClr val="FF0000"/>
                </a:solidFill>
              </a:rPr>
              <a:t>, AES-ECB?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DD298813-641C-C6CB-E7B4-DF1530C64856}"/>
              </a:ext>
            </a:extLst>
          </p:cNvPr>
          <p:cNvSpPr txBox="1">
            <a:spLocks/>
          </p:cNvSpPr>
          <p:nvPr/>
        </p:nvSpPr>
        <p:spPr bwMode="auto">
          <a:xfrm>
            <a:off x="565067" y="1488348"/>
            <a:ext cx="8532440" cy="1185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 fontScale="62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it-IT" altLang="it-IT" kern="0" dirty="0"/>
              <a:t>Yes!!!!!!!!!!!!!!!! </a:t>
            </a:r>
          </a:p>
          <a:p>
            <a:pPr>
              <a:defRPr/>
            </a:pPr>
            <a:r>
              <a:rPr lang="it-IT" altLang="it-IT" sz="2500" kern="0" dirty="0"/>
              <a:t>(</a:t>
            </a:r>
            <a:r>
              <a:rPr lang="it-IT" altLang="it-IT" sz="2500" kern="0" dirty="0" err="1"/>
              <a:t>remember</a:t>
            </a:r>
            <a:r>
              <a:rPr lang="it-IT" altLang="it-IT" sz="2500" kern="0" dirty="0"/>
              <a:t>, </a:t>
            </a:r>
            <a:r>
              <a:rPr lang="it-IT" altLang="it-IT" sz="2500" kern="0" dirty="0" err="1"/>
              <a:t>there</a:t>
            </a:r>
            <a:r>
              <a:rPr lang="it-IT" altLang="it-IT" sz="2500" kern="0" dirty="0"/>
              <a:t> </a:t>
            </a:r>
            <a:r>
              <a:rPr lang="it-IT" altLang="it-IT" sz="2500" kern="0" dirty="0" err="1"/>
              <a:t>is</a:t>
            </a:r>
            <a:r>
              <a:rPr lang="it-IT" altLang="it-IT" sz="2500" kern="0" dirty="0"/>
              <a:t> no best or </a:t>
            </a:r>
            <a:r>
              <a:rPr lang="it-IT" altLang="it-IT" sz="2500" kern="0" dirty="0" err="1"/>
              <a:t>worst</a:t>
            </a:r>
            <a:r>
              <a:rPr lang="it-IT" altLang="it-IT" sz="2500" kern="0" dirty="0"/>
              <a:t>, </a:t>
            </a:r>
            <a:r>
              <a:rPr lang="it-IT" altLang="it-IT" sz="2500" kern="0" dirty="0" err="1"/>
              <a:t>depends</a:t>
            </a:r>
            <a:r>
              <a:rPr lang="it-IT" altLang="it-IT" sz="2500" kern="0" dirty="0"/>
              <a:t> on </a:t>
            </a:r>
            <a:r>
              <a:rPr lang="it-IT" altLang="it-IT" sz="2500" kern="0" dirty="0" err="1"/>
              <a:t>attacker’s</a:t>
            </a:r>
            <a:r>
              <a:rPr lang="it-IT" altLang="it-IT" sz="2500" kern="0" dirty="0"/>
              <a:t> model)</a:t>
            </a:r>
            <a:endParaRPr lang="it-IT" altLang="it-IT" kern="0" dirty="0"/>
          </a:p>
          <a:p>
            <a:pPr lvl="1">
              <a:defRPr/>
            </a:pPr>
            <a:r>
              <a:rPr lang="it-IT" altLang="it-IT" kern="0" dirty="0" err="1"/>
              <a:t>As</a:t>
            </a:r>
            <a:r>
              <a:rPr lang="it-IT" altLang="it-IT" kern="0" dirty="0"/>
              <a:t> long </a:t>
            </a:r>
            <a:r>
              <a:rPr lang="it-IT" altLang="it-IT" kern="0" dirty="0" err="1"/>
              <a:t>as</a:t>
            </a:r>
            <a:r>
              <a:rPr lang="it-IT" altLang="it-IT" kern="0" dirty="0"/>
              <a:t> Challenge </a:t>
            </a:r>
            <a:r>
              <a:rPr lang="it-IT" altLang="it-IT" kern="0" dirty="0" err="1"/>
              <a:t>never</a:t>
            </a:r>
            <a:r>
              <a:rPr lang="it-IT" altLang="it-IT" kern="0" dirty="0"/>
              <a:t> </a:t>
            </a:r>
            <a:r>
              <a:rPr lang="it-IT" altLang="it-IT" kern="0" dirty="0" err="1"/>
              <a:t>repeats</a:t>
            </a:r>
            <a:r>
              <a:rPr lang="it-IT" altLang="it-IT" kern="0" dirty="0"/>
              <a:t>, no way for </a:t>
            </a:r>
            <a:r>
              <a:rPr lang="it-IT" altLang="it-IT" kern="0" dirty="0" err="1"/>
              <a:t>attacker</a:t>
            </a:r>
            <a:r>
              <a:rPr lang="it-IT" altLang="it-IT" kern="0" dirty="0"/>
              <a:t> to forge a </a:t>
            </a:r>
            <a:r>
              <a:rPr lang="it-IT" altLang="it-IT" kern="0" dirty="0" err="1"/>
              <a:t>valid</a:t>
            </a:r>
            <a:r>
              <a:rPr lang="it-IT" altLang="it-IT" kern="0" dirty="0"/>
              <a:t> </a:t>
            </a:r>
            <a:r>
              <a:rPr lang="it-IT" altLang="it-IT" kern="0" dirty="0" err="1"/>
              <a:t>auth</a:t>
            </a:r>
            <a:r>
              <a:rPr lang="it-IT" altLang="it-IT" kern="0" dirty="0"/>
              <a:t> </a:t>
            </a:r>
          </a:p>
          <a:p>
            <a:pPr lvl="2">
              <a:defRPr/>
            </a:pPr>
            <a:r>
              <a:rPr lang="it-IT" altLang="it-IT" kern="0" dirty="0"/>
              <a:t>(no IV to replay or </a:t>
            </a:r>
            <a:r>
              <a:rPr lang="it-IT" altLang="it-IT" kern="0" dirty="0" err="1"/>
              <a:t>manipulate</a:t>
            </a:r>
            <a:r>
              <a:rPr lang="it-IT" altLang="it-IT" kern="0" dirty="0"/>
              <a:t>!)</a:t>
            </a:r>
          </a:p>
          <a:p>
            <a:pPr>
              <a:defRPr/>
            </a:pPr>
            <a:endParaRPr lang="it-IT" altLang="it-IT" kern="0" dirty="0"/>
          </a:p>
        </p:txBody>
      </p:sp>
    </p:spTree>
    <p:extLst>
      <p:ext uri="{BB962C8B-B14F-4D97-AF65-F5344CB8AC3E}">
        <p14:creationId xmlns:p14="http://schemas.microsoft.com/office/powerpoint/2010/main" val="1916767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5" grpId="0" uiExpand="1" build="p"/>
    </p:bldLst>
  </p:timing>
</p:sld>
</file>

<file path=ppt/theme/theme1.xml><?xml version="1.0" encoding="utf-8"?>
<a:theme xmlns:a="http://schemas.openxmlformats.org/drawingml/2006/main" name="214templ">
  <a:themeElements>
    <a:clrScheme name="">
      <a:dk1>
        <a:srgbClr val="000000"/>
      </a:dk1>
      <a:lt1>
        <a:srgbClr val="FFFFFF"/>
      </a:lt1>
      <a:dk2>
        <a:srgbClr val="000000"/>
      </a:dk2>
      <a:lt2>
        <a:srgbClr val="CECECE"/>
      </a:lt2>
      <a:accent1>
        <a:srgbClr val="474747"/>
      </a:accent1>
      <a:accent2>
        <a:srgbClr val="DADADA"/>
      </a:accent2>
      <a:accent3>
        <a:srgbClr val="FFFFFF"/>
      </a:accent3>
      <a:accent4>
        <a:srgbClr val="000000"/>
      </a:accent4>
      <a:accent5>
        <a:srgbClr val="B1B1B1"/>
      </a:accent5>
      <a:accent6>
        <a:srgbClr val="C5C5C5"/>
      </a:accent6>
      <a:hlink>
        <a:srgbClr val="000000"/>
      </a:hlink>
      <a:folHlink>
        <a:srgbClr val="919191"/>
      </a:folHlink>
    </a:clrScheme>
    <a:fontScheme name="214templ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214temp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4temp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3E8458D254D7543B8EE0336155E759B" ma:contentTypeVersion="6" ma:contentTypeDescription="Creare un nuovo documento." ma:contentTypeScope="" ma:versionID="634e05960707776122f6c34782d58d55">
  <xsd:schema xmlns:xsd="http://www.w3.org/2001/XMLSchema" xmlns:xs="http://www.w3.org/2001/XMLSchema" xmlns:p="http://schemas.microsoft.com/office/2006/metadata/properties" xmlns:ns2="2154ac9b-a8e0-4f77-b94d-78f05534efde" targetNamespace="http://schemas.microsoft.com/office/2006/metadata/properties" ma:root="true" ma:fieldsID="550181c30c827cd1adfb638e20e39b69" ns2:_="">
    <xsd:import namespace="2154ac9b-a8e0-4f77-b94d-78f05534ef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54ac9b-a8e0-4f77-b94d-78f05534ef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381ECD1-EDC4-4BAD-8524-04FDA4542321}"/>
</file>

<file path=customXml/itemProps2.xml><?xml version="1.0" encoding="utf-8"?>
<ds:datastoreItem xmlns:ds="http://schemas.openxmlformats.org/officeDocument/2006/customXml" ds:itemID="{FF87BA3F-545D-41B9-B903-BD0DAD6B6245}"/>
</file>

<file path=customXml/itemProps3.xml><?xml version="1.0" encoding="utf-8"?>
<ds:datastoreItem xmlns:ds="http://schemas.openxmlformats.org/officeDocument/2006/customXml" ds:itemID="{4E88D4D3-4DBF-4BDA-B0F6-E050CDDF5D0E}"/>
</file>

<file path=docProps/app.xml><?xml version="1.0" encoding="utf-8"?>
<Properties xmlns="http://schemas.openxmlformats.org/officeDocument/2006/extended-properties" xmlns:vt="http://schemas.openxmlformats.org/officeDocument/2006/docPropsVTypes">
  <Template>c:\214\214templ.ppt</Template>
  <TotalTime>0</TotalTime>
  <Pages>22</Pages>
  <Words>2527</Words>
  <Application>Microsoft Office PowerPoint</Application>
  <PresentationFormat>Presentazione su schermo (4:3)</PresentationFormat>
  <Paragraphs>547</Paragraphs>
  <Slides>29</Slides>
  <Notes>3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29</vt:i4>
      </vt:variant>
    </vt:vector>
  </HeadingPairs>
  <TitlesOfParts>
    <vt:vector size="40" baseType="lpstr">
      <vt:lpstr>Arial</vt:lpstr>
      <vt:lpstr>Arial Narrow</vt:lpstr>
      <vt:lpstr>Book Antiqua</vt:lpstr>
      <vt:lpstr>Bookman Old Style</vt:lpstr>
      <vt:lpstr>Cambria Math</vt:lpstr>
      <vt:lpstr>Symbol</vt:lpstr>
      <vt:lpstr>Tahoma</vt:lpstr>
      <vt:lpstr>Times New Roman</vt:lpstr>
      <vt:lpstr>Wingdings</vt:lpstr>
      <vt:lpstr>214templ</vt:lpstr>
      <vt:lpstr>ClipArt</vt:lpstr>
      <vt:lpstr>Review of Block cipher  Modes of Operation</vt:lpstr>
      <vt:lpstr>Block ciphers</vt:lpstr>
      <vt:lpstr>Block ciphers  PRPs</vt:lpstr>
      <vt:lpstr>Block ciphers  PRPs</vt:lpstr>
      <vt:lpstr>Block ciphers  PRPs</vt:lpstr>
      <vt:lpstr>Problem 1 Plaintext longer than block size?</vt:lpstr>
      <vt:lpstr>Problem 1 Plaintext longer than block size?</vt:lpstr>
      <vt:lpstr>Problem 2 Encrypt same message twice?</vt:lpstr>
      <vt:lpstr>Initialization Vectors in  block ciphers</vt:lpstr>
      <vt:lpstr>Block ciphers: modes of operation</vt:lpstr>
      <vt:lpstr>Block ciphers: modes of operation</vt:lpstr>
      <vt:lpstr>Semantic security: how to? (in principle)</vt:lpstr>
      <vt:lpstr>Cipher Block Chaining</vt:lpstr>
      <vt:lpstr>CBC decryption</vt:lpstr>
      <vt:lpstr>CBC discussion</vt:lpstr>
      <vt:lpstr>Test your understanding</vt:lpstr>
      <vt:lpstr>Other modes: CFB, OFB</vt:lpstr>
      <vt:lpstr>Other modes: CFB, OFB</vt:lpstr>
      <vt:lpstr>Chaining blocks: short cycle problem!</vt:lpstr>
      <vt:lpstr>Counter Mode (CTR)</vt:lpstr>
      <vt:lpstr>Counter Mode (CTR)</vt:lpstr>
      <vt:lpstr>Authentication with Block ciphers: Which mode? </vt:lpstr>
      <vt:lpstr>Back to CHAP-type authentication</vt:lpstr>
      <vt:lpstr>WiFi WEP (badly broken) authentication</vt:lpstr>
      <vt:lpstr>Let’s replace (broken) RC4 with AES</vt:lpstr>
      <vt:lpstr>Let’s recap WHY WEP auth  was broken!</vt:lpstr>
      <vt:lpstr>What if we use AES-CTR? Identical (!!) attack pattern!</vt:lpstr>
      <vt:lpstr>And what about AES-CBC?  Deadly, again!</vt:lpstr>
      <vt:lpstr>Take home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101</dc:title>
  <dc:subject>Lecture</dc:subject>
  <dc:creator>Giuseppe Bianchi</dc:creator>
  <cp:keywords/>
  <dc:description/>
  <cp:lastModifiedBy>GB</cp:lastModifiedBy>
  <cp:revision>756</cp:revision>
  <cp:lastPrinted>1998-04-09T13:49:28Z</cp:lastPrinted>
  <dcterms:created xsi:type="dcterms:W3CDTF">1996-09-11T22:41:56Z</dcterms:created>
  <dcterms:modified xsi:type="dcterms:W3CDTF">2023-10-10T11:54:02Z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0x010100E3E8458D254D7543B8EE0336155E759B</vt:lpwstr>
  </property>
</Properties>
</file>