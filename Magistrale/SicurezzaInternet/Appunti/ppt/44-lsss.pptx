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21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23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20.xml" ContentType="application/vnd.openxmlformats-officedocument.presentationml.slide+xml"/>
  <Override PartName="/ppt/slides/slide15.xml" ContentType="application/vnd.openxmlformats-officedocument.presentationml.slide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763" r:id="rId2"/>
    <p:sldId id="764" r:id="rId3"/>
    <p:sldId id="765" r:id="rId4"/>
    <p:sldId id="766" r:id="rId5"/>
    <p:sldId id="807" r:id="rId6"/>
    <p:sldId id="767" r:id="rId7"/>
    <p:sldId id="770" r:id="rId8"/>
    <p:sldId id="771" r:id="rId9"/>
    <p:sldId id="773" r:id="rId10"/>
    <p:sldId id="783" r:id="rId11"/>
    <p:sldId id="782" r:id="rId12"/>
    <p:sldId id="774" r:id="rId13"/>
    <p:sldId id="775" r:id="rId14"/>
    <p:sldId id="776" r:id="rId15"/>
    <p:sldId id="777" r:id="rId16"/>
    <p:sldId id="778" r:id="rId17"/>
    <p:sldId id="781" r:id="rId18"/>
    <p:sldId id="784" r:id="rId19"/>
    <p:sldId id="786" r:id="rId20"/>
    <p:sldId id="785" r:id="rId21"/>
    <p:sldId id="787" r:id="rId22"/>
    <p:sldId id="808" r:id="rId23"/>
    <p:sldId id="788" r:id="rId24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>
          <p15:clr>
            <a:srgbClr val="A4A3A4"/>
          </p15:clr>
        </p15:guide>
        <p15:guide id="2" pos="15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3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bg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008000"/>
    <a:srgbClr val="FFCCFF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89122" autoAdjust="0"/>
  </p:normalViewPr>
  <p:slideViewPr>
    <p:cSldViewPr>
      <p:cViewPr varScale="1">
        <p:scale>
          <a:sx n="59" d="100"/>
          <a:sy n="59" d="100"/>
        </p:scale>
        <p:origin x="1494" y="30"/>
      </p:cViewPr>
      <p:guideLst>
        <p:guide orient="horz" pos="3888"/>
        <p:guide pos="15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708"/>
    </p:cViewPr>
  </p:sorterViewPr>
  <p:notesViewPr>
    <p:cSldViewPr>
      <p:cViewPr varScale="1">
        <p:scale>
          <a:sx n="38" d="100"/>
          <a:sy n="38" d="100"/>
        </p:scale>
        <p:origin x="-1446" y="-84"/>
      </p:cViewPr>
      <p:guideLst>
        <p:guide orient="horz" pos="3023"/>
        <p:guide pos="230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5749925" y="8799513"/>
            <a:ext cx="684213" cy="44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5227" tIns="46777" rIns="95227" bIns="46777">
            <a:spAutoFit/>
          </a:bodyPr>
          <a:lstStyle/>
          <a:p>
            <a:pPr defTabSz="963613" eaLnBrk="0" hangingPunct="0">
              <a:defRPr/>
            </a:pPr>
            <a:fld id="{1748623B-0616-4834-9F8E-5736999A7D95}" type="slidenum">
              <a:rPr lang="en-US" sz="2500">
                <a:latin typeface="Book Antiqua" pitchFamily="18" charset="0"/>
              </a:rPr>
              <a:pPr defTabSz="963613" eaLnBrk="0" hangingPunct="0">
                <a:defRPr/>
              </a:pPr>
              <a:t>‹N›</a:t>
            </a:fld>
            <a:endParaRPr lang="en-US" sz="2500"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02920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6825" y="727075"/>
            <a:ext cx="4783138" cy="35877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1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59300"/>
            <a:ext cx="5365750" cy="432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27" tIns="46777" rIns="95227" bIns="467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80603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125538"/>
            <a:ext cx="3771900" cy="4970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10100" y="1125538"/>
            <a:ext cx="3771900" cy="4970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 smtClean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457950" y="225425"/>
            <a:ext cx="1924050" cy="587057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225425"/>
            <a:ext cx="5619750" cy="587057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olo e tabe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abella 2"/>
          <p:cNvSpPr>
            <a:spLocks noGrp="1"/>
          </p:cNvSpPr>
          <p:nvPr>
            <p:ph type="tbl" idx="1"/>
          </p:nvPr>
        </p:nvSpPr>
        <p:spPr>
          <a:xfrm>
            <a:off x="685800" y="1371600"/>
            <a:ext cx="7772400" cy="4724400"/>
          </a:xfrm>
        </p:spPr>
        <p:txBody>
          <a:bodyPr/>
          <a:lstStyle/>
          <a:p>
            <a:pPr lvl="0"/>
            <a:endParaRPr lang="it-IT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10/25/2006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IPAM - Securing Cyberspace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1A2386-DEE2-456F-AA76-57E88194196B}" type="slidenum">
              <a:rPr lang="en-US"/>
              <a:pPr>
                <a:defRPr/>
              </a:pPr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25538"/>
            <a:ext cx="7696200" cy="4970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5425"/>
            <a:ext cx="7696200" cy="64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1371600" y="6324600"/>
            <a:ext cx="1981200" cy="36353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lIns="90488" tIns="44450" rIns="90488" bIns="44450" anchor="ctr" anchorCtr="1"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>
                <a:latin typeface="Arial" charset="0"/>
              </a:rPr>
              <a:t>Giuseppe Bianchi </a:t>
            </a: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685800" y="64770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it-IT"/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3429000" y="6477000"/>
            <a:ext cx="525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it-IT"/>
          </a:p>
        </p:txBody>
      </p:sp>
      <p:sp>
        <p:nvSpPr>
          <p:cNvPr id="1032" name="Line 8"/>
          <p:cNvSpPr>
            <a:spLocks noChangeShapeType="1"/>
          </p:cNvSpPr>
          <p:nvPr/>
        </p:nvSpPr>
        <p:spPr bwMode="auto">
          <a:xfrm>
            <a:off x="685800" y="65532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it-IT"/>
          </a:p>
        </p:txBody>
      </p:sp>
      <p:sp>
        <p:nvSpPr>
          <p:cNvPr id="1033" name="Line 9"/>
          <p:cNvSpPr>
            <a:spLocks noChangeShapeType="1"/>
          </p:cNvSpPr>
          <p:nvPr/>
        </p:nvSpPr>
        <p:spPr bwMode="auto">
          <a:xfrm>
            <a:off x="3429000" y="6553200"/>
            <a:ext cx="525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è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ð"/>
        <a:defRPr sz="3200">
          <a:solidFill>
            <a:schemeClr val="tx1"/>
          </a:solidFill>
          <a:latin typeface="Arial Narrow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à"/>
        <a:defRPr sz="2800">
          <a:solidFill>
            <a:schemeClr val="tx1"/>
          </a:solidFill>
          <a:latin typeface="Times New Roman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4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6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8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0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2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5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8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19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2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25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27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28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image" Target="../media/image29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30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31.w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498725"/>
            <a:ext cx="7772400" cy="1470025"/>
          </a:xfrm>
        </p:spPr>
        <p:txBody>
          <a:bodyPr/>
          <a:lstStyle/>
          <a:p>
            <a:pPr eaLnBrk="1" hangingPunct="1">
              <a:defRPr/>
            </a:pPr>
            <a:r>
              <a:rPr lang="it-IT" dirty="0" smtClean="0"/>
              <a:t>Linear Secret </a:t>
            </a:r>
            <a:r>
              <a:rPr lang="it-IT" dirty="0" err="1" smtClean="0"/>
              <a:t>Sharing</a:t>
            </a:r>
            <a:r>
              <a:rPr lang="it-IT" dirty="0" smtClean="0"/>
              <a:t> </a:t>
            </a:r>
            <a:br>
              <a:rPr lang="it-IT" dirty="0" smtClean="0"/>
            </a:br>
            <a:r>
              <a:rPr lang="it-IT" dirty="0" smtClean="0"/>
              <a:t>&amp;</a:t>
            </a:r>
            <a:br>
              <a:rPr lang="it-IT" dirty="0" smtClean="0"/>
            </a:br>
            <a:r>
              <a:rPr lang="it-IT" dirty="0" smtClean="0"/>
              <a:t>Access </a:t>
            </a:r>
            <a:r>
              <a:rPr lang="it-IT" dirty="0" err="1" smtClean="0"/>
              <a:t>Control</a:t>
            </a:r>
            <a:r>
              <a:rPr lang="it-IT" dirty="0" smtClean="0"/>
              <a:t> Matrix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 smtClean="0"/>
              <a:t>Revisiting</a:t>
            </a:r>
            <a:r>
              <a:rPr lang="it-IT" dirty="0" smtClean="0"/>
              <a:t> </a:t>
            </a:r>
            <a:r>
              <a:rPr lang="it-IT" dirty="0" err="1" smtClean="0"/>
              <a:t>Shamir</a:t>
            </a:r>
            <a:r>
              <a:rPr lang="it-IT" dirty="0" smtClean="0"/>
              <a:t> </a:t>
            </a:r>
            <a:r>
              <a:rPr lang="it-IT" dirty="0" err="1" smtClean="0"/>
              <a:t>Scheme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5800" y="1125538"/>
            <a:ext cx="7954963" cy="4103687"/>
          </a:xfrm>
        </p:spPr>
        <p:txBody>
          <a:bodyPr>
            <a:normAutofit fontScale="85000" lnSpcReduction="10000"/>
          </a:bodyPr>
          <a:lstStyle/>
          <a:p>
            <a:pPr>
              <a:defRPr/>
            </a:pPr>
            <a:r>
              <a:rPr lang="it-IT" dirty="0" smtClean="0"/>
              <a:t>Secret s</a:t>
            </a:r>
          </a:p>
          <a:p>
            <a:pPr>
              <a:defRPr/>
            </a:pPr>
            <a:endParaRPr lang="it-IT" dirty="0" smtClean="0"/>
          </a:p>
          <a:p>
            <a:pPr>
              <a:defRPr/>
            </a:pPr>
            <a:r>
              <a:rPr lang="it-IT" dirty="0" smtClean="0"/>
              <a:t>Share i:</a:t>
            </a:r>
          </a:p>
          <a:p>
            <a:pPr>
              <a:defRPr/>
            </a:pPr>
            <a:endParaRPr lang="it-IT" dirty="0" smtClean="0"/>
          </a:p>
          <a:p>
            <a:pPr>
              <a:defRPr/>
            </a:pPr>
            <a:r>
              <a:rPr lang="it-IT" dirty="0" err="1" smtClean="0"/>
              <a:t>Vector</a:t>
            </a:r>
            <a:r>
              <a:rPr lang="it-IT" dirty="0" smtClean="0"/>
              <a:t> </a:t>
            </a:r>
            <a:r>
              <a:rPr lang="it-IT" dirty="0" err="1" smtClean="0"/>
              <a:t>interpretation</a:t>
            </a:r>
            <a:r>
              <a:rPr lang="it-IT" dirty="0" smtClean="0"/>
              <a:t>: scalar </a:t>
            </a:r>
            <a:r>
              <a:rPr lang="it-IT" dirty="0" err="1" smtClean="0"/>
              <a:t>product</a:t>
            </a:r>
            <a:endParaRPr lang="it-IT" dirty="0" smtClean="0"/>
          </a:p>
          <a:p>
            <a:pPr>
              <a:defRPr/>
            </a:pPr>
            <a:endParaRPr lang="it-IT" dirty="0" smtClean="0"/>
          </a:p>
          <a:p>
            <a:pPr>
              <a:defRPr/>
            </a:pPr>
            <a:endParaRPr lang="it-IT" dirty="0" smtClean="0"/>
          </a:p>
          <a:p>
            <a:pPr>
              <a:defRPr/>
            </a:pPr>
            <a:endParaRPr lang="it-IT" dirty="0" smtClean="0"/>
          </a:p>
          <a:p>
            <a:pPr>
              <a:defRPr/>
            </a:pPr>
            <a:r>
              <a:rPr lang="it-IT" dirty="0" err="1" smtClean="0"/>
              <a:t>Coefficients</a:t>
            </a:r>
            <a:r>
              <a:rPr lang="it-IT" dirty="0" smtClean="0"/>
              <a:t> a</a:t>
            </a:r>
            <a:r>
              <a:rPr lang="it-IT" baseline="-25000" dirty="0" smtClean="0"/>
              <a:t>i</a:t>
            </a:r>
            <a:r>
              <a:rPr lang="it-IT" dirty="0" smtClean="0"/>
              <a:t> are </a:t>
            </a:r>
            <a:r>
              <a:rPr lang="it-IT" dirty="0" err="1" smtClean="0"/>
              <a:t>random</a:t>
            </a:r>
            <a:r>
              <a:rPr lang="it-IT" dirty="0" smtClean="0"/>
              <a:t> </a:t>
            </a:r>
            <a:r>
              <a:rPr lang="it-IT" dirty="0" smtClean="0">
                <a:sym typeface="Wingdings" pitchFamily="2" charset="2"/>
              </a:rPr>
              <a:t> </a:t>
            </a:r>
            <a:r>
              <a:rPr lang="it-IT" dirty="0" err="1" smtClean="0">
                <a:sym typeface="Wingdings" pitchFamily="2" charset="2"/>
              </a:rPr>
              <a:t>call</a:t>
            </a:r>
            <a:r>
              <a:rPr lang="it-IT" dirty="0" smtClean="0">
                <a:sym typeface="Wingdings" pitchFamily="2" charset="2"/>
              </a:rPr>
              <a:t> </a:t>
            </a:r>
            <a:r>
              <a:rPr lang="it-IT" dirty="0" err="1" smtClean="0">
                <a:sym typeface="Wingdings" pitchFamily="2" charset="2"/>
              </a:rPr>
              <a:t>them</a:t>
            </a:r>
            <a:r>
              <a:rPr lang="it-IT" dirty="0" smtClean="0">
                <a:sym typeface="Wingdings" pitchFamily="2" charset="2"/>
              </a:rPr>
              <a:t> </a:t>
            </a:r>
            <a:r>
              <a:rPr lang="it-IT" dirty="0" err="1" smtClean="0">
                <a:sym typeface="Wingdings" pitchFamily="2" charset="2"/>
              </a:rPr>
              <a:t>r</a:t>
            </a:r>
            <a:r>
              <a:rPr lang="it-IT" baseline="-25000" dirty="0" err="1" smtClean="0"/>
              <a:t>i</a:t>
            </a:r>
            <a:endParaRPr lang="it-IT" baseline="-25000" dirty="0" smtClean="0"/>
          </a:p>
          <a:p>
            <a:pPr>
              <a:defRPr/>
            </a:pPr>
            <a:endParaRPr lang="it-IT" dirty="0"/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2849563" y="1925638"/>
          <a:ext cx="6007100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3" name="Equazione" r:id="rId3" imgW="2552400" imgH="241200" progId="Equation.3">
                  <p:embed/>
                </p:oleObj>
              </mc:Choice>
              <mc:Fallback>
                <p:oleObj name="Equazione" r:id="rId3" imgW="2552400" imgH="241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9563" y="1925638"/>
                        <a:ext cx="6007100" cy="566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1116013" y="3509963"/>
          <a:ext cx="6996112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4" name="Equazione" r:id="rId5" imgW="2971800" imgH="241200" progId="Equation.3">
                  <p:embed/>
                </p:oleObj>
              </mc:Choice>
              <mc:Fallback>
                <p:oleObj name="Equazione" r:id="rId5" imgW="2971800" imgH="2412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3509963"/>
                        <a:ext cx="6996112" cy="566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1250950" y="5275263"/>
          <a:ext cx="6726238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5" name="Equazione" r:id="rId7" imgW="2857320" imgH="241200" progId="Equation.3">
                  <p:embed/>
                </p:oleObj>
              </mc:Choice>
              <mc:Fallback>
                <p:oleObj name="Equazione" r:id="rId7" imgW="2857320" imgH="2412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0950" y="5275263"/>
                        <a:ext cx="6726238" cy="566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 smtClean="0"/>
              <a:t>Shamir</a:t>
            </a:r>
            <a:r>
              <a:rPr lang="it-IT" dirty="0" smtClean="0"/>
              <a:t> </a:t>
            </a:r>
            <a:r>
              <a:rPr lang="it-IT" dirty="0" err="1" smtClean="0"/>
              <a:t>scheme</a:t>
            </a:r>
            <a:r>
              <a:rPr lang="it-IT" dirty="0" smtClean="0"/>
              <a:t> in </a:t>
            </a:r>
            <a:r>
              <a:rPr lang="it-IT" dirty="0" err="1" smtClean="0"/>
              <a:t>matrix</a:t>
            </a:r>
            <a:r>
              <a:rPr lang="it-IT" dirty="0" smtClean="0"/>
              <a:t> </a:t>
            </a:r>
            <a:r>
              <a:rPr lang="it-IT" dirty="0" err="1" smtClean="0"/>
              <a:t>form</a:t>
            </a:r>
            <a:endParaRPr lang="it-IT" dirty="0"/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1258888" y="3251200"/>
          <a:ext cx="4772025" cy="298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8" name="Equazione" r:id="rId3" imgW="1498320" imgH="939600" progId="Equation.3">
                  <p:embed/>
                </p:oleObj>
              </mc:Choice>
              <mc:Fallback>
                <p:oleObj name="Equazione" r:id="rId3" imgW="1498320" imgH="939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3251200"/>
                        <a:ext cx="4772025" cy="2986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3419475" y="873125"/>
          <a:ext cx="1917700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9" name="Equazione" r:id="rId5" imgW="444240" imgH="177480" progId="Equation.3">
                  <p:embed/>
                </p:oleObj>
              </mc:Choice>
              <mc:Fallback>
                <p:oleObj name="Equazione" r:id="rId5" imgW="444240" imgH="1774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873125"/>
                        <a:ext cx="1917700" cy="765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egnaposto contenuto 2"/>
          <p:cNvSpPr>
            <a:spLocks noGrp="1"/>
          </p:cNvSpPr>
          <p:nvPr>
            <p:ph idx="1"/>
          </p:nvPr>
        </p:nvSpPr>
        <p:spPr>
          <a:xfrm>
            <a:off x="685800" y="1700213"/>
            <a:ext cx="7954963" cy="1657350"/>
          </a:xfrm>
        </p:spPr>
        <p:txBody>
          <a:bodyPr>
            <a:normAutofit fontScale="62500" lnSpcReduction="20000"/>
          </a:bodyPr>
          <a:lstStyle/>
          <a:p>
            <a:pPr>
              <a:defRPr/>
            </a:pPr>
            <a:r>
              <a:rPr lang="it-IT" dirty="0" smtClean="0"/>
              <a:t>A </a:t>
            </a:r>
            <a:r>
              <a:rPr lang="it-IT" dirty="0" smtClean="0">
                <a:sym typeface="Wingdings" pitchFamily="2" charset="2"/>
              </a:rPr>
              <a:t> </a:t>
            </a:r>
            <a:r>
              <a:rPr lang="it-IT" dirty="0" err="1" smtClean="0"/>
              <a:t>matrix</a:t>
            </a:r>
            <a:r>
              <a:rPr lang="it-IT" dirty="0" smtClean="0"/>
              <a:t>, n x t	GIVEN</a:t>
            </a:r>
          </a:p>
          <a:p>
            <a:pPr>
              <a:defRPr/>
            </a:pPr>
            <a:r>
              <a:rPr lang="it-IT" dirty="0" smtClean="0"/>
              <a:t>x </a:t>
            </a:r>
            <a:r>
              <a:rPr lang="it-IT" dirty="0" smtClean="0">
                <a:sym typeface="Wingdings" pitchFamily="2" charset="2"/>
              </a:rPr>
              <a:t> </a:t>
            </a:r>
            <a:r>
              <a:rPr lang="it-IT" dirty="0" err="1" smtClean="0"/>
              <a:t>vector</a:t>
            </a:r>
            <a:r>
              <a:rPr lang="it-IT" dirty="0" smtClean="0"/>
              <a:t>, t	[secret, </a:t>
            </a:r>
            <a:r>
              <a:rPr lang="it-IT" dirty="0" err="1" smtClean="0"/>
              <a:t>rand</a:t>
            </a:r>
            <a:r>
              <a:rPr lang="it-IT" dirty="0" smtClean="0"/>
              <a:t>, </a:t>
            </a:r>
            <a:r>
              <a:rPr lang="it-IT" dirty="0" err="1" smtClean="0"/>
              <a:t>rand</a:t>
            </a:r>
            <a:r>
              <a:rPr lang="it-IT" dirty="0" smtClean="0"/>
              <a:t>,…]</a:t>
            </a:r>
          </a:p>
          <a:p>
            <a:pPr>
              <a:defRPr/>
            </a:pPr>
            <a:r>
              <a:rPr lang="it-IT" dirty="0" smtClean="0"/>
              <a:t>b </a:t>
            </a:r>
            <a:r>
              <a:rPr lang="it-IT" dirty="0" smtClean="0">
                <a:sym typeface="Wingdings" pitchFamily="2" charset="2"/>
              </a:rPr>
              <a:t> </a:t>
            </a:r>
            <a:r>
              <a:rPr lang="it-IT" dirty="0" err="1" smtClean="0">
                <a:sym typeface="Wingdings" pitchFamily="2" charset="2"/>
              </a:rPr>
              <a:t>vector</a:t>
            </a:r>
            <a:r>
              <a:rPr lang="it-IT" dirty="0" smtClean="0">
                <a:sym typeface="Wingdings" pitchFamily="2" charset="2"/>
              </a:rPr>
              <a:t>, n	</a:t>
            </a:r>
            <a:r>
              <a:rPr lang="it-IT" dirty="0" err="1" smtClean="0">
                <a:sym typeface="Wingdings" pitchFamily="2" charset="2"/>
              </a:rPr>
              <a:t>resulting</a:t>
            </a:r>
            <a:r>
              <a:rPr lang="it-IT" dirty="0" smtClean="0">
                <a:sym typeface="Wingdings" pitchFamily="2" charset="2"/>
              </a:rPr>
              <a:t> </a:t>
            </a:r>
            <a:r>
              <a:rPr lang="it-IT" dirty="0" err="1" smtClean="0">
                <a:sym typeface="Wingdings" pitchFamily="2" charset="2"/>
              </a:rPr>
              <a:t>shares</a:t>
            </a:r>
            <a:endParaRPr lang="it-IT" dirty="0" smtClean="0"/>
          </a:p>
          <a:p>
            <a:pPr>
              <a:defRPr/>
            </a:pPr>
            <a:endParaRPr lang="it-IT" dirty="0" smtClean="0"/>
          </a:p>
          <a:p>
            <a:pPr>
              <a:defRPr/>
            </a:pPr>
            <a:r>
              <a:rPr lang="it-IT" dirty="0" err="1" smtClean="0"/>
              <a:t>Example</a:t>
            </a:r>
            <a:r>
              <a:rPr lang="it-IT" dirty="0" smtClean="0"/>
              <a:t>: (3,4)</a:t>
            </a:r>
          </a:p>
        </p:txBody>
      </p:sp>
      <p:sp>
        <p:nvSpPr>
          <p:cNvPr id="12294" name="CasellaDiTesto 6"/>
          <p:cNvSpPr txBox="1">
            <a:spLocks noChangeArrowheads="1"/>
          </p:cNvSpPr>
          <p:nvPr/>
        </p:nvSpPr>
        <p:spPr bwMode="auto">
          <a:xfrm>
            <a:off x="6119813" y="4005263"/>
            <a:ext cx="3000375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it-IT" sz="2800">
                <a:solidFill>
                  <a:srgbClr val="FF0000"/>
                </a:solidFill>
              </a:rPr>
              <a:t>Special type of matrix</a:t>
            </a:r>
          </a:p>
          <a:p>
            <a:pPr algn="ctr"/>
            <a:r>
              <a:rPr lang="it-IT" sz="2800" b="1">
                <a:solidFill>
                  <a:srgbClr val="FF0000"/>
                </a:solidFill>
              </a:rPr>
              <a:t>Vandermonde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1229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 smtClean="0"/>
              <a:t>Reconstructing</a:t>
            </a:r>
            <a:r>
              <a:rPr lang="it-IT" smtClean="0"/>
              <a:t> secret</a:t>
            </a:r>
            <a:endParaRPr lang="it-IT" dirty="0"/>
          </a:p>
        </p:txBody>
      </p:sp>
      <p:sp>
        <p:nvSpPr>
          <p:cNvPr id="13316" name="Segnaposto contenuto 2"/>
          <p:cNvSpPr>
            <a:spLocks noGrp="1"/>
          </p:cNvSpPr>
          <p:nvPr>
            <p:ph idx="1"/>
          </p:nvPr>
        </p:nvSpPr>
        <p:spPr>
          <a:xfrm>
            <a:off x="685800" y="1557338"/>
            <a:ext cx="4210050" cy="1366837"/>
          </a:xfrm>
        </p:spPr>
        <p:txBody>
          <a:bodyPr>
            <a:normAutofit fontScale="85000" lnSpcReduction="10000"/>
          </a:bodyPr>
          <a:lstStyle/>
          <a:p>
            <a:pPr>
              <a:defRPr/>
            </a:pPr>
            <a:r>
              <a:rPr lang="it-IT" dirty="0" smtClean="0"/>
              <a:t>Linear system </a:t>
            </a:r>
          </a:p>
          <a:p>
            <a:pPr lvl="1">
              <a:defRPr/>
            </a:pPr>
            <a:r>
              <a:rPr lang="it-IT" dirty="0" smtClean="0"/>
              <a:t>t </a:t>
            </a:r>
            <a:r>
              <a:rPr lang="it-IT" dirty="0" err="1" smtClean="0"/>
              <a:t>entries</a:t>
            </a:r>
            <a:endParaRPr lang="it-IT" dirty="0" smtClean="0"/>
          </a:p>
          <a:p>
            <a:pPr lvl="1">
              <a:defRPr/>
            </a:pPr>
            <a:r>
              <a:rPr lang="it-IT" dirty="0" smtClean="0"/>
              <a:t>E.g. 3 </a:t>
            </a:r>
            <a:r>
              <a:rPr lang="it-IT" dirty="0" err="1" smtClean="0"/>
              <a:t>shares</a:t>
            </a:r>
            <a:r>
              <a:rPr lang="it-IT" dirty="0" smtClean="0"/>
              <a:t> out </a:t>
            </a:r>
            <a:r>
              <a:rPr lang="it-IT" dirty="0" err="1" smtClean="0"/>
              <a:t>of</a:t>
            </a:r>
            <a:r>
              <a:rPr lang="it-IT" dirty="0" smtClean="0"/>
              <a:t> 4</a:t>
            </a:r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5040313" y="1376363"/>
          <a:ext cx="3736975" cy="183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4" name="Equazione" r:id="rId3" imgW="1498320" imgH="736560" progId="Equation.3">
                  <p:embed/>
                </p:oleObj>
              </mc:Choice>
              <mc:Fallback>
                <p:oleObj name="Equazione" r:id="rId3" imgW="1498320" imgH="73656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0313" y="1376363"/>
                        <a:ext cx="3736975" cy="1835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7" name="CasellaDiTesto 5"/>
          <p:cNvSpPr txBox="1">
            <a:spLocks noChangeArrowheads="1"/>
          </p:cNvSpPr>
          <p:nvPr/>
        </p:nvSpPr>
        <p:spPr bwMode="auto">
          <a:xfrm>
            <a:off x="511175" y="4652963"/>
            <a:ext cx="4922838" cy="1477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000" b="1" dirty="0" err="1"/>
              <a:t>Reconstruction</a:t>
            </a:r>
            <a:r>
              <a:rPr lang="it-IT" sz="2000" b="1" dirty="0"/>
              <a:t> </a:t>
            </a:r>
            <a:r>
              <a:rPr lang="it-IT" sz="2000" b="1" dirty="0" err="1"/>
              <a:t>coefficients</a:t>
            </a:r>
            <a:r>
              <a:rPr lang="it-IT" sz="2000" b="1" dirty="0"/>
              <a:t>:</a:t>
            </a:r>
            <a:r>
              <a:rPr lang="it-IT" sz="2000" b="1" dirty="0">
                <a:solidFill>
                  <a:srgbClr val="FF0000"/>
                </a:solidFill>
              </a:rPr>
              <a:t> </a:t>
            </a:r>
          </a:p>
          <a:p>
            <a:r>
              <a:rPr lang="it-IT" sz="2000" b="1" dirty="0">
                <a:solidFill>
                  <a:srgbClr val="FF0000"/>
                </a:solidFill>
              </a:rPr>
              <a:t>-  </a:t>
            </a:r>
            <a:r>
              <a:rPr lang="it-IT" sz="2000" b="1" dirty="0" err="1">
                <a:solidFill>
                  <a:srgbClr val="FF0000"/>
                </a:solidFill>
              </a:rPr>
              <a:t>Previous</a:t>
            </a:r>
            <a:r>
              <a:rPr lang="it-IT" sz="2000" b="1">
                <a:solidFill>
                  <a:srgbClr val="FF0000"/>
                </a:solidFill>
              </a:rPr>
              <a:t>: </a:t>
            </a:r>
            <a:r>
              <a:rPr lang="it-IT" sz="2000" b="1" smtClean="0">
                <a:solidFill>
                  <a:srgbClr val="FF0000"/>
                </a:solidFill>
              </a:rPr>
              <a:t>Lagrange formula</a:t>
            </a:r>
            <a:endParaRPr lang="it-IT" sz="2000" b="1" dirty="0">
              <a:solidFill>
                <a:srgbClr val="FF0000"/>
              </a:solidFill>
            </a:endParaRPr>
          </a:p>
          <a:p>
            <a:pPr>
              <a:buFontTx/>
              <a:buChar char="-"/>
            </a:pPr>
            <a:r>
              <a:rPr lang="it-IT" sz="2000" b="1" dirty="0">
                <a:solidFill>
                  <a:srgbClr val="FF0000"/>
                </a:solidFill>
              </a:rPr>
              <a:t>  </a:t>
            </a:r>
            <a:r>
              <a:rPr lang="it-IT" sz="2000" b="1" dirty="0" err="1">
                <a:solidFill>
                  <a:srgbClr val="FF0000"/>
                </a:solidFill>
              </a:rPr>
              <a:t>Now</a:t>
            </a:r>
            <a:r>
              <a:rPr lang="it-IT" sz="2000" b="1" dirty="0">
                <a:solidFill>
                  <a:srgbClr val="FF0000"/>
                </a:solidFill>
              </a:rPr>
              <a:t>: MIGHT solve </a:t>
            </a:r>
            <a:r>
              <a:rPr lang="it-IT" sz="2000" b="1" dirty="0" err="1">
                <a:solidFill>
                  <a:srgbClr val="FF0000"/>
                </a:solidFill>
              </a:rPr>
              <a:t>as</a:t>
            </a:r>
            <a:r>
              <a:rPr lang="it-IT" sz="2000" b="1" dirty="0">
                <a:solidFill>
                  <a:srgbClr val="FF0000"/>
                </a:solidFill>
              </a:rPr>
              <a:t> linear </a:t>
            </a:r>
            <a:r>
              <a:rPr lang="it-IT" sz="2000" b="1" dirty="0" err="1">
                <a:solidFill>
                  <a:srgbClr val="FF0000"/>
                </a:solidFill>
              </a:rPr>
              <a:t>system</a:t>
            </a:r>
            <a:endParaRPr lang="it-IT" sz="2000" b="1" dirty="0">
              <a:solidFill>
                <a:srgbClr val="FF0000"/>
              </a:solidFill>
            </a:endParaRPr>
          </a:p>
          <a:p>
            <a:pPr lvl="1">
              <a:buFontTx/>
              <a:buChar char="-"/>
            </a:pPr>
            <a:r>
              <a:rPr lang="it-IT" sz="1600" b="1" dirty="0">
                <a:solidFill>
                  <a:srgbClr val="FF0000"/>
                </a:solidFill>
              </a:rPr>
              <a:t>Solution for s </a:t>
            </a:r>
            <a:r>
              <a:rPr lang="it-IT" sz="1600" b="1" dirty="0" err="1">
                <a:solidFill>
                  <a:srgbClr val="FF0000"/>
                </a:solidFill>
              </a:rPr>
              <a:t>gives</a:t>
            </a:r>
            <a:r>
              <a:rPr lang="it-IT" sz="1600" b="1" dirty="0">
                <a:solidFill>
                  <a:srgbClr val="FF0000"/>
                </a:solidFill>
              </a:rPr>
              <a:t> </a:t>
            </a:r>
            <a:r>
              <a:rPr lang="it-IT" sz="1600" b="1" dirty="0" err="1">
                <a:solidFill>
                  <a:srgbClr val="FF0000"/>
                </a:solidFill>
              </a:rPr>
              <a:t>usual</a:t>
            </a:r>
            <a:r>
              <a:rPr lang="it-IT" sz="1600" b="1" dirty="0">
                <a:solidFill>
                  <a:srgbClr val="FF0000"/>
                </a:solidFill>
              </a:rPr>
              <a:t> Laplace formula, of </a:t>
            </a:r>
            <a:r>
              <a:rPr lang="it-IT" sz="1600" b="1" dirty="0" err="1">
                <a:solidFill>
                  <a:srgbClr val="FF0000"/>
                </a:solidFill>
              </a:rPr>
              <a:t>course</a:t>
            </a:r>
            <a:r>
              <a:rPr lang="it-IT" sz="1600" b="1" dirty="0">
                <a:solidFill>
                  <a:srgbClr val="FF0000"/>
                </a:solidFill>
              </a:rPr>
              <a:t/>
            </a:r>
            <a:br>
              <a:rPr lang="it-IT" sz="1600" b="1" dirty="0">
                <a:solidFill>
                  <a:srgbClr val="FF0000"/>
                </a:solidFill>
              </a:rPr>
            </a:br>
            <a:endParaRPr lang="it-IT" sz="1400" dirty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5348288" y="4508500"/>
          <a:ext cx="3363912" cy="161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5" name="Equazione" r:id="rId5" imgW="1612800" imgH="774360" progId="Equation.3">
                  <p:embed/>
                </p:oleObj>
              </mc:Choice>
              <mc:Fallback>
                <p:oleObj name="Equazione" r:id="rId5" imgW="1612800" imgH="77436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48288" y="4508500"/>
                        <a:ext cx="3363912" cy="1614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3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3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" grpId="0" build="p"/>
      <p:bldP spid="133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Reconstructing</a:t>
            </a:r>
            <a:r>
              <a:rPr lang="it-IT" dirty="0"/>
              <a:t> </a:t>
            </a:r>
            <a:r>
              <a:rPr lang="it-IT" dirty="0" smtClean="0"/>
              <a:t>secret</a:t>
            </a:r>
            <a:endParaRPr lang="it-IT" dirty="0"/>
          </a:p>
        </p:txBody>
      </p:sp>
      <p:graphicFrame>
        <p:nvGraphicFramePr>
          <p:cNvPr id="4" name="Ogget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8056136"/>
              </p:ext>
            </p:extLst>
          </p:nvPr>
        </p:nvGraphicFramePr>
        <p:xfrm>
          <a:off x="71500" y="1373781"/>
          <a:ext cx="9024058" cy="19832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92" name="Equazione" r:id="rId3" imgW="4622760" imgH="1015920" progId="Equation.3">
                  <p:embed/>
                </p:oleObj>
              </mc:Choice>
              <mc:Fallback>
                <p:oleObj name="Equazione" r:id="rId3" imgW="4622760" imgH="101592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00" y="1373781"/>
                        <a:ext cx="9024058" cy="19832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ggetto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8847978"/>
              </p:ext>
            </p:extLst>
          </p:nvPr>
        </p:nvGraphicFramePr>
        <p:xfrm>
          <a:off x="67734" y="4325007"/>
          <a:ext cx="9040770" cy="9401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793" name="Equazione" r:id="rId5" imgW="4152600" imgH="431640" progId="Equation.3">
                  <p:embed/>
                </p:oleObj>
              </mc:Choice>
              <mc:Fallback>
                <p:oleObj name="Equazione" r:id="rId5" imgW="4152600" imgH="431640" progId="Equation.3">
                  <p:embed/>
                  <p:pic>
                    <p:nvPicPr>
                      <p:cNvPr id="0" name="Ogget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34" y="4325007"/>
                        <a:ext cx="9040770" cy="9401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49853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smtClean="0"/>
              <a:t>An alternative </a:t>
            </a:r>
            <a:r>
              <a:rPr lang="it-IT" dirty="0" err="1" smtClean="0"/>
              <a:t>interpretation</a:t>
            </a:r>
            <a:endParaRPr lang="it-IT" dirty="0"/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3149600" y="1306513"/>
          <a:ext cx="3856038" cy="194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6" name="Equazione" r:id="rId3" imgW="1460160" imgH="736560" progId="Equation.3">
                  <p:embed/>
                </p:oleObj>
              </mc:Choice>
              <mc:Fallback>
                <p:oleObj name="Equazione" r:id="rId3" imgW="1460160" imgH="73656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9600" y="1306513"/>
                        <a:ext cx="3856038" cy="1943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1" name="Rettangolo 3"/>
          <p:cNvSpPr>
            <a:spLocks noChangeArrowheads="1"/>
          </p:cNvSpPr>
          <p:nvPr/>
        </p:nvSpPr>
        <p:spPr bwMode="auto">
          <a:xfrm>
            <a:off x="3095625" y="1341438"/>
            <a:ext cx="2009775" cy="609600"/>
          </a:xfrm>
          <a:prstGeom prst="rect">
            <a:avLst/>
          </a:prstGeom>
          <a:noFill/>
          <a:ln w="38100" algn="ctr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14342" name="CasellaDiTesto 4"/>
          <p:cNvSpPr txBox="1">
            <a:spLocks noChangeArrowheads="1"/>
          </p:cNvSpPr>
          <p:nvPr/>
        </p:nvSpPr>
        <p:spPr bwMode="auto">
          <a:xfrm>
            <a:off x="1076325" y="1449388"/>
            <a:ext cx="173513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000" b="1"/>
              <a:t>Row of party P</a:t>
            </a:r>
            <a:r>
              <a:rPr lang="it-IT" sz="2000" b="1" baseline="-25000"/>
              <a:t>1</a:t>
            </a:r>
          </a:p>
        </p:txBody>
      </p:sp>
      <p:sp>
        <p:nvSpPr>
          <p:cNvPr id="14343" name="Rettangolo 5"/>
          <p:cNvSpPr>
            <a:spLocks noChangeArrowheads="1"/>
          </p:cNvSpPr>
          <p:nvPr/>
        </p:nvSpPr>
        <p:spPr bwMode="auto">
          <a:xfrm>
            <a:off x="3105150" y="1951038"/>
            <a:ext cx="2009775" cy="612775"/>
          </a:xfrm>
          <a:prstGeom prst="rect">
            <a:avLst/>
          </a:prstGeom>
          <a:noFill/>
          <a:ln w="38100" algn="ctr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14344" name="CasellaDiTesto 6"/>
          <p:cNvSpPr txBox="1">
            <a:spLocks noChangeArrowheads="1"/>
          </p:cNvSpPr>
          <p:nvPr/>
        </p:nvSpPr>
        <p:spPr bwMode="auto">
          <a:xfrm>
            <a:off x="1082675" y="2058988"/>
            <a:ext cx="173513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000" b="1"/>
              <a:t>Row of party P</a:t>
            </a:r>
            <a:r>
              <a:rPr lang="it-IT" sz="2000" b="1" baseline="-25000"/>
              <a:t>2</a:t>
            </a:r>
          </a:p>
        </p:txBody>
      </p:sp>
      <p:sp>
        <p:nvSpPr>
          <p:cNvPr id="14345" name="Rettangolo 7"/>
          <p:cNvSpPr>
            <a:spLocks noChangeArrowheads="1"/>
          </p:cNvSpPr>
          <p:nvPr/>
        </p:nvSpPr>
        <p:spPr bwMode="auto">
          <a:xfrm>
            <a:off x="3105150" y="2563813"/>
            <a:ext cx="2009775" cy="612775"/>
          </a:xfrm>
          <a:prstGeom prst="rect">
            <a:avLst/>
          </a:prstGeom>
          <a:noFill/>
          <a:ln w="38100" algn="ctr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14346" name="CasellaDiTesto 8"/>
          <p:cNvSpPr txBox="1">
            <a:spLocks noChangeArrowheads="1"/>
          </p:cNvSpPr>
          <p:nvPr/>
        </p:nvSpPr>
        <p:spPr bwMode="auto">
          <a:xfrm>
            <a:off x="1082675" y="2671763"/>
            <a:ext cx="173513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000" b="1"/>
              <a:t>Row of party P</a:t>
            </a:r>
            <a:r>
              <a:rPr lang="it-IT" sz="2000" b="1" baseline="-25000"/>
              <a:t>4</a:t>
            </a:r>
          </a:p>
        </p:txBody>
      </p:sp>
      <p:sp>
        <p:nvSpPr>
          <p:cNvPr id="14347" name="Rettangolo 9"/>
          <p:cNvSpPr>
            <a:spLocks noChangeArrowheads="1"/>
          </p:cNvSpPr>
          <p:nvPr/>
        </p:nvSpPr>
        <p:spPr bwMode="auto">
          <a:xfrm>
            <a:off x="5187950" y="1125538"/>
            <a:ext cx="661988" cy="2203450"/>
          </a:xfrm>
          <a:prstGeom prst="rect">
            <a:avLst/>
          </a:prstGeom>
          <a:noFill/>
          <a:ln w="38100" algn="ctr">
            <a:solidFill>
              <a:srgbClr val="00B05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14348" name="CasellaDiTesto 10"/>
          <p:cNvSpPr txBox="1">
            <a:spLocks noChangeArrowheads="1"/>
          </p:cNvSpPr>
          <p:nvPr/>
        </p:nvSpPr>
        <p:spPr bwMode="auto">
          <a:xfrm rot="5400000">
            <a:off x="4928394" y="2380456"/>
            <a:ext cx="1181100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it-IT" sz="1600" b="1">
                <a:solidFill>
                  <a:srgbClr val="FF0000"/>
                </a:solidFill>
              </a:rPr>
              <a:t>randomness</a:t>
            </a:r>
            <a:endParaRPr lang="it-IT" b="1">
              <a:solidFill>
                <a:srgbClr val="FF0000"/>
              </a:solidFill>
            </a:endParaRPr>
          </a:p>
        </p:txBody>
      </p:sp>
      <p:sp>
        <p:nvSpPr>
          <p:cNvPr id="14349" name="Rettangolo 11"/>
          <p:cNvSpPr>
            <a:spLocks noChangeArrowheads="1"/>
          </p:cNvSpPr>
          <p:nvPr/>
        </p:nvSpPr>
        <p:spPr bwMode="auto">
          <a:xfrm>
            <a:off x="6083300" y="1341438"/>
            <a:ext cx="1038225" cy="609600"/>
          </a:xfrm>
          <a:prstGeom prst="rect">
            <a:avLst/>
          </a:prstGeom>
          <a:noFill/>
          <a:ln w="38100" algn="ctr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14350" name="Rettangolo 12"/>
          <p:cNvSpPr>
            <a:spLocks noChangeArrowheads="1"/>
          </p:cNvSpPr>
          <p:nvPr/>
        </p:nvSpPr>
        <p:spPr bwMode="auto">
          <a:xfrm>
            <a:off x="6091238" y="1951038"/>
            <a:ext cx="1036637" cy="612775"/>
          </a:xfrm>
          <a:prstGeom prst="rect">
            <a:avLst/>
          </a:prstGeom>
          <a:noFill/>
          <a:ln w="38100" algn="ctr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14351" name="Rettangolo 13"/>
          <p:cNvSpPr>
            <a:spLocks noChangeArrowheads="1"/>
          </p:cNvSpPr>
          <p:nvPr/>
        </p:nvSpPr>
        <p:spPr bwMode="auto">
          <a:xfrm>
            <a:off x="6091238" y="2563813"/>
            <a:ext cx="1036637" cy="612775"/>
          </a:xfrm>
          <a:prstGeom prst="rect">
            <a:avLst/>
          </a:prstGeom>
          <a:noFill/>
          <a:ln w="38100" algn="ctr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14352" name="CasellaDiTesto 14"/>
          <p:cNvSpPr txBox="1">
            <a:spLocks noChangeArrowheads="1"/>
          </p:cNvSpPr>
          <p:nvPr/>
        </p:nvSpPr>
        <p:spPr bwMode="auto">
          <a:xfrm>
            <a:off x="647700" y="3533775"/>
            <a:ext cx="2354263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400" b="1"/>
              <a:t>Each row = vector</a:t>
            </a:r>
          </a:p>
          <a:p>
            <a:r>
              <a:rPr lang="it-IT" sz="2400" b="1"/>
              <a:t>	v</a:t>
            </a:r>
            <a:r>
              <a:rPr lang="it-IT" sz="2400" b="1" baseline="-25000"/>
              <a:t>1</a:t>
            </a:r>
            <a:r>
              <a:rPr lang="it-IT" sz="2400" b="1"/>
              <a:t>, v</a:t>
            </a:r>
            <a:r>
              <a:rPr lang="it-IT" sz="2400" b="1" baseline="-25000"/>
              <a:t>2</a:t>
            </a:r>
            <a:r>
              <a:rPr lang="it-IT" sz="2400" b="1"/>
              <a:t>, v</a:t>
            </a:r>
            <a:r>
              <a:rPr lang="it-IT" sz="2400" b="1" baseline="-25000"/>
              <a:t>3</a:t>
            </a:r>
          </a:p>
        </p:txBody>
      </p:sp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5111750" y="4437063"/>
          <a:ext cx="3106738" cy="1423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7" name="Equazione" r:id="rId5" imgW="1549080" imgH="711000" progId="Equation.3">
                  <p:embed/>
                </p:oleObj>
              </mc:Choice>
              <mc:Fallback>
                <p:oleObj name="Equazione" r:id="rId5" imgW="1549080" imgH="7110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1750" y="4437063"/>
                        <a:ext cx="3106738" cy="1423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CasellaDiTesto 14"/>
          <p:cNvSpPr txBox="1">
            <a:spLocks noChangeArrowheads="1"/>
          </p:cNvSpPr>
          <p:nvPr/>
        </p:nvSpPr>
        <p:spPr bwMode="auto">
          <a:xfrm>
            <a:off x="611188" y="4614863"/>
            <a:ext cx="4079875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400" b="1">
                <a:solidFill>
                  <a:srgbClr val="FF0000"/>
                </a:solidFill>
              </a:rPr>
              <a:t>Such vectors “span” a 3D space</a:t>
            </a:r>
          </a:p>
          <a:p>
            <a:r>
              <a:rPr lang="it-IT" sz="2400" b="1">
                <a:solidFill>
                  <a:srgbClr val="FF0000"/>
                </a:solidFill>
              </a:rPr>
              <a:t>	</a:t>
            </a:r>
            <a:r>
              <a:rPr lang="it-IT" sz="2400" b="1"/>
              <a:t> </a:t>
            </a:r>
            <a:r>
              <a:rPr lang="it-IT" sz="2400">
                <a:solidFill>
                  <a:srgbClr val="FF0000"/>
                </a:solidFill>
              </a:rPr>
              <a:t>c</a:t>
            </a:r>
            <a:r>
              <a:rPr lang="it-IT" sz="2400" baseline="-25000">
                <a:solidFill>
                  <a:srgbClr val="FF0000"/>
                </a:solidFill>
              </a:rPr>
              <a:t>1</a:t>
            </a:r>
            <a:r>
              <a:rPr lang="it-IT" sz="2400" b="1">
                <a:solidFill>
                  <a:srgbClr val="FF0000"/>
                </a:solidFill>
              </a:rPr>
              <a:t>v</a:t>
            </a:r>
            <a:r>
              <a:rPr lang="it-IT" sz="2400" b="1" baseline="-25000">
                <a:solidFill>
                  <a:srgbClr val="FF0000"/>
                </a:solidFill>
              </a:rPr>
              <a:t>1</a:t>
            </a:r>
            <a:r>
              <a:rPr lang="it-IT" sz="2400" b="1">
                <a:solidFill>
                  <a:srgbClr val="FF0000"/>
                </a:solidFill>
              </a:rPr>
              <a:t>+</a:t>
            </a:r>
            <a:r>
              <a:rPr lang="it-IT" sz="2400">
                <a:solidFill>
                  <a:srgbClr val="FF0000"/>
                </a:solidFill>
              </a:rPr>
              <a:t>c</a:t>
            </a:r>
            <a:r>
              <a:rPr lang="it-IT" sz="2400" baseline="-25000">
                <a:solidFill>
                  <a:srgbClr val="FF0000"/>
                </a:solidFill>
              </a:rPr>
              <a:t>2</a:t>
            </a:r>
            <a:r>
              <a:rPr lang="it-IT" sz="2400" b="1">
                <a:solidFill>
                  <a:srgbClr val="FF0000"/>
                </a:solidFill>
              </a:rPr>
              <a:t>v</a:t>
            </a:r>
            <a:r>
              <a:rPr lang="it-IT" sz="2400" b="1" baseline="-25000">
                <a:solidFill>
                  <a:srgbClr val="FF0000"/>
                </a:solidFill>
              </a:rPr>
              <a:t>2</a:t>
            </a:r>
            <a:r>
              <a:rPr lang="it-IT" sz="2400" b="1">
                <a:solidFill>
                  <a:srgbClr val="FF0000"/>
                </a:solidFill>
              </a:rPr>
              <a:t>+</a:t>
            </a:r>
            <a:r>
              <a:rPr lang="it-IT" sz="2400">
                <a:solidFill>
                  <a:srgbClr val="FF0000"/>
                </a:solidFill>
              </a:rPr>
              <a:t>c</a:t>
            </a:r>
            <a:r>
              <a:rPr lang="it-IT" sz="2400" baseline="-25000">
                <a:solidFill>
                  <a:srgbClr val="FF0000"/>
                </a:solidFill>
              </a:rPr>
              <a:t>3</a:t>
            </a:r>
            <a:r>
              <a:rPr lang="it-IT" sz="2400" b="1">
                <a:solidFill>
                  <a:srgbClr val="FF0000"/>
                </a:solidFill>
              </a:rPr>
              <a:t>v</a:t>
            </a:r>
            <a:r>
              <a:rPr lang="it-IT" sz="2400" b="1" baseline="-25000">
                <a:solidFill>
                  <a:srgbClr val="FF0000"/>
                </a:solidFill>
              </a:rPr>
              <a:t>3</a:t>
            </a:r>
            <a:endParaRPr lang="it-IT"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4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4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4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4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4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1" grpId="0" animBg="1"/>
      <p:bldP spid="14342" grpId="0"/>
      <p:bldP spid="14343" grpId="0" animBg="1"/>
      <p:bldP spid="14344" grpId="0"/>
      <p:bldP spid="14345" grpId="0" animBg="1"/>
      <p:bldP spid="14346" grpId="0"/>
      <p:bldP spid="14347" grpId="0" animBg="1"/>
      <p:bldP spid="14349" grpId="0" animBg="1"/>
      <p:bldP spid="14350" grpId="0" animBg="1"/>
      <p:bldP spid="14351" grpId="0" animBg="1"/>
      <p:bldP spid="14352" grpId="0"/>
      <p:bldP spid="3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smtClean="0"/>
              <a:t>An alternative </a:t>
            </a:r>
            <a:r>
              <a:rPr lang="it-IT" dirty="0" err="1" smtClean="0"/>
              <a:t>interpretation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76263" y="1196975"/>
            <a:ext cx="7696200" cy="1260475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dirty="0" smtClean="0"/>
              <a:t>Vector [1,0,0] included in “span”</a:t>
            </a:r>
          </a:p>
          <a:p>
            <a:pPr lvl="1">
              <a:defRPr/>
            </a:pPr>
            <a:r>
              <a:rPr lang="en-US" dirty="0" smtClean="0"/>
              <a:t>Exists linear combination</a:t>
            </a:r>
            <a:br>
              <a:rPr lang="en-US" dirty="0" smtClean="0"/>
            </a:br>
            <a:r>
              <a:rPr lang="en-US" dirty="0" smtClean="0"/>
              <a:t>  </a:t>
            </a:r>
            <a:r>
              <a:rPr lang="it-IT" dirty="0" smtClean="0">
                <a:solidFill>
                  <a:srgbClr val="FF0000"/>
                </a:solidFill>
              </a:rPr>
              <a:t>c</a:t>
            </a:r>
            <a:r>
              <a:rPr lang="it-IT" baseline="-25000" dirty="0" smtClean="0">
                <a:solidFill>
                  <a:srgbClr val="FF0000"/>
                </a:solidFill>
              </a:rPr>
              <a:t>1</a:t>
            </a:r>
            <a:r>
              <a:rPr lang="it-IT" b="1" dirty="0" smtClean="0">
                <a:solidFill>
                  <a:srgbClr val="FF0000"/>
                </a:solidFill>
              </a:rPr>
              <a:t>v</a:t>
            </a:r>
            <a:r>
              <a:rPr lang="it-IT" b="1" baseline="-25000" dirty="0" smtClean="0">
                <a:solidFill>
                  <a:srgbClr val="FF0000"/>
                </a:solidFill>
              </a:rPr>
              <a:t>1</a:t>
            </a:r>
            <a:r>
              <a:rPr lang="it-IT" b="1" dirty="0" smtClean="0">
                <a:solidFill>
                  <a:srgbClr val="FF0000"/>
                </a:solidFill>
              </a:rPr>
              <a:t>+</a:t>
            </a:r>
            <a:r>
              <a:rPr lang="it-IT" dirty="0" smtClean="0">
                <a:solidFill>
                  <a:srgbClr val="FF0000"/>
                </a:solidFill>
              </a:rPr>
              <a:t>c</a:t>
            </a:r>
            <a:r>
              <a:rPr lang="it-IT" baseline="-25000" dirty="0" smtClean="0">
                <a:solidFill>
                  <a:srgbClr val="FF0000"/>
                </a:solidFill>
              </a:rPr>
              <a:t>2</a:t>
            </a:r>
            <a:r>
              <a:rPr lang="it-IT" b="1" dirty="0" smtClean="0">
                <a:solidFill>
                  <a:srgbClr val="FF0000"/>
                </a:solidFill>
              </a:rPr>
              <a:t>v</a:t>
            </a:r>
            <a:r>
              <a:rPr lang="it-IT" b="1" baseline="-25000" dirty="0" smtClean="0">
                <a:solidFill>
                  <a:srgbClr val="FF0000"/>
                </a:solidFill>
              </a:rPr>
              <a:t>2</a:t>
            </a:r>
            <a:r>
              <a:rPr lang="it-IT" b="1" dirty="0" smtClean="0">
                <a:solidFill>
                  <a:srgbClr val="FF0000"/>
                </a:solidFill>
              </a:rPr>
              <a:t>+</a:t>
            </a:r>
            <a:r>
              <a:rPr lang="it-IT" dirty="0" smtClean="0">
                <a:solidFill>
                  <a:srgbClr val="FF0000"/>
                </a:solidFill>
              </a:rPr>
              <a:t>c</a:t>
            </a:r>
            <a:r>
              <a:rPr lang="it-IT" baseline="-25000" dirty="0" smtClean="0">
                <a:solidFill>
                  <a:srgbClr val="FF0000"/>
                </a:solidFill>
              </a:rPr>
              <a:t>3</a:t>
            </a:r>
            <a:r>
              <a:rPr lang="it-IT" b="1" dirty="0" smtClean="0">
                <a:solidFill>
                  <a:srgbClr val="FF0000"/>
                </a:solidFill>
              </a:rPr>
              <a:t>v</a:t>
            </a:r>
            <a:r>
              <a:rPr lang="it-IT" b="1" baseline="-25000" dirty="0" smtClean="0">
                <a:solidFill>
                  <a:srgbClr val="FF0000"/>
                </a:solidFill>
              </a:rPr>
              <a:t>3</a:t>
            </a:r>
            <a:r>
              <a:rPr lang="it-IT" b="1" dirty="0" smtClean="0">
                <a:solidFill>
                  <a:srgbClr val="FF0000"/>
                </a:solidFill>
              </a:rPr>
              <a:t>=[1,0,0]</a:t>
            </a:r>
            <a:endParaRPr lang="en-US" dirty="0" smtClean="0"/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5403850" y="3192463"/>
          <a:ext cx="3132138" cy="1423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7" name="Equazione" r:id="rId3" imgW="1562040" imgH="711000" progId="Equation.3">
                  <p:embed/>
                </p:oleObj>
              </mc:Choice>
              <mc:Fallback>
                <p:oleObj name="Equazione" r:id="rId3" imgW="1562040" imgH="711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3850" y="3192463"/>
                        <a:ext cx="3132138" cy="1423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1627188" y="2457450"/>
          <a:ext cx="6977062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8" name="Equazione" r:id="rId5" imgW="3479760" imgH="241200" progId="Equation.3">
                  <p:embed/>
                </p:oleObj>
              </mc:Choice>
              <mc:Fallback>
                <p:oleObj name="Equazione" r:id="rId5" imgW="3479760" imgH="2412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7188" y="2457450"/>
                        <a:ext cx="6977062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egnaposto contenuto 2"/>
          <p:cNvSpPr txBox="1">
            <a:spLocks/>
          </p:cNvSpPr>
          <p:nvPr/>
        </p:nvSpPr>
        <p:spPr bwMode="auto">
          <a:xfrm>
            <a:off x="576263" y="3409950"/>
            <a:ext cx="7696200" cy="1150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488" tIns="44450" rIns="90488" bIns="44450">
            <a:normAutofit fontScale="77500" lnSpcReduction="20000"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/>
            </a:pPr>
            <a:r>
              <a:rPr lang="en-US" sz="3200" b="1" kern="0" dirty="0">
                <a:latin typeface="+mn-lt"/>
              </a:rPr>
              <a:t>Found by solving </a:t>
            </a:r>
            <a:br>
              <a:rPr lang="en-US" sz="3200" b="1" kern="0" dirty="0">
                <a:latin typeface="+mn-lt"/>
              </a:rPr>
            </a:br>
            <a:r>
              <a:rPr lang="en-US" sz="3200" b="1" kern="0" dirty="0">
                <a:latin typeface="+mn-lt"/>
              </a:rPr>
              <a:t>different linear system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/>
            </a:pPr>
            <a:r>
              <a:rPr lang="en-US" sz="3200" b="1" kern="0" dirty="0">
                <a:latin typeface="+mn-lt"/>
              </a:rPr>
              <a:t>Result… guess what </a:t>
            </a:r>
            <a:r>
              <a:rPr lang="en-US" sz="3200" b="1" kern="0" dirty="0">
                <a:latin typeface="+mn-lt"/>
                <a:sym typeface="Wingdings" pitchFamily="2" charset="2"/>
              </a:rPr>
              <a:t></a:t>
            </a:r>
            <a:endParaRPr lang="en-US" sz="3200" b="1" kern="0" dirty="0">
              <a:latin typeface="+mn-lt"/>
            </a:endParaRPr>
          </a:p>
        </p:txBody>
      </p:sp>
      <p:graphicFrame>
        <p:nvGraphicFramePr>
          <p:cNvPr id="4" name="Ogget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2452473"/>
              </p:ext>
            </p:extLst>
          </p:nvPr>
        </p:nvGraphicFramePr>
        <p:xfrm>
          <a:off x="35496" y="5089754"/>
          <a:ext cx="9074596" cy="8955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9" name="Equazione" r:id="rId7" imgW="4381200" imgH="431640" progId="Equation.3">
                  <p:embed/>
                </p:oleObj>
              </mc:Choice>
              <mc:Fallback>
                <p:oleObj name="Equazione" r:id="rId7" imgW="4381200" imgH="431640" progId="Equation.3">
                  <p:embed/>
                  <p:pic>
                    <p:nvPicPr>
                      <p:cNvPr id="0" name="Oggetto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96" y="5089754"/>
                        <a:ext cx="9074596" cy="8955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smtClean="0"/>
              <a:t>An alternative </a:t>
            </a:r>
            <a:r>
              <a:rPr lang="it-IT" dirty="0" err="1" smtClean="0"/>
              <a:t>interpretation</a:t>
            </a:r>
            <a:endParaRPr lang="it-IT" dirty="0"/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206375" y="1304925"/>
          <a:ext cx="8582025" cy="142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4" name="Equazione" r:id="rId3" imgW="4279680" imgH="711000" progId="Equation.3">
                  <p:embed/>
                </p:oleObj>
              </mc:Choice>
              <mc:Fallback>
                <p:oleObj name="Equazione" r:id="rId3" imgW="4279680" imgH="711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" y="1304925"/>
                        <a:ext cx="8582025" cy="1422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0" name="CasellaDiTesto 4"/>
          <p:cNvSpPr txBox="1">
            <a:spLocks noChangeArrowheads="1"/>
          </p:cNvSpPr>
          <p:nvPr/>
        </p:nvSpPr>
        <p:spPr bwMode="auto">
          <a:xfrm>
            <a:off x="250825" y="1089025"/>
            <a:ext cx="8572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400" b="1"/>
              <a:t>But…</a:t>
            </a:r>
          </a:p>
        </p:txBody>
      </p:sp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539750" y="2852738"/>
          <a:ext cx="7486650" cy="142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5" name="Equazione" r:id="rId5" imgW="3733560" imgH="711000" progId="Equation.3">
                  <p:embed/>
                </p:oleObj>
              </mc:Choice>
              <mc:Fallback>
                <p:oleObj name="Equazione" r:id="rId5" imgW="3733560" imgH="7110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2852738"/>
                        <a:ext cx="7486650" cy="1422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"/>
          <p:cNvGraphicFramePr>
            <a:graphicFrameLocks noChangeAspect="1"/>
          </p:cNvGraphicFramePr>
          <p:nvPr/>
        </p:nvGraphicFramePr>
        <p:xfrm>
          <a:off x="827088" y="4833938"/>
          <a:ext cx="25971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46" name="Equazione" r:id="rId7" imgW="1295280" imgH="228600" progId="Equation.3">
                  <p:embed/>
                </p:oleObj>
              </mc:Choice>
              <mc:Fallback>
                <p:oleObj name="Equazione" r:id="rId7" imgW="1295280" imgH="2286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833938"/>
                        <a:ext cx="259715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Ovale 7"/>
          <p:cNvSpPr>
            <a:spLocks noChangeArrowheads="1"/>
          </p:cNvSpPr>
          <p:nvPr/>
        </p:nvSpPr>
        <p:spPr bwMode="auto">
          <a:xfrm>
            <a:off x="792163" y="2673350"/>
            <a:ext cx="2087562" cy="1763713"/>
          </a:xfrm>
          <a:prstGeom prst="ellipse">
            <a:avLst/>
          </a:prstGeom>
          <a:noFill/>
          <a:ln w="12700" algn="ctr">
            <a:solidFill>
              <a:srgbClr val="FF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cxnSp>
        <p:nvCxnSpPr>
          <p:cNvPr id="16392" name="Connettore 2 9"/>
          <p:cNvCxnSpPr>
            <a:cxnSpLocks noChangeShapeType="1"/>
            <a:stCxn id="8" idx="4"/>
          </p:cNvCxnSpPr>
          <p:nvPr/>
        </p:nvCxnSpPr>
        <p:spPr bwMode="auto">
          <a:xfrm flipH="1">
            <a:off x="1258888" y="4437063"/>
            <a:ext cx="576262" cy="504825"/>
          </a:xfrm>
          <a:prstGeom prst="straightConnector1">
            <a:avLst/>
          </a:prstGeom>
          <a:noFill/>
          <a:ln w="12700" algn="ctr">
            <a:solidFill>
              <a:srgbClr val="FF0000"/>
            </a:solidFill>
            <a:round/>
            <a:headEnd type="none" w="sm" len="sm"/>
            <a:tailEnd type="arrow" w="med" len="med"/>
          </a:ln>
        </p:spPr>
      </p:cxnSp>
      <p:sp>
        <p:nvSpPr>
          <p:cNvPr id="11" name="CasellaDiTesto 10"/>
          <p:cNvSpPr txBox="1">
            <a:spLocks noChangeArrowheads="1"/>
          </p:cNvSpPr>
          <p:nvPr/>
        </p:nvSpPr>
        <p:spPr bwMode="auto">
          <a:xfrm>
            <a:off x="1800225" y="4473575"/>
            <a:ext cx="658813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>
                <a:solidFill>
                  <a:srgbClr val="FF0000"/>
                </a:solidFill>
              </a:rPr>
              <a:t>share</a:t>
            </a:r>
          </a:p>
        </p:txBody>
      </p:sp>
      <p:sp>
        <p:nvSpPr>
          <p:cNvPr id="12" name="CasellaDiTesto 11"/>
          <p:cNvSpPr txBox="1">
            <a:spLocks noChangeArrowheads="1"/>
          </p:cNvSpPr>
          <p:nvPr/>
        </p:nvSpPr>
        <p:spPr bwMode="auto">
          <a:xfrm>
            <a:off x="935038" y="5842000"/>
            <a:ext cx="7488237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400" b="1">
                <a:solidFill>
                  <a:srgbClr val="FF0000"/>
                </a:solidFill>
              </a:rPr>
              <a:t>SUMMARY: shamir secret sharing treated as “span” problem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 smtClean="0"/>
              <a:t>Much</a:t>
            </a:r>
            <a:r>
              <a:rPr lang="it-IT" dirty="0" smtClean="0"/>
              <a:t> more </a:t>
            </a:r>
            <a:r>
              <a:rPr lang="it-IT" dirty="0" err="1" smtClean="0"/>
              <a:t>general</a:t>
            </a:r>
            <a:r>
              <a:rPr lang="it-IT" dirty="0" smtClean="0"/>
              <a:t>!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5800" y="1125538"/>
            <a:ext cx="7696200" cy="1042987"/>
          </a:xfrm>
        </p:spPr>
        <p:txBody>
          <a:bodyPr>
            <a:normAutofit fontScale="85000" lnSpcReduction="10000"/>
          </a:bodyPr>
          <a:lstStyle/>
          <a:p>
            <a:pPr>
              <a:defRPr/>
            </a:pPr>
            <a:r>
              <a:rPr lang="it-IT" dirty="0" smtClean="0"/>
              <a:t>Linear Secret </a:t>
            </a:r>
            <a:r>
              <a:rPr lang="it-IT" dirty="0" err="1" smtClean="0"/>
              <a:t>Sharing</a:t>
            </a:r>
            <a:r>
              <a:rPr lang="it-IT" dirty="0" smtClean="0"/>
              <a:t> </a:t>
            </a:r>
            <a:r>
              <a:rPr lang="it-IT" dirty="0" err="1" smtClean="0"/>
              <a:t>Scheme</a:t>
            </a:r>
            <a:r>
              <a:rPr lang="it-IT" dirty="0" smtClean="0"/>
              <a:t> (LSSS)</a:t>
            </a:r>
          </a:p>
          <a:p>
            <a:pPr lvl="1">
              <a:defRPr/>
            </a:pPr>
            <a:r>
              <a:rPr lang="it-IT" dirty="0" smtClean="0"/>
              <a:t>Matrix can </a:t>
            </a:r>
            <a:r>
              <a:rPr lang="it-IT" dirty="0" err="1" smtClean="0"/>
              <a:t>be</a:t>
            </a:r>
            <a:r>
              <a:rPr lang="it-IT" dirty="0" smtClean="0"/>
              <a:t> ARBITRARY!</a:t>
            </a:r>
            <a:endParaRPr lang="it-IT" dirty="0"/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1528763" y="2205038"/>
          <a:ext cx="5459412" cy="298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9" name="Equazione" r:id="rId3" imgW="1714320" imgH="939600" progId="Equation.3">
                  <p:embed/>
                </p:oleObj>
              </mc:Choice>
              <mc:Fallback>
                <p:oleObj name="Equazione" r:id="rId3" imgW="1714320" imgH="939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8763" y="2205038"/>
                        <a:ext cx="5459412" cy="2986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egnaposto contenuto 2"/>
          <p:cNvSpPr txBox="1">
            <a:spLocks/>
          </p:cNvSpPr>
          <p:nvPr/>
        </p:nvSpPr>
        <p:spPr bwMode="auto">
          <a:xfrm>
            <a:off x="684213" y="5516563"/>
            <a:ext cx="7696200" cy="82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488" tIns="44450" rIns="90488" bIns="44450">
            <a:normAutofit fontScale="70000" lnSpcReduction="20000"/>
          </a:bodyPr>
          <a:lstStyle/>
          <a:p>
            <a:pPr marL="342900" indent="-3429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/>
            </a:pPr>
            <a:r>
              <a:rPr lang="it-IT" sz="3200" b="1" kern="0" dirty="0" err="1">
                <a:latin typeface="+mn-lt"/>
              </a:rPr>
              <a:t>Equivalence</a:t>
            </a:r>
            <a:r>
              <a:rPr lang="it-IT" sz="3200" b="1" kern="0" dirty="0">
                <a:latin typeface="+mn-lt"/>
              </a:rPr>
              <a:t> </a:t>
            </a:r>
            <a:r>
              <a:rPr lang="it-IT" sz="3200" b="1" kern="0" dirty="0" err="1">
                <a:latin typeface="+mn-lt"/>
              </a:rPr>
              <a:t>with</a:t>
            </a:r>
            <a:r>
              <a:rPr lang="it-IT" sz="3200" b="1" kern="0" dirty="0">
                <a:latin typeface="+mn-lt"/>
              </a:rPr>
              <a:t> (monotone) “</a:t>
            </a:r>
            <a:r>
              <a:rPr lang="it-IT" sz="3200" b="1" kern="0" dirty="0" err="1">
                <a:latin typeface="+mn-lt"/>
              </a:rPr>
              <a:t>span</a:t>
            </a:r>
            <a:r>
              <a:rPr lang="it-IT" sz="3200" b="1" kern="0" dirty="0">
                <a:latin typeface="+mn-lt"/>
              </a:rPr>
              <a:t> </a:t>
            </a:r>
            <a:r>
              <a:rPr lang="it-IT" sz="3200" b="1" kern="0" dirty="0" err="1">
                <a:latin typeface="+mn-lt"/>
              </a:rPr>
              <a:t>programs</a:t>
            </a:r>
            <a:r>
              <a:rPr lang="it-IT" sz="3200" b="1" kern="0" dirty="0">
                <a:latin typeface="+mn-lt"/>
              </a:rPr>
              <a:t>”</a:t>
            </a:r>
          </a:p>
          <a:p>
            <a:pPr marL="800100" lvl="1" indent="-3429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/>
            </a:pPr>
            <a:r>
              <a:rPr lang="it-IT" sz="3200" b="1" kern="0" dirty="0">
                <a:latin typeface="+mn-lt"/>
              </a:rPr>
              <a:t>Amos </a:t>
            </a:r>
            <a:r>
              <a:rPr lang="it-IT" sz="3200" b="1" kern="0" dirty="0" err="1">
                <a:latin typeface="+mn-lt"/>
              </a:rPr>
              <a:t>Beimel</a:t>
            </a:r>
            <a:r>
              <a:rPr lang="it-IT" sz="3200" b="1" kern="0" dirty="0">
                <a:latin typeface="+mn-lt"/>
              </a:rPr>
              <a:t> </a:t>
            </a:r>
            <a:r>
              <a:rPr lang="it-IT" sz="3200" b="1" kern="0" dirty="0" err="1">
                <a:latin typeface="+mn-lt"/>
              </a:rPr>
              <a:t>theorem</a:t>
            </a:r>
            <a:r>
              <a:rPr lang="it-IT" sz="3200" b="1" kern="0" dirty="0">
                <a:latin typeface="+mn-lt"/>
              </a:rPr>
              <a:t>: LSSS = MSP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 smtClean="0"/>
              <a:t>Trivial</a:t>
            </a:r>
            <a:r>
              <a:rPr lang="it-IT" dirty="0" smtClean="0"/>
              <a:t> Secret Share </a:t>
            </a:r>
            <a:r>
              <a:rPr lang="it-IT" dirty="0" err="1" smtClean="0"/>
              <a:t>is</a:t>
            </a:r>
            <a:r>
              <a:rPr lang="it-IT" dirty="0" smtClean="0"/>
              <a:t> LSSS</a:t>
            </a:r>
            <a:endParaRPr lang="it-IT" dirty="0"/>
          </a:p>
        </p:txBody>
      </p:sp>
      <p:sp>
        <p:nvSpPr>
          <p:cNvPr id="18436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 smtClean="0"/>
              <a:t>Example</a:t>
            </a:r>
            <a:r>
              <a:rPr lang="it-IT" dirty="0" smtClean="0"/>
              <a:t>: (3,3)</a:t>
            </a:r>
          </a:p>
          <a:p>
            <a:endParaRPr lang="it-IT" dirty="0"/>
          </a:p>
          <a:p>
            <a:endParaRPr lang="it-IT" dirty="0" smtClean="0"/>
          </a:p>
          <a:p>
            <a:endParaRPr lang="it-IT" dirty="0"/>
          </a:p>
          <a:p>
            <a:r>
              <a:rPr lang="it-IT" dirty="0" err="1" smtClean="0"/>
              <a:t>Span</a:t>
            </a:r>
            <a:r>
              <a:rPr lang="it-IT" dirty="0" smtClean="0"/>
              <a:t> </a:t>
            </a:r>
            <a:r>
              <a:rPr lang="it-IT" dirty="0" err="1" smtClean="0"/>
              <a:t>program</a:t>
            </a:r>
            <a:endParaRPr lang="it-IT" dirty="0" smtClean="0"/>
          </a:p>
          <a:p>
            <a:endParaRPr lang="it-IT" dirty="0"/>
          </a:p>
          <a:p>
            <a:endParaRPr lang="it-IT" dirty="0" smtClean="0"/>
          </a:p>
          <a:p>
            <a:r>
              <a:rPr lang="it-IT" dirty="0" smtClean="0"/>
              <a:t>Share </a:t>
            </a:r>
            <a:r>
              <a:rPr lang="it-IT" dirty="0" err="1" smtClean="0"/>
              <a:t>rec</a:t>
            </a:r>
            <a:r>
              <a:rPr lang="it-IT" dirty="0" smtClean="0"/>
              <a:t>.</a:t>
            </a:r>
          </a:p>
        </p:txBody>
      </p:sp>
      <p:graphicFrame>
        <p:nvGraphicFramePr>
          <p:cNvPr id="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4703248"/>
              </p:ext>
            </p:extLst>
          </p:nvPr>
        </p:nvGraphicFramePr>
        <p:xfrm>
          <a:off x="2376488" y="1811399"/>
          <a:ext cx="4175732" cy="15252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2" name="Equazione" r:id="rId3" imgW="1942920" imgH="711000" progId="Equation.3">
                  <p:embed/>
                </p:oleObj>
              </mc:Choice>
              <mc:Fallback>
                <p:oleObj name="Equazione" r:id="rId3" imgW="1942920" imgH="711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6488" y="1811399"/>
                        <a:ext cx="4175732" cy="1525209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ggetto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8041722"/>
              </p:ext>
            </p:extLst>
          </p:nvPr>
        </p:nvGraphicFramePr>
        <p:xfrm>
          <a:off x="2425638" y="4133447"/>
          <a:ext cx="6394834" cy="8797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3" name="Equazione" r:id="rId5" imgW="3314520" imgH="457200" progId="Equation.3">
                  <p:embed/>
                </p:oleObj>
              </mc:Choice>
              <mc:Fallback>
                <p:oleObj name="Equazione" r:id="rId5" imgW="3314520" imgH="457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5638" y="4133447"/>
                        <a:ext cx="6394834" cy="8797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ggetto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1142332"/>
              </p:ext>
            </p:extLst>
          </p:nvPr>
        </p:nvGraphicFramePr>
        <p:xfrm>
          <a:off x="2538549" y="5744108"/>
          <a:ext cx="6427064" cy="4932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84" name="Equazione" r:id="rId7" imgW="2971800" imgH="228600" progId="Equation.3">
                  <p:embed/>
                </p:oleObj>
              </mc:Choice>
              <mc:Fallback>
                <p:oleObj name="Equazione" r:id="rId7" imgW="29718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8549" y="5744108"/>
                        <a:ext cx="6427064" cy="4932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4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6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 smtClean="0"/>
              <a:t>Any</a:t>
            </a:r>
            <a:r>
              <a:rPr lang="it-IT" dirty="0" smtClean="0"/>
              <a:t> LSSS </a:t>
            </a:r>
            <a:r>
              <a:rPr lang="it-IT" dirty="0" err="1" smtClean="0"/>
              <a:t>is</a:t>
            </a:r>
            <a:r>
              <a:rPr lang="it-IT" dirty="0" smtClean="0"/>
              <a:t> </a:t>
            </a:r>
            <a:r>
              <a:rPr lang="it-IT" dirty="0" err="1" smtClean="0"/>
              <a:t>homomorphic</a:t>
            </a:r>
            <a:endParaRPr lang="it-IT" dirty="0"/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719138" y="1546225"/>
          <a:ext cx="8062912" cy="2530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7" name="Equazione" r:id="rId3" imgW="3632040" imgH="1143000" progId="Equation.3">
                  <p:embed/>
                </p:oleObj>
              </mc:Choice>
              <mc:Fallback>
                <p:oleObj name="Equazione" r:id="rId3" imgW="3632040" imgH="1143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138" y="1546225"/>
                        <a:ext cx="8062912" cy="2530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egnaposto numero diapositiva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767513" y="6165850"/>
            <a:ext cx="2376487" cy="38417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sz="1600">
                <a:latin typeface="Times New Roman" pitchFamily="18" charset="0"/>
              </a:rPr>
              <a:t>Slides from A. Beimel</a:t>
            </a:r>
          </a:p>
        </p:txBody>
      </p:sp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cs typeface="Tahoma" pitchFamily="34" charset="0"/>
              </a:rPr>
              <a:t>Monotone Span Programs</a:t>
            </a:r>
            <a:br>
              <a:rPr lang="en-US" dirty="0" smtClean="0">
                <a:cs typeface="Tahoma" pitchFamily="34" charset="0"/>
              </a:rPr>
            </a:br>
            <a:r>
              <a:rPr lang="en-US" sz="2400" dirty="0" smtClean="0">
                <a:cs typeface="Tahoma" pitchFamily="34" charset="0"/>
              </a:rPr>
              <a:t>(example in GF2, other fields OK)</a:t>
            </a:r>
          </a:p>
        </p:txBody>
      </p:sp>
      <p:graphicFrame>
        <p:nvGraphicFramePr>
          <p:cNvPr id="210014" name="Group 94"/>
          <p:cNvGraphicFramePr>
            <a:graphicFrameLocks noGrp="1"/>
          </p:cNvGraphicFramePr>
          <p:nvPr/>
        </p:nvGraphicFramePr>
        <p:xfrm>
          <a:off x="2193925" y="1679575"/>
          <a:ext cx="3071813" cy="2559051"/>
        </p:xfrm>
        <a:graphic>
          <a:graphicData uri="http://schemas.openxmlformats.org/drawingml/2006/table">
            <a:tbl>
              <a:tblPr rtl="1"/>
              <a:tblGrid>
                <a:gridCol w="766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8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8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10009" name="Group 89"/>
          <p:cNvGraphicFramePr>
            <a:graphicFrameLocks noGrp="1"/>
          </p:cNvGraphicFramePr>
          <p:nvPr/>
        </p:nvGraphicFramePr>
        <p:xfrm>
          <a:off x="1428750" y="1690688"/>
          <a:ext cx="766763" cy="2557465"/>
        </p:xfrm>
        <a:graphic>
          <a:graphicData uri="http://schemas.openxmlformats.org/drawingml/2006/table">
            <a:tbl>
              <a:tblPr rtl="1"/>
              <a:tblGrid>
                <a:gridCol w="766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5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5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10012" name="Group 92"/>
          <p:cNvGraphicFramePr>
            <a:graphicFrameLocks noGrp="1"/>
          </p:cNvGraphicFramePr>
          <p:nvPr/>
        </p:nvGraphicFramePr>
        <p:xfrm>
          <a:off x="2200275" y="4267200"/>
          <a:ext cx="3057525" cy="512763"/>
        </p:xfrm>
        <a:graphic>
          <a:graphicData uri="http://schemas.openxmlformats.org/drawingml/2006/table">
            <a:tbl>
              <a:tblPr rtl="1"/>
              <a:tblGrid>
                <a:gridCol w="766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67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5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0015" name="Text Box 95"/>
          <p:cNvSpPr txBox="1">
            <a:spLocks noChangeArrowheads="1"/>
          </p:cNvSpPr>
          <p:nvPr/>
        </p:nvSpPr>
        <p:spPr bwMode="auto">
          <a:xfrm>
            <a:off x="1336675" y="4887913"/>
            <a:ext cx="54451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/>
              <a:t>The program accepts a set </a:t>
            </a:r>
            <a:r>
              <a:rPr lang="en-US" sz="2000" i="1"/>
              <a:t>B </a:t>
            </a:r>
          </a:p>
          <a:p>
            <a:pPr algn="ctr"/>
            <a:r>
              <a:rPr lang="en-US" sz="2000"/>
              <a:t>iff </a:t>
            </a:r>
          </a:p>
          <a:p>
            <a:pPr algn="ctr"/>
            <a:r>
              <a:rPr lang="en-US" sz="2000"/>
              <a:t>the rows labeled by </a:t>
            </a:r>
            <a:r>
              <a:rPr lang="en-US" sz="2000" i="1"/>
              <a:t>B </a:t>
            </a:r>
            <a:r>
              <a:rPr lang="en-US" sz="2000"/>
              <a:t>span the target vector.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0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0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0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0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cs typeface="Tahoma" pitchFamily="34" charset="0"/>
              </a:rPr>
              <a:t>Monotone Span Programs</a:t>
            </a:r>
          </a:p>
        </p:txBody>
      </p:sp>
      <p:graphicFrame>
        <p:nvGraphicFramePr>
          <p:cNvPr id="201862" name="Group 134"/>
          <p:cNvGraphicFramePr>
            <a:graphicFrameLocks noGrp="1"/>
          </p:cNvGraphicFramePr>
          <p:nvPr/>
        </p:nvGraphicFramePr>
        <p:xfrm>
          <a:off x="2193925" y="1679575"/>
          <a:ext cx="3071813" cy="2559051"/>
        </p:xfrm>
        <a:graphic>
          <a:graphicData uri="http://schemas.openxmlformats.org/drawingml/2006/table">
            <a:tbl>
              <a:tblPr rtl="1"/>
              <a:tblGrid>
                <a:gridCol w="766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8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8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01863" name="Group 135"/>
          <p:cNvGraphicFramePr>
            <a:graphicFrameLocks noGrp="1"/>
          </p:cNvGraphicFramePr>
          <p:nvPr/>
        </p:nvGraphicFramePr>
        <p:xfrm>
          <a:off x="2200275" y="4267200"/>
          <a:ext cx="3057525" cy="512763"/>
        </p:xfrm>
        <a:graphic>
          <a:graphicData uri="http://schemas.openxmlformats.org/drawingml/2006/table">
            <a:tbl>
              <a:tblPr rtl="1"/>
              <a:tblGrid>
                <a:gridCol w="766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67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5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oup 71"/>
          <p:cNvGrpSpPr>
            <a:grpSpLocks/>
          </p:cNvGrpSpPr>
          <p:nvPr/>
        </p:nvGrpSpPr>
        <p:grpSpPr bwMode="auto">
          <a:xfrm>
            <a:off x="5410200" y="1981200"/>
            <a:ext cx="3071813" cy="517525"/>
            <a:chOff x="3408" y="1248"/>
            <a:chExt cx="1935" cy="326"/>
          </a:xfrm>
        </p:grpSpPr>
        <p:sp>
          <p:nvSpPr>
            <p:cNvPr id="41028" name="Rectangle 72"/>
            <p:cNvSpPr>
              <a:spLocks noChangeArrowheads="1"/>
            </p:cNvSpPr>
            <p:nvPr/>
          </p:nvSpPr>
          <p:spPr bwMode="auto">
            <a:xfrm>
              <a:off x="4860" y="1248"/>
              <a:ext cx="483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000" b="1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41029" name="Rectangle 73"/>
            <p:cNvSpPr>
              <a:spLocks noChangeArrowheads="1"/>
            </p:cNvSpPr>
            <p:nvPr/>
          </p:nvSpPr>
          <p:spPr bwMode="auto">
            <a:xfrm>
              <a:off x="4376" y="1248"/>
              <a:ext cx="484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000" b="1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41030" name="Rectangle 74"/>
            <p:cNvSpPr>
              <a:spLocks noChangeArrowheads="1"/>
            </p:cNvSpPr>
            <p:nvPr/>
          </p:nvSpPr>
          <p:spPr bwMode="auto">
            <a:xfrm>
              <a:off x="3892" y="1248"/>
              <a:ext cx="484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000" b="1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41031" name="Rectangle 75"/>
            <p:cNvSpPr>
              <a:spLocks noChangeArrowheads="1"/>
            </p:cNvSpPr>
            <p:nvPr/>
          </p:nvSpPr>
          <p:spPr bwMode="auto">
            <a:xfrm>
              <a:off x="3408" y="1248"/>
              <a:ext cx="484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000" b="1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41032" name="Line 76"/>
            <p:cNvSpPr>
              <a:spLocks noChangeShapeType="1"/>
            </p:cNvSpPr>
            <p:nvPr/>
          </p:nvSpPr>
          <p:spPr bwMode="auto">
            <a:xfrm>
              <a:off x="3408" y="1248"/>
              <a:ext cx="1935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033" name="Line 77"/>
            <p:cNvSpPr>
              <a:spLocks noChangeShapeType="1"/>
            </p:cNvSpPr>
            <p:nvPr/>
          </p:nvSpPr>
          <p:spPr bwMode="auto">
            <a:xfrm>
              <a:off x="3408" y="1574"/>
              <a:ext cx="1935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034" name="Line 78"/>
            <p:cNvSpPr>
              <a:spLocks noChangeShapeType="1"/>
            </p:cNvSpPr>
            <p:nvPr/>
          </p:nvSpPr>
          <p:spPr bwMode="auto">
            <a:xfrm>
              <a:off x="3408" y="1248"/>
              <a:ext cx="0" cy="32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035" name="Line 79"/>
            <p:cNvSpPr>
              <a:spLocks noChangeShapeType="1"/>
            </p:cNvSpPr>
            <p:nvPr/>
          </p:nvSpPr>
          <p:spPr bwMode="auto">
            <a:xfrm>
              <a:off x="3892" y="1248"/>
              <a:ext cx="0" cy="32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036" name="Line 80"/>
            <p:cNvSpPr>
              <a:spLocks noChangeShapeType="1"/>
            </p:cNvSpPr>
            <p:nvPr/>
          </p:nvSpPr>
          <p:spPr bwMode="auto">
            <a:xfrm>
              <a:off x="4376" y="1248"/>
              <a:ext cx="0" cy="32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037" name="Line 81"/>
            <p:cNvSpPr>
              <a:spLocks noChangeShapeType="1"/>
            </p:cNvSpPr>
            <p:nvPr/>
          </p:nvSpPr>
          <p:spPr bwMode="auto">
            <a:xfrm>
              <a:off x="4860" y="1248"/>
              <a:ext cx="0" cy="32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038" name="Line 82"/>
            <p:cNvSpPr>
              <a:spLocks noChangeShapeType="1"/>
            </p:cNvSpPr>
            <p:nvPr/>
          </p:nvSpPr>
          <p:spPr bwMode="auto">
            <a:xfrm>
              <a:off x="5343" y="1248"/>
              <a:ext cx="0" cy="32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3" name="Group 83"/>
          <p:cNvGrpSpPr>
            <a:grpSpLocks/>
          </p:cNvGrpSpPr>
          <p:nvPr/>
        </p:nvGrpSpPr>
        <p:grpSpPr bwMode="auto">
          <a:xfrm>
            <a:off x="5386388" y="3733800"/>
            <a:ext cx="3071812" cy="517525"/>
            <a:chOff x="3393" y="2352"/>
            <a:chExt cx="1935" cy="326"/>
          </a:xfrm>
        </p:grpSpPr>
        <p:sp>
          <p:nvSpPr>
            <p:cNvPr id="41017" name="Rectangle 84"/>
            <p:cNvSpPr>
              <a:spLocks noChangeArrowheads="1"/>
            </p:cNvSpPr>
            <p:nvPr/>
          </p:nvSpPr>
          <p:spPr bwMode="auto">
            <a:xfrm>
              <a:off x="4845" y="2352"/>
              <a:ext cx="483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000" b="1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41018" name="Rectangle 85"/>
            <p:cNvSpPr>
              <a:spLocks noChangeArrowheads="1"/>
            </p:cNvSpPr>
            <p:nvPr/>
          </p:nvSpPr>
          <p:spPr bwMode="auto">
            <a:xfrm>
              <a:off x="4361" y="2352"/>
              <a:ext cx="484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000" b="1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41019" name="Rectangle 86"/>
            <p:cNvSpPr>
              <a:spLocks noChangeArrowheads="1"/>
            </p:cNvSpPr>
            <p:nvPr/>
          </p:nvSpPr>
          <p:spPr bwMode="auto">
            <a:xfrm>
              <a:off x="3877" y="2352"/>
              <a:ext cx="484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000" b="1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41020" name="Rectangle 87"/>
            <p:cNvSpPr>
              <a:spLocks noChangeArrowheads="1"/>
            </p:cNvSpPr>
            <p:nvPr/>
          </p:nvSpPr>
          <p:spPr bwMode="auto">
            <a:xfrm>
              <a:off x="3393" y="2352"/>
              <a:ext cx="484" cy="3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>
                <a:spcBef>
                  <a:spcPct val="20000"/>
                </a:spcBef>
              </a:pPr>
              <a:r>
                <a:rPr lang="en-US" sz="2000" b="1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41021" name="Line 88"/>
            <p:cNvSpPr>
              <a:spLocks noChangeShapeType="1"/>
            </p:cNvSpPr>
            <p:nvPr/>
          </p:nvSpPr>
          <p:spPr bwMode="auto">
            <a:xfrm>
              <a:off x="3393" y="2352"/>
              <a:ext cx="1935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022" name="Line 89"/>
            <p:cNvSpPr>
              <a:spLocks noChangeShapeType="1"/>
            </p:cNvSpPr>
            <p:nvPr/>
          </p:nvSpPr>
          <p:spPr bwMode="auto">
            <a:xfrm>
              <a:off x="3393" y="2678"/>
              <a:ext cx="1935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023" name="Line 90"/>
            <p:cNvSpPr>
              <a:spLocks noChangeShapeType="1"/>
            </p:cNvSpPr>
            <p:nvPr/>
          </p:nvSpPr>
          <p:spPr bwMode="auto">
            <a:xfrm>
              <a:off x="3393" y="2352"/>
              <a:ext cx="0" cy="32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024" name="Line 91"/>
            <p:cNvSpPr>
              <a:spLocks noChangeShapeType="1"/>
            </p:cNvSpPr>
            <p:nvPr/>
          </p:nvSpPr>
          <p:spPr bwMode="auto">
            <a:xfrm>
              <a:off x="3877" y="2352"/>
              <a:ext cx="0" cy="32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025" name="Line 92"/>
            <p:cNvSpPr>
              <a:spLocks noChangeShapeType="1"/>
            </p:cNvSpPr>
            <p:nvPr/>
          </p:nvSpPr>
          <p:spPr bwMode="auto">
            <a:xfrm>
              <a:off x="4361" y="2352"/>
              <a:ext cx="0" cy="32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026" name="Line 93"/>
            <p:cNvSpPr>
              <a:spLocks noChangeShapeType="1"/>
            </p:cNvSpPr>
            <p:nvPr/>
          </p:nvSpPr>
          <p:spPr bwMode="auto">
            <a:xfrm>
              <a:off x="4845" y="2352"/>
              <a:ext cx="0" cy="32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027" name="Line 94"/>
            <p:cNvSpPr>
              <a:spLocks noChangeShapeType="1"/>
            </p:cNvSpPr>
            <p:nvPr/>
          </p:nvSpPr>
          <p:spPr bwMode="auto">
            <a:xfrm>
              <a:off x="5328" y="2352"/>
              <a:ext cx="0" cy="326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201823" name="AutoShape 95"/>
          <p:cNvSpPr>
            <a:spLocks noChangeArrowheads="1"/>
          </p:cNvSpPr>
          <p:nvPr/>
        </p:nvSpPr>
        <p:spPr bwMode="auto">
          <a:xfrm>
            <a:off x="6705600" y="2895600"/>
            <a:ext cx="457200" cy="457200"/>
          </a:xfrm>
          <a:prstGeom prst="flowChartOr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it-IT">
              <a:solidFill>
                <a:srgbClr val="FF0000"/>
              </a:solidFill>
            </a:endParaRPr>
          </a:p>
        </p:txBody>
      </p:sp>
      <p:graphicFrame>
        <p:nvGraphicFramePr>
          <p:cNvPr id="201864" name="Group 136"/>
          <p:cNvGraphicFramePr>
            <a:graphicFrameLocks noGrp="1"/>
          </p:cNvGraphicFramePr>
          <p:nvPr/>
        </p:nvGraphicFramePr>
        <p:xfrm>
          <a:off x="5387975" y="4283075"/>
          <a:ext cx="3057525" cy="512763"/>
        </p:xfrm>
        <a:graphic>
          <a:graphicData uri="http://schemas.openxmlformats.org/drawingml/2006/table">
            <a:tbl>
              <a:tblPr rtl="1"/>
              <a:tblGrid>
                <a:gridCol w="766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67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5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01839" name="Picture 111" descr="Check-Mark-t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06963" y="4800600"/>
            <a:ext cx="1524000" cy="143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01858" name="Group 130"/>
          <p:cNvGraphicFramePr>
            <a:graphicFrameLocks noGrp="1"/>
          </p:cNvGraphicFramePr>
          <p:nvPr/>
        </p:nvGraphicFramePr>
        <p:xfrm>
          <a:off x="1428750" y="1690688"/>
          <a:ext cx="766763" cy="2557465"/>
        </p:xfrm>
        <a:graphic>
          <a:graphicData uri="http://schemas.openxmlformats.org/drawingml/2006/table">
            <a:tbl>
              <a:tblPr rtl="1"/>
              <a:tblGrid>
                <a:gridCol w="766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  <a:r>
                        <a:rPr kumimoji="0" lang="en-US" sz="20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5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  <a:r>
                        <a:rPr kumimoji="0" lang="en-US" sz="20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5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  <a:r>
                        <a:rPr kumimoji="0" lang="en-US" sz="20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1015" name="Text Box 132"/>
          <p:cNvSpPr txBox="1">
            <a:spLocks noChangeArrowheads="1"/>
          </p:cNvSpPr>
          <p:nvPr/>
        </p:nvSpPr>
        <p:spPr bwMode="auto">
          <a:xfrm>
            <a:off x="1066800" y="5257800"/>
            <a:ext cx="2362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/>
              <a:t>{P2,P4}</a:t>
            </a:r>
          </a:p>
        </p:txBody>
      </p:sp>
      <p:sp>
        <p:nvSpPr>
          <p:cNvPr id="41016" name="Segnaposto numero diapositiva 4"/>
          <p:cNvSpPr txBox="1">
            <a:spLocks/>
          </p:cNvSpPr>
          <p:nvPr/>
        </p:nvSpPr>
        <p:spPr bwMode="auto">
          <a:xfrm>
            <a:off x="6767513" y="6165850"/>
            <a:ext cx="2376487" cy="38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1600">
                <a:latin typeface="Times New Roman" pitchFamily="18" charset="0"/>
              </a:rPr>
              <a:t>Slides from A. Beimel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201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18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18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18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cs typeface="Tahoma" pitchFamily="34" charset="0"/>
              </a:rPr>
              <a:t>Monotone Span Programs</a:t>
            </a:r>
          </a:p>
        </p:txBody>
      </p:sp>
      <p:graphicFrame>
        <p:nvGraphicFramePr>
          <p:cNvPr id="206977" name="Group 129"/>
          <p:cNvGraphicFramePr>
            <a:graphicFrameLocks noGrp="1"/>
          </p:cNvGraphicFramePr>
          <p:nvPr/>
        </p:nvGraphicFramePr>
        <p:xfrm>
          <a:off x="2193925" y="1679575"/>
          <a:ext cx="3071813" cy="2559051"/>
        </p:xfrm>
        <a:graphic>
          <a:graphicData uri="http://schemas.openxmlformats.org/drawingml/2006/table">
            <a:tbl>
              <a:tblPr rtl="1"/>
              <a:tblGrid>
                <a:gridCol w="766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8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8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06978" name="Group 130"/>
          <p:cNvGraphicFramePr>
            <a:graphicFrameLocks noGrp="1"/>
          </p:cNvGraphicFramePr>
          <p:nvPr/>
        </p:nvGraphicFramePr>
        <p:xfrm>
          <a:off x="2200275" y="4267200"/>
          <a:ext cx="3057525" cy="512763"/>
        </p:xfrm>
        <a:graphic>
          <a:graphicData uri="http://schemas.openxmlformats.org/drawingml/2006/table">
            <a:tbl>
              <a:tblPr rtl="1"/>
              <a:tblGrid>
                <a:gridCol w="766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67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5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6919" name="Group 71"/>
          <p:cNvGraphicFramePr>
            <a:graphicFrameLocks noGrp="1"/>
          </p:cNvGraphicFramePr>
          <p:nvPr/>
        </p:nvGraphicFramePr>
        <p:xfrm>
          <a:off x="5400675" y="4257675"/>
          <a:ext cx="3057525" cy="517525"/>
        </p:xfrm>
        <a:graphic>
          <a:graphicData uri="http://schemas.openxmlformats.org/drawingml/2006/table">
            <a:tbl>
              <a:tblPr rtl="1"/>
              <a:tblGrid>
                <a:gridCol w="766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67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5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6934" name="Group 86"/>
          <p:cNvGraphicFramePr>
            <a:graphicFrameLocks noGrp="1"/>
          </p:cNvGraphicFramePr>
          <p:nvPr/>
        </p:nvGraphicFramePr>
        <p:xfrm>
          <a:off x="5334000" y="1676400"/>
          <a:ext cx="3071813" cy="1552575"/>
        </p:xfrm>
        <a:graphic>
          <a:graphicData uri="http://schemas.openxmlformats.org/drawingml/2006/table">
            <a:tbl>
              <a:tblPr rtl="1"/>
              <a:tblGrid>
                <a:gridCol w="766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8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8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06974" name="Group 126"/>
          <p:cNvGraphicFramePr>
            <a:graphicFrameLocks noGrp="1"/>
          </p:cNvGraphicFramePr>
          <p:nvPr/>
        </p:nvGraphicFramePr>
        <p:xfrm>
          <a:off x="1428750" y="1690688"/>
          <a:ext cx="766763" cy="2557465"/>
        </p:xfrm>
        <a:graphic>
          <a:graphicData uri="http://schemas.openxmlformats.org/drawingml/2006/table">
            <a:tbl>
              <a:tblPr rtl="1"/>
              <a:tblGrid>
                <a:gridCol w="766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5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5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  <a:r>
                        <a:rPr kumimoji="0" lang="en-US" sz="20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2057" name="Text Box 127"/>
          <p:cNvSpPr txBox="1">
            <a:spLocks noChangeArrowheads="1"/>
          </p:cNvSpPr>
          <p:nvPr/>
        </p:nvSpPr>
        <p:spPr bwMode="auto">
          <a:xfrm>
            <a:off x="1066800" y="5257800"/>
            <a:ext cx="2362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/>
              <a:t>{P1,P2}</a:t>
            </a:r>
          </a:p>
        </p:txBody>
      </p:sp>
      <p:pic>
        <p:nvPicPr>
          <p:cNvPr id="206976" name="Picture 128" descr="REJEC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58963" y="4800600"/>
            <a:ext cx="1714500" cy="1714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2059" name="Segnaposto numero diapositiva 4"/>
          <p:cNvSpPr txBox="1">
            <a:spLocks/>
          </p:cNvSpPr>
          <p:nvPr/>
        </p:nvSpPr>
        <p:spPr bwMode="auto">
          <a:xfrm>
            <a:off x="6767513" y="6165850"/>
            <a:ext cx="2376487" cy="38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en-US" sz="1600">
                <a:latin typeface="Times New Roman" pitchFamily="18" charset="0"/>
              </a:rPr>
              <a:t>Slides from A. Beimel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206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06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69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69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1187" name="Group 3"/>
          <p:cNvGraphicFramePr>
            <a:graphicFrameLocks noGrp="1"/>
          </p:cNvGraphicFramePr>
          <p:nvPr/>
        </p:nvGraphicFramePr>
        <p:xfrm>
          <a:off x="1500188" y="1679575"/>
          <a:ext cx="3071812" cy="2559051"/>
        </p:xfrm>
        <a:graphic>
          <a:graphicData uri="http://schemas.openxmlformats.org/drawingml/2006/table">
            <a:tbl>
              <a:tblPr rtl="1"/>
              <a:tblGrid>
                <a:gridCol w="766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8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8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21219" name="Group 35"/>
          <p:cNvGraphicFramePr>
            <a:graphicFrameLocks noGrp="1"/>
          </p:cNvGraphicFramePr>
          <p:nvPr/>
        </p:nvGraphicFramePr>
        <p:xfrm>
          <a:off x="604838" y="1690688"/>
          <a:ext cx="766762" cy="2557465"/>
        </p:xfrm>
        <a:graphic>
          <a:graphicData uri="http://schemas.openxmlformats.org/drawingml/2006/table">
            <a:tbl>
              <a:tblPr rtl="1"/>
              <a:tblGrid>
                <a:gridCol w="766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5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5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21237" name="Group 53"/>
          <p:cNvGraphicFramePr>
            <a:graphicFrameLocks noGrp="1"/>
          </p:cNvGraphicFramePr>
          <p:nvPr>
            <p:ph idx="1"/>
          </p:nvPr>
        </p:nvGraphicFramePr>
        <p:xfrm>
          <a:off x="4800600" y="1690688"/>
          <a:ext cx="769938" cy="2044700"/>
        </p:xfrm>
        <a:graphic>
          <a:graphicData uri="http://schemas.openxmlformats.org/drawingml/2006/table">
            <a:tbl>
              <a:tblPr/>
              <a:tblGrid>
                <a:gridCol w="769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11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21249" name="Group 65"/>
          <p:cNvGraphicFramePr>
            <a:graphicFrameLocks noGrp="1"/>
          </p:cNvGraphicFramePr>
          <p:nvPr/>
        </p:nvGraphicFramePr>
        <p:xfrm>
          <a:off x="6172200" y="1752600"/>
          <a:ext cx="1063625" cy="2438400"/>
        </p:xfrm>
        <a:graphic>
          <a:graphicData uri="http://schemas.openxmlformats.org/drawingml/2006/table">
            <a:tbl>
              <a:tblPr/>
              <a:tblGrid>
                <a:gridCol w="106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s+ r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s+r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</a:t>
                      </a: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1263" name="Text Box 79"/>
          <p:cNvSpPr txBox="1">
            <a:spLocks noChangeArrowheads="1"/>
          </p:cNvSpPr>
          <p:nvPr/>
        </p:nvSpPr>
        <p:spPr bwMode="auto">
          <a:xfrm>
            <a:off x="5651500" y="2451100"/>
            <a:ext cx="3921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=</a:t>
            </a:r>
          </a:p>
        </p:txBody>
      </p:sp>
      <p:sp>
        <p:nvSpPr>
          <p:cNvPr id="221264" name="Text Box 80"/>
          <p:cNvSpPr txBox="1">
            <a:spLocks noChangeArrowheads="1"/>
          </p:cNvSpPr>
          <p:nvPr/>
        </p:nvSpPr>
        <p:spPr bwMode="auto">
          <a:xfrm>
            <a:off x="7620000" y="1752600"/>
            <a:ext cx="914400" cy="2439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200"/>
              <a:t>P2</a:t>
            </a:r>
          </a:p>
          <a:p>
            <a:pPr algn="ctr">
              <a:spcBef>
                <a:spcPct val="50000"/>
              </a:spcBef>
            </a:pPr>
            <a:r>
              <a:rPr lang="en-US" sz="2200"/>
              <a:t>P2</a:t>
            </a:r>
          </a:p>
          <a:p>
            <a:pPr algn="ctr">
              <a:spcBef>
                <a:spcPct val="50000"/>
              </a:spcBef>
            </a:pPr>
            <a:r>
              <a:rPr lang="en-US" sz="2200"/>
              <a:t>P1</a:t>
            </a:r>
          </a:p>
          <a:p>
            <a:pPr algn="ctr">
              <a:spcBef>
                <a:spcPct val="50000"/>
              </a:spcBef>
            </a:pPr>
            <a:r>
              <a:rPr lang="en-US" sz="2200"/>
              <a:t>P3</a:t>
            </a:r>
          </a:p>
          <a:p>
            <a:pPr algn="ctr">
              <a:spcBef>
                <a:spcPct val="50000"/>
              </a:spcBef>
            </a:pPr>
            <a:r>
              <a:rPr lang="en-US" sz="2200"/>
              <a:t>P</a:t>
            </a:r>
            <a:r>
              <a:rPr lang="en-US" sz="2200" baseline="30000"/>
              <a:t>4</a:t>
            </a:r>
            <a:endParaRPr lang="en-US" sz="2200"/>
          </a:p>
        </p:txBody>
      </p:sp>
      <p:sp>
        <p:nvSpPr>
          <p:cNvPr id="221266" name="Text Box 82"/>
          <p:cNvSpPr txBox="1">
            <a:spLocks noChangeArrowheads="1"/>
          </p:cNvSpPr>
          <p:nvPr/>
        </p:nvSpPr>
        <p:spPr bwMode="auto">
          <a:xfrm>
            <a:off x="1219200" y="4800600"/>
            <a:ext cx="3200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Example </a:t>
            </a:r>
            <a:r>
              <a:rPr lang="en-US" sz="2000" i="1"/>
              <a:t>s</a:t>
            </a:r>
            <a:r>
              <a:rPr lang="en-US" sz="2000"/>
              <a:t>=1,</a:t>
            </a:r>
            <a:r>
              <a:rPr lang="en-US" sz="2000" i="1"/>
              <a:t>r</a:t>
            </a:r>
            <a:r>
              <a:rPr lang="en-US" sz="2000"/>
              <a:t>2=</a:t>
            </a:r>
            <a:r>
              <a:rPr lang="en-US" sz="2000" i="1"/>
              <a:t>r</a:t>
            </a:r>
            <a:r>
              <a:rPr lang="en-US" sz="2000"/>
              <a:t>3=0, </a:t>
            </a:r>
            <a:r>
              <a:rPr lang="en-US" sz="2000" i="1"/>
              <a:t>r</a:t>
            </a:r>
            <a:r>
              <a:rPr lang="en-US" sz="2000"/>
              <a:t>4=1 </a:t>
            </a:r>
          </a:p>
        </p:txBody>
      </p:sp>
      <p:graphicFrame>
        <p:nvGraphicFramePr>
          <p:cNvPr id="221300" name="Group 116"/>
          <p:cNvGraphicFramePr>
            <a:graphicFrameLocks noGrp="1"/>
          </p:cNvGraphicFramePr>
          <p:nvPr/>
        </p:nvGraphicFramePr>
        <p:xfrm>
          <a:off x="4979988" y="4343400"/>
          <a:ext cx="590550" cy="1981200"/>
        </p:xfrm>
        <a:graphic>
          <a:graphicData uri="http://schemas.openxmlformats.org/drawingml/2006/table">
            <a:tbl>
              <a:tblPr/>
              <a:tblGrid>
                <a:gridCol w="59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1301" name="Text Box 117"/>
          <p:cNvSpPr txBox="1">
            <a:spLocks noChangeArrowheads="1"/>
          </p:cNvSpPr>
          <p:nvPr/>
        </p:nvSpPr>
        <p:spPr bwMode="auto">
          <a:xfrm>
            <a:off x="5715000" y="4308475"/>
            <a:ext cx="914400" cy="2017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/>
              <a:t>P2</a:t>
            </a:r>
          </a:p>
          <a:p>
            <a:pPr algn="ctr">
              <a:spcBef>
                <a:spcPct val="50000"/>
              </a:spcBef>
            </a:pPr>
            <a:r>
              <a:rPr lang="en-US"/>
              <a:t>P2</a:t>
            </a:r>
          </a:p>
          <a:p>
            <a:pPr algn="ctr">
              <a:spcBef>
                <a:spcPct val="50000"/>
              </a:spcBef>
            </a:pPr>
            <a:r>
              <a:rPr lang="en-US"/>
              <a:t>P1</a:t>
            </a:r>
          </a:p>
          <a:p>
            <a:pPr algn="ctr">
              <a:spcBef>
                <a:spcPct val="50000"/>
              </a:spcBef>
            </a:pPr>
            <a:r>
              <a:rPr lang="en-US"/>
              <a:t>P3</a:t>
            </a:r>
          </a:p>
          <a:p>
            <a:pPr algn="ctr">
              <a:spcBef>
                <a:spcPct val="50000"/>
              </a:spcBef>
            </a:pPr>
            <a:r>
              <a:rPr lang="en-US"/>
              <a:t>P</a:t>
            </a:r>
            <a:r>
              <a:rPr lang="en-US" baseline="30000"/>
              <a:t>4</a:t>
            </a:r>
            <a:endParaRPr lang="en-US"/>
          </a:p>
        </p:txBody>
      </p:sp>
      <p:sp>
        <p:nvSpPr>
          <p:cNvPr id="43092" name="Segnaposto numero diapositiva 4"/>
          <p:cNvSpPr>
            <a:spLocks noGrp="1"/>
          </p:cNvSpPr>
          <p:nvPr>
            <p:ph type="sldNum" sz="quarter" idx="12"/>
          </p:nvPr>
        </p:nvSpPr>
        <p:spPr bwMode="auto">
          <a:xfrm>
            <a:off x="6767513" y="6165850"/>
            <a:ext cx="2376487" cy="38417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1600" smtClean="0">
                <a:latin typeface="Times New Roman" pitchFamily="18" charset="0"/>
              </a:rPr>
              <a:t>Slides from A. Beimel</a:t>
            </a:r>
          </a:p>
        </p:txBody>
      </p: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>
          <a:xfrm>
            <a:off x="647700" y="152400"/>
            <a:ext cx="8039100" cy="1143000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cs typeface="Tahoma" pitchFamily="34" charset="0"/>
              </a:rPr>
              <a:t>Span Programs </a:t>
            </a:r>
            <a:r>
              <a:rPr lang="en-US" dirty="0" smtClean="0">
                <a:cs typeface="Tahoma" pitchFamily="34" charset="0"/>
                <a:sym typeface="Euclid Symbol" pitchFamily="18" charset="2"/>
              </a:rPr>
              <a:t> Secret Sharing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" dur="500"/>
                                        <p:tgtEl>
                                          <p:spTgt spid="2212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2213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4" dur="500"/>
                                        <p:tgtEl>
                                          <p:spTgt spid="2213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264" grpId="0"/>
      <p:bldP spid="221266" grpId="0"/>
      <p:bldP spid="221266" grpId="1"/>
      <p:bldP spid="221301" grpId="0"/>
      <p:bldP spid="221301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>
          <a:xfrm>
            <a:off x="647700" y="152400"/>
            <a:ext cx="8039100" cy="1143000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cs typeface="Tahoma" pitchFamily="34" charset="0"/>
              </a:rPr>
              <a:t>Span Programs </a:t>
            </a:r>
            <a:r>
              <a:rPr lang="en-US" dirty="0" smtClean="0">
                <a:cs typeface="Tahoma" pitchFamily="34" charset="0"/>
                <a:sym typeface="Euclid Symbol" pitchFamily="18" charset="2"/>
              </a:rPr>
              <a:t> Secret Sharing</a:t>
            </a:r>
          </a:p>
        </p:txBody>
      </p:sp>
      <p:graphicFrame>
        <p:nvGraphicFramePr>
          <p:cNvPr id="210947" name="Group 3"/>
          <p:cNvGraphicFramePr>
            <a:graphicFrameLocks noGrp="1"/>
          </p:cNvGraphicFramePr>
          <p:nvPr/>
        </p:nvGraphicFramePr>
        <p:xfrm>
          <a:off x="1500188" y="1679575"/>
          <a:ext cx="3071812" cy="2559051"/>
        </p:xfrm>
        <a:graphic>
          <a:graphicData uri="http://schemas.openxmlformats.org/drawingml/2006/table">
            <a:tbl>
              <a:tblPr rtl="1"/>
              <a:tblGrid>
                <a:gridCol w="766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8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8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10979" name="Group 35"/>
          <p:cNvGraphicFramePr>
            <a:graphicFrameLocks noGrp="1"/>
          </p:cNvGraphicFramePr>
          <p:nvPr/>
        </p:nvGraphicFramePr>
        <p:xfrm>
          <a:off x="604838" y="1690688"/>
          <a:ext cx="766762" cy="2557465"/>
        </p:xfrm>
        <a:graphic>
          <a:graphicData uri="http://schemas.openxmlformats.org/drawingml/2006/table">
            <a:tbl>
              <a:tblPr rtl="1"/>
              <a:tblGrid>
                <a:gridCol w="766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P</a:t>
                      </a:r>
                      <a:r>
                        <a:rPr kumimoji="0" lang="en-US" sz="20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5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P</a:t>
                      </a:r>
                      <a:r>
                        <a:rPr kumimoji="0" lang="en-US" sz="20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5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P</a:t>
                      </a:r>
                      <a:r>
                        <a:rPr kumimoji="0" lang="en-US" sz="20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11095" name="Group 151"/>
          <p:cNvGraphicFramePr>
            <a:graphicFrameLocks noGrp="1"/>
          </p:cNvGraphicFramePr>
          <p:nvPr>
            <p:ph idx="1"/>
          </p:nvPr>
        </p:nvGraphicFramePr>
        <p:xfrm>
          <a:off x="4800600" y="1690688"/>
          <a:ext cx="769938" cy="2044700"/>
        </p:xfrm>
        <a:graphic>
          <a:graphicData uri="http://schemas.openxmlformats.org/drawingml/2006/table">
            <a:tbl>
              <a:tblPr/>
              <a:tblGrid>
                <a:gridCol w="7699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11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0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11430" name="Group 486"/>
          <p:cNvGraphicFramePr>
            <a:graphicFrameLocks noGrp="1"/>
          </p:cNvGraphicFramePr>
          <p:nvPr/>
        </p:nvGraphicFramePr>
        <p:xfrm>
          <a:off x="6172200" y="1752600"/>
          <a:ext cx="1066800" cy="2438400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s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+</a:t>
                      </a: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r</a:t>
                      </a:r>
                      <a:r>
                        <a:rPr kumimoji="0" lang="en-US" sz="20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+</a:t>
                      </a: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r</a:t>
                      </a:r>
                      <a:r>
                        <a:rPr kumimoji="0" lang="en-US" sz="20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r</a:t>
                      </a:r>
                      <a:r>
                        <a:rPr kumimoji="0" lang="en-US" sz="20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+</a:t>
                      </a: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r</a:t>
                      </a:r>
                      <a:r>
                        <a:rPr kumimoji="0" lang="en-US" sz="20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</a:t>
                      </a:r>
                      <a:r>
                        <a:rPr kumimoji="0" lang="en-US" sz="20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</a:t>
                      </a:r>
                      <a:r>
                        <a:rPr kumimoji="0" lang="en-US" sz="2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</a:t>
                      </a:r>
                      <a:r>
                        <a:rPr kumimoji="0" lang="en-US" sz="2000" b="0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s+r</a:t>
                      </a:r>
                      <a:r>
                        <a:rPr kumimoji="0" lang="en-US" sz="20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r</a:t>
                      </a:r>
                      <a:r>
                        <a:rPr kumimoji="0" lang="en-US" sz="20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3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+</a:t>
                      </a:r>
                      <a:r>
                        <a:rPr kumimoji="0" lang="en-US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r</a:t>
                      </a:r>
                      <a:r>
                        <a:rPr kumimoji="0" lang="en-US" sz="20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4099" name="Text Box 192"/>
          <p:cNvSpPr txBox="1">
            <a:spLocks noChangeArrowheads="1"/>
          </p:cNvSpPr>
          <p:nvPr/>
        </p:nvSpPr>
        <p:spPr bwMode="auto">
          <a:xfrm>
            <a:off x="5651500" y="2451100"/>
            <a:ext cx="3921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=</a:t>
            </a:r>
          </a:p>
        </p:txBody>
      </p:sp>
      <p:sp>
        <p:nvSpPr>
          <p:cNvPr id="44100" name="Text Box 385"/>
          <p:cNvSpPr txBox="1">
            <a:spLocks noChangeArrowheads="1"/>
          </p:cNvSpPr>
          <p:nvPr/>
        </p:nvSpPr>
        <p:spPr bwMode="auto">
          <a:xfrm>
            <a:off x="7620000" y="1752600"/>
            <a:ext cx="914400" cy="2439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sz="2200"/>
              <a:t>P2</a:t>
            </a:r>
          </a:p>
          <a:p>
            <a:pPr algn="ctr">
              <a:spcBef>
                <a:spcPct val="50000"/>
              </a:spcBef>
            </a:pPr>
            <a:r>
              <a:rPr lang="en-US" sz="2200"/>
              <a:t>P2</a:t>
            </a:r>
          </a:p>
          <a:p>
            <a:pPr algn="ctr">
              <a:spcBef>
                <a:spcPct val="50000"/>
              </a:spcBef>
            </a:pPr>
            <a:r>
              <a:rPr lang="en-US" sz="2200"/>
              <a:t>P1</a:t>
            </a:r>
          </a:p>
          <a:p>
            <a:pPr algn="ctr">
              <a:spcBef>
                <a:spcPct val="50000"/>
              </a:spcBef>
            </a:pPr>
            <a:r>
              <a:rPr lang="en-US" sz="2200"/>
              <a:t>P3</a:t>
            </a:r>
          </a:p>
          <a:p>
            <a:pPr algn="ctr">
              <a:spcBef>
                <a:spcPct val="50000"/>
              </a:spcBef>
            </a:pPr>
            <a:r>
              <a:rPr lang="en-US" sz="2200"/>
              <a:t>P</a:t>
            </a:r>
            <a:r>
              <a:rPr lang="en-US" sz="2200" baseline="30000"/>
              <a:t>4</a:t>
            </a:r>
            <a:endParaRPr lang="en-US" sz="2200"/>
          </a:p>
        </p:txBody>
      </p:sp>
      <p:sp>
        <p:nvSpPr>
          <p:cNvPr id="44101" name="Text Box 386"/>
          <p:cNvSpPr txBox="1">
            <a:spLocks noChangeArrowheads="1"/>
          </p:cNvSpPr>
          <p:nvPr/>
        </p:nvSpPr>
        <p:spPr bwMode="auto">
          <a:xfrm>
            <a:off x="1066800" y="5257800"/>
            <a:ext cx="2362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/>
              <a:t>{P2,P4}</a:t>
            </a:r>
          </a:p>
        </p:txBody>
      </p:sp>
      <p:graphicFrame>
        <p:nvGraphicFramePr>
          <p:cNvPr id="211424" name="Group 480"/>
          <p:cNvGraphicFramePr>
            <a:graphicFrameLocks noGrp="1"/>
          </p:cNvGraphicFramePr>
          <p:nvPr/>
        </p:nvGraphicFramePr>
        <p:xfrm>
          <a:off x="1524000" y="4438650"/>
          <a:ext cx="3048000" cy="51435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1427" name="Text Box 483"/>
          <p:cNvSpPr txBox="1">
            <a:spLocks noChangeArrowheads="1"/>
          </p:cNvSpPr>
          <p:nvPr/>
        </p:nvSpPr>
        <p:spPr bwMode="auto">
          <a:xfrm>
            <a:off x="6172200" y="4438650"/>
            <a:ext cx="12954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 i="1">
                <a:solidFill>
                  <a:srgbClr val="FF0000"/>
                </a:solidFill>
              </a:rPr>
              <a:t>s</a:t>
            </a:r>
          </a:p>
        </p:txBody>
      </p:sp>
      <p:sp>
        <p:nvSpPr>
          <p:cNvPr id="44115" name="Segnaposto numero diapositiva 4"/>
          <p:cNvSpPr>
            <a:spLocks noGrp="1"/>
          </p:cNvSpPr>
          <p:nvPr>
            <p:ph type="sldNum" sz="quarter" idx="12"/>
          </p:nvPr>
        </p:nvSpPr>
        <p:spPr bwMode="auto">
          <a:xfrm>
            <a:off x="6767513" y="6165850"/>
            <a:ext cx="2376487" cy="38417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sz="1600" smtClean="0">
                <a:latin typeface="Times New Roman" pitchFamily="18" charset="0"/>
              </a:rPr>
              <a:t>Slides from A. Beimel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42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smtClean="0"/>
              <a:t>LSSS and </a:t>
            </a:r>
            <a:r>
              <a:rPr lang="it-IT" dirty="0" err="1" smtClean="0"/>
              <a:t>access</a:t>
            </a:r>
            <a:r>
              <a:rPr lang="it-IT" dirty="0" smtClean="0"/>
              <a:t> </a:t>
            </a:r>
            <a:r>
              <a:rPr lang="it-IT" dirty="0" err="1" smtClean="0"/>
              <a:t>structure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it-IT" dirty="0" err="1" smtClean="0"/>
              <a:t>Every</a:t>
            </a:r>
            <a:r>
              <a:rPr lang="it-IT" dirty="0" smtClean="0"/>
              <a:t> (monotone) </a:t>
            </a:r>
            <a:r>
              <a:rPr lang="it-IT" dirty="0" err="1" smtClean="0"/>
              <a:t>access</a:t>
            </a:r>
            <a:r>
              <a:rPr lang="it-IT" dirty="0" smtClean="0"/>
              <a:t> </a:t>
            </a:r>
            <a:r>
              <a:rPr lang="it-IT" dirty="0" err="1" smtClean="0"/>
              <a:t>structure</a:t>
            </a:r>
            <a:r>
              <a:rPr lang="it-IT" dirty="0" smtClean="0"/>
              <a:t> can </a:t>
            </a:r>
            <a:r>
              <a:rPr lang="it-IT" dirty="0" err="1" smtClean="0"/>
              <a:t>be</a:t>
            </a:r>
            <a:r>
              <a:rPr lang="it-IT" dirty="0" smtClean="0"/>
              <a:t> </a:t>
            </a:r>
            <a:r>
              <a:rPr lang="it-IT" dirty="0" err="1" smtClean="0"/>
              <a:t>realized</a:t>
            </a:r>
            <a:endParaRPr lang="it-IT" dirty="0" smtClean="0"/>
          </a:p>
          <a:p>
            <a:pPr>
              <a:buFont typeface="Wingdings" pitchFamily="2" charset="2"/>
              <a:buNone/>
              <a:defRPr/>
            </a:pPr>
            <a:endParaRPr lang="it-IT" dirty="0" smtClean="0"/>
          </a:p>
          <a:p>
            <a:pPr lvl="1">
              <a:defRPr/>
            </a:pPr>
            <a:endParaRPr lang="it-IT" dirty="0" smtClean="0"/>
          </a:p>
          <a:p>
            <a:pPr lvl="1">
              <a:defRPr/>
            </a:pPr>
            <a:endParaRPr lang="it-IT" dirty="0" smtClean="0"/>
          </a:p>
          <a:p>
            <a:pPr lvl="1">
              <a:defRPr/>
            </a:pPr>
            <a:endParaRPr lang="it-IT" dirty="0" smtClean="0"/>
          </a:p>
          <a:p>
            <a:pPr>
              <a:defRPr/>
            </a:pPr>
            <a:r>
              <a:rPr lang="it-IT" dirty="0" err="1" smtClean="0"/>
              <a:t>Consequence</a:t>
            </a:r>
            <a:r>
              <a:rPr lang="it-IT" dirty="0" smtClean="0"/>
              <a:t>: </a:t>
            </a:r>
            <a:r>
              <a:rPr lang="it-IT" dirty="0" err="1" smtClean="0"/>
              <a:t>every</a:t>
            </a:r>
            <a:r>
              <a:rPr lang="it-IT" dirty="0" smtClean="0"/>
              <a:t> </a:t>
            </a:r>
            <a:r>
              <a:rPr lang="it-IT" dirty="0" err="1" smtClean="0"/>
              <a:t>boolean</a:t>
            </a:r>
            <a:r>
              <a:rPr lang="it-IT" dirty="0" smtClean="0"/>
              <a:t> predicate (</a:t>
            </a:r>
            <a:r>
              <a:rPr lang="it-IT" dirty="0" err="1" smtClean="0"/>
              <a:t>without</a:t>
            </a:r>
            <a:r>
              <a:rPr lang="it-IT" dirty="0" smtClean="0"/>
              <a:t> </a:t>
            </a:r>
            <a:r>
              <a:rPr lang="it-IT" dirty="0" err="1" smtClean="0"/>
              <a:t>negation</a:t>
            </a:r>
            <a:r>
              <a:rPr lang="it-IT" dirty="0" smtClean="0"/>
              <a:t>) </a:t>
            </a:r>
            <a:r>
              <a:rPr lang="it-IT" dirty="0" err="1" smtClean="0"/>
              <a:t>may</a:t>
            </a:r>
            <a:r>
              <a:rPr lang="it-IT" dirty="0" smtClean="0"/>
              <a:t> </a:t>
            </a:r>
            <a:r>
              <a:rPr lang="it-IT" dirty="0" err="1" smtClean="0"/>
              <a:t>be</a:t>
            </a:r>
            <a:r>
              <a:rPr lang="it-IT" dirty="0" smtClean="0"/>
              <a:t> </a:t>
            </a:r>
            <a:r>
              <a:rPr lang="it-IT" dirty="0" err="1" smtClean="0"/>
              <a:t>supported</a:t>
            </a:r>
            <a:endParaRPr lang="it-IT" dirty="0" smtClean="0"/>
          </a:p>
          <a:p>
            <a:pPr lvl="3">
              <a:defRPr/>
            </a:pPr>
            <a:endParaRPr lang="it-IT" dirty="0" smtClean="0"/>
          </a:p>
          <a:p>
            <a:pPr>
              <a:defRPr/>
            </a:pPr>
            <a:endParaRPr lang="it-IT" dirty="0" smtClean="0"/>
          </a:p>
          <a:p>
            <a:pPr>
              <a:defRPr/>
            </a:pPr>
            <a:r>
              <a:rPr lang="it-IT" dirty="0" err="1" smtClean="0"/>
              <a:t>Scheme</a:t>
            </a:r>
            <a:r>
              <a:rPr lang="it-IT" dirty="0" smtClean="0"/>
              <a:t> May NOT </a:t>
            </a:r>
            <a:r>
              <a:rPr lang="it-IT" dirty="0" err="1" smtClean="0"/>
              <a:t>be</a:t>
            </a:r>
            <a:r>
              <a:rPr lang="it-IT" dirty="0" smtClean="0"/>
              <a:t> </a:t>
            </a:r>
            <a:r>
              <a:rPr lang="it-IT" dirty="0" err="1" smtClean="0"/>
              <a:t>ideal</a:t>
            </a:r>
            <a:endParaRPr lang="it-IT" dirty="0" smtClean="0"/>
          </a:p>
          <a:p>
            <a:pPr lvl="1">
              <a:defRPr/>
            </a:pPr>
            <a:r>
              <a:rPr lang="it-IT" dirty="0" smtClean="0"/>
              <a:t>May </a:t>
            </a:r>
            <a:r>
              <a:rPr lang="it-IT" dirty="0" err="1" smtClean="0"/>
              <a:t>entail</a:t>
            </a:r>
            <a:r>
              <a:rPr lang="it-IT" dirty="0" smtClean="0"/>
              <a:t> more </a:t>
            </a:r>
            <a:r>
              <a:rPr lang="it-IT" dirty="0" err="1" smtClean="0"/>
              <a:t>than</a:t>
            </a:r>
            <a:r>
              <a:rPr lang="it-IT" dirty="0" smtClean="0"/>
              <a:t> 1 share per partner</a:t>
            </a:r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2543175" y="1804988"/>
          <a:ext cx="5251450" cy="169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0" name="Equazione" r:id="rId3" imgW="2158920" imgH="698400" progId="Equation.3">
                  <p:embed/>
                </p:oleObj>
              </mc:Choice>
              <mc:Fallback>
                <p:oleObj name="Equazione" r:id="rId3" imgW="2158920" imgH="698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3175" y="1804988"/>
                        <a:ext cx="5251450" cy="1695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"/>
          <p:cNvGraphicFramePr>
            <a:graphicFrameLocks noChangeAspect="1"/>
          </p:cNvGraphicFramePr>
          <p:nvPr/>
        </p:nvGraphicFramePr>
        <p:xfrm>
          <a:off x="2962275" y="4400550"/>
          <a:ext cx="432435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1" name="Equazione" r:id="rId5" imgW="1777680" imgH="228600" progId="Equation.3">
                  <p:embed/>
                </p:oleObj>
              </mc:Choice>
              <mc:Fallback>
                <p:oleObj name="Equazione" r:id="rId5" imgW="1777680" imgH="2286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2275" y="4400550"/>
                        <a:ext cx="4324350" cy="555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smtClean="0"/>
              <a:t>LSSS </a:t>
            </a:r>
            <a:r>
              <a:rPr lang="it-IT" dirty="0" err="1" smtClean="0"/>
              <a:t>matrix</a:t>
            </a:r>
            <a:r>
              <a:rPr lang="it-IT" dirty="0" smtClean="0"/>
              <a:t> </a:t>
            </a:r>
            <a:r>
              <a:rPr lang="it-IT" dirty="0" err="1" smtClean="0"/>
              <a:t>from</a:t>
            </a:r>
            <a:r>
              <a:rPr lang="it-IT" dirty="0" smtClean="0"/>
              <a:t> AC Predicate</a:t>
            </a:r>
            <a:endParaRPr lang="it-IT" dirty="0"/>
          </a:p>
        </p:txBody>
      </p:sp>
      <p:sp>
        <p:nvSpPr>
          <p:cNvPr id="21508" name="Ovale 3"/>
          <p:cNvSpPr>
            <a:spLocks noChangeArrowheads="1"/>
          </p:cNvSpPr>
          <p:nvPr/>
        </p:nvSpPr>
        <p:spPr bwMode="auto">
          <a:xfrm>
            <a:off x="3924300" y="2168525"/>
            <a:ext cx="576263" cy="576263"/>
          </a:xfrm>
          <a:prstGeom prst="ellipse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21509" name="CasellaDiTesto 5"/>
          <p:cNvSpPr txBox="1">
            <a:spLocks noChangeArrowheads="1"/>
          </p:cNvSpPr>
          <p:nvPr/>
        </p:nvSpPr>
        <p:spPr bwMode="auto">
          <a:xfrm>
            <a:off x="4025900" y="2168525"/>
            <a:ext cx="40107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800" b="1" dirty="0" smtClean="0">
                <a:sym typeface="Symbol"/>
              </a:rPr>
              <a:t></a:t>
            </a:r>
            <a:endParaRPr lang="it-IT" sz="2800" b="1" dirty="0"/>
          </a:p>
        </p:txBody>
      </p:sp>
      <p:sp>
        <p:nvSpPr>
          <p:cNvPr id="21510" name="CasellaDiTesto 6"/>
          <p:cNvSpPr txBox="1">
            <a:spLocks noChangeArrowheads="1"/>
          </p:cNvSpPr>
          <p:nvPr/>
        </p:nvSpPr>
        <p:spPr bwMode="auto">
          <a:xfrm>
            <a:off x="4535488" y="2276475"/>
            <a:ext cx="100806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/>
              <a:t>AND gate</a:t>
            </a:r>
          </a:p>
        </p:txBody>
      </p:sp>
      <p:cxnSp>
        <p:nvCxnSpPr>
          <p:cNvPr id="21511" name="Connettore 2 8"/>
          <p:cNvCxnSpPr>
            <a:cxnSpLocks noChangeShapeType="1"/>
            <a:endCxn id="21509" idx="0"/>
          </p:cNvCxnSpPr>
          <p:nvPr/>
        </p:nvCxnSpPr>
        <p:spPr bwMode="auto">
          <a:xfrm flipH="1">
            <a:off x="4226436" y="1736725"/>
            <a:ext cx="7427" cy="4318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</p:spPr>
      </p:cxnSp>
      <p:sp>
        <p:nvSpPr>
          <p:cNvPr id="21512" name="CasellaDiTesto 12"/>
          <p:cNvSpPr txBox="1">
            <a:spLocks noChangeArrowheads="1"/>
          </p:cNvSpPr>
          <p:nvPr/>
        </p:nvSpPr>
        <p:spPr bwMode="auto">
          <a:xfrm>
            <a:off x="3887788" y="1412875"/>
            <a:ext cx="73183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/>
              <a:t>ROOT</a:t>
            </a:r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0161572"/>
              </p:ext>
            </p:extLst>
          </p:nvPr>
        </p:nvGraphicFramePr>
        <p:xfrm>
          <a:off x="576263" y="1936750"/>
          <a:ext cx="2871787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5" name="Equazione" r:id="rId3" imgW="1180800" imgH="228600" progId="Equation.3">
                  <p:embed/>
                </p:oleObj>
              </mc:Choice>
              <mc:Fallback>
                <p:oleObj name="Equazione" r:id="rId3" imgW="11808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263" y="1936750"/>
                        <a:ext cx="2871787" cy="555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3" name="Ovale 16"/>
          <p:cNvSpPr>
            <a:spLocks noChangeArrowheads="1"/>
          </p:cNvSpPr>
          <p:nvPr/>
        </p:nvSpPr>
        <p:spPr bwMode="auto">
          <a:xfrm>
            <a:off x="3167063" y="3105150"/>
            <a:ext cx="576262" cy="576263"/>
          </a:xfrm>
          <a:prstGeom prst="ellipse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21514" name="CasellaDiTesto 17"/>
          <p:cNvSpPr txBox="1">
            <a:spLocks noChangeArrowheads="1"/>
          </p:cNvSpPr>
          <p:nvPr/>
        </p:nvSpPr>
        <p:spPr bwMode="auto">
          <a:xfrm>
            <a:off x="3240088" y="3105150"/>
            <a:ext cx="490537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800" b="1">
                <a:sym typeface="Mathematica3" pitchFamily="2" charset="2"/>
              </a:rPr>
              <a:t>P</a:t>
            </a:r>
            <a:r>
              <a:rPr lang="it-IT" sz="2800" b="1" baseline="-25000">
                <a:sym typeface="Mathematica3" pitchFamily="2" charset="2"/>
              </a:rPr>
              <a:t>1</a:t>
            </a:r>
            <a:endParaRPr lang="it-IT" sz="2800" b="1" baseline="-25000"/>
          </a:p>
        </p:txBody>
      </p:sp>
      <p:sp>
        <p:nvSpPr>
          <p:cNvPr id="21515" name="Ovale 18"/>
          <p:cNvSpPr>
            <a:spLocks noChangeArrowheads="1"/>
          </p:cNvSpPr>
          <p:nvPr/>
        </p:nvSpPr>
        <p:spPr bwMode="auto">
          <a:xfrm>
            <a:off x="4643438" y="3105150"/>
            <a:ext cx="576262" cy="576263"/>
          </a:xfrm>
          <a:prstGeom prst="ellipse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21516" name="CasellaDiTesto 19"/>
          <p:cNvSpPr txBox="1">
            <a:spLocks noChangeArrowheads="1"/>
          </p:cNvSpPr>
          <p:nvPr/>
        </p:nvSpPr>
        <p:spPr bwMode="auto">
          <a:xfrm>
            <a:off x="4746625" y="3105150"/>
            <a:ext cx="40107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800" b="1" dirty="0" smtClean="0">
                <a:sym typeface="Symbol"/>
              </a:rPr>
              <a:t></a:t>
            </a:r>
            <a:endParaRPr lang="it-IT" sz="2800" b="1" dirty="0"/>
          </a:p>
        </p:txBody>
      </p:sp>
      <p:sp>
        <p:nvSpPr>
          <p:cNvPr id="21517" name="Ovale 20"/>
          <p:cNvSpPr>
            <a:spLocks noChangeArrowheads="1"/>
          </p:cNvSpPr>
          <p:nvPr/>
        </p:nvSpPr>
        <p:spPr bwMode="auto">
          <a:xfrm>
            <a:off x="4103688" y="4184650"/>
            <a:ext cx="576262" cy="576263"/>
          </a:xfrm>
          <a:prstGeom prst="ellipse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21518" name="CasellaDiTesto 21"/>
          <p:cNvSpPr txBox="1">
            <a:spLocks noChangeArrowheads="1"/>
          </p:cNvSpPr>
          <p:nvPr/>
        </p:nvSpPr>
        <p:spPr bwMode="auto">
          <a:xfrm>
            <a:off x="4205288" y="4184650"/>
            <a:ext cx="4921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800" b="1">
                <a:sym typeface="Mathematica3" pitchFamily="2" charset="2"/>
              </a:rPr>
              <a:t>P</a:t>
            </a:r>
            <a:r>
              <a:rPr lang="it-IT" sz="2800" b="1" baseline="-25000">
                <a:sym typeface="Mathematica3" pitchFamily="2" charset="2"/>
              </a:rPr>
              <a:t>2</a:t>
            </a:r>
            <a:endParaRPr lang="it-IT" sz="2800" b="1" baseline="-25000"/>
          </a:p>
        </p:txBody>
      </p:sp>
      <p:sp>
        <p:nvSpPr>
          <p:cNvPr id="21519" name="Ovale 22"/>
          <p:cNvSpPr>
            <a:spLocks noChangeArrowheads="1"/>
          </p:cNvSpPr>
          <p:nvPr/>
        </p:nvSpPr>
        <p:spPr bwMode="auto">
          <a:xfrm>
            <a:off x="5472113" y="4184650"/>
            <a:ext cx="576262" cy="576263"/>
          </a:xfrm>
          <a:prstGeom prst="ellipse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21520" name="CasellaDiTesto 23"/>
          <p:cNvSpPr txBox="1">
            <a:spLocks noChangeArrowheads="1"/>
          </p:cNvSpPr>
          <p:nvPr/>
        </p:nvSpPr>
        <p:spPr bwMode="auto">
          <a:xfrm>
            <a:off x="5573713" y="4184650"/>
            <a:ext cx="40107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800" b="1" dirty="0" smtClean="0">
                <a:sym typeface="Symbol"/>
              </a:rPr>
              <a:t></a:t>
            </a:r>
            <a:endParaRPr lang="it-IT" sz="2800" b="1" dirty="0"/>
          </a:p>
        </p:txBody>
      </p:sp>
      <p:sp>
        <p:nvSpPr>
          <p:cNvPr id="21521" name="Ovale 24"/>
          <p:cNvSpPr>
            <a:spLocks noChangeArrowheads="1"/>
          </p:cNvSpPr>
          <p:nvPr/>
        </p:nvSpPr>
        <p:spPr bwMode="auto">
          <a:xfrm>
            <a:off x="5040313" y="5229225"/>
            <a:ext cx="576262" cy="576263"/>
          </a:xfrm>
          <a:prstGeom prst="ellipse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21522" name="CasellaDiTesto 25"/>
          <p:cNvSpPr txBox="1">
            <a:spLocks noChangeArrowheads="1"/>
          </p:cNvSpPr>
          <p:nvPr/>
        </p:nvSpPr>
        <p:spPr bwMode="auto">
          <a:xfrm>
            <a:off x="5141913" y="5229225"/>
            <a:ext cx="49053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800" b="1">
                <a:sym typeface="Mathematica3" pitchFamily="2" charset="2"/>
              </a:rPr>
              <a:t>P</a:t>
            </a:r>
            <a:r>
              <a:rPr lang="it-IT" sz="2800" b="1" baseline="-25000">
                <a:sym typeface="Mathematica3" pitchFamily="2" charset="2"/>
              </a:rPr>
              <a:t>3</a:t>
            </a:r>
            <a:endParaRPr lang="it-IT" sz="2800" b="1" baseline="-25000"/>
          </a:p>
        </p:txBody>
      </p:sp>
      <p:sp>
        <p:nvSpPr>
          <p:cNvPr id="21523" name="Ovale 26"/>
          <p:cNvSpPr>
            <a:spLocks noChangeArrowheads="1"/>
          </p:cNvSpPr>
          <p:nvPr/>
        </p:nvSpPr>
        <p:spPr bwMode="auto">
          <a:xfrm>
            <a:off x="6156325" y="5229225"/>
            <a:ext cx="576263" cy="576263"/>
          </a:xfrm>
          <a:prstGeom prst="ellipse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21524" name="CasellaDiTesto 27"/>
          <p:cNvSpPr txBox="1">
            <a:spLocks noChangeArrowheads="1"/>
          </p:cNvSpPr>
          <p:nvPr/>
        </p:nvSpPr>
        <p:spPr bwMode="auto">
          <a:xfrm>
            <a:off x="6257925" y="5229225"/>
            <a:ext cx="49053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800" b="1">
                <a:sym typeface="Mathematica3" pitchFamily="2" charset="2"/>
              </a:rPr>
              <a:t>P</a:t>
            </a:r>
            <a:r>
              <a:rPr lang="it-IT" sz="2800" b="1" baseline="-25000">
                <a:sym typeface="Mathematica3" pitchFamily="2" charset="2"/>
              </a:rPr>
              <a:t>4</a:t>
            </a:r>
            <a:endParaRPr lang="it-IT" sz="2800" b="1" baseline="-25000"/>
          </a:p>
        </p:txBody>
      </p:sp>
      <p:cxnSp>
        <p:nvCxnSpPr>
          <p:cNvPr id="21525" name="Connettore 1 29"/>
          <p:cNvCxnSpPr>
            <a:cxnSpLocks noChangeShapeType="1"/>
            <a:stCxn id="21508" idx="3"/>
          </p:cNvCxnSpPr>
          <p:nvPr/>
        </p:nvCxnSpPr>
        <p:spPr bwMode="auto">
          <a:xfrm flipH="1">
            <a:off x="3635375" y="2660650"/>
            <a:ext cx="373063" cy="515938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cxnSp>
        <p:nvCxnSpPr>
          <p:cNvPr id="21526" name="Connettore 1 30"/>
          <p:cNvCxnSpPr>
            <a:cxnSpLocks noChangeShapeType="1"/>
            <a:stCxn id="21508" idx="5"/>
            <a:endCxn id="21515" idx="1"/>
          </p:cNvCxnSpPr>
          <p:nvPr/>
        </p:nvCxnSpPr>
        <p:spPr bwMode="auto">
          <a:xfrm>
            <a:off x="4414838" y="2660650"/>
            <a:ext cx="314325" cy="528638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cxnSp>
        <p:nvCxnSpPr>
          <p:cNvPr id="21527" name="Connettore 1 37"/>
          <p:cNvCxnSpPr>
            <a:cxnSpLocks noChangeShapeType="1"/>
          </p:cNvCxnSpPr>
          <p:nvPr/>
        </p:nvCxnSpPr>
        <p:spPr bwMode="auto">
          <a:xfrm>
            <a:off x="5940425" y="4724400"/>
            <a:ext cx="360363" cy="576263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cxnSp>
        <p:nvCxnSpPr>
          <p:cNvPr id="21528" name="Connettore 1 40"/>
          <p:cNvCxnSpPr>
            <a:cxnSpLocks noChangeShapeType="1"/>
          </p:cNvCxnSpPr>
          <p:nvPr/>
        </p:nvCxnSpPr>
        <p:spPr bwMode="auto">
          <a:xfrm>
            <a:off x="5111750" y="3644900"/>
            <a:ext cx="431800" cy="64770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cxnSp>
        <p:nvCxnSpPr>
          <p:cNvPr id="21529" name="Connettore 1 42"/>
          <p:cNvCxnSpPr>
            <a:cxnSpLocks noChangeShapeType="1"/>
          </p:cNvCxnSpPr>
          <p:nvPr/>
        </p:nvCxnSpPr>
        <p:spPr bwMode="auto">
          <a:xfrm flipH="1">
            <a:off x="4572000" y="3644900"/>
            <a:ext cx="179388" cy="612775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cxnSp>
        <p:nvCxnSpPr>
          <p:cNvPr id="21530" name="Connettore 1 46"/>
          <p:cNvCxnSpPr>
            <a:cxnSpLocks noChangeShapeType="1"/>
          </p:cNvCxnSpPr>
          <p:nvPr/>
        </p:nvCxnSpPr>
        <p:spPr bwMode="auto">
          <a:xfrm flipH="1">
            <a:off x="5508625" y="4724400"/>
            <a:ext cx="179388" cy="612775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sp>
        <p:nvSpPr>
          <p:cNvPr id="21531" name="CasellaDiTesto 47"/>
          <p:cNvSpPr txBox="1">
            <a:spLocks noChangeArrowheads="1"/>
          </p:cNvSpPr>
          <p:nvPr/>
        </p:nvSpPr>
        <p:spPr bwMode="auto">
          <a:xfrm>
            <a:off x="5219700" y="3203575"/>
            <a:ext cx="89217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/>
              <a:t>OR gate</a:t>
            </a:r>
          </a:p>
        </p:txBody>
      </p:sp>
      <p:sp>
        <p:nvSpPr>
          <p:cNvPr id="21532" name="CasellaDiTesto 48"/>
          <p:cNvSpPr txBox="1">
            <a:spLocks noChangeArrowheads="1"/>
          </p:cNvSpPr>
          <p:nvPr/>
        </p:nvSpPr>
        <p:spPr bwMode="auto">
          <a:xfrm>
            <a:off x="3924300" y="4716463"/>
            <a:ext cx="490538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/>
              <a:t>leaf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smtClean="0"/>
              <a:t>AND </a:t>
            </a:r>
            <a:r>
              <a:rPr lang="it-IT" dirty="0" err="1" smtClean="0"/>
              <a:t>gate</a:t>
            </a:r>
            <a:endParaRPr lang="it-IT" dirty="0"/>
          </a:p>
        </p:txBody>
      </p:sp>
      <p:sp>
        <p:nvSpPr>
          <p:cNvPr id="22532" name="Ovale 3"/>
          <p:cNvSpPr>
            <a:spLocks noChangeArrowheads="1"/>
          </p:cNvSpPr>
          <p:nvPr/>
        </p:nvSpPr>
        <p:spPr bwMode="auto">
          <a:xfrm>
            <a:off x="3924300" y="2168525"/>
            <a:ext cx="576263" cy="576263"/>
          </a:xfrm>
          <a:prstGeom prst="ellipse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22533" name="CasellaDiTesto 4"/>
          <p:cNvSpPr txBox="1">
            <a:spLocks noChangeArrowheads="1"/>
          </p:cNvSpPr>
          <p:nvPr/>
        </p:nvSpPr>
        <p:spPr bwMode="auto">
          <a:xfrm>
            <a:off x="4025900" y="2168525"/>
            <a:ext cx="40107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800" b="1" dirty="0" smtClean="0">
                <a:sym typeface="Symbol"/>
              </a:rPr>
              <a:t></a:t>
            </a:r>
            <a:endParaRPr lang="it-IT" sz="2800" b="1" dirty="0"/>
          </a:p>
        </p:txBody>
      </p:sp>
      <p:cxnSp>
        <p:nvCxnSpPr>
          <p:cNvPr id="22534" name="Connettore 2 6"/>
          <p:cNvCxnSpPr>
            <a:cxnSpLocks noChangeShapeType="1"/>
            <a:endCxn id="22533" idx="0"/>
          </p:cNvCxnSpPr>
          <p:nvPr/>
        </p:nvCxnSpPr>
        <p:spPr bwMode="auto">
          <a:xfrm flipH="1">
            <a:off x="4226436" y="1736725"/>
            <a:ext cx="7428" cy="4318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</p:spPr>
      </p:cxnSp>
      <p:sp>
        <p:nvSpPr>
          <p:cNvPr id="22535" name="CasellaDiTesto 7"/>
          <p:cNvSpPr txBox="1">
            <a:spLocks noChangeArrowheads="1"/>
          </p:cNvSpPr>
          <p:nvPr/>
        </p:nvSpPr>
        <p:spPr bwMode="auto">
          <a:xfrm>
            <a:off x="3995738" y="1341438"/>
            <a:ext cx="519112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400"/>
              <a:t>(X)</a:t>
            </a:r>
            <a:endParaRPr lang="it-IT"/>
          </a:p>
        </p:txBody>
      </p:sp>
      <p:sp>
        <p:nvSpPr>
          <p:cNvPr id="22536" name="Ovale 8"/>
          <p:cNvSpPr>
            <a:spLocks noChangeArrowheads="1"/>
          </p:cNvSpPr>
          <p:nvPr/>
        </p:nvSpPr>
        <p:spPr bwMode="auto">
          <a:xfrm>
            <a:off x="2663825" y="3105150"/>
            <a:ext cx="576263" cy="576263"/>
          </a:xfrm>
          <a:prstGeom prst="ellipse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22537" name="Ovale 10"/>
          <p:cNvSpPr>
            <a:spLocks noChangeArrowheads="1"/>
          </p:cNvSpPr>
          <p:nvPr/>
        </p:nvSpPr>
        <p:spPr bwMode="auto">
          <a:xfrm>
            <a:off x="3924300" y="3105150"/>
            <a:ext cx="576263" cy="576263"/>
          </a:xfrm>
          <a:prstGeom prst="ellipse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cxnSp>
        <p:nvCxnSpPr>
          <p:cNvPr id="22538" name="Connettore 1 12"/>
          <p:cNvCxnSpPr>
            <a:cxnSpLocks noChangeShapeType="1"/>
            <a:stCxn id="22532" idx="3"/>
            <a:endCxn id="22536" idx="7"/>
          </p:cNvCxnSpPr>
          <p:nvPr/>
        </p:nvCxnSpPr>
        <p:spPr bwMode="auto">
          <a:xfrm flipH="1">
            <a:off x="3155950" y="2660650"/>
            <a:ext cx="852488" cy="528638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cxnSp>
        <p:nvCxnSpPr>
          <p:cNvPr id="22539" name="Connettore 1 13"/>
          <p:cNvCxnSpPr>
            <a:cxnSpLocks noChangeShapeType="1"/>
            <a:stCxn id="22532" idx="4"/>
            <a:endCxn id="22537" idx="0"/>
          </p:cNvCxnSpPr>
          <p:nvPr/>
        </p:nvCxnSpPr>
        <p:spPr bwMode="auto">
          <a:xfrm>
            <a:off x="4211638" y="2744788"/>
            <a:ext cx="0" cy="360362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sp>
        <p:nvSpPr>
          <p:cNvPr id="22540" name="CasellaDiTesto 14"/>
          <p:cNvSpPr txBox="1">
            <a:spLocks noChangeArrowheads="1"/>
          </p:cNvSpPr>
          <p:nvPr/>
        </p:nvSpPr>
        <p:spPr bwMode="auto">
          <a:xfrm>
            <a:off x="2376488" y="3651250"/>
            <a:ext cx="10826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400"/>
              <a:t>(X, 1, 1)</a:t>
            </a:r>
            <a:endParaRPr lang="it-IT"/>
          </a:p>
        </p:txBody>
      </p:sp>
      <p:sp>
        <p:nvSpPr>
          <p:cNvPr id="22541" name="CasellaDiTesto 15"/>
          <p:cNvSpPr txBox="1">
            <a:spLocks noChangeArrowheads="1"/>
          </p:cNvSpPr>
          <p:nvPr/>
        </p:nvSpPr>
        <p:spPr bwMode="auto">
          <a:xfrm>
            <a:off x="3708400" y="3644900"/>
            <a:ext cx="11398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400"/>
              <a:t>(0, -1, 0)</a:t>
            </a:r>
            <a:endParaRPr lang="it-IT"/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6276975" y="2076450"/>
          <a:ext cx="2255838" cy="172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9" name="Equazione" r:id="rId3" imgW="927000" imgH="711000" progId="Equation.3">
                  <p:embed/>
                </p:oleObj>
              </mc:Choice>
              <mc:Fallback>
                <p:oleObj name="Equazione" r:id="rId3" imgW="927000" imgH="711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6975" y="2076450"/>
                        <a:ext cx="2255838" cy="172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2" name="Ovale 19"/>
          <p:cNvSpPr>
            <a:spLocks noChangeArrowheads="1"/>
          </p:cNvSpPr>
          <p:nvPr/>
        </p:nvSpPr>
        <p:spPr bwMode="auto">
          <a:xfrm>
            <a:off x="5040313" y="3141663"/>
            <a:ext cx="576262" cy="574675"/>
          </a:xfrm>
          <a:prstGeom prst="ellipse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cxnSp>
        <p:nvCxnSpPr>
          <p:cNvPr id="22543" name="Connettore 1 20"/>
          <p:cNvCxnSpPr>
            <a:cxnSpLocks noChangeShapeType="1"/>
            <a:endCxn id="22542" idx="0"/>
          </p:cNvCxnSpPr>
          <p:nvPr/>
        </p:nvCxnSpPr>
        <p:spPr bwMode="auto">
          <a:xfrm>
            <a:off x="4427538" y="2636838"/>
            <a:ext cx="900112" cy="504825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sp>
        <p:nvSpPr>
          <p:cNvPr id="22544" name="CasellaDiTesto 22"/>
          <p:cNvSpPr txBox="1">
            <a:spLocks noChangeArrowheads="1"/>
          </p:cNvSpPr>
          <p:nvPr/>
        </p:nvSpPr>
        <p:spPr bwMode="auto">
          <a:xfrm>
            <a:off x="4979988" y="3644900"/>
            <a:ext cx="11398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400"/>
              <a:t>(0, 0, -1)</a:t>
            </a:r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smtClean="0"/>
              <a:t>OR </a:t>
            </a:r>
            <a:r>
              <a:rPr lang="it-IT" dirty="0" err="1" smtClean="0"/>
              <a:t>gate</a:t>
            </a:r>
            <a:endParaRPr lang="it-IT" dirty="0"/>
          </a:p>
        </p:txBody>
      </p:sp>
      <p:sp>
        <p:nvSpPr>
          <p:cNvPr id="23556" name="Ovale 3"/>
          <p:cNvSpPr>
            <a:spLocks noChangeArrowheads="1"/>
          </p:cNvSpPr>
          <p:nvPr/>
        </p:nvSpPr>
        <p:spPr bwMode="auto">
          <a:xfrm>
            <a:off x="3924300" y="2168525"/>
            <a:ext cx="576263" cy="576263"/>
          </a:xfrm>
          <a:prstGeom prst="ellipse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23557" name="CasellaDiTesto 4"/>
          <p:cNvSpPr txBox="1">
            <a:spLocks noChangeArrowheads="1"/>
          </p:cNvSpPr>
          <p:nvPr/>
        </p:nvSpPr>
        <p:spPr bwMode="auto">
          <a:xfrm>
            <a:off x="4025900" y="2168525"/>
            <a:ext cx="40107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800" b="1" smtClean="0">
                <a:sym typeface="Symbol"/>
              </a:rPr>
              <a:t></a:t>
            </a:r>
            <a:endParaRPr lang="it-IT" sz="2800" b="1" dirty="0"/>
          </a:p>
        </p:txBody>
      </p:sp>
      <p:cxnSp>
        <p:nvCxnSpPr>
          <p:cNvPr id="23558" name="Connettore 2 6"/>
          <p:cNvCxnSpPr>
            <a:cxnSpLocks noChangeShapeType="1"/>
            <a:endCxn id="23557" idx="0"/>
          </p:cNvCxnSpPr>
          <p:nvPr/>
        </p:nvCxnSpPr>
        <p:spPr bwMode="auto">
          <a:xfrm flipH="1">
            <a:off x="4226436" y="1736725"/>
            <a:ext cx="7428" cy="43180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</p:spPr>
      </p:cxnSp>
      <p:sp>
        <p:nvSpPr>
          <p:cNvPr id="23559" name="CasellaDiTesto 7"/>
          <p:cNvSpPr txBox="1">
            <a:spLocks noChangeArrowheads="1"/>
          </p:cNvSpPr>
          <p:nvPr/>
        </p:nvSpPr>
        <p:spPr bwMode="auto">
          <a:xfrm>
            <a:off x="3995738" y="1341438"/>
            <a:ext cx="519112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400"/>
              <a:t>(X)</a:t>
            </a:r>
            <a:endParaRPr lang="it-IT"/>
          </a:p>
        </p:txBody>
      </p:sp>
      <p:sp>
        <p:nvSpPr>
          <p:cNvPr id="23560" name="Ovale 8"/>
          <p:cNvSpPr>
            <a:spLocks noChangeArrowheads="1"/>
          </p:cNvSpPr>
          <p:nvPr/>
        </p:nvSpPr>
        <p:spPr bwMode="auto">
          <a:xfrm>
            <a:off x="3167063" y="3105150"/>
            <a:ext cx="576262" cy="576263"/>
          </a:xfrm>
          <a:prstGeom prst="ellipse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23561" name="Ovale 10"/>
          <p:cNvSpPr>
            <a:spLocks noChangeArrowheads="1"/>
          </p:cNvSpPr>
          <p:nvPr/>
        </p:nvSpPr>
        <p:spPr bwMode="auto">
          <a:xfrm>
            <a:off x="4643438" y="3105150"/>
            <a:ext cx="576262" cy="576263"/>
          </a:xfrm>
          <a:prstGeom prst="ellipse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cxnSp>
        <p:nvCxnSpPr>
          <p:cNvPr id="23562" name="Connettore 1 12"/>
          <p:cNvCxnSpPr>
            <a:cxnSpLocks noChangeShapeType="1"/>
            <a:stCxn id="23556" idx="3"/>
          </p:cNvCxnSpPr>
          <p:nvPr/>
        </p:nvCxnSpPr>
        <p:spPr bwMode="auto">
          <a:xfrm flipH="1">
            <a:off x="3635375" y="2660650"/>
            <a:ext cx="373063" cy="515938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cxnSp>
        <p:nvCxnSpPr>
          <p:cNvPr id="23563" name="Connettore 1 13"/>
          <p:cNvCxnSpPr>
            <a:cxnSpLocks noChangeShapeType="1"/>
            <a:stCxn id="23556" idx="5"/>
            <a:endCxn id="23561" idx="1"/>
          </p:cNvCxnSpPr>
          <p:nvPr/>
        </p:nvCxnSpPr>
        <p:spPr bwMode="auto">
          <a:xfrm>
            <a:off x="4414838" y="2660650"/>
            <a:ext cx="314325" cy="528638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sp>
        <p:nvSpPr>
          <p:cNvPr id="23564" name="CasellaDiTesto 14"/>
          <p:cNvSpPr txBox="1">
            <a:spLocks noChangeArrowheads="1"/>
          </p:cNvSpPr>
          <p:nvPr/>
        </p:nvSpPr>
        <p:spPr bwMode="auto">
          <a:xfrm>
            <a:off x="3187700" y="3651250"/>
            <a:ext cx="5207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400"/>
              <a:t>(X)</a:t>
            </a:r>
            <a:endParaRPr lang="it-IT"/>
          </a:p>
        </p:txBody>
      </p:sp>
      <p:sp>
        <p:nvSpPr>
          <p:cNvPr id="23565" name="CasellaDiTesto 15"/>
          <p:cNvSpPr txBox="1">
            <a:spLocks noChangeArrowheads="1"/>
          </p:cNvSpPr>
          <p:nvPr/>
        </p:nvSpPr>
        <p:spPr bwMode="auto">
          <a:xfrm>
            <a:off x="4664075" y="3644900"/>
            <a:ext cx="5207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400"/>
              <a:t>(X)</a:t>
            </a:r>
            <a:endParaRPr lang="it-IT"/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6489700" y="2384425"/>
          <a:ext cx="773113" cy="110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3" name="Equazione" r:id="rId3" imgW="317160" imgH="457200" progId="Equation.3">
                  <p:embed/>
                </p:oleObj>
              </mc:Choice>
              <mc:Fallback>
                <p:oleObj name="Equazione" r:id="rId3" imgW="317160" imgH="457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9700" y="2384425"/>
                        <a:ext cx="773113" cy="1109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smtClean="0"/>
              <a:t>Matrix </a:t>
            </a:r>
            <a:r>
              <a:rPr lang="it-IT" dirty="0" err="1" smtClean="0"/>
              <a:t>construction</a:t>
            </a:r>
            <a:endParaRPr lang="it-IT" dirty="0"/>
          </a:p>
        </p:txBody>
      </p:sp>
      <p:grpSp>
        <p:nvGrpSpPr>
          <p:cNvPr id="24580" name="Gruppo 28"/>
          <p:cNvGrpSpPr>
            <a:grpSpLocks/>
          </p:cNvGrpSpPr>
          <p:nvPr/>
        </p:nvGrpSpPr>
        <p:grpSpPr bwMode="auto">
          <a:xfrm>
            <a:off x="2862263" y="1736725"/>
            <a:ext cx="3581400" cy="4068763"/>
            <a:chOff x="2862808" y="1736725"/>
            <a:chExt cx="3581400" cy="4068763"/>
          </a:xfrm>
        </p:grpSpPr>
        <p:sp>
          <p:nvSpPr>
            <p:cNvPr id="24612" name="Ovale 3"/>
            <p:cNvSpPr>
              <a:spLocks noChangeArrowheads="1"/>
            </p:cNvSpPr>
            <p:nvPr/>
          </p:nvSpPr>
          <p:spPr bwMode="auto">
            <a:xfrm>
              <a:off x="3620045" y="2168525"/>
              <a:ext cx="576263" cy="576263"/>
            </a:xfrm>
            <a:prstGeom prst="ellipse">
              <a:avLst/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4613" name="CasellaDiTesto 5"/>
            <p:cNvSpPr txBox="1">
              <a:spLocks noChangeArrowheads="1"/>
            </p:cNvSpPr>
            <p:nvPr/>
          </p:nvSpPr>
          <p:spPr bwMode="auto">
            <a:xfrm>
              <a:off x="3721645" y="2168525"/>
              <a:ext cx="401072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it-IT" sz="2800" b="1" dirty="0" smtClean="0">
                  <a:sym typeface="Symbol"/>
                </a:rPr>
                <a:t></a:t>
              </a:r>
              <a:endParaRPr lang="it-IT" sz="2800" b="1" dirty="0"/>
            </a:p>
          </p:txBody>
        </p:sp>
        <p:cxnSp>
          <p:nvCxnSpPr>
            <p:cNvPr id="24614" name="Connettore 2 8"/>
            <p:cNvCxnSpPr>
              <a:cxnSpLocks noChangeShapeType="1"/>
              <a:endCxn id="24613" idx="0"/>
            </p:cNvCxnSpPr>
            <p:nvPr/>
          </p:nvCxnSpPr>
          <p:spPr bwMode="auto">
            <a:xfrm flipH="1">
              <a:off x="3922181" y="1736725"/>
              <a:ext cx="7428" cy="431800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sp>
          <p:nvSpPr>
            <p:cNvPr id="24615" name="Ovale 16"/>
            <p:cNvSpPr>
              <a:spLocks noChangeArrowheads="1"/>
            </p:cNvSpPr>
            <p:nvPr/>
          </p:nvSpPr>
          <p:spPr bwMode="auto">
            <a:xfrm>
              <a:off x="2862808" y="3105150"/>
              <a:ext cx="576262" cy="576263"/>
            </a:xfrm>
            <a:prstGeom prst="ellipse">
              <a:avLst/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4616" name="CasellaDiTesto 17"/>
            <p:cNvSpPr txBox="1">
              <a:spLocks noChangeArrowheads="1"/>
            </p:cNvSpPr>
            <p:nvPr/>
          </p:nvSpPr>
          <p:spPr bwMode="auto">
            <a:xfrm>
              <a:off x="2935833" y="3105150"/>
              <a:ext cx="490537" cy="522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it-IT" sz="2800" b="1">
                  <a:sym typeface="Mathematica3" pitchFamily="2" charset="2"/>
                </a:rPr>
                <a:t>P</a:t>
              </a:r>
              <a:r>
                <a:rPr lang="it-IT" sz="2800" b="1" baseline="-25000">
                  <a:sym typeface="Mathematica3" pitchFamily="2" charset="2"/>
                </a:rPr>
                <a:t>1</a:t>
              </a:r>
              <a:endParaRPr lang="it-IT" sz="2800" b="1" baseline="-25000"/>
            </a:p>
          </p:txBody>
        </p:sp>
        <p:sp>
          <p:nvSpPr>
            <p:cNvPr id="24617" name="Ovale 18"/>
            <p:cNvSpPr>
              <a:spLocks noChangeArrowheads="1"/>
            </p:cNvSpPr>
            <p:nvPr/>
          </p:nvSpPr>
          <p:spPr bwMode="auto">
            <a:xfrm>
              <a:off x="4339183" y="3105150"/>
              <a:ext cx="576262" cy="576263"/>
            </a:xfrm>
            <a:prstGeom prst="ellipse">
              <a:avLst/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4618" name="CasellaDiTesto 19"/>
            <p:cNvSpPr txBox="1">
              <a:spLocks noChangeArrowheads="1"/>
            </p:cNvSpPr>
            <p:nvPr/>
          </p:nvSpPr>
          <p:spPr bwMode="auto">
            <a:xfrm>
              <a:off x="4442370" y="3105150"/>
              <a:ext cx="401072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it-IT" sz="2800" b="1" dirty="0" smtClean="0">
                  <a:sym typeface="Symbol"/>
                </a:rPr>
                <a:t></a:t>
              </a:r>
              <a:endParaRPr lang="it-IT" sz="2800" b="1" dirty="0"/>
            </a:p>
          </p:txBody>
        </p:sp>
        <p:sp>
          <p:nvSpPr>
            <p:cNvPr id="24619" name="Ovale 20"/>
            <p:cNvSpPr>
              <a:spLocks noChangeArrowheads="1"/>
            </p:cNvSpPr>
            <p:nvPr/>
          </p:nvSpPr>
          <p:spPr bwMode="auto">
            <a:xfrm>
              <a:off x="3799433" y="4184650"/>
              <a:ext cx="576262" cy="576263"/>
            </a:xfrm>
            <a:prstGeom prst="ellipse">
              <a:avLst/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4620" name="CasellaDiTesto 21"/>
            <p:cNvSpPr txBox="1">
              <a:spLocks noChangeArrowheads="1"/>
            </p:cNvSpPr>
            <p:nvPr/>
          </p:nvSpPr>
          <p:spPr bwMode="auto">
            <a:xfrm>
              <a:off x="3901033" y="4184650"/>
              <a:ext cx="492125" cy="523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it-IT" sz="2800" b="1">
                  <a:sym typeface="Mathematica3" pitchFamily="2" charset="2"/>
                </a:rPr>
                <a:t>P</a:t>
              </a:r>
              <a:r>
                <a:rPr lang="it-IT" sz="2800" b="1" baseline="-25000">
                  <a:sym typeface="Mathematica3" pitchFamily="2" charset="2"/>
                </a:rPr>
                <a:t>2</a:t>
              </a:r>
              <a:endParaRPr lang="it-IT" sz="2800" b="1" baseline="-25000"/>
            </a:p>
          </p:txBody>
        </p:sp>
        <p:sp>
          <p:nvSpPr>
            <p:cNvPr id="24621" name="Ovale 22"/>
            <p:cNvSpPr>
              <a:spLocks noChangeArrowheads="1"/>
            </p:cNvSpPr>
            <p:nvPr/>
          </p:nvSpPr>
          <p:spPr bwMode="auto">
            <a:xfrm>
              <a:off x="5167858" y="4184650"/>
              <a:ext cx="576262" cy="576263"/>
            </a:xfrm>
            <a:prstGeom prst="ellipse">
              <a:avLst/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4622" name="CasellaDiTesto 23"/>
            <p:cNvSpPr txBox="1">
              <a:spLocks noChangeArrowheads="1"/>
            </p:cNvSpPr>
            <p:nvPr/>
          </p:nvSpPr>
          <p:spPr bwMode="auto">
            <a:xfrm>
              <a:off x="5269458" y="4184650"/>
              <a:ext cx="401072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it-IT" sz="2800" b="1" dirty="0" smtClean="0">
                  <a:sym typeface="Symbol"/>
                </a:rPr>
                <a:t></a:t>
              </a:r>
              <a:endParaRPr lang="it-IT" sz="2800" b="1" dirty="0"/>
            </a:p>
          </p:txBody>
        </p:sp>
        <p:sp>
          <p:nvSpPr>
            <p:cNvPr id="24623" name="Ovale 24"/>
            <p:cNvSpPr>
              <a:spLocks noChangeArrowheads="1"/>
            </p:cNvSpPr>
            <p:nvPr/>
          </p:nvSpPr>
          <p:spPr bwMode="auto">
            <a:xfrm>
              <a:off x="4736058" y="5229225"/>
              <a:ext cx="576262" cy="576263"/>
            </a:xfrm>
            <a:prstGeom prst="ellipse">
              <a:avLst/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4624" name="CasellaDiTesto 25"/>
            <p:cNvSpPr txBox="1">
              <a:spLocks noChangeArrowheads="1"/>
            </p:cNvSpPr>
            <p:nvPr/>
          </p:nvSpPr>
          <p:spPr bwMode="auto">
            <a:xfrm>
              <a:off x="4837658" y="5229225"/>
              <a:ext cx="490537" cy="523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it-IT" sz="2800" b="1">
                  <a:sym typeface="Mathematica3" pitchFamily="2" charset="2"/>
                </a:rPr>
                <a:t>P</a:t>
              </a:r>
              <a:r>
                <a:rPr lang="it-IT" sz="2800" b="1" baseline="-25000">
                  <a:sym typeface="Mathematica3" pitchFamily="2" charset="2"/>
                </a:rPr>
                <a:t>3</a:t>
              </a:r>
              <a:endParaRPr lang="it-IT" sz="2800" b="1" baseline="-25000"/>
            </a:p>
          </p:txBody>
        </p:sp>
        <p:sp>
          <p:nvSpPr>
            <p:cNvPr id="24625" name="Ovale 26"/>
            <p:cNvSpPr>
              <a:spLocks noChangeArrowheads="1"/>
            </p:cNvSpPr>
            <p:nvPr/>
          </p:nvSpPr>
          <p:spPr bwMode="auto">
            <a:xfrm>
              <a:off x="5852070" y="5229225"/>
              <a:ext cx="576263" cy="576263"/>
            </a:xfrm>
            <a:prstGeom prst="ellipse">
              <a:avLst/>
            </a:prstGeom>
            <a:solidFill>
              <a:srgbClr val="FFFF99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4626" name="CasellaDiTesto 27"/>
            <p:cNvSpPr txBox="1">
              <a:spLocks noChangeArrowheads="1"/>
            </p:cNvSpPr>
            <p:nvPr/>
          </p:nvSpPr>
          <p:spPr bwMode="auto">
            <a:xfrm>
              <a:off x="5953670" y="5229225"/>
              <a:ext cx="490538" cy="523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it-IT" sz="2800" b="1">
                  <a:sym typeface="Mathematica3" pitchFamily="2" charset="2"/>
                </a:rPr>
                <a:t>P</a:t>
              </a:r>
              <a:r>
                <a:rPr lang="it-IT" sz="2800" b="1" baseline="-25000">
                  <a:sym typeface="Mathematica3" pitchFamily="2" charset="2"/>
                </a:rPr>
                <a:t>4</a:t>
              </a:r>
              <a:endParaRPr lang="it-IT" sz="2800" b="1" baseline="-25000"/>
            </a:p>
          </p:txBody>
        </p:sp>
        <p:cxnSp>
          <p:nvCxnSpPr>
            <p:cNvPr id="24627" name="Connettore 1 29"/>
            <p:cNvCxnSpPr>
              <a:cxnSpLocks noChangeShapeType="1"/>
              <a:stCxn id="24612" idx="3"/>
            </p:cNvCxnSpPr>
            <p:nvPr/>
          </p:nvCxnSpPr>
          <p:spPr bwMode="auto">
            <a:xfrm flipH="1">
              <a:off x="3331120" y="2660650"/>
              <a:ext cx="373063" cy="51593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4628" name="Connettore 1 30"/>
            <p:cNvCxnSpPr>
              <a:cxnSpLocks noChangeShapeType="1"/>
              <a:stCxn id="24612" idx="5"/>
              <a:endCxn id="24617" idx="1"/>
            </p:cNvCxnSpPr>
            <p:nvPr/>
          </p:nvCxnSpPr>
          <p:spPr bwMode="auto">
            <a:xfrm>
              <a:off x="4110583" y="2660650"/>
              <a:ext cx="314325" cy="52863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4629" name="Connettore 1 37"/>
            <p:cNvCxnSpPr>
              <a:cxnSpLocks noChangeShapeType="1"/>
            </p:cNvCxnSpPr>
            <p:nvPr/>
          </p:nvCxnSpPr>
          <p:spPr bwMode="auto">
            <a:xfrm>
              <a:off x="5636170" y="4724400"/>
              <a:ext cx="360363" cy="576263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4630" name="Connettore 1 40"/>
            <p:cNvCxnSpPr>
              <a:cxnSpLocks noChangeShapeType="1"/>
            </p:cNvCxnSpPr>
            <p:nvPr/>
          </p:nvCxnSpPr>
          <p:spPr bwMode="auto">
            <a:xfrm>
              <a:off x="4807495" y="3644900"/>
              <a:ext cx="431800" cy="647700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4631" name="Connettore 1 42"/>
            <p:cNvCxnSpPr>
              <a:cxnSpLocks noChangeShapeType="1"/>
            </p:cNvCxnSpPr>
            <p:nvPr/>
          </p:nvCxnSpPr>
          <p:spPr bwMode="auto">
            <a:xfrm flipH="1">
              <a:off x="4267745" y="3644900"/>
              <a:ext cx="179388" cy="612775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24632" name="Connettore 1 46"/>
            <p:cNvCxnSpPr>
              <a:cxnSpLocks noChangeShapeType="1"/>
            </p:cNvCxnSpPr>
            <p:nvPr/>
          </p:nvCxnSpPr>
          <p:spPr bwMode="auto">
            <a:xfrm flipH="1">
              <a:off x="5204370" y="4724400"/>
              <a:ext cx="179388" cy="612775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</p:grpSp>
      <p:sp>
        <p:nvSpPr>
          <p:cNvPr id="30" name="CasellaDiTesto 29"/>
          <p:cNvSpPr txBox="1">
            <a:spLocks noChangeArrowheads="1"/>
          </p:cNvSpPr>
          <p:nvPr/>
        </p:nvSpPr>
        <p:spPr bwMode="auto">
          <a:xfrm>
            <a:off x="3708400" y="1268413"/>
            <a:ext cx="4921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400"/>
              <a:t>(1)</a:t>
            </a:r>
          </a:p>
        </p:txBody>
      </p:sp>
      <p:sp>
        <p:nvSpPr>
          <p:cNvPr id="31" name="CasellaDiTesto 30"/>
          <p:cNvSpPr txBox="1">
            <a:spLocks noChangeArrowheads="1"/>
          </p:cNvSpPr>
          <p:nvPr/>
        </p:nvSpPr>
        <p:spPr bwMode="auto">
          <a:xfrm>
            <a:off x="3100388" y="1808163"/>
            <a:ext cx="70485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400"/>
              <a:t>(1,1)</a:t>
            </a:r>
          </a:p>
        </p:txBody>
      </p:sp>
      <p:sp>
        <p:nvSpPr>
          <p:cNvPr id="32" name="CasellaDiTesto 31"/>
          <p:cNvSpPr txBox="1">
            <a:spLocks noChangeArrowheads="1"/>
          </p:cNvSpPr>
          <p:nvPr/>
        </p:nvSpPr>
        <p:spPr bwMode="auto">
          <a:xfrm>
            <a:off x="3903663" y="1808163"/>
            <a:ext cx="7874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400"/>
              <a:t>(0,-1)</a:t>
            </a:r>
          </a:p>
        </p:txBody>
      </p:sp>
      <p:sp>
        <p:nvSpPr>
          <p:cNvPr id="33" name="CasellaDiTesto 32"/>
          <p:cNvSpPr txBox="1">
            <a:spLocks noChangeArrowheads="1"/>
          </p:cNvSpPr>
          <p:nvPr/>
        </p:nvSpPr>
        <p:spPr bwMode="auto">
          <a:xfrm>
            <a:off x="2159000" y="3176588"/>
            <a:ext cx="70485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400"/>
              <a:t>(1,1)</a:t>
            </a:r>
          </a:p>
        </p:txBody>
      </p:sp>
      <p:sp>
        <p:nvSpPr>
          <p:cNvPr id="34" name="CasellaDiTesto 33"/>
          <p:cNvSpPr txBox="1">
            <a:spLocks noChangeArrowheads="1"/>
          </p:cNvSpPr>
          <p:nvPr/>
        </p:nvSpPr>
        <p:spPr bwMode="auto">
          <a:xfrm>
            <a:off x="3635375" y="3141663"/>
            <a:ext cx="7874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400"/>
              <a:t>(0,-1)</a:t>
            </a:r>
          </a:p>
        </p:txBody>
      </p:sp>
      <p:sp>
        <p:nvSpPr>
          <p:cNvPr id="35" name="CasellaDiTesto 34"/>
          <p:cNvSpPr txBox="1">
            <a:spLocks noChangeArrowheads="1"/>
          </p:cNvSpPr>
          <p:nvPr/>
        </p:nvSpPr>
        <p:spPr bwMode="auto">
          <a:xfrm>
            <a:off x="4895850" y="3148013"/>
            <a:ext cx="7874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400"/>
              <a:t>(0,-1)</a:t>
            </a:r>
          </a:p>
        </p:txBody>
      </p:sp>
      <p:sp>
        <p:nvSpPr>
          <p:cNvPr id="36" name="CasellaDiTesto 35"/>
          <p:cNvSpPr txBox="1">
            <a:spLocks noChangeArrowheads="1"/>
          </p:cNvSpPr>
          <p:nvPr/>
        </p:nvSpPr>
        <p:spPr bwMode="auto">
          <a:xfrm>
            <a:off x="3111500" y="4227513"/>
            <a:ext cx="7874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400"/>
              <a:t>(0,-1)</a:t>
            </a:r>
          </a:p>
        </p:txBody>
      </p:sp>
      <p:sp>
        <p:nvSpPr>
          <p:cNvPr id="37" name="CasellaDiTesto 36"/>
          <p:cNvSpPr txBox="1">
            <a:spLocks noChangeArrowheads="1"/>
          </p:cNvSpPr>
          <p:nvPr/>
        </p:nvSpPr>
        <p:spPr bwMode="auto">
          <a:xfrm>
            <a:off x="4397375" y="4551363"/>
            <a:ext cx="99853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400"/>
              <a:t>(0,-1,1)</a:t>
            </a:r>
          </a:p>
        </p:txBody>
      </p:sp>
      <p:sp>
        <p:nvSpPr>
          <p:cNvPr id="38" name="CasellaDiTesto 37"/>
          <p:cNvSpPr txBox="1">
            <a:spLocks noChangeArrowheads="1"/>
          </p:cNvSpPr>
          <p:nvPr/>
        </p:nvSpPr>
        <p:spPr bwMode="auto">
          <a:xfrm>
            <a:off x="5697538" y="4545013"/>
            <a:ext cx="998537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400"/>
              <a:t>(0,0,-1)</a:t>
            </a:r>
          </a:p>
        </p:txBody>
      </p:sp>
      <p:sp>
        <p:nvSpPr>
          <p:cNvPr id="40" name="CasellaDiTesto 39"/>
          <p:cNvSpPr txBox="1">
            <a:spLocks noChangeArrowheads="1"/>
          </p:cNvSpPr>
          <p:nvPr/>
        </p:nvSpPr>
        <p:spPr bwMode="auto">
          <a:xfrm>
            <a:off x="6048375" y="1341438"/>
            <a:ext cx="490538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800" b="1"/>
              <a:t>P</a:t>
            </a:r>
            <a:r>
              <a:rPr lang="it-IT" sz="2800" b="1" baseline="-25000"/>
              <a:t>1</a:t>
            </a:r>
            <a:endParaRPr lang="it-IT" b="1" baseline="-25000"/>
          </a:p>
        </p:txBody>
      </p:sp>
      <p:cxnSp>
        <p:nvCxnSpPr>
          <p:cNvPr id="42" name="Connettore 1 41"/>
          <p:cNvCxnSpPr>
            <a:cxnSpLocks noChangeShapeType="1"/>
          </p:cNvCxnSpPr>
          <p:nvPr/>
        </p:nvCxnSpPr>
        <p:spPr bwMode="auto">
          <a:xfrm>
            <a:off x="6588125" y="1916113"/>
            <a:ext cx="2052638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cxnSp>
        <p:nvCxnSpPr>
          <p:cNvPr id="45" name="Connettore 1 44"/>
          <p:cNvCxnSpPr>
            <a:cxnSpLocks noChangeShapeType="1"/>
          </p:cNvCxnSpPr>
          <p:nvPr/>
        </p:nvCxnSpPr>
        <p:spPr bwMode="auto">
          <a:xfrm>
            <a:off x="6588125" y="1412875"/>
            <a:ext cx="2052638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sp>
        <p:nvSpPr>
          <p:cNvPr id="46" name="CasellaDiTesto 45"/>
          <p:cNvSpPr txBox="1">
            <a:spLocks noChangeArrowheads="1"/>
          </p:cNvSpPr>
          <p:nvPr/>
        </p:nvSpPr>
        <p:spPr bwMode="auto">
          <a:xfrm>
            <a:off x="6048375" y="1844675"/>
            <a:ext cx="49053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800" b="1"/>
              <a:t>P</a:t>
            </a:r>
            <a:r>
              <a:rPr lang="it-IT" sz="2800" b="1" baseline="-25000"/>
              <a:t>2</a:t>
            </a:r>
            <a:endParaRPr lang="it-IT" b="1" baseline="-25000"/>
          </a:p>
        </p:txBody>
      </p:sp>
      <p:cxnSp>
        <p:nvCxnSpPr>
          <p:cNvPr id="47" name="Connettore 1 46"/>
          <p:cNvCxnSpPr>
            <a:cxnSpLocks noChangeShapeType="1"/>
          </p:cNvCxnSpPr>
          <p:nvPr/>
        </p:nvCxnSpPr>
        <p:spPr bwMode="auto">
          <a:xfrm>
            <a:off x="6588125" y="2420938"/>
            <a:ext cx="2052638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cxnSp>
        <p:nvCxnSpPr>
          <p:cNvPr id="48" name="Connettore 1 47"/>
          <p:cNvCxnSpPr>
            <a:cxnSpLocks noChangeShapeType="1"/>
          </p:cNvCxnSpPr>
          <p:nvPr/>
        </p:nvCxnSpPr>
        <p:spPr bwMode="auto">
          <a:xfrm>
            <a:off x="6588125" y="1916113"/>
            <a:ext cx="2052638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sp>
        <p:nvSpPr>
          <p:cNvPr id="49" name="CasellaDiTesto 48"/>
          <p:cNvSpPr txBox="1">
            <a:spLocks noChangeArrowheads="1"/>
          </p:cNvSpPr>
          <p:nvPr/>
        </p:nvSpPr>
        <p:spPr bwMode="auto">
          <a:xfrm>
            <a:off x="6048375" y="2349500"/>
            <a:ext cx="490538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800" b="1"/>
              <a:t>P</a:t>
            </a:r>
            <a:r>
              <a:rPr lang="it-IT" sz="2800" b="1" baseline="-25000"/>
              <a:t>3</a:t>
            </a:r>
            <a:endParaRPr lang="it-IT" b="1" baseline="-25000"/>
          </a:p>
        </p:txBody>
      </p:sp>
      <p:cxnSp>
        <p:nvCxnSpPr>
          <p:cNvPr id="50" name="Connettore 1 49"/>
          <p:cNvCxnSpPr>
            <a:cxnSpLocks noChangeShapeType="1"/>
          </p:cNvCxnSpPr>
          <p:nvPr/>
        </p:nvCxnSpPr>
        <p:spPr bwMode="auto">
          <a:xfrm>
            <a:off x="6588125" y="2924175"/>
            <a:ext cx="2052638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sp>
        <p:nvSpPr>
          <p:cNvPr id="52" name="CasellaDiTesto 51"/>
          <p:cNvSpPr txBox="1">
            <a:spLocks noChangeArrowheads="1"/>
          </p:cNvSpPr>
          <p:nvPr/>
        </p:nvSpPr>
        <p:spPr bwMode="auto">
          <a:xfrm>
            <a:off x="6048375" y="2852738"/>
            <a:ext cx="49053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800" b="1"/>
              <a:t>P</a:t>
            </a:r>
            <a:r>
              <a:rPr lang="it-IT" sz="2800" b="1" baseline="-25000"/>
              <a:t>4</a:t>
            </a:r>
            <a:endParaRPr lang="it-IT" b="1" baseline="-25000"/>
          </a:p>
        </p:txBody>
      </p:sp>
      <p:cxnSp>
        <p:nvCxnSpPr>
          <p:cNvPr id="53" name="Connettore 1 52"/>
          <p:cNvCxnSpPr>
            <a:cxnSpLocks noChangeShapeType="1"/>
          </p:cNvCxnSpPr>
          <p:nvPr/>
        </p:nvCxnSpPr>
        <p:spPr bwMode="auto">
          <a:xfrm>
            <a:off x="6588125" y="3429000"/>
            <a:ext cx="2052638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</p:cxnSp>
      <p:sp>
        <p:nvSpPr>
          <p:cNvPr id="55" name="CasellaDiTesto 54"/>
          <p:cNvSpPr txBox="1">
            <a:spLocks noChangeArrowheads="1"/>
          </p:cNvSpPr>
          <p:nvPr/>
        </p:nvSpPr>
        <p:spPr bwMode="auto">
          <a:xfrm>
            <a:off x="6731000" y="1449388"/>
            <a:ext cx="325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400" b="1"/>
              <a:t>1</a:t>
            </a:r>
          </a:p>
        </p:txBody>
      </p:sp>
      <p:sp>
        <p:nvSpPr>
          <p:cNvPr id="56" name="CasellaDiTesto 55"/>
          <p:cNvSpPr txBox="1">
            <a:spLocks noChangeArrowheads="1"/>
          </p:cNvSpPr>
          <p:nvPr/>
        </p:nvSpPr>
        <p:spPr bwMode="auto">
          <a:xfrm>
            <a:off x="7415213" y="1449388"/>
            <a:ext cx="325437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400" b="1"/>
              <a:t>1</a:t>
            </a:r>
          </a:p>
        </p:txBody>
      </p:sp>
      <p:sp>
        <p:nvSpPr>
          <p:cNvPr id="57" name="CasellaDiTesto 56"/>
          <p:cNvSpPr txBox="1">
            <a:spLocks noChangeArrowheads="1"/>
          </p:cNvSpPr>
          <p:nvPr/>
        </p:nvSpPr>
        <p:spPr bwMode="auto">
          <a:xfrm>
            <a:off x="8099425" y="1449388"/>
            <a:ext cx="325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400" b="1"/>
              <a:t>0</a:t>
            </a:r>
          </a:p>
        </p:txBody>
      </p:sp>
      <p:sp>
        <p:nvSpPr>
          <p:cNvPr id="58" name="CasellaDiTesto 57"/>
          <p:cNvSpPr txBox="1">
            <a:spLocks noChangeArrowheads="1"/>
          </p:cNvSpPr>
          <p:nvPr/>
        </p:nvSpPr>
        <p:spPr bwMode="auto">
          <a:xfrm>
            <a:off x="6732588" y="1958975"/>
            <a:ext cx="32543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400" b="1"/>
              <a:t>0</a:t>
            </a:r>
          </a:p>
        </p:txBody>
      </p:sp>
      <p:sp>
        <p:nvSpPr>
          <p:cNvPr id="59" name="CasellaDiTesto 58"/>
          <p:cNvSpPr txBox="1">
            <a:spLocks noChangeArrowheads="1"/>
          </p:cNvSpPr>
          <p:nvPr/>
        </p:nvSpPr>
        <p:spPr bwMode="auto">
          <a:xfrm>
            <a:off x="7416800" y="1958975"/>
            <a:ext cx="4079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400" b="1"/>
              <a:t>-1</a:t>
            </a:r>
          </a:p>
        </p:txBody>
      </p:sp>
      <p:sp>
        <p:nvSpPr>
          <p:cNvPr id="60" name="CasellaDiTesto 59"/>
          <p:cNvSpPr txBox="1">
            <a:spLocks noChangeArrowheads="1"/>
          </p:cNvSpPr>
          <p:nvPr/>
        </p:nvSpPr>
        <p:spPr bwMode="auto">
          <a:xfrm>
            <a:off x="8101013" y="1958975"/>
            <a:ext cx="32543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400" b="1"/>
              <a:t>0</a:t>
            </a:r>
          </a:p>
        </p:txBody>
      </p:sp>
      <p:sp>
        <p:nvSpPr>
          <p:cNvPr id="61" name="CasellaDiTesto 60"/>
          <p:cNvSpPr txBox="1">
            <a:spLocks noChangeArrowheads="1"/>
          </p:cNvSpPr>
          <p:nvPr/>
        </p:nvSpPr>
        <p:spPr bwMode="auto">
          <a:xfrm>
            <a:off x="6732588" y="2463800"/>
            <a:ext cx="325437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400" b="1"/>
              <a:t>0</a:t>
            </a:r>
          </a:p>
        </p:txBody>
      </p:sp>
      <p:sp>
        <p:nvSpPr>
          <p:cNvPr id="62" name="CasellaDiTesto 61"/>
          <p:cNvSpPr txBox="1">
            <a:spLocks noChangeArrowheads="1"/>
          </p:cNvSpPr>
          <p:nvPr/>
        </p:nvSpPr>
        <p:spPr bwMode="auto">
          <a:xfrm>
            <a:off x="7416800" y="2463800"/>
            <a:ext cx="40798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400" b="1"/>
              <a:t>-1</a:t>
            </a:r>
          </a:p>
        </p:txBody>
      </p:sp>
      <p:sp>
        <p:nvSpPr>
          <p:cNvPr id="63" name="CasellaDiTesto 62"/>
          <p:cNvSpPr txBox="1">
            <a:spLocks noChangeArrowheads="1"/>
          </p:cNvSpPr>
          <p:nvPr/>
        </p:nvSpPr>
        <p:spPr bwMode="auto">
          <a:xfrm>
            <a:off x="8101013" y="2463800"/>
            <a:ext cx="325437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400" b="1"/>
              <a:t>1</a:t>
            </a:r>
          </a:p>
        </p:txBody>
      </p:sp>
      <p:sp>
        <p:nvSpPr>
          <p:cNvPr id="64" name="CasellaDiTesto 63"/>
          <p:cNvSpPr txBox="1">
            <a:spLocks noChangeArrowheads="1"/>
          </p:cNvSpPr>
          <p:nvPr/>
        </p:nvSpPr>
        <p:spPr bwMode="auto">
          <a:xfrm>
            <a:off x="6732588" y="2967038"/>
            <a:ext cx="325437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400" b="1"/>
              <a:t>0</a:t>
            </a:r>
          </a:p>
        </p:txBody>
      </p:sp>
      <p:sp>
        <p:nvSpPr>
          <p:cNvPr id="65" name="CasellaDiTesto 64"/>
          <p:cNvSpPr txBox="1">
            <a:spLocks noChangeArrowheads="1"/>
          </p:cNvSpPr>
          <p:nvPr/>
        </p:nvSpPr>
        <p:spPr bwMode="auto">
          <a:xfrm>
            <a:off x="7416800" y="2967038"/>
            <a:ext cx="32543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400" b="1"/>
              <a:t>0</a:t>
            </a:r>
          </a:p>
        </p:txBody>
      </p:sp>
      <p:sp>
        <p:nvSpPr>
          <p:cNvPr id="66" name="CasellaDiTesto 65"/>
          <p:cNvSpPr txBox="1">
            <a:spLocks noChangeArrowheads="1"/>
          </p:cNvSpPr>
          <p:nvPr/>
        </p:nvSpPr>
        <p:spPr bwMode="auto">
          <a:xfrm>
            <a:off x="8101013" y="2967038"/>
            <a:ext cx="407987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sz="2400" b="1"/>
              <a:t>-1</a:t>
            </a:r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395288" y="1268413"/>
          <a:ext cx="2871787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8" name="Equazione" r:id="rId3" imgW="1180800" imgH="228600" progId="Equation.3">
                  <p:embed/>
                </p:oleObj>
              </mc:Choice>
              <mc:Fallback>
                <p:oleObj name="Equazione" r:id="rId3" imgW="11808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1268413"/>
                        <a:ext cx="2871787" cy="555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3.58002E-6 L -0.04358 0.15009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00" y="750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2.72895E-6 L 0.05035 0.11864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00" y="590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2.77521E-7 L 0.00416 0.11332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0" y="570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2.72895E-6 L 0.05035 0.11864 " pathEditMode="relative" rAng="0" ptsTypes="AA">
                                      <p:cBhvr>
                                        <p:cTn id="53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00" y="590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75671E-6 L -0.07084 0.08626 " pathEditMode="relative" rAng="0" ptsTypes="AA">
                                      <p:cBhvr>
                                        <p:cTn id="68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00" y="43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7882 0.07354 " pathEditMode="relative" ptsTypes="AA">
                                      <p:cBhvr>
                                        <p:cTn id="72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1" grpId="1"/>
      <p:bldP spid="32" grpId="0"/>
      <p:bldP spid="32" grpId="1"/>
      <p:bldP spid="33" grpId="0"/>
      <p:bldP spid="34" grpId="0"/>
      <p:bldP spid="34" grpId="1"/>
      <p:bldP spid="34" grpId="2"/>
      <p:bldP spid="35" grpId="0"/>
      <p:bldP spid="35" grpId="1"/>
      <p:bldP spid="35" grpId="2"/>
      <p:bldP spid="36" grpId="0"/>
      <p:bldP spid="37" grpId="0"/>
      <p:bldP spid="37" grpId="1"/>
      <p:bldP spid="38" grpId="0"/>
      <p:bldP spid="38" grpId="1"/>
      <p:bldP spid="40" grpId="0"/>
      <p:bldP spid="46" grpId="0"/>
      <p:bldP spid="49" grpId="0"/>
      <p:bldP spid="52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 smtClean="0"/>
              <a:t>Careful</a:t>
            </a:r>
            <a:r>
              <a:rPr lang="it-IT" dirty="0" smtClean="0"/>
              <a:t> with </a:t>
            </a:r>
            <a:r>
              <a:rPr lang="it-IT" dirty="0" err="1" smtClean="0"/>
              <a:t>padding</a:t>
            </a:r>
            <a:r>
              <a:rPr lang="it-IT" dirty="0" smtClean="0"/>
              <a:t>…</a:t>
            </a:r>
            <a:endParaRPr lang="it-IT" dirty="0"/>
          </a:p>
        </p:txBody>
      </p:sp>
      <p:graphicFrame>
        <p:nvGraphicFramePr>
          <p:cNvPr id="27" name="Oggetto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969878"/>
              </p:ext>
            </p:extLst>
          </p:nvPr>
        </p:nvGraphicFramePr>
        <p:xfrm>
          <a:off x="2699792" y="1484784"/>
          <a:ext cx="3860800" cy="432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793" name="Equazione" r:id="rId3" imgW="1434960" imgH="1612800" progId="Equation.3">
                  <p:embed/>
                </p:oleObj>
              </mc:Choice>
              <mc:Fallback>
                <p:oleObj name="Equazione" r:id="rId3" imgW="1434960" imgH="16128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1484784"/>
                        <a:ext cx="3860800" cy="432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07683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 smtClean="0"/>
              <a:t>Wrap</a:t>
            </a:r>
            <a:r>
              <a:rPr lang="it-IT" dirty="0" smtClean="0"/>
              <a:t> up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85800" y="1125538"/>
            <a:ext cx="8026660" cy="5255790"/>
          </a:xfrm>
        </p:spPr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it-IT" dirty="0" smtClean="0"/>
              <a:t>LSSS/MSP: </a:t>
            </a:r>
            <a:r>
              <a:rPr lang="it-IT" dirty="0" err="1" smtClean="0"/>
              <a:t>generalization</a:t>
            </a:r>
            <a:r>
              <a:rPr lang="it-IT" dirty="0" smtClean="0"/>
              <a:t> </a:t>
            </a:r>
            <a:r>
              <a:rPr lang="it-IT" dirty="0" err="1" smtClean="0"/>
              <a:t>to</a:t>
            </a:r>
            <a:r>
              <a:rPr lang="it-IT" dirty="0" smtClean="0"/>
              <a:t> </a:t>
            </a:r>
            <a:r>
              <a:rPr lang="it-IT" dirty="0" err="1" smtClean="0"/>
              <a:t>arbitrary</a:t>
            </a:r>
            <a:r>
              <a:rPr lang="it-IT" dirty="0" smtClean="0"/>
              <a:t> </a:t>
            </a:r>
            <a:r>
              <a:rPr lang="it-IT" dirty="0" err="1" smtClean="0"/>
              <a:t>access</a:t>
            </a:r>
            <a:r>
              <a:rPr lang="it-IT" dirty="0" smtClean="0"/>
              <a:t> </a:t>
            </a:r>
            <a:r>
              <a:rPr lang="it-IT" dirty="0" err="1" smtClean="0"/>
              <a:t>structures</a:t>
            </a:r>
            <a:endParaRPr lang="it-IT" dirty="0" smtClean="0"/>
          </a:p>
          <a:p>
            <a:pPr lvl="1">
              <a:defRPr/>
            </a:pPr>
            <a:r>
              <a:rPr lang="it-IT" dirty="0" err="1" smtClean="0"/>
              <a:t>Must</a:t>
            </a:r>
            <a:r>
              <a:rPr lang="it-IT" dirty="0" smtClean="0"/>
              <a:t> </a:t>
            </a:r>
            <a:r>
              <a:rPr lang="it-IT" dirty="0" err="1" smtClean="0"/>
              <a:t>be</a:t>
            </a:r>
            <a:r>
              <a:rPr lang="it-IT" dirty="0" smtClean="0"/>
              <a:t> monotone</a:t>
            </a:r>
          </a:p>
          <a:p>
            <a:pPr lvl="2">
              <a:defRPr/>
            </a:pPr>
            <a:r>
              <a:rPr lang="it-IT" dirty="0" err="1" smtClean="0"/>
              <a:t>If</a:t>
            </a:r>
            <a:r>
              <a:rPr lang="it-IT" dirty="0" smtClean="0"/>
              <a:t> </a:t>
            </a:r>
            <a:r>
              <a:rPr lang="it-IT" dirty="0" err="1" smtClean="0"/>
              <a:t>parties</a:t>
            </a:r>
            <a:r>
              <a:rPr lang="it-IT" dirty="0" smtClean="0"/>
              <a:t> </a:t>
            </a:r>
            <a:r>
              <a:rPr lang="it-IT" dirty="0" err="1" smtClean="0"/>
              <a:t>A+B</a:t>
            </a:r>
            <a:r>
              <a:rPr lang="it-IT" dirty="0" smtClean="0"/>
              <a:t> </a:t>
            </a:r>
            <a:r>
              <a:rPr lang="it-IT" dirty="0" err="1" smtClean="0"/>
              <a:t>may</a:t>
            </a:r>
            <a:r>
              <a:rPr lang="it-IT" dirty="0" smtClean="0"/>
              <a:t> </a:t>
            </a:r>
            <a:r>
              <a:rPr lang="it-IT" dirty="0" err="1" smtClean="0"/>
              <a:t>access</a:t>
            </a:r>
            <a:r>
              <a:rPr lang="it-IT" dirty="0" smtClean="0"/>
              <a:t>, </a:t>
            </a:r>
            <a:r>
              <a:rPr lang="it-IT" dirty="0" err="1" smtClean="0"/>
              <a:t>also</a:t>
            </a:r>
            <a:r>
              <a:rPr lang="it-IT" dirty="0" smtClean="0"/>
              <a:t> A+B+C </a:t>
            </a:r>
            <a:r>
              <a:rPr lang="it-IT" dirty="0" err="1" smtClean="0"/>
              <a:t>may</a:t>
            </a:r>
            <a:endParaRPr lang="it-IT" dirty="0" smtClean="0"/>
          </a:p>
          <a:p>
            <a:pPr lvl="2">
              <a:defRPr/>
            </a:pPr>
            <a:r>
              <a:rPr lang="it-IT" dirty="0" err="1" smtClean="0"/>
              <a:t>Cannot</a:t>
            </a:r>
            <a:r>
              <a:rPr lang="it-IT" dirty="0" smtClean="0"/>
              <a:t> </a:t>
            </a:r>
            <a:r>
              <a:rPr lang="it-IT" dirty="0" err="1" smtClean="0"/>
              <a:t>model</a:t>
            </a:r>
            <a:r>
              <a:rPr lang="it-IT" dirty="0" smtClean="0"/>
              <a:t> </a:t>
            </a:r>
            <a:r>
              <a:rPr lang="it-IT" dirty="0" err="1" smtClean="0"/>
              <a:t>policies</a:t>
            </a:r>
            <a:r>
              <a:rPr lang="it-IT" dirty="0" smtClean="0"/>
              <a:t> </a:t>
            </a:r>
            <a:r>
              <a:rPr lang="it-IT" dirty="0" err="1" smtClean="0"/>
              <a:t>such</a:t>
            </a:r>
            <a:r>
              <a:rPr lang="it-IT" dirty="0" smtClean="0"/>
              <a:t> </a:t>
            </a:r>
            <a:r>
              <a:rPr lang="it-IT" dirty="0" err="1" smtClean="0"/>
              <a:t>as</a:t>
            </a:r>
            <a:r>
              <a:rPr lang="it-IT" dirty="0" smtClean="0"/>
              <a:t> A+B+NOT(C)</a:t>
            </a:r>
          </a:p>
          <a:p>
            <a:pPr lvl="3">
              <a:defRPr/>
            </a:pPr>
            <a:r>
              <a:rPr lang="it-IT" dirty="0" err="1" smtClean="0"/>
              <a:t>Issue</a:t>
            </a:r>
            <a:r>
              <a:rPr lang="it-IT" dirty="0" smtClean="0"/>
              <a:t> </a:t>
            </a:r>
            <a:r>
              <a:rPr lang="it-IT" dirty="0" err="1" smtClean="0"/>
              <a:t>when</a:t>
            </a:r>
            <a:r>
              <a:rPr lang="it-IT" dirty="0" smtClean="0"/>
              <a:t> </a:t>
            </a:r>
            <a:r>
              <a:rPr lang="it-IT" dirty="0" err="1" smtClean="0"/>
              <a:t>revocation</a:t>
            </a:r>
            <a:r>
              <a:rPr lang="it-IT" dirty="0" smtClean="0"/>
              <a:t> </a:t>
            </a:r>
            <a:r>
              <a:rPr lang="it-IT" dirty="0" err="1" smtClean="0"/>
              <a:t>needed</a:t>
            </a:r>
            <a:endParaRPr lang="it-IT" dirty="0" smtClean="0"/>
          </a:p>
          <a:p>
            <a:pPr>
              <a:defRPr/>
            </a:pPr>
            <a:r>
              <a:rPr lang="it-IT" dirty="0" err="1" smtClean="0"/>
              <a:t>Sub-optimal</a:t>
            </a:r>
            <a:endParaRPr lang="it-IT" dirty="0" smtClean="0"/>
          </a:p>
          <a:p>
            <a:pPr lvl="1">
              <a:defRPr/>
            </a:pPr>
            <a:r>
              <a:rPr lang="it-IT" dirty="0" err="1" smtClean="0"/>
              <a:t>Parties</a:t>
            </a:r>
            <a:r>
              <a:rPr lang="it-IT" dirty="0" smtClean="0"/>
              <a:t> </a:t>
            </a:r>
            <a:r>
              <a:rPr lang="it-IT" dirty="0" err="1" smtClean="0"/>
              <a:t>may</a:t>
            </a:r>
            <a:r>
              <a:rPr lang="it-IT" dirty="0" smtClean="0"/>
              <a:t> </a:t>
            </a:r>
            <a:r>
              <a:rPr lang="it-IT" dirty="0" err="1" smtClean="0"/>
              <a:t>need</a:t>
            </a:r>
            <a:r>
              <a:rPr lang="it-IT" dirty="0" smtClean="0"/>
              <a:t> more </a:t>
            </a:r>
            <a:r>
              <a:rPr lang="it-IT" dirty="0" err="1" smtClean="0"/>
              <a:t>than</a:t>
            </a:r>
            <a:r>
              <a:rPr lang="it-IT" dirty="0" smtClean="0"/>
              <a:t> 1 share</a:t>
            </a:r>
          </a:p>
          <a:p>
            <a:pPr lvl="1">
              <a:defRPr/>
            </a:pPr>
            <a:r>
              <a:rPr lang="it-IT" dirty="0" smtClean="0"/>
              <a:t>Minimum </a:t>
            </a:r>
            <a:r>
              <a:rPr lang="it-IT" dirty="0" err="1" smtClean="0"/>
              <a:t>overhead</a:t>
            </a:r>
            <a:r>
              <a:rPr lang="it-IT" dirty="0" smtClean="0"/>
              <a:t>: open </a:t>
            </a:r>
            <a:r>
              <a:rPr lang="it-IT" dirty="0" err="1" smtClean="0"/>
              <a:t>research</a:t>
            </a:r>
            <a:r>
              <a:rPr lang="it-IT" dirty="0" smtClean="0"/>
              <a:t> </a:t>
            </a:r>
            <a:r>
              <a:rPr lang="it-IT" dirty="0" err="1" smtClean="0"/>
              <a:t>issue</a:t>
            </a:r>
            <a:endParaRPr lang="it-IT" dirty="0"/>
          </a:p>
          <a:p>
            <a:pPr>
              <a:defRPr/>
            </a:pPr>
            <a:r>
              <a:rPr lang="it-IT" dirty="0" err="1" smtClean="0"/>
              <a:t>Improved</a:t>
            </a:r>
            <a:r>
              <a:rPr lang="it-IT" dirty="0" smtClean="0"/>
              <a:t> </a:t>
            </a:r>
            <a:r>
              <a:rPr lang="it-IT" dirty="0" err="1" smtClean="0"/>
              <a:t>constructions</a:t>
            </a:r>
            <a:endParaRPr lang="it-IT" dirty="0" smtClean="0"/>
          </a:p>
          <a:p>
            <a:pPr lvl="1">
              <a:defRPr/>
            </a:pPr>
            <a:r>
              <a:rPr lang="it-IT" dirty="0" err="1" smtClean="0"/>
              <a:t>Explicit</a:t>
            </a:r>
            <a:r>
              <a:rPr lang="it-IT" dirty="0" smtClean="0"/>
              <a:t> </a:t>
            </a:r>
            <a:r>
              <a:rPr lang="it-IT" dirty="0" err="1" smtClean="0"/>
              <a:t>threshold</a:t>
            </a:r>
            <a:r>
              <a:rPr lang="it-IT" dirty="0" smtClean="0"/>
              <a:t> </a:t>
            </a:r>
            <a:r>
              <a:rPr lang="it-IT" dirty="0" err="1" smtClean="0"/>
              <a:t>gates</a:t>
            </a:r>
            <a:r>
              <a:rPr lang="it-IT" dirty="0" smtClean="0"/>
              <a:t> [</a:t>
            </a:r>
            <a:r>
              <a:rPr lang="it-IT" dirty="0" err="1" smtClean="0"/>
              <a:t>Liu,Cao</a:t>
            </a:r>
            <a:r>
              <a:rPr lang="it-IT" dirty="0" smtClean="0"/>
              <a:t>, 2010], </a:t>
            </a:r>
            <a:r>
              <a:rPr lang="it-IT" dirty="0" err="1" smtClean="0"/>
              <a:t>but</a:t>
            </a:r>
            <a:r>
              <a:rPr lang="it-IT" dirty="0" smtClean="0"/>
              <a:t> prime </a:t>
            </a:r>
            <a:r>
              <a:rPr lang="it-IT" dirty="0" err="1" smtClean="0"/>
              <a:t>fields</a:t>
            </a:r>
            <a:r>
              <a:rPr lang="it-IT" dirty="0" smtClean="0"/>
              <a:t>…</a:t>
            </a:r>
          </a:p>
          <a:p>
            <a:pPr>
              <a:defRPr/>
            </a:pPr>
            <a:r>
              <a:rPr lang="it-IT" dirty="0" err="1" smtClean="0"/>
              <a:t>Applications</a:t>
            </a:r>
            <a:endParaRPr lang="it-IT" dirty="0" smtClean="0"/>
          </a:p>
          <a:p>
            <a:pPr lvl="1">
              <a:defRPr/>
            </a:pPr>
            <a:r>
              <a:rPr lang="it-IT" dirty="0" err="1" smtClean="0"/>
              <a:t>Dramatic</a:t>
            </a:r>
            <a:r>
              <a:rPr lang="it-IT" dirty="0" smtClean="0"/>
              <a:t>! </a:t>
            </a:r>
            <a:r>
              <a:rPr lang="it-IT" dirty="0" err="1" smtClean="0"/>
              <a:t>Most</a:t>
            </a:r>
            <a:r>
              <a:rPr lang="it-IT" dirty="0" smtClean="0"/>
              <a:t> </a:t>
            </a:r>
            <a:r>
              <a:rPr lang="it-IT" dirty="0" err="1" smtClean="0"/>
              <a:t>modern</a:t>
            </a:r>
            <a:r>
              <a:rPr lang="it-IT" dirty="0" smtClean="0"/>
              <a:t> </a:t>
            </a:r>
            <a:r>
              <a:rPr lang="it-IT" dirty="0" err="1" smtClean="0"/>
              <a:t>crypto</a:t>
            </a:r>
            <a:r>
              <a:rPr lang="it-IT" dirty="0" smtClean="0"/>
              <a:t> </a:t>
            </a:r>
          </a:p>
          <a:p>
            <a:pPr lvl="2">
              <a:defRPr/>
            </a:pPr>
            <a:r>
              <a:rPr lang="it-IT" dirty="0" smtClean="0"/>
              <a:t>E.g. </a:t>
            </a:r>
            <a:r>
              <a:rPr lang="it-IT" dirty="0" err="1" smtClean="0"/>
              <a:t>attribute</a:t>
            </a:r>
            <a:r>
              <a:rPr lang="it-IT" dirty="0" smtClean="0"/>
              <a:t> </a:t>
            </a:r>
            <a:r>
              <a:rPr lang="it-IT" dirty="0" err="1" smtClean="0"/>
              <a:t>based</a:t>
            </a:r>
            <a:r>
              <a:rPr lang="it-IT" dirty="0" smtClean="0"/>
              <a:t> </a:t>
            </a:r>
            <a:r>
              <a:rPr lang="it-IT" dirty="0" err="1" smtClean="0"/>
              <a:t>cryptography</a:t>
            </a: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14templ">
  <a:themeElements>
    <a:clrScheme name="">
      <a:dk1>
        <a:srgbClr val="000000"/>
      </a:dk1>
      <a:lt1>
        <a:srgbClr val="FFFFFF"/>
      </a:lt1>
      <a:dk2>
        <a:srgbClr val="000000"/>
      </a:dk2>
      <a:lt2>
        <a:srgbClr val="CECECE"/>
      </a:lt2>
      <a:accent1>
        <a:srgbClr val="474747"/>
      </a:accent1>
      <a:accent2>
        <a:srgbClr val="DADADA"/>
      </a:accent2>
      <a:accent3>
        <a:srgbClr val="FFFFFF"/>
      </a:accent3>
      <a:accent4>
        <a:srgbClr val="000000"/>
      </a:accent4>
      <a:accent5>
        <a:srgbClr val="B1B1B1"/>
      </a:accent5>
      <a:accent6>
        <a:srgbClr val="C5C5C5"/>
      </a:accent6>
      <a:hlink>
        <a:srgbClr val="000000"/>
      </a:hlink>
      <a:folHlink>
        <a:srgbClr val="919191"/>
      </a:folHlink>
    </a:clrScheme>
    <a:fontScheme name="214templ">
      <a:majorFont>
        <a:latin typeface="Bookman Old Style"/>
        <a:ea typeface=""/>
        <a:cs typeface=""/>
      </a:majorFont>
      <a:minorFont>
        <a:latin typeface="Bookman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>
            <a:alpha val="50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>
            <a:alpha val="50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</a:objectDefaults>
  <a:extraClrSchemeLst>
    <a:extraClrScheme>
      <a:clrScheme name="214temp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4templ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3E8458D254D7543B8EE0336155E759B" ma:contentTypeVersion="6" ma:contentTypeDescription="Creare un nuovo documento." ma:contentTypeScope="" ma:versionID="634e05960707776122f6c34782d58d55">
  <xsd:schema xmlns:xsd="http://www.w3.org/2001/XMLSchema" xmlns:xs="http://www.w3.org/2001/XMLSchema" xmlns:p="http://schemas.microsoft.com/office/2006/metadata/properties" xmlns:ns2="2154ac9b-a8e0-4f77-b94d-78f05534efde" targetNamespace="http://schemas.microsoft.com/office/2006/metadata/properties" ma:root="true" ma:fieldsID="550181c30c827cd1adfb638e20e39b69" ns2:_="">
    <xsd:import namespace="2154ac9b-a8e0-4f77-b94d-78f05534ef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54ac9b-a8e0-4f77-b94d-78f05534ef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1D418D1-7367-4FF8-B1FA-CF47B019123A}"/>
</file>

<file path=customXml/itemProps2.xml><?xml version="1.0" encoding="utf-8"?>
<ds:datastoreItem xmlns:ds="http://schemas.openxmlformats.org/officeDocument/2006/customXml" ds:itemID="{48696332-9B2F-452A-B964-38D9D979D036}"/>
</file>

<file path=customXml/itemProps3.xml><?xml version="1.0" encoding="utf-8"?>
<ds:datastoreItem xmlns:ds="http://schemas.openxmlformats.org/officeDocument/2006/customXml" ds:itemID="{A172C962-6B0D-4048-97A4-53EA266D580E}"/>
</file>

<file path=docProps/app.xml><?xml version="1.0" encoding="utf-8"?>
<Properties xmlns="http://schemas.openxmlformats.org/officeDocument/2006/extended-properties" xmlns:vt="http://schemas.openxmlformats.org/officeDocument/2006/docPropsVTypes">
  <Template>c:\214\214templ.ppt</Template>
  <TotalTime>0</TotalTime>
  <Pages>22</Pages>
  <Words>722</Words>
  <Application>Microsoft Office PowerPoint</Application>
  <PresentationFormat>Presentazione su schermo (4:3)</PresentationFormat>
  <Paragraphs>370</Paragraphs>
  <Slides>23</Slides>
  <Notes>0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10</vt:i4>
      </vt:variant>
      <vt:variant>
        <vt:lpstr>Tema</vt:lpstr>
      </vt:variant>
      <vt:variant>
        <vt:i4>1</vt:i4>
      </vt:variant>
      <vt:variant>
        <vt:lpstr>Server OLE incorporati</vt:lpstr>
      </vt:variant>
      <vt:variant>
        <vt:i4>1</vt:i4>
      </vt:variant>
      <vt:variant>
        <vt:lpstr>Titoli diapositive</vt:lpstr>
      </vt:variant>
      <vt:variant>
        <vt:i4>23</vt:i4>
      </vt:variant>
    </vt:vector>
  </HeadingPairs>
  <TitlesOfParts>
    <vt:vector size="35" baseType="lpstr">
      <vt:lpstr>Arial</vt:lpstr>
      <vt:lpstr>Arial Narrow</vt:lpstr>
      <vt:lpstr>Book Antiqua</vt:lpstr>
      <vt:lpstr>Bookman Old Style</vt:lpstr>
      <vt:lpstr>Euclid Symbol</vt:lpstr>
      <vt:lpstr>Mathematica3</vt:lpstr>
      <vt:lpstr>Symbol</vt:lpstr>
      <vt:lpstr>Tahoma</vt:lpstr>
      <vt:lpstr>Times New Roman</vt:lpstr>
      <vt:lpstr>Wingdings</vt:lpstr>
      <vt:lpstr>214templ</vt:lpstr>
      <vt:lpstr>Equazione</vt:lpstr>
      <vt:lpstr>Linear Secret Sharing  &amp; Access Control Matrix</vt:lpstr>
      <vt:lpstr>Revisiting Shamir Scheme</vt:lpstr>
      <vt:lpstr>Shamir scheme in matrix form</vt:lpstr>
      <vt:lpstr>Reconstructing secret</vt:lpstr>
      <vt:lpstr>Reconstructing secret</vt:lpstr>
      <vt:lpstr>An alternative interpretation</vt:lpstr>
      <vt:lpstr>An alternative interpretation</vt:lpstr>
      <vt:lpstr>An alternative interpretation</vt:lpstr>
      <vt:lpstr>Much more general!</vt:lpstr>
      <vt:lpstr>Trivial Secret Share is LSSS</vt:lpstr>
      <vt:lpstr>Any LSSS is homomorphic</vt:lpstr>
      <vt:lpstr>Monotone Span Programs (example in GF2, other fields OK)</vt:lpstr>
      <vt:lpstr>Monotone Span Programs</vt:lpstr>
      <vt:lpstr>Monotone Span Programs</vt:lpstr>
      <vt:lpstr>Span Programs  Secret Sharing</vt:lpstr>
      <vt:lpstr>Span Programs  Secret Sharing</vt:lpstr>
      <vt:lpstr>LSSS and access structure</vt:lpstr>
      <vt:lpstr>LSSS matrix from AC Predicate</vt:lpstr>
      <vt:lpstr>AND gate</vt:lpstr>
      <vt:lpstr>OR gate</vt:lpstr>
      <vt:lpstr>Matrix construction</vt:lpstr>
      <vt:lpstr>Careful with padding…</vt:lpstr>
      <vt:lpstr>Wrap up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101</dc:title>
  <dc:subject>Lecture</dc:subject>
  <dc:creator>Giuseppe Bianchi</dc:creator>
  <cp:lastModifiedBy>Giuseppe Bianchi</cp:lastModifiedBy>
  <cp:revision>601</cp:revision>
  <cp:lastPrinted>1998-04-09T13:49:28Z</cp:lastPrinted>
  <dcterms:created xsi:type="dcterms:W3CDTF">1996-09-11T22:41:56Z</dcterms:created>
  <dcterms:modified xsi:type="dcterms:W3CDTF">2019-12-16T12:27:08Z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0x010100E3E8458D254D7543B8EE0336155E759B</vt:lpwstr>
  </property>
</Properties>
</file>