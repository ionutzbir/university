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740" r:id="rId2"/>
    <p:sldId id="733" r:id="rId3"/>
    <p:sldId id="734" r:id="rId4"/>
    <p:sldId id="736" r:id="rId5"/>
    <p:sldId id="737" r:id="rId6"/>
    <p:sldId id="735" r:id="rId7"/>
    <p:sldId id="771" r:id="rId8"/>
    <p:sldId id="772" r:id="rId9"/>
    <p:sldId id="773" r:id="rId10"/>
    <p:sldId id="774" r:id="rId11"/>
    <p:sldId id="775" r:id="rId12"/>
    <p:sldId id="777" r:id="rId13"/>
    <p:sldId id="778" r:id="rId14"/>
    <p:sldId id="779" r:id="rId15"/>
    <p:sldId id="780" r:id="rId16"/>
    <p:sldId id="781" r:id="rId17"/>
    <p:sldId id="782" r:id="rId18"/>
    <p:sldId id="783" r:id="rId19"/>
    <p:sldId id="784" r:id="rId20"/>
    <p:sldId id="785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CCFF"/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9122" autoAdjust="0"/>
  </p:normalViewPr>
  <p:slideViewPr>
    <p:cSldViewPr>
      <p:cViewPr varScale="1">
        <p:scale>
          <a:sx n="60" d="100"/>
          <a:sy n="60" d="100"/>
        </p:scale>
        <p:origin x="1464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7D24F2BB-BBB3-44BC-9B89-4055B506CF0B}" type="slidenum">
              <a:rPr lang="en-US" altLang="it-IT" sz="2500">
                <a:latin typeface="Book Antiqua" pitchFamily="18" charset="0"/>
              </a:rPr>
              <a:pPr/>
              <a:t>‹N›</a:t>
            </a:fld>
            <a:endParaRPr lang="en-US" altLang="it-IT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61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839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387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5793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7548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371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6413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26685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8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5985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049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5660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46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929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BEAST </a:t>
            </a:r>
            <a:r>
              <a:rPr lang="it-IT" sz="3200" dirty="0" err="1"/>
              <a:t>attack</a:t>
            </a:r>
            <a:r>
              <a:rPr lang="it-IT" sz="3200" dirty="0"/>
              <a:t>: </a:t>
            </a:r>
            <a:r>
              <a:rPr lang="it-IT" sz="3200" dirty="0" err="1"/>
              <a:t>exploits</a:t>
            </a:r>
            <a:br>
              <a:rPr lang="it-IT" sz="3200" dirty="0"/>
            </a:br>
            <a:r>
              <a:rPr lang="it-IT" sz="3200" dirty="0" err="1"/>
              <a:t>predictable</a:t>
            </a:r>
            <a:r>
              <a:rPr lang="it-IT" sz="3200" dirty="0"/>
              <a:t> CBC IV in TLS v1.0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CBC </a:t>
            </a:r>
            <a:r>
              <a:rPr lang="it-IT" dirty="0" err="1"/>
              <a:t>for</a:t>
            </a:r>
            <a:r>
              <a:rPr lang="it-IT" dirty="0"/>
              <a:t> multiple </a:t>
            </a:r>
            <a:r>
              <a:rPr lang="it-IT" dirty="0" err="1"/>
              <a:t>msg</a:t>
            </a:r>
            <a:r>
              <a:rPr lang="it-IT" dirty="0"/>
              <a:t> (</a:t>
            </a:r>
            <a:r>
              <a:rPr lang="it-IT" dirty="0" err="1"/>
              <a:t>same</a:t>
            </a:r>
            <a:r>
              <a:rPr lang="it-IT" dirty="0"/>
              <a:t> K)</a:t>
            </a:r>
          </a:p>
        </p:txBody>
      </p:sp>
      <p:grpSp>
        <p:nvGrpSpPr>
          <p:cNvPr id="32771" name="Gruppo 47"/>
          <p:cNvGrpSpPr>
            <a:grpSpLocks/>
          </p:cNvGrpSpPr>
          <p:nvPr/>
        </p:nvGrpSpPr>
        <p:grpSpPr bwMode="auto">
          <a:xfrm>
            <a:off x="704850" y="981075"/>
            <a:ext cx="7467600" cy="1909763"/>
            <a:chOff x="704900" y="980660"/>
            <a:chExt cx="7467600" cy="2457450"/>
          </a:xfrm>
        </p:grpSpPr>
        <p:sp>
          <p:nvSpPr>
            <p:cNvPr id="32816" name="Rectangle 5"/>
            <p:cNvSpPr>
              <a:spLocks noChangeArrowheads="1"/>
            </p:cNvSpPr>
            <p:nvPr/>
          </p:nvSpPr>
          <p:spPr bwMode="auto">
            <a:xfrm>
              <a:off x="21527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817" name="Rectangle 6"/>
            <p:cNvSpPr>
              <a:spLocks noChangeArrowheads="1"/>
            </p:cNvSpPr>
            <p:nvPr/>
          </p:nvSpPr>
          <p:spPr bwMode="auto">
            <a:xfrm>
              <a:off x="38291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818" name="Rectangle 8"/>
            <p:cNvSpPr>
              <a:spLocks noChangeArrowheads="1"/>
            </p:cNvSpPr>
            <p:nvPr/>
          </p:nvSpPr>
          <p:spPr bwMode="auto">
            <a:xfrm>
              <a:off x="70295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819" name="Rectangle 10"/>
            <p:cNvSpPr>
              <a:spLocks noChangeArrowheads="1"/>
            </p:cNvSpPr>
            <p:nvPr/>
          </p:nvSpPr>
          <p:spPr bwMode="auto">
            <a:xfrm>
              <a:off x="1847900" y="980660"/>
              <a:ext cx="15240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m1[0]</a:t>
              </a:r>
            </a:p>
          </p:txBody>
        </p:sp>
        <p:sp>
          <p:nvSpPr>
            <p:cNvPr id="32820" name="Rectangle 11"/>
            <p:cNvSpPr>
              <a:spLocks noChangeArrowheads="1"/>
            </p:cNvSpPr>
            <p:nvPr/>
          </p:nvSpPr>
          <p:spPr bwMode="auto">
            <a:xfrm>
              <a:off x="3371900" y="980660"/>
              <a:ext cx="16764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m1[1]</a:t>
              </a:r>
            </a:p>
          </p:txBody>
        </p:sp>
        <p:sp>
          <p:nvSpPr>
            <p:cNvPr id="32821" name="Rectangle 12"/>
            <p:cNvSpPr>
              <a:spLocks noChangeArrowheads="1"/>
            </p:cNvSpPr>
            <p:nvPr/>
          </p:nvSpPr>
          <p:spPr bwMode="auto">
            <a:xfrm>
              <a:off x="5048300" y="980660"/>
              <a:ext cx="16002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m1[2]</a:t>
              </a:r>
            </a:p>
          </p:txBody>
        </p:sp>
        <p:sp>
          <p:nvSpPr>
            <p:cNvPr id="32822" name="Rectangle 13"/>
            <p:cNvSpPr>
              <a:spLocks noChangeArrowheads="1"/>
            </p:cNvSpPr>
            <p:nvPr/>
          </p:nvSpPr>
          <p:spPr bwMode="auto">
            <a:xfrm>
              <a:off x="6648500" y="980660"/>
              <a:ext cx="15240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m1[3]</a:t>
              </a:r>
            </a:p>
          </p:txBody>
        </p:sp>
        <p:sp>
          <p:nvSpPr>
            <p:cNvPr id="32823" name="Rectangle 14"/>
            <p:cNvSpPr>
              <a:spLocks noChangeArrowheads="1"/>
            </p:cNvSpPr>
            <p:nvPr/>
          </p:nvSpPr>
          <p:spPr bwMode="auto">
            <a:xfrm>
              <a:off x="704900" y="980660"/>
              <a:ext cx="838200" cy="28575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IV-1</a:t>
              </a:r>
            </a:p>
          </p:txBody>
        </p:sp>
        <p:sp>
          <p:nvSpPr>
            <p:cNvPr id="32824" name="Text Box 15"/>
            <p:cNvSpPr txBox="1">
              <a:spLocks noChangeArrowheads="1"/>
            </p:cNvSpPr>
            <p:nvPr/>
          </p:nvSpPr>
          <p:spPr bwMode="auto">
            <a:xfrm>
              <a:off x="2341613" y="1368010"/>
              <a:ext cx="50006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825" name="Text Box 16"/>
            <p:cNvSpPr txBox="1">
              <a:spLocks noChangeArrowheads="1"/>
            </p:cNvSpPr>
            <p:nvPr/>
          </p:nvSpPr>
          <p:spPr bwMode="auto">
            <a:xfrm>
              <a:off x="7258100" y="1368010"/>
              <a:ext cx="5000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826" name="Text Box 17"/>
            <p:cNvSpPr txBox="1">
              <a:spLocks noChangeArrowheads="1"/>
            </p:cNvSpPr>
            <p:nvPr/>
          </p:nvSpPr>
          <p:spPr bwMode="auto">
            <a:xfrm>
              <a:off x="4057700" y="1368010"/>
              <a:ext cx="5000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827" name="Line 19"/>
            <p:cNvSpPr>
              <a:spLocks noChangeShapeType="1"/>
            </p:cNvSpPr>
            <p:nvPr/>
          </p:nvSpPr>
          <p:spPr bwMode="auto">
            <a:xfrm>
              <a:off x="2578150" y="126641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28" name="Line 20"/>
            <p:cNvSpPr>
              <a:spLocks noChangeShapeType="1"/>
            </p:cNvSpPr>
            <p:nvPr/>
          </p:nvSpPr>
          <p:spPr bwMode="auto">
            <a:xfrm>
              <a:off x="4286300" y="1290223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29" name="Line 21"/>
            <p:cNvSpPr>
              <a:spLocks noChangeShapeType="1"/>
            </p:cNvSpPr>
            <p:nvPr/>
          </p:nvSpPr>
          <p:spPr bwMode="auto">
            <a:xfrm>
              <a:off x="7486700" y="126641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0" name="Line 22"/>
            <p:cNvSpPr>
              <a:spLocks noChangeShapeType="1"/>
            </p:cNvSpPr>
            <p:nvPr/>
          </p:nvSpPr>
          <p:spPr bwMode="auto">
            <a:xfrm>
              <a:off x="4286300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1" name="Line 23"/>
            <p:cNvSpPr>
              <a:spLocks noChangeShapeType="1"/>
            </p:cNvSpPr>
            <p:nvPr/>
          </p:nvSpPr>
          <p:spPr bwMode="auto">
            <a:xfrm>
              <a:off x="7486700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2" name="Line 24"/>
            <p:cNvSpPr>
              <a:spLocks noChangeShapeType="1"/>
            </p:cNvSpPr>
            <p:nvPr/>
          </p:nvSpPr>
          <p:spPr bwMode="auto">
            <a:xfrm>
              <a:off x="2533700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3" name="Freeform 26"/>
            <p:cNvSpPr>
              <a:spLocks/>
            </p:cNvSpPr>
            <p:nvPr/>
          </p:nvSpPr>
          <p:spPr bwMode="auto">
            <a:xfrm>
              <a:off x="1085900" y="1266410"/>
              <a:ext cx="1371600" cy="400050"/>
            </a:xfrm>
            <a:custGeom>
              <a:avLst/>
              <a:gdLst>
                <a:gd name="T0" fmla="*/ 0 w 864"/>
                <a:gd name="T1" fmla="*/ 0 h 336"/>
                <a:gd name="T2" fmla="*/ 0 w 864"/>
                <a:gd name="T3" fmla="*/ 2147483647 h 336"/>
                <a:gd name="T4" fmla="*/ 2147483647 w 864"/>
                <a:gd name="T5" fmla="*/ 2147483647 h 336"/>
                <a:gd name="T6" fmla="*/ 0 60000 65536"/>
                <a:gd name="T7" fmla="*/ 0 60000 65536"/>
                <a:gd name="T8" fmla="*/ 0 60000 65536"/>
                <a:gd name="T9" fmla="*/ 0 w 864"/>
                <a:gd name="T10" fmla="*/ 0 h 336"/>
                <a:gd name="T11" fmla="*/ 864 w 864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336">
                  <a:moveTo>
                    <a:pt x="0" y="0"/>
                  </a:moveTo>
                  <a:lnTo>
                    <a:pt x="0" y="336"/>
                  </a:lnTo>
                  <a:lnTo>
                    <a:pt x="864" y="33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4" name="Line 27"/>
            <p:cNvSpPr>
              <a:spLocks noChangeShapeType="1"/>
            </p:cNvSpPr>
            <p:nvPr/>
          </p:nvSpPr>
          <p:spPr bwMode="auto">
            <a:xfrm>
              <a:off x="2533700" y="269516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5" name="Freeform 28"/>
            <p:cNvSpPr>
              <a:spLocks/>
            </p:cNvSpPr>
            <p:nvPr/>
          </p:nvSpPr>
          <p:spPr bwMode="auto">
            <a:xfrm>
              <a:off x="2533700" y="1666460"/>
              <a:ext cx="1600200" cy="1257300"/>
            </a:xfrm>
            <a:custGeom>
              <a:avLst/>
              <a:gdLst>
                <a:gd name="T0" fmla="*/ 0 w 1008"/>
                <a:gd name="T1" fmla="*/ 2147483647 h 1056"/>
                <a:gd name="T2" fmla="*/ 2147483647 w 1008"/>
                <a:gd name="T3" fmla="*/ 2147483647 h 1056"/>
                <a:gd name="T4" fmla="*/ 2147483647 w 1008"/>
                <a:gd name="T5" fmla="*/ 0 h 1056"/>
                <a:gd name="T6" fmla="*/ 2147483647 w 1008"/>
                <a:gd name="T7" fmla="*/ 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056"/>
                <a:gd name="T14" fmla="*/ 1008 w 1008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056">
                  <a:moveTo>
                    <a:pt x="0" y="1056"/>
                  </a:moveTo>
                  <a:lnTo>
                    <a:pt x="576" y="1056"/>
                  </a:lnTo>
                  <a:lnTo>
                    <a:pt x="576" y="0"/>
                  </a:lnTo>
                  <a:lnTo>
                    <a:pt x="100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6" name="Line 29"/>
            <p:cNvSpPr>
              <a:spLocks noChangeShapeType="1"/>
            </p:cNvSpPr>
            <p:nvPr/>
          </p:nvSpPr>
          <p:spPr bwMode="auto">
            <a:xfrm>
              <a:off x="4286300" y="269516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7" name="Rectangle 36"/>
            <p:cNvSpPr>
              <a:spLocks noChangeArrowheads="1"/>
            </p:cNvSpPr>
            <p:nvPr/>
          </p:nvSpPr>
          <p:spPr bwMode="auto">
            <a:xfrm>
              <a:off x="55055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838" name="Freeform 37"/>
            <p:cNvSpPr>
              <a:spLocks/>
            </p:cNvSpPr>
            <p:nvPr/>
          </p:nvSpPr>
          <p:spPr bwMode="auto">
            <a:xfrm>
              <a:off x="4286300" y="1666460"/>
              <a:ext cx="1600200" cy="1257300"/>
            </a:xfrm>
            <a:custGeom>
              <a:avLst/>
              <a:gdLst>
                <a:gd name="T0" fmla="*/ 0 w 1008"/>
                <a:gd name="T1" fmla="*/ 2147483647 h 1056"/>
                <a:gd name="T2" fmla="*/ 2147483647 w 1008"/>
                <a:gd name="T3" fmla="*/ 2147483647 h 1056"/>
                <a:gd name="T4" fmla="*/ 2147483647 w 1008"/>
                <a:gd name="T5" fmla="*/ 0 h 1056"/>
                <a:gd name="T6" fmla="*/ 2147483647 w 1008"/>
                <a:gd name="T7" fmla="*/ 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056"/>
                <a:gd name="T14" fmla="*/ 1008 w 1008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056">
                  <a:moveTo>
                    <a:pt x="0" y="1056"/>
                  </a:moveTo>
                  <a:lnTo>
                    <a:pt x="576" y="1056"/>
                  </a:lnTo>
                  <a:lnTo>
                    <a:pt x="576" y="0"/>
                  </a:lnTo>
                  <a:lnTo>
                    <a:pt x="100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39" name="Freeform 38"/>
            <p:cNvSpPr>
              <a:spLocks/>
            </p:cNvSpPr>
            <p:nvPr/>
          </p:nvSpPr>
          <p:spPr bwMode="auto">
            <a:xfrm>
              <a:off x="5962700" y="1666460"/>
              <a:ext cx="1371600" cy="1257300"/>
            </a:xfrm>
            <a:custGeom>
              <a:avLst/>
              <a:gdLst>
                <a:gd name="T0" fmla="*/ 0 w 1008"/>
                <a:gd name="T1" fmla="*/ 2147483647 h 1056"/>
                <a:gd name="T2" fmla="*/ 2147483647 w 1008"/>
                <a:gd name="T3" fmla="*/ 2147483647 h 1056"/>
                <a:gd name="T4" fmla="*/ 2147483647 w 1008"/>
                <a:gd name="T5" fmla="*/ 0 h 1056"/>
                <a:gd name="T6" fmla="*/ 2147483647 w 1008"/>
                <a:gd name="T7" fmla="*/ 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056"/>
                <a:gd name="T14" fmla="*/ 1008 w 1008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056">
                  <a:moveTo>
                    <a:pt x="0" y="1056"/>
                  </a:moveTo>
                  <a:lnTo>
                    <a:pt x="576" y="1056"/>
                  </a:lnTo>
                  <a:lnTo>
                    <a:pt x="576" y="0"/>
                  </a:lnTo>
                  <a:lnTo>
                    <a:pt x="100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40" name="Text Box 39"/>
            <p:cNvSpPr txBox="1">
              <a:spLocks noChangeArrowheads="1"/>
            </p:cNvSpPr>
            <p:nvPr/>
          </p:nvSpPr>
          <p:spPr bwMode="auto">
            <a:xfrm>
              <a:off x="5770613" y="1368010"/>
              <a:ext cx="50006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841" name="Line 40"/>
            <p:cNvSpPr>
              <a:spLocks noChangeShapeType="1"/>
            </p:cNvSpPr>
            <p:nvPr/>
          </p:nvSpPr>
          <p:spPr bwMode="auto">
            <a:xfrm>
              <a:off x="5999213" y="1290223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42" name="Line 41"/>
            <p:cNvSpPr>
              <a:spLocks noChangeShapeType="1"/>
            </p:cNvSpPr>
            <p:nvPr/>
          </p:nvSpPr>
          <p:spPr bwMode="auto">
            <a:xfrm>
              <a:off x="5999213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43" name="Line 42"/>
            <p:cNvSpPr>
              <a:spLocks noChangeShapeType="1"/>
            </p:cNvSpPr>
            <p:nvPr/>
          </p:nvSpPr>
          <p:spPr bwMode="auto">
            <a:xfrm>
              <a:off x="5962700" y="269516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44" name="Line 43"/>
            <p:cNvSpPr>
              <a:spLocks noChangeShapeType="1"/>
            </p:cNvSpPr>
            <p:nvPr/>
          </p:nvSpPr>
          <p:spPr bwMode="auto">
            <a:xfrm>
              <a:off x="7485113" y="2695160"/>
              <a:ext cx="1587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45" name="Rectangle 44"/>
            <p:cNvSpPr>
              <a:spLocks noChangeArrowheads="1"/>
            </p:cNvSpPr>
            <p:nvPr/>
          </p:nvSpPr>
          <p:spPr bwMode="auto">
            <a:xfrm>
              <a:off x="1847900" y="3152360"/>
              <a:ext cx="15240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c1[0]</a:t>
              </a:r>
            </a:p>
          </p:txBody>
        </p:sp>
        <p:sp>
          <p:nvSpPr>
            <p:cNvPr id="32846" name="Rectangle 45"/>
            <p:cNvSpPr>
              <a:spLocks noChangeArrowheads="1"/>
            </p:cNvSpPr>
            <p:nvPr/>
          </p:nvSpPr>
          <p:spPr bwMode="auto">
            <a:xfrm>
              <a:off x="3371900" y="3152360"/>
              <a:ext cx="16764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c1[1]</a:t>
              </a:r>
            </a:p>
          </p:txBody>
        </p:sp>
        <p:sp>
          <p:nvSpPr>
            <p:cNvPr id="32847" name="Rectangle 46"/>
            <p:cNvSpPr>
              <a:spLocks noChangeArrowheads="1"/>
            </p:cNvSpPr>
            <p:nvPr/>
          </p:nvSpPr>
          <p:spPr bwMode="auto">
            <a:xfrm>
              <a:off x="5048300" y="3152360"/>
              <a:ext cx="16002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c1[2]</a:t>
              </a:r>
            </a:p>
          </p:txBody>
        </p:sp>
        <p:sp>
          <p:nvSpPr>
            <p:cNvPr id="32848" name="Rectangle 47"/>
            <p:cNvSpPr>
              <a:spLocks noChangeArrowheads="1"/>
            </p:cNvSpPr>
            <p:nvPr/>
          </p:nvSpPr>
          <p:spPr bwMode="auto">
            <a:xfrm>
              <a:off x="6648500" y="3152360"/>
              <a:ext cx="15240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c1[3]</a:t>
              </a:r>
            </a:p>
          </p:txBody>
        </p:sp>
        <p:sp>
          <p:nvSpPr>
            <p:cNvPr id="32849" name="Rectangle 48"/>
            <p:cNvSpPr>
              <a:spLocks noChangeArrowheads="1"/>
            </p:cNvSpPr>
            <p:nvPr/>
          </p:nvSpPr>
          <p:spPr bwMode="auto">
            <a:xfrm>
              <a:off x="704900" y="3152360"/>
              <a:ext cx="838200" cy="28575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IV-1</a:t>
              </a:r>
            </a:p>
          </p:txBody>
        </p:sp>
        <p:cxnSp>
          <p:nvCxnSpPr>
            <p:cNvPr id="32850" name="Connettore 2 43"/>
            <p:cNvCxnSpPr>
              <a:cxnSpLocks noChangeShapeType="1"/>
            </p:cNvCxnSpPr>
            <p:nvPr/>
          </p:nvCxnSpPr>
          <p:spPr bwMode="auto">
            <a:xfrm>
              <a:off x="3654475" y="2604673"/>
              <a:ext cx="144463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51" name="CasellaDiTesto 44"/>
            <p:cNvSpPr txBox="1">
              <a:spLocks noChangeArrowheads="1"/>
            </p:cNvSpPr>
            <p:nvPr/>
          </p:nvSpPr>
          <p:spPr bwMode="auto">
            <a:xfrm>
              <a:off x="3416350" y="2388773"/>
              <a:ext cx="3111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  <p:cxnSp>
          <p:nvCxnSpPr>
            <p:cNvPr id="32852" name="Connettore 2 45"/>
            <p:cNvCxnSpPr>
              <a:cxnSpLocks noChangeShapeType="1"/>
            </p:cNvCxnSpPr>
            <p:nvPr/>
          </p:nvCxnSpPr>
          <p:spPr bwMode="auto">
            <a:xfrm>
              <a:off x="1998713" y="2614198"/>
              <a:ext cx="144462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53" name="CasellaDiTesto 46"/>
            <p:cNvSpPr txBox="1">
              <a:spLocks noChangeArrowheads="1"/>
            </p:cNvSpPr>
            <p:nvPr/>
          </p:nvSpPr>
          <p:spPr bwMode="auto">
            <a:xfrm>
              <a:off x="1759000" y="2398298"/>
              <a:ext cx="3111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  <p:cxnSp>
          <p:nvCxnSpPr>
            <p:cNvPr id="32854" name="Connettore 2 47"/>
            <p:cNvCxnSpPr>
              <a:cxnSpLocks noChangeShapeType="1"/>
            </p:cNvCxnSpPr>
            <p:nvPr/>
          </p:nvCxnSpPr>
          <p:spPr bwMode="auto">
            <a:xfrm>
              <a:off x="5383263" y="2614198"/>
              <a:ext cx="144462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55" name="CasellaDiTesto 48"/>
            <p:cNvSpPr txBox="1">
              <a:spLocks noChangeArrowheads="1"/>
            </p:cNvSpPr>
            <p:nvPr/>
          </p:nvSpPr>
          <p:spPr bwMode="auto">
            <a:xfrm>
              <a:off x="5143550" y="2398298"/>
              <a:ext cx="3111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  <p:cxnSp>
          <p:nvCxnSpPr>
            <p:cNvPr id="32856" name="Connettore 2 49"/>
            <p:cNvCxnSpPr>
              <a:cxnSpLocks noChangeShapeType="1"/>
            </p:cNvCxnSpPr>
            <p:nvPr/>
          </p:nvCxnSpPr>
          <p:spPr bwMode="auto">
            <a:xfrm>
              <a:off x="6918375" y="2614198"/>
              <a:ext cx="144463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57" name="CasellaDiTesto 50"/>
            <p:cNvSpPr txBox="1">
              <a:spLocks noChangeArrowheads="1"/>
            </p:cNvSpPr>
            <p:nvPr/>
          </p:nvSpPr>
          <p:spPr bwMode="auto">
            <a:xfrm>
              <a:off x="6678663" y="2398298"/>
              <a:ext cx="31273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</p:grpSp>
      <p:grpSp>
        <p:nvGrpSpPr>
          <p:cNvPr id="32772" name="Gruppo 48"/>
          <p:cNvGrpSpPr>
            <a:grpSpLocks/>
          </p:cNvGrpSpPr>
          <p:nvPr/>
        </p:nvGrpSpPr>
        <p:grpSpPr bwMode="auto">
          <a:xfrm>
            <a:off x="704850" y="4256088"/>
            <a:ext cx="7467600" cy="1909762"/>
            <a:chOff x="704900" y="980660"/>
            <a:chExt cx="7467600" cy="2457450"/>
          </a:xfrm>
        </p:grpSpPr>
        <p:sp>
          <p:nvSpPr>
            <p:cNvPr id="32774" name="Rectangle 5"/>
            <p:cNvSpPr>
              <a:spLocks noChangeArrowheads="1"/>
            </p:cNvSpPr>
            <p:nvPr/>
          </p:nvSpPr>
          <p:spPr bwMode="auto">
            <a:xfrm>
              <a:off x="21527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775" name="Rectangle 6"/>
            <p:cNvSpPr>
              <a:spLocks noChangeArrowheads="1"/>
            </p:cNvSpPr>
            <p:nvPr/>
          </p:nvSpPr>
          <p:spPr bwMode="auto">
            <a:xfrm>
              <a:off x="38291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776" name="Rectangle 8"/>
            <p:cNvSpPr>
              <a:spLocks noChangeArrowheads="1"/>
            </p:cNvSpPr>
            <p:nvPr/>
          </p:nvSpPr>
          <p:spPr bwMode="auto">
            <a:xfrm>
              <a:off x="70295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777" name="Rectangle 10"/>
            <p:cNvSpPr>
              <a:spLocks noChangeArrowheads="1"/>
            </p:cNvSpPr>
            <p:nvPr/>
          </p:nvSpPr>
          <p:spPr bwMode="auto">
            <a:xfrm>
              <a:off x="1847900" y="980660"/>
              <a:ext cx="15240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m2[0]</a:t>
              </a:r>
            </a:p>
          </p:txBody>
        </p:sp>
        <p:sp>
          <p:nvSpPr>
            <p:cNvPr id="32778" name="Rectangle 11"/>
            <p:cNvSpPr>
              <a:spLocks noChangeArrowheads="1"/>
            </p:cNvSpPr>
            <p:nvPr/>
          </p:nvSpPr>
          <p:spPr bwMode="auto">
            <a:xfrm>
              <a:off x="3371900" y="980660"/>
              <a:ext cx="16764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m2[1]</a:t>
              </a:r>
            </a:p>
          </p:txBody>
        </p:sp>
        <p:sp>
          <p:nvSpPr>
            <p:cNvPr id="32779" name="Rectangle 12"/>
            <p:cNvSpPr>
              <a:spLocks noChangeArrowheads="1"/>
            </p:cNvSpPr>
            <p:nvPr/>
          </p:nvSpPr>
          <p:spPr bwMode="auto">
            <a:xfrm>
              <a:off x="5048300" y="980660"/>
              <a:ext cx="16002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m2[2]</a:t>
              </a:r>
            </a:p>
          </p:txBody>
        </p:sp>
        <p:sp>
          <p:nvSpPr>
            <p:cNvPr id="32780" name="Rectangle 13"/>
            <p:cNvSpPr>
              <a:spLocks noChangeArrowheads="1"/>
            </p:cNvSpPr>
            <p:nvPr/>
          </p:nvSpPr>
          <p:spPr bwMode="auto">
            <a:xfrm>
              <a:off x="6648500" y="980660"/>
              <a:ext cx="1524000" cy="28575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M2[3]</a:t>
              </a:r>
            </a:p>
          </p:txBody>
        </p:sp>
        <p:sp>
          <p:nvSpPr>
            <p:cNvPr id="32781" name="Rectangle 14"/>
            <p:cNvSpPr>
              <a:spLocks noChangeArrowheads="1"/>
            </p:cNvSpPr>
            <p:nvPr/>
          </p:nvSpPr>
          <p:spPr bwMode="auto">
            <a:xfrm>
              <a:off x="704900" y="980660"/>
              <a:ext cx="838200" cy="28575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IV-2</a:t>
              </a:r>
            </a:p>
          </p:txBody>
        </p:sp>
        <p:sp>
          <p:nvSpPr>
            <p:cNvPr id="32782" name="Text Box 15"/>
            <p:cNvSpPr txBox="1">
              <a:spLocks noChangeArrowheads="1"/>
            </p:cNvSpPr>
            <p:nvPr/>
          </p:nvSpPr>
          <p:spPr bwMode="auto">
            <a:xfrm>
              <a:off x="2341613" y="1368010"/>
              <a:ext cx="50006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783" name="Text Box 16"/>
            <p:cNvSpPr txBox="1">
              <a:spLocks noChangeArrowheads="1"/>
            </p:cNvSpPr>
            <p:nvPr/>
          </p:nvSpPr>
          <p:spPr bwMode="auto">
            <a:xfrm>
              <a:off x="7258100" y="1368010"/>
              <a:ext cx="5000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784" name="Text Box 17"/>
            <p:cNvSpPr txBox="1">
              <a:spLocks noChangeArrowheads="1"/>
            </p:cNvSpPr>
            <p:nvPr/>
          </p:nvSpPr>
          <p:spPr bwMode="auto">
            <a:xfrm>
              <a:off x="4057700" y="1368010"/>
              <a:ext cx="50006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785" name="Line 19"/>
            <p:cNvSpPr>
              <a:spLocks noChangeShapeType="1"/>
            </p:cNvSpPr>
            <p:nvPr/>
          </p:nvSpPr>
          <p:spPr bwMode="auto">
            <a:xfrm>
              <a:off x="2578150" y="126641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86" name="Line 20"/>
            <p:cNvSpPr>
              <a:spLocks noChangeShapeType="1"/>
            </p:cNvSpPr>
            <p:nvPr/>
          </p:nvSpPr>
          <p:spPr bwMode="auto">
            <a:xfrm>
              <a:off x="4286300" y="1290223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87" name="Line 21"/>
            <p:cNvSpPr>
              <a:spLocks noChangeShapeType="1"/>
            </p:cNvSpPr>
            <p:nvPr/>
          </p:nvSpPr>
          <p:spPr bwMode="auto">
            <a:xfrm>
              <a:off x="7486700" y="126641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88" name="Line 22"/>
            <p:cNvSpPr>
              <a:spLocks noChangeShapeType="1"/>
            </p:cNvSpPr>
            <p:nvPr/>
          </p:nvSpPr>
          <p:spPr bwMode="auto">
            <a:xfrm>
              <a:off x="4286300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89" name="Line 23"/>
            <p:cNvSpPr>
              <a:spLocks noChangeShapeType="1"/>
            </p:cNvSpPr>
            <p:nvPr/>
          </p:nvSpPr>
          <p:spPr bwMode="auto">
            <a:xfrm>
              <a:off x="7486700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0" name="Line 24"/>
            <p:cNvSpPr>
              <a:spLocks noChangeShapeType="1"/>
            </p:cNvSpPr>
            <p:nvPr/>
          </p:nvSpPr>
          <p:spPr bwMode="auto">
            <a:xfrm>
              <a:off x="2533700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1" name="Freeform 26"/>
            <p:cNvSpPr>
              <a:spLocks/>
            </p:cNvSpPr>
            <p:nvPr/>
          </p:nvSpPr>
          <p:spPr bwMode="auto">
            <a:xfrm>
              <a:off x="1085900" y="1266410"/>
              <a:ext cx="1371600" cy="400050"/>
            </a:xfrm>
            <a:custGeom>
              <a:avLst/>
              <a:gdLst>
                <a:gd name="T0" fmla="*/ 0 w 864"/>
                <a:gd name="T1" fmla="*/ 0 h 336"/>
                <a:gd name="T2" fmla="*/ 0 w 864"/>
                <a:gd name="T3" fmla="*/ 2147483647 h 336"/>
                <a:gd name="T4" fmla="*/ 2147483647 w 864"/>
                <a:gd name="T5" fmla="*/ 2147483647 h 336"/>
                <a:gd name="T6" fmla="*/ 0 60000 65536"/>
                <a:gd name="T7" fmla="*/ 0 60000 65536"/>
                <a:gd name="T8" fmla="*/ 0 60000 65536"/>
                <a:gd name="T9" fmla="*/ 0 w 864"/>
                <a:gd name="T10" fmla="*/ 0 h 336"/>
                <a:gd name="T11" fmla="*/ 864 w 864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336">
                  <a:moveTo>
                    <a:pt x="0" y="0"/>
                  </a:moveTo>
                  <a:lnTo>
                    <a:pt x="0" y="336"/>
                  </a:lnTo>
                  <a:lnTo>
                    <a:pt x="864" y="33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2" name="Line 27"/>
            <p:cNvSpPr>
              <a:spLocks noChangeShapeType="1"/>
            </p:cNvSpPr>
            <p:nvPr/>
          </p:nvSpPr>
          <p:spPr bwMode="auto">
            <a:xfrm>
              <a:off x="2533700" y="269516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3" name="Freeform 28"/>
            <p:cNvSpPr>
              <a:spLocks/>
            </p:cNvSpPr>
            <p:nvPr/>
          </p:nvSpPr>
          <p:spPr bwMode="auto">
            <a:xfrm>
              <a:off x="2533700" y="1666460"/>
              <a:ext cx="1600200" cy="1257300"/>
            </a:xfrm>
            <a:custGeom>
              <a:avLst/>
              <a:gdLst>
                <a:gd name="T0" fmla="*/ 0 w 1008"/>
                <a:gd name="T1" fmla="*/ 2147483647 h 1056"/>
                <a:gd name="T2" fmla="*/ 2147483647 w 1008"/>
                <a:gd name="T3" fmla="*/ 2147483647 h 1056"/>
                <a:gd name="T4" fmla="*/ 2147483647 w 1008"/>
                <a:gd name="T5" fmla="*/ 0 h 1056"/>
                <a:gd name="T6" fmla="*/ 2147483647 w 1008"/>
                <a:gd name="T7" fmla="*/ 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056"/>
                <a:gd name="T14" fmla="*/ 1008 w 1008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056">
                  <a:moveTo>
                    <a:pt x="0" y="1056"/>
                  </a:moveTo>
                  <a:lnTo>
                    <a:pt x="576" y="1056"/>
                  </a:lnTo>
                  <a:lnTo>
                    <a:pt x="576" y="0"/>
                  </a:lnTo>
                  <a:lnTo>
                    <a:pt x="100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4" name="Line 29"/>
            <p:cNvSpPr>
              <a:spLocks noChangeShapeType="1"/>
            </p:cNvSpPr>
            <p:nvPr/>
          </p:nvSpPr>
          <p:spPr bwMode="auto">
            <a:xfrm>
              <a:off x="4286300" y="269516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5" name="Rectangle 36"/>
            <p:cNvSpPr>
              <a:spLocks noChangeArrowheads="1"/>
            </p:cNvSpPr>
            <p:nvPr/>
          </p:nvSpPr>
          <p:spPr bwMode="auto">
            <a:xfrm>
              <a:off x="5505500" y="2066510"/>
              <a:ext cx="914400" cy="6286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/>
                <a:t>PRP</a:t>
              </a:r>
              <a:endParaRPr lang="en-US" altLang="it-IT" sz="2400">
                <a:sym typeface="Symbol" pitchFamily="18" charset="2"/>
              </a:endParaRPr>
            </a:p>
          </p:txBody>
        </p:sp>
        <p:sp>
          <p:nvSpPr>
            <p:cNvPr id="32796" name="Freeform 37"/>
            <p:cNvSpPr>
              <a:spLocks/>
            </p:cNvSpPr>
            <p:nvPr/>
          </p:nvSpPr>
          <p:spPr bwMode="auto">
            <a:xfrm>
              <a:off x="4286300" y="1666460"/>
              <a:ext cx="1600200" cy="1257300"/>
            </a:xfrm>
            <a:custGeom>
              <a:avLst/>
              <a:gdLst>
                <a:gd name="T0" fmla="*/ 0 w 1008"/>
                <a:gd name="T1" fmla="*/ 2147483647 h 1056"/>
                <a:gd name="T2" fmla="*/ 2147483647 w 1008"/>
                <a:gd name="T3" fmla="*/ 2147483647 h 1056"/>
                <a:gd name="T4" fmla="*/ 2147483647 w 1008"/>
                <a:gd name="T5" fmla="*/ 0 h 1056"/>
                <a:gd name="T6" fmla="*/ 2147483647 w 1008"/>
                <a:gd name="T7" fmla="*/ 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056"/>
                <a:gd name="T14" fmla="*/ 1008 w 1008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056">
                  <a:moveTo>
                    <a:pt x="0" y="1056"/>
                  </a:moveTo>
                  <a:lnTo>
                    <a:pt x="576" y="1056"/>
                  </a:lnTo>
                  <a:lnTo>
                    <a:pt x="576" y="0"/>
                  </a:lnTo>
                  <a:lnTo>
                    <a:pt x="100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7" name="Freeform 38"/>
            <p:cNvSpPr>
              <a:spLocks/>
            </p:cNvSpPr>
            <p:nvPr/>
          </p:nvSpPr>
          <p:spPr bwMode="auto">
            <a:xfrm>
              <a:off x="5962700" y="1666460"/>
              <a:ext cx="1371600" cy="1257300"/>
            </a:xfrm>
            <a:custGeom>
              <a:avLst/>
              <a:gdLst>
                <a:gd name="T0" fmla="*/ 0 w 1008"/>
                <a:gd name="T1" fmla="*/ 2147483647 h 1056"/>
                <a:gd name="T2" fmla="*/ 2147483647 w 1008"/>
                <a:gd name="T3" fmla="*/ 2147483647 h 1056"/>
                <a:gd name="T4" fmla="*/ 2147483647 w 1008"/>
                <a:gd name="T5" fmla="*/ 0 h 1056"/>
                <a:gd name="T6" fmla="*/ 2147483647 w 1008"/>
                <a:gd name="T7" fmla="*/ 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056"/>
                <a:gd name="T14" fmla="*/ 1008 w 1008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056">
                  <a:moveTo>
                    <a:pt x="0" y="1056"/>
                  </a:moveTo>
                  <a:lnTo>
                    <a:pt x="576" y="1056"/>
                  </a:lnTo>
                  <a:lnTo>
                    <a:pt x="576" y="0"/>
                  </a:lnTo>
                  <a:lnTo>
                    <a:pt x="100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798" name="Text Box 39"/>
            <p:cNvSpPr txBox="1">
              <a:spLocks noChangeArrowheads="1"/>
            </p:cNvSpPr>
            <p:nvPr/>
          </p:nvSpPr>
          <p:spPr bwMode="auto">
            <a:xfrm>
              <a:off x="5770613" y="1368010"/>
              <a:ext cx="500062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en-US" altLang="it-IT" sz="3200">
                  <a:sym typeface="Symbol" pitchFamily="18" charset="2"/>
                </a:rPr>
                <a:t></a:t>
              </a:r>
            </a:p>
          </p:txBody>
        </p:sp>
        <p:sp>
          <p:nvSpPr>
            <p:cNvPr id="32799" name="Line 40"/>
            <p:cNvSpPr>
              <a:spLocks noChangeShapeType="1"/>
            </p:cNvSpPr>
            <p:nvPr/>
          </p:nvSpPr>
          <p:spPr bwMode="auto">
            <a:xfrm>
              <a:off x="5999213" y="1290223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00" name="Line 41"/>
            <p:cNvSpPr>
              <a:spLocks noChangeShapeType="1"/>
            </p:cNvSpPr>
            <p:nvPr/>
          </p:nvSpPr>
          <p:spPr bwMode="auto">
            <a:xfrm>
              <a:off x="5999213" y="1780760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01" name="Line 42"/>
            <p:cNvSpPr>
              <a:spLocks noChangeShapeType="1"/>
            </p:cNvSpPr>
            <p:nvPr/>
          </p:nvSpPr>
          <p:spPr bwMode="auto">
            <a:xfrm>
              <a:off x="5962700" y="269516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02" name="Line 43"/>
            <p:cNvSpPr>
              <a:spLocks noChangeShapeType="1"/>
            </p:cNvSpPr>
            <p:nvPr/>
          </p:nvSpPr>
          <p:spPr bwMode="auto">
            <a:xfrm>
              <a:off x="7485113" y="2695160"/>
              <a:ext cx="1587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803" name="Rectangle 44"/>
            <p:cNvSpPr>
              <a:spLocks noChangeArrowheads="1"/>
            </p:cNvSpPr>
            <p:nvPr/>
          </p:nvSpPr>
          <p:spPr bwMode="auto">
            <a:xfrm>
              <a:off x="1847900" y="3152360"/>
              <a:ext cx="15240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c2[0]</a:t>
              </a:r>
            </a:p>
          </p:txBody>
        </p:sp>
        <p:sp>
          <p:nvSpPr>
            <p:cNvPr id="32804" name="Rectangle 45"/>
            <p:cNvSpPr>
              <a:spLocks noChangeArrowheads="1"/>
            </p:cNvSpPr>
            <p:nvPr/>
          </p:nvSpPr>
          <p:spPr bwMode="auto">
            <a:xfrm>
              <a:off x="3371900" y="3152360"/>
              <a:ext cx="16764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c2[1]</a:t>
              </a:r>
            </a:p>
          </p:txBody>
        </p:sp>
        <p:sp>
          <p:nvSpPr>
            <p:cNvPr id="32805" name="Rectangle 46"/>
            <p:cNvSpPr>
              <a:spLocks noChangeArrowheads="1"/>
            </p:cNvSpPr>
            <p:nvPr/>
          </p:nvSpPr>
          <p:spPr bwMode="auto">
            <a:xfrm>
              <a:off x="5048300" y="3152360"/>
              <a:ext cx="16002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c2[2]</a:t>
              </a:r>
            </a:p>
          </p:txBody>
        </p:sp>
        <p:sp>
          <p:nvSpPr>
            <p:cNvPr id="32806" name="Rectangle 47"/>
            <p:cNvSpPr>
              <a:spLocks noChangeArrowheads="1"/>
            </p:cNvSpPr>
            <p:nvPr/>
          </p:nvSpPr>
          <p:spPr bwMode="auto">
            <a:xfrm>
              <a:off x="6648500" y="3152360"/>
              <a:ext cx="1524000" cy="28575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c2[3]</a:t>
              </a:r>
            </a:p>
          </p:txBody>
        </p:sp>
        <p:sp>
          <p:nvSpPr>
            <p:cNvPr id="32807" name="Rectangle 48"/>
            <p:cNvSpPr>
              <a:spLocks noChangeArrowheads="1"/>
            </p:cNvSpPr>
            <p:nvPr/>
          </p:nvSpPr>
          <p:spPr bwMode="auto">
            <a:xfrm>
              <a:off x="704900" y="3152360"/>
              <a:ext cx="838200" cy="28575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/>
                <a:t>IV-2</a:t>
              </a:r>
            </a:p>
          </p:txBody>
        </p:sp>
        <p:cxnSp>
          <p:nvCxnSpPr>
            <p:cNvPr id="32808" name="Connettore 2 43"/>
            <p:cNvCxnSpPr>
              <a:cxnSpLocks noChangeShapeType="1"/>
            </p:cNvCxnSpPr>
            <p:nvPr/>
          </p:nvCxnSpPr>
          <p:spPr bwMode="auto">
            <a:xfrm>
              <a:off x="3654475" y="2604673"/>
              <a:ext cx="144463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09" name="CasellaDiTesto 44"/>
            <p:cNvSpPr txBox="1">
              <a:spLocks noChangeArrowheads="1"/>
            </p:cNvSpPr>
            <p:nvPr/>
          </p:nvSpPr>
          <p:spPr bwMode="auto">
            <a:xfrm>
              <a:off x="3416350" y="2388773"/>
              <a:ext cx="3111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  <p:cxnSp>
          <p:nvCxnSpPr>
            <p:cNvPr id="32810" name="Connettore 2 45"/>
            <p:cNvCxnSpPr>
              <a:cxnSpLocks noChangeShapeType="1"/>
            </p:cNvCxnSpPr>
            <p:nvPr/>
          </p:nvCxnSpPr>
          <p:spPr bwMode="auto">
            <a:xfrm>
              <a:off x="1998713" y="2614198"/>
              <a:ext cx="144462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1" name="CasellaDiTesto 46"/>
            <p:cNvSpPr txBox="1">
              <a:spLocks noChangeArrowheads="1"/>
            </p:cNvSpPr>
            <p:nvPr/>
          </p:nvSpPr>
          <p:spPr bwMode="auto">
            <a:xfrm>
              <a:off x="1759000" y="2398298"/>
              <a:ext cx="3111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  <p:cxnSp>
          <p:nvCxnSpPr>
            <p:cNvPr id="32812" name="Connettore 2 47"/>
            <p:cNvCxnSpPr>
              <a:cxnSpLocks noChangeShapeType="1"/>
            </p:cNvCxnSpPr>
            <p:nvPr/>
          </p:nvCxnSpPr>
          <p:spPr bwMode="auto">
            <a:xfrm>
              <a:off x="5383263" y="2614198"/>
              <a:ext cx="144462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3" name="CasellaDiTesto 48"/>
            <p:cNvSpPr txBox="1">
              <a:spLocks noChangeArrowheads="1"/>
            </p:cNvSpPr>
            <p:nvPr/>
          </p:nvSpPr>
          <p:spPr bwMode="auto">
            <a:xfrm>
              <a:off x="5143550" y="2398298"/>
              <a:ext cx="3111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  <p:cxnSp>
          <p:nvCxnSpPr>
            <p:cNvPr id="32814" name="Connettore 2 49"/>
            <p:cNvCxnSpPr>
              <a:cxnSpLocks noChangeShapeType="1"/>
            </p:cNvCxnSpPr>
            <p:nvPr/>
          </p:nvCxnSpPr>
          <p:spPr bwMode="auto">
            <a:xfrm>
              <a:off x="6918375" y="2614198"/>
              <a:ext cx="144463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5" name="CasellaDiTesto 50"/>
            <p:cNvSpPr txBox="1">
              <a:spLocks noChangeArrowheads="1"/>
            </p:cNvSpPr>
            <p:nvPr/>
          </p:nvSpPr>
          <p:spPr bwMode="auto">
            <a:xfrm>
              <a:off x="6678663" y="2398298"/>
              <a:ext cx="31273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/>
                <a:t>K</a:t>
              </a:r>
            </a:p>
          </p:txBody>
        </p:sp>
      </p:grpSp>
      <p:sp>
        <p:nvSpPr>
          <p:cNvPr id="32773" name="CasellaDiTesto 93"/>
          <p:cNvSpPr txBox="1">
            <a:spLocks noChangeArrowheads="1"/>
          </p:cNvSpPr>
          <p:nvPr/>
        </p:nvSpPr>
        <p:spPr bwMode="auto">
          <a:xfrm>
            <a:off x="611188" y="3213100"/>
            <a:ext cx="8334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Necessary condition: </a:t>
            </a:r>
            <a:r>
              <a:rPr lang="it-IT" altLang="it-IT" b="1"/>
              <a:t>IV must differ</a:t>
            </a:r>
            <a:r>
              <a:rPr lang="it-IT" altLang="it-IT"/>
              <a:t>, otherwise insecure, again! (same msg </a:t>
            </a:r>
            <a:r>
              <a:rPr lang="it-IT" altLang="it-IT">
                <a:sym typeface="Wingdings" pitchFamily="2" charset="2"/>
              </a:rPr>
              <a:t> same ciphertext)</a:t>
            </a:r>
          </a:p>
          <a:p>
            <a:pPr eaLnBrk="1" hangingPunct="1"/>
            <a:r>
              <a:rPr lang="it-IT" altLang="it-IT">
                <a:sym typeface="Wingdings" pitchFamily="2" charset="2"/>
              </a:rPr>
              <a:t>But different IV is NOT sufficient: </a:t>
            </a:r>
            <a:r>
              <a:rPr lang="it-IT" altLang="it-IT" b="1">
                <a:sym typeface="Wingdings" pitchFamily="2" charset="2"/>
              </a:rPr>
              <a:t>IV must also be UNPREDICTABLE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predictable</a:t>
            </a:r>
            <a:r>
              <a:rPr lang="it-IT" dirty="0"/>
              <a:t> IV?</a:t>
            </a:r>
          </a:p>
        </p:txBody>
      </p:sp>
      <p:sp>
        <p:nvSpPr>
          <p:cNvPr id="34819" name="Rectangle 6"/>
          <p:cNvSpPr>
            <a:spLocks noChangeArrowheads="1"/>
          </p:cNvSpPr>
          <p:nvPr/>
        </p:nvSpPr>
        <p:spPr bwMode="auto">
          <a:xfrm>
            <a:off x="2482850" y="2489200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4820" name="Rectangle 8"/>
          <p:cNvSpPr>
            <a:spLocks noChangeArrowheads="1"/>
          </p:cNvSpPr>
          <p:nvPr/>
        </p:nvSpPr>
        <p:spPr bwMode="auto">
          <a:xfrm>
            <a:off x="5683250" y="2489200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4821" name="Rectangle 11"/>
          <p:cNvSpPr>
            <a:spLocks noChangeArrowheads="1"/>
          </p:cNvSpPr>
          <p:nvPr/>
        </p:nvSpPr>
        <p:spPr bwMode="auto">
          <a:xfrm>
            <a:off x="2025650" y="1403350"/>
            <a:ext cx="16764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m[i-1]</a:t>
            </a:r>
          </a:p>
        </p:txBody>
      </p:sp>
      <p:sp>
        <p:nvSpPr>
          <p:cNvPr id="34822" name="Rectangle 12"/>
          <p:cNvSpPr>
            <a:spLocks noChangeArrowheads="1"/>
          </p:cNvSpPr>
          <p:nvPr/>
        </p:nvSpPr>
        <p:spPr bwMode="auto">
          <a:xfrm>
            <a:off x="3702050" y="1403350"/>
            <a:ext cx="16002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PASS=XXX</a:t>
            </a:r>
          </a:p>
        </p:txBody>
      </p:sp>
      <p:sp>
        <p:nvSpPr>
          <p:cNvPr id="34823" name="Rectangle 13"/>
          <p:cNvSpPr>
            <a:spLocks noChangeArrowheads="1"/>
          </p:cNvSpPr>
          <p:nvPr/>
        </p:nvSpPr>
        <p:spPr bwMode="auto">
          <a:xfrm>
            <a:off x="5302250" y="1403350"/>
            <a:ext cx="15240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m[i+1]</a:t>
            </a:r>
          </a:p>
        </p:txBody>
      </p:sp>
      <p:sp>
        <p:nvSpPr>
          <p:cNvPr id="34824" name="Text Box 16"/>
          <p:cNvSpPr txBox="1">
            <a:spLocks noChangeArrowheads="1"/>
          </p:cNvSpPr>
          <p:nvPr/>
        </p:nvSpPr>
        <p:spPr bwMode="auto">
          <a:xfrm>
            <a:off x="5911850" y="179070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4825" name="Text Box 17"/>
          <p:cNvSpPr txBox="1">
            <a:spLocks noChangeArrowheads="1"/>
          </p:cNvSpPr>
          <p:nvPr/>
        </p:nvSpPr>
        <p:spPr bwMode="auto">
          <a:xfrm>
            <a:off x="2711450" y="179070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4826" name="Line 20"/>
          <p:cNvSpPr>
            <a:spLocks noChangeShapeType="1"/>
          </p:cNvSpPr>
          <p:nvPr/>
        </p:nvSpPr>
        <p:spPr bwMode="auto">
          <a:xfrm>
            <a:off x="2940050" y="17129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27" name="Line 21"/>
          <p:cNvSpPr>
            <a:spLocks noChangeShapeType="1"/>
          </p:cNvSpPr>
          <p:nvPr/>
        </p:nvSpPr>
        <p:spPr bwMode="auto">
          <a:xfrm>
            <a:off x="6140450" y="16891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28" name="Line 22"/>
          <p:cNvSpPr>
            <a:spLocks noChangeShapeType="1"/>
          </p:cNvSpPr>
          <p:nvPr/>
        </p:nvSpPr>
        <p:spPr bwMode="auto">
          <a:xfrm>
            <a:off x="2940050" y="220345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29" name="Line 23"/>
          <p:cNvSpPr>
            <a:spLocks noChangeShapeType="1"/>
          </p:cNvSpPr>
          <p:nvPr/>
        </p:nvSpPr>
        <p:spPr bwMode="auto">
          <a:xfrm>
            <a:off x="6140450" y="220345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0" name="Freeform 28"/>
          <p:cNvSpPr>
            <a:spLocks/>
          </p:cNvSpPr>
          <p:nvPr/>
        </p:nvSpPr>
        <p:spPr bwMode="auto">
          <a:xfrm>
            <a:off x="1187450" y="2089150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1" name="Line 29"/>
          <p:cNvSpPr>
            <a:spLocks noChangeShapeType="1"/>
          </p:cNvSpPr>
          <p:nvPr/>
        </p:nvSpPr>
        <p:spPr bwMode="auto">
          <a:xfrm>
            <a:off x="2940050" y="311785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2" name="Rectangle 36"/>
          <p:cNvSpPr>
            <a:spLocks noChangeArrowheads="1"/>
          </p:cNvSpPr>
          <p:nvPr/>
        </p:nvSpPr>
        <p:spPr bwMode="auto">
          <a:xfrm>
            <a:off x="4159250" y="2489200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4833" name="Freeform 37"/>
          <p:cNvSpPr>
            <a:spLocks/>
          </p:cNvSpPr>
          <p:nvPr/>
        </p:nvSpPr>
        <p:spPr bwMode="auto">
          <a:xfrm>
            <a:off x="2940050" y="2089150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4" name="Freeform 38"/>
          <p:cNvSpPr>
            <a:spLocks/>
          </p:cNvSpPr>
          <p:nvPr/>
        </p:nvSpPr>
        <p:spPr bwMode="auto">
          <a:xfrm>
            <a:off x="4616450" y="2089150"/>
            <a:ext cx="13716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5" name="Text Box 39"/>
          <p:cNvSpPr txBox="1">
            <a:spLocks noChangeArrowheads="1"/>
          </p:cNvSpPr>
          <p:nvPr/>
        </p:nvSpPr>
        <p:spPr bwMode="auto">
          <a:xfrm>
            <a:off x="4424363" y="17907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4836" name="Line 40"/>
          <p:cNvSpPr>
            <a:spLocks noChangeShapeType="1"/>
          </p:cNvSpPr>
          <p:nvPr/>
        </p:nvSpPr>
        <p:spPr bwMode="auto">
          <a:xfrm>
            <a:off x="4652963" y="17129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7" name="Line 41"/>
          <p:cNvSpPr>
            <a:spLocks noChangeShapeType="1"/>
          </p:cNvSpPr>
          <p:nvPr/>
        </p:nvSpPr>
        <p:spPr bwMode="auto">
          <a:xfrm>
            <a:off x="4652963" y="220345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8" name="Line 42"/>
          <p:cNvSpPr>
            <a:spLocks noChangeShapeType="1"/>
          </p:cNvSpPr>
          <p:nvPr/>
        </p:nvSpPr>
        <p:spPr bwMode="auto">
          <a:xfrm>
            <a:off x="4616450" y="3117850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39" name="Line 43"/>
          <p:cNvSpPr>
            <a:spLocks noChangeShapeType="1"/>
          </p:cNvSpPr>
          <p:nvPr/>
        </p:nvSpPr>
        <p:spPr bwMode="auto">
          <a:xfrm>
            <a:off x="6138863" y="3117850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840" name="Rectangle 45"/>
          <p:cNvSpPr>
            <a:spLocks noChangeArrowheads="1"/>
          </p:cNvSpPr>
          <p:nvPr/>
        </p:nvSpPr>
        <p:spPr bwMode="auto">
          <a:xfrm>
            <a:off x="2025650" y="3575050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c[i-1]=FF54B1F1</a:t>
            </a:r>
          </a:p>
        </p:txBody>
      </p:sp>
      <p:sp>
        <p:nvSpPr>
          <p:cNvPr id="34841" name="Rectangle 46"/>
          <p:cNvSpPr>
            <a:spLocks noChangeArrowheads="1"/>
          </p:cNvSpPr>
          <p:nvPr/>
        </p:nvSpPr>
        <p:spPr bwMode="auto">
          <a:xfrm>
            <a:off x="3702050" y="3575050"/>
            <a:ext cx="16002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c[i]=132FA776</a:t>
            </a:r>
          </a:p>
        </p:txBody>
      </p:sp>
      <p:sp>
        <p:nvSpPr>
          <p:cNvPr id="34842" name="Rectangle 47"/>
          <p:cNvSpPr>
            <a:spLocks noChangeArrowheads="1"/>
          </p:cNvSpPr>
          <p:nvPr/>
        </p:nvSpPr>
        <p:spPr bwMode="auto">
          <a:xfrm>
            <a:off x="5302250" y="3575050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c[i+1]</a:t>
            </a:r>
          </a:p>
        </p:txBody>
      </p:sp>
      <p:cxnSp>
        <p:nvCxnSpPr>
          <p:cNvPr id="34843" name="Connettore 2 43"/>
          <p:cNvCxnSpPr>
            <a:cxnSpLocks noChangeShapeType="1"/>
          </p:cNvCxnSpPr>
          <p:nvPr/>
        </p:nvCxnSpPr>
        <p:spPr bwMode="auto">
          <a:xfrm>
            <a:off x="2308225" y="3027363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4" name="CasellaDiTesto 44"/>
          <p:cNvSpPr txBox="1">
            <a:spLocks noChangeArrowheads="1"/>
          </p:cNvSpPr>
          <p:nvPr/>
        </p:nvSpPr>
        <p:spPr bwMode="auto">
          <a:xfrm>
            <a:off x="2070100" y="281146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34845" name="Connettore 2 47"/>
          <p:cNvCxnSpPr>
            <a:cxnSpLocks noChangeShapeType="1"/>
          </p:cNvCxnSpPr>
          <p:nvPr/>
        </p:nvCxnSpPr>
        <p:spPr bwMode="auto">
          <a:xfrm>
            <a:off x="4037013" y="3036888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6" name="CasellaDiTesto 48"/>
          <p:cNvSpPr txBox="1">
            <a:spLocks noChangeArrowheads="1"/>
          </p:cNvSpPr>
          <p:nvPr/>
        </p:nvSpPr>
        <p:spPr bwMode="auto">
          <a:xfrm>
            <a:off x="3797300" y="282098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34847" name="Connettore 2 49"/>
          <p:cNvCxnSpPr>
            <a:cxnSpLocks noChangeShapeType="1"/>
          </p:cNvCxnSpPr>
          <p:nvPr/>
        </p:nvCxnSpPr>
        <p:spPr bwMode="auto">
          <a:xfrm>
            <a:off x="5572125" y="3036888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8" name="CasellaDiTesto 50"/>
          <p:cNvSpPr txBox="1">
            <a:spLocks noChangeArrowheads="1"/>
          </p:cNvSpPr>
          <p:nvPr/>
        </p:nvSpPr>
        <p:spPr bwMode="auto">
          <a:xfrm>
            <a:off x="5332413" y="282098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48" name="Segnaposto contenuto 2"/>
          <p:cNvSpPr>
            <a:spLocks noGrp="1"/>
          </p:cNvSpPr>
          <p:nvPr>
            <p:ph idx="1"/>
          </p:nvPr>
        </p:nvSpPr>
        <p:spPr>
          <a:xfrm>
            <a:off x="685800" y="4005263"/>
            <a:ext cx="7696200" cy="2090737"/>
          </a:xfrm>
        </p:spPr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knows</a:t>
            </a:r>
            <a:r>
              <a:rPr lang="it-IT" dirty="0"/>
              <a:t> m[i] </a:t>
            </a:r>
            <a:r>
              <a:rPr lang="it-IT" dirty="0" err="1"/>
              <a:t>contains</a:t>
            </a:r>
            <a:r>
              <a:rPr lang="it-IT" dirty="0"/>
              <a:t> password</a:t>
            </a:r>
          </a:p>
          <a:p>
            <a:pPr lvl="1">
              <a:defRPr/>
            </a:pPr>
            <a:r>
              <a:rPr lang="it-IT" dirty="0"/>
              <a:t>And </a:t>
            </a:r>
            <a:r>
              <a:rPr lang="it-IT" dirty="0" err="1"/>
              <a:t>guess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either</a:t>
            </a:r>
            <a:r>
              <a:rPr lang="it-IT" dirty="0"/>
              <a:t> UGO or JOE,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know</a:t>
            </a:r>
            <a:r>
              <a:rPr lang="it-IT" dirty="0"/>
              <a:t> </a:t>
            </a:r>
            <a:r>
              <a:rPr lang="it-IT" dirty="0" err="1"/>
              <a:t>which</a:t>
            </a:r>
            <a:endParaRPr lang="it-IT" dirty="0"/>
          </a:p>
          <a:p>
            <a:pPr>
              <a:defRPr/>
            </a:pP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sees</a:t>
            </a:r>
            <a:r>
              <a:rPr lang="it-IT" dirty="0"/>
              <a:t> </a:t>
            </a:r>
            <a:r>
              <a:rPr lang="it-IT" dirty="0" err="1"/>
              <a:t>relevant</a:t>
            </a:r>
            <a:r>
              <a:rPr lang="it-IT" dirty="0"/>
              <a:t> </a:t>
            </a:r>
            <a:r>
              <a:rPr lang="it-IT" dirty="0" err="1"/>
              <a:t>ciphertext</a:t>
            </a:r>
            <a:endParaRPr lang="it-IT" dirty="0"/>
          </a:p>
          <a:p>
            <a:pPr lvl="1"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the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passwd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encrypted</a:t>
            </a:r>
            <a:r>
              <a:rPr lang="it-IT" dirty="0"/>
              <a:t> (</a:t>
            </a:r>
            <a:r>
              <a:rPr lang="it-IT" dirty="0" err="1"/>
              <a:t>semantic</a:t>
            </a:r>
            <a:r>
              <a:rPr lang="it-IT" dirty="0"/>
              <a:t> security)</a:t>
            </a:r>
          </a:p>
          <a:p>
            <a:pPr>
              <a:defRPr/>
            </a:pPr>
            <a:r>
              <a:rPr lang="it-IT" dirty="0"/>
              <a:t>BUT </a:t>
            </a:r>
            <a:r>
              <a:rPr lang="it-IT" dirty="0" err="1"/>
              <a:t>attacker</a:t>
            </a:r>
            <a:r>
              <a:rPr lang="it-IT" dirty="0"/>
              <a:t> can </a:t>
            </a:r>
            <a:r>
              <a:rPr lang="it-IT" dirty="0" err="1"/>
              <a:t>convict</a:t>
            </a:r>
            <a:r>
              <a:rPr lang="it-IT" dirty="0"/>
              <a:t> the </a:t>
            </a:r>
            <a:r>
              <a:rPr lang="it-IT" dirty="0" err="1"/>
              <a:t>implementation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some data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his</a:t>
            </a:r>
            <a:r>
              <a:rPr lang="it-IT" dirty="0"/>
              <a:t> </a:t>
            </a:r>
            <a:r>
              <a:rPr lang="it-IT" dirty="0" err="1"/>
              <a:t>choice</a:t>
            </a:r>
            <a:r>
              <a:rPr lang="it-IT" dirty="0"/>
              <a:t> (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): can </a:t>
            </a:r>
            <a:r>
              <a:rPr lang="it-IT" dirty="0" err="1"/>
              <a:t>he</a:t>
            </a:r>
            <a:r>
              <a:rPr lang="it-IT" dirty="0"/>
              <a:t>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passwd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the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choices</a:t>
            </a:r>
            <a:r>
              <a:rPr lang="it-IT" dirty="0"/>
              <a:t>?</a:t>
            </a:r>
          </a:p>
        </p:txBody>
      </p:sp>
      <p:sp>
        <p:nvSpPr>
          <p:cNvPr id="34850" name="CasellaDiTesto 49"/>
          <p:cNvSpPr txBox="1">
            <a:spLocks noChangeArrowheads="1"/>
          </p:cNvSpPr>
          <p:nvPr/>
        </p:nvSpPr>
        <p:spPr bwMode="auto">
          <a:xfrm>
            <a:off x="3708400" y="1052513"/>
            <a:ext cx="1885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>
                <a:solidFill>
                  <a:srgbClr val="FF0000"/>
                </a:solidFill>
              </a:rPr>
              <a:t>XXX = JOE or UGO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predictable</a:t>
            </a:r>
            <a:r>
              <a:rPr lang="it-IT" dirty="0"/>
              <a:t> IV?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3933825"/>
            <a:ext cx="7696200" cy="1582738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predicts</a:t>
            </a:r>
            <a:r>
              <a:rPr lang="it-IT" dirty="0"/>
              <a:t> X</a:t>
            </a:r>
          </a:p>
          <a:p>
            <a:pPr>
              <a:defRPr/>
            </a:pPr>
            <a:r>
              <a:rPr lang="it-IT" dirty="0" err="1"/>
              <a:t>Sets</a:t>
            </a:r>
            <a:r>
              <a:rPr lang="it-IT" dirty="0"/>
              <a:t> </a:t>
            </a:r>
            <a:r>
              <a:rPr lang="it-IT" dirty="0" err="1"/>
              <a:t>newmsg</a:t>
            </a:r>
            <a:r>
              <a:rPr lang="it-IT" dirty="0"/>
              <a:t>[0] = X</a:t>
            </a:r>
            <a:r>
              <a:rPr lang="it-IT" dirty="0">
                <a:sym typeface="Symbol"/>
              </a:rPr>
              <a:t>c[i-1]PWGUESS</a:t>
            </a:r>
          </a:p>
          <a:p>
            <a:pPr lvl="1">
              <a:defRPr/>
            </a:pPr>
            <a:r>
              <a:rPr lang="it-IT" dirty="0" err="1">
                <a:sym typeface="Symbol"/>
              </a:rPr>
              <a:t>Example</a:t>
            </a:r>
            <a:r>
              <a:rPr lang="it-IT" dirty="0">
                <a:sym typeface="Symbol"/>
              </a:rPr>
              <a:t>: X”FF54B1F1””</a:t>
            </a:r>
            <a:r>
              <a:rPr lang="it-IT" dirty="0" err="1">
                <a:sym typeface="Symbol"/>
              </a:rPr>
              <a:t>PASS=UGO</a:t>
            </a:r>
            <a:r>
              <a:rPr lang="it-IT" dirty="0">
                <a:sym typeface="Symbol"/>
              </a:rPr>
              <a:t>”</a:t>
            </a:r>
          </a:p>
          <a:p>
            <a:pPr>
              <a:defRPr/>
            </a:pPr>
            <a:r>
              <a:rPr lang="it-IT" dirty="0" err="1">
                <a:sym typeface="Symbol"/>
              </a:rPr>
              <a:t>If</a:t>
            </a:r>
            <a:r>
              <a:rPr lang="it-IT" dirty="0">
                <a:sym typeface="Symbol"/>
              </a:rPr>
              <a:t> </a:t>
            </a:r>
            <a:r>
              <a:rPr lang="it-IT" dirty="0" err="1">
                <a:sym typeface="Symbol"/>
              </a:rPr>
              <a:t>newct</a:t>
            </a:r>
            <a:r>
              <a:rPr lang="it-IT" dirty="0">
                <a:sym typeface="Symbol"/>
              </a:rPr>
              <a:t>[0] == c[i] </a:t>
            </a:r>
            <a:r>
              <a:rPr lang="it-IT" dirty="0" err="1">
                <a:sym typeface="Symbol"/>
              </a:rPr>
              <a:t>then</a:t>
            </a:r>
            <a:r>
              <a:rPr lang="it-IT" dirty="0">
                <a:sym typeface="Symbol"/>
              </a:rPr>
              <a:t> </a:t>
            </a:r>
            <a:r>
              <a:rPr lang="it-IT" dirty="0" err="1">
                <a:sym typeface="Symbol"/>
              </a:rPr>
              <a:t>guess</a:t>
            </a:r>
            <a:r>
              <a:rPr lang="it-IT" dirty="0">
                <a:sym typeface="Symbol"/>
              </a:rPr>
              <a:t> OK!!</a:t>
            </a:r>
            <a:r>
              <a:rPr lang="it-IT" dirty="0"/>
              <a:t> 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2133600" y="2282825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3810000" y="2282825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5846" name="Rectangle 10"/>
          <p:cNvSpPr>
            <a:spLocks noChangeArrowheads="1"/>
          </p:cNvSpPr>
          <p:nvPr/>
        </p:nvSpPr>
        <p:spPr bwMode="auto">
          <a:xfrm>
            <a:off x="1828800" y="1196975"/>
            <a:ext cx="1524000" cy="28575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newmsg[0]</a:t>
            </a:r>
          </a:p>
        </p:txBody>
      </p:sp>
      <p:sp>
        <p:nvSpPr>
          <p:cNvPr id="35847" name="Rectangle 11"/>
          <p:cNvSpPr>
            <a:spLocks noChangeArrowheads="1"/>
          </p:cNvSpPr>
          <p:nvPr/>
        </p:nvSpPr>
        <p:spPr bwMode="auto">
          <a:xfrm>
            <a:off x="3352800" y="1196975"/>
            <a:ext cx="16764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newmsg[1]</a:t>
            </a:r>
          </a:p>
        </p:txBody>
      </p:sp>
      <p:sp>
        <p:nvSpPr>
          <p:cNvPr id="35848" name="Rectangle 14"/>
          <p:cNvSpPr>
            <a:spLocks noChangeArrowheads="1"/>
          </p:cNvSpPr>
          <p:nvPr/>
        </p:nvSpPr>
        <p:spPr bwMode="auto">
          <a:xfrm>
            <a:off x="685800" y="1196975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IV = X</a:t>
            </a:r>
          </a:p>
        </p:txBody>
      </p:sp>
      <p:sp>
        <p:nvSpPr>
          <p:cNvPr id="35849" name="Text Box 15"/>
          <p:cNvSpPr txBox="1">
            <a:spLocks noChangeArrowheads="1"/>
          </p:cNvSpPr>
          <p:nvPr/>
        </p:nvSpPr>
        <p:spPr bwMode="auto">
          <a:xfrm>
            <a:off x="2322513" y="15843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5850" name="Text Box 17"/>
          <p:cNvSpPr txBox="1">
            <a:spLocks noChangeArrowheads="1"/>
          </p:cNvSpPr>
          <p:nvPr/>
        </p:nvSpPr>
        <p:spPr bwMode="auto">
          <a:xfrm>
            <a:off x="4038600" y="1584325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5851" name="Line 19"/>
          <p:cNvSpPr>
            <a:spLocks noChangeShapeType="1"/>
          </p:cNvSpPr>
          <p:nvPr/>
        </p:nvSpPr>
        <p:spPr bwMode="auto">
          <a:xfrm>
            <a:off x="2559050" y="148272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2" name="Line 20"/>
          <p:cNvSpPr>
            <a:spLocks noChangeShapeType="1"/>
          </p:cNvSpPr>
          <p:nvPr/>
        </p:nvSpPr>
        <p:spPr bwMode="auto">
          <a:xfrm>
            <a:off x="4267200" y="1506538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3" name="Line 22"/>
          <p:cNvSpPr>
            <a:spLocks noChangeShapeType="1"/>
          </p:cNvSpPr>
          <p:nvPr/>
        </p:nvSpPr>
        <p:spPr bwMode="auto">
          <a:xfrm>
            <a:off x="4267200" y="19970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4" name="Line 24"/>
          <p:cNvSpPr>
            <a:spLocks noChangeShapeType="1"/>
          </p:cNvSpPr>
          <p:nvPr/>
        </p:nvSpPr>
        <p:spPr bwMode="auto">
          <a:xfrm>
            <a:off x="2514600" y="19970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5" name="Freeform 26"/>
          <p:cNvSpPr>
            <a:spLocks/>
          </p:cNvSpPr>
          <p:nvPr/>
        </p:nvSpPr>
        <p:spPr bwMode="auto">
          <a:xfrm>
            <a:off x="1066800" y="1482725"/>
            <a:ext cx="1371600" cy="4000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6" name="Line 27"/>
          <p:cNvSpPr>
            <a:spLocks noChangeShapeType="1"/>
          </p:cNvSpPr>
          <p:nvPr/>
        </p:nvSpPr>
        <p:spPr bwMode="auto">
          <a:xfrm>
            <a:off x="2514600" y="2911475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7" name="Freeform 28"/>
          <p:cNvSpPr>
            <a:spLocks/>
          </p:cNvSpPr>
          <p:nvPr/>
        </p:nvSpPr>
        <p:spPr bwMode="auto">
          <a:xfrm>
            <a:off x="2514600" y="1882775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8" name="Line 29"/>
          <p:cNvSpPr>
            <a:spLocks noChangeShapeType="1"/>
          </p:cNvSpPr>
          <p:nvPr/>
        </p:nvSpPr>
        <p:spPr bwMode="auto">
          <a:xfrm>
            <a:off x="4267200" y="2911475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9" name="Freeform 37"/>
          <p:cNvSpPr>
            <a:spLocks/>
          </p:cNvSpPr>
          <p:nvPr/>
        </p:nvSpPr>
        <p:spPr bwMode="auto">
          <a:xfrm>
            <a:off x="4267200" y="1882775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60" name="Rectangle 44"/>
          <p:cNvSpPr>
            <a:spLocks noChangeArrowheads="1"/>
          </p:cNvSpPr>
          <p:nvPr/>
        </p:nvSpPr>
        <p:spPr bwMode="auto">
          <a:xfrm>
            <a:off x="1828800" y="3368675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newct[0]</a:t>
            </a:r>
          </a:p>
        </p:txBody>
      </p:sp>
      <p:sp>
        <p:nvSpPr>
          <p:cNvPr id="35861" name="Rectangle 45"/>
          <p:cNvSpPr>
            <a:spLocks noChangeArrowheads="1"/>
          </p:cNvSpPr>
          <p:nvPr/>
        </p:nvSpPr>
        <p:spPr bwMode="auto">
          <a:xfrm>
            <a:off x="3352800" y="3368675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newct[1]</a:t>
            </a:r>
          </a:p>
        </p:txBody>
      </p:sp>
      <p:cxnSp>
        <p:nvCxnSpPr>
          <p:cNvPr id="35862" name="Connettore 2 43"/>
          <p:cNvCxnSpPr>
            <a:cxnSpLocks noChangeShapeType="1"/>
          </p:cNvCxnSpPr>
          <p:nvPr/>
        </p:nvCxnSpPr>
        <p:spPr bwMode="auto">
          <a:xfrm>
            <a:off x="3635375" y="2820988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3" name="CasellaDiTesto 44"/>
          <p:cNvSpPr txBox="1">
            <a:spLocks noChangeArrowheads="1"/>
          </p:cNvSpPr>
          <p:nvPr/>
        </p:nvSpPr>
        <p:spPr bwMode="auto">
          <a:xfrm>
            <a:off x="3397250" y="260508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35864" name="Connettore 2 45"/>
          <p:cNvCxnSpPr>
            <a:cxnSpLocks noChangeShapeType="1"/>
          </p:cNvCxnSpPr>
          <p:nvPr/>
        </p:nvCxnSpPr>
        <p:spPr bwMode="auto">
          <a:xfrm>
            <a:off x="1979613" y="2830513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5" name="CasellaDiTesto 46"/>
          <p:cNvSpPr txBox="1">
            <a:spLocks noChangeArrowheads="1"/>
          </p:cNvSpPr>
          <p:nvPr/>
        </p:nvSpPr>
        <p:spPr bwMode="auto">
          <a:xfrm>
            <a:off x="1739900" y="261461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35866" name="CasellaDiTesto 47"/>
          <p:cNvSpPr txBox="1">
            <a:spLocks noChangeArrowheads="1"/>
          </p:cNvSpPr>
          <p:nvPr/>
        </p:nvSpPr>
        <p:spPr bwMode="auto">
          <a:xfrm>
            <a:off x="425450" y="836613"/>
            <a:ext cx="1344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X predictable!</a:t>
            </a:r>
          </a:p>
        </p:txBody>
      </p:sp>
      <p:sp>
        <p:nvSpPr>
          <p:cNvPr id="35867" name="CasellaDiTesto 48"/>
          <p:cNvSpPr txBox="1">
            <a:spLocks noChangeArrowheads="1"/>
          </p:cNvSpPr>
          <p:nvPr/>
        </p:nvSpPr>
        <p:spPr bwMode="auto">
          <a:xfrm>
            <a:off x="1744663" y="836613"/>
            <a:ext cx="181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Chosen by attacker</a:t>
            </a:r>
          </a:p>
        </p:txBody>
      </p:sp>
      <p:sp>
        <p:nvSpPr>
          <p:cNvPr id="35868" name="CasellaDiTesto 27"/>
          <p:cNvSpPr txBox="1">
            <a:spLocks noChangeArrowheads="1"/>
          </p:cNvSpPr>
          <p:nvPr/>
        </p:nvSpPr>
        <p:spPr bwMode="auto">
          <a:xfrm>
            <a:off x="34925" y="5661025"/>
            <a:ext cx="9164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>
                <a:solidFill>
                  <a:srgbClr val="FF0000"/>
                </a:solidFill>
              </a:rPr>
              <a:t>Aftermath: predictable IV </a:t>
            </a:r>
            <a:r>
              <a:rPr lang="it-IT" altLang="it-IT" b="1">
                <a:solidFill>
                  <a:srgbClr val="FF0000"/>
                </a:solidFill>
                <a:sym typeface="Wingdings" pitchFamily="2" charset="2"/>
              </a:rPr>
              <a:t> can mount a dictionary attack (initially prevented by semantic security)!</a:t>
            </a:r>
            <a:endParaRPr lang="it-IT" altLang="it-IT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58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predictable</a:t>
            </a:r>
            <a:r>
              <a:rPr lang="it-IT" dirty="0"/>
              <a:t> IV?</a:t>
            </a:r>
          </a:p>
        </p:txBody>
      </p:sp>
      <p:sp>
        <p:nvSpPr>
          <p:cNvPr id="36867" name="Rectangle 6"/>
          <p:cNvSpPr>
            <a:spLocks noChangeArrowheads="1"/>
          </p:cNvSpPr>
          <p:nvPr/>
        </p:nvSpPr>
        <p:spPr bwMode="auto">
          <a:xfrm>
            <a:off x="852488" y="3344863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6868" name="Rectangle 12"/>
          <p:cNvSpPr>
            <a:spLocks noChangeArrowheads="1"/>
          </p:cNvSpPr>
          <p:nvPr/>
        </p:nvSpPr>
        <p:spPr bwMode="auto">
          <a:xfrm>
            <a:off x="2071688" y="2259013"/>
            <a:ext cx="16002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PASS=XXX</a:t>
            </a:r>
          </a:p>
        </p:txBody>
      </p:sp>
      <p:sp>
        <p:nvSpPr>
          <p:cNvPr id="36869" name="Line 29"/>
          <p:cNvSpPr>
            <a:spLocks noChangeShapeType="1"/>
          </p:cNvSpPr>
          <p:nvPr/>
        </p:nvSpPr>
        <p:spPr bwMode="auto">
          <a:xfrm>
            <a:off x="1309688" y="3973513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0" name="Rectangle 36"/>
          <p:cNvSpPr>
            <a:spLocks noChangeArrowheads="1"/>
          </p:cNvSpPr>
          <p:nvPr/>
        </p:nvSpPr>
        <p:spPr bwMode="auto">
          <a:xfrm>
            <a:off x="2528888" y="3344863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6871" name="Freeform 37"/>
          <p:cNvSpPr>
            <a:spLocks/>
          </p:cNvSpPr>
          <p:nvPr/>
        </p:nvSpPr>
        <p:spPr bwMode="auto">
          <a:xfrm>
            <a:off x="1309688" y="2944813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2" name="Freeform 38"/>
          <p:cNvSpPr>
            <a:spLocks/>
          </p:cNvSpPr>
          <p:nvPr/>
        </p:nvSpPr>
        <p:spPr bwMode="auto">
          <a:xfrm>
            <a:off x="2986088" y="2944813"/>
            <a:ext cx="13716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3" name="Text Box 39"/>
          <p:cNvSpPr txBox="1">
            <a:spLocks noChangeArrowheads="1"/>
          </p:cNvSpPr>
          <p:nvPr/>
        </p:nvSpPr>
        <p:spPr bwMode="auto">
          <a:xfrm>
            <a:off x="2794000" y="2646363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6874" name="Line 40"/>
          <p:cNvSpPr>
            <a:spLocks noChangeShapeType="1"/>
          </p:cNvSpPr>
          <p:nvPr/>
        </p:nvSpPr>
        <p:spPr bwMode="auto">
          <a:xfrm>
            <a:off x="3022600" y="25685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5" name="Line 41"/>
          <p:cNvSpPr>
            <a:spLocks noChangeShapeType="1"/>
          </p:cNvSpPr>
          <p:nvPr/>
        </p:nvSpPr>
        <p:spPr bwMode="auto">
          <a:xfrm>
            <a:off x="3022600" y="30591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6" name="Line 42"/>
          <p:cNvSpPr>
            <a:spLocks noChangeShapeType="1"/>
          </p:cNvSpPr>
          <p:nvPr/>
        </p:nvSpPr>
        <p:spPr bwMode="auto">
          <a:xfrm>
            <a:off x="2986088" y="3973513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7" name="Rectangle 45"/>
          <p:cNvSpPr>
            <a:spLocks noChangeArrowheads="1"/>
          </p:cNvSpPr>
          <p:nvPr/>
        </p:nvSpPr>
        <p:spPr bwMode="auto">
          <a:xfrm>
            <a:off x="395288" y="4430713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c[i-1]=FF54B1F1</a:t>
            </a:r>
          </a:p>
        </p:txBody>
      </p:sp>
      <p:sp>
        <p:nvSpPr>
          <p:cNvPr id="36878" name="Rectangle 46"/>
          <p:cNvSpPr>
            <a:spLocks noChangeArrowheads="1"/>
          </p:cNvSpPr>
          <p:nvPr/>
        </p:nvSpPr>
        <p:spPr bwMode="auto">
          <a:xfrm>
            <a:off x="2071688" y="4430713"/>
            <a:ext cx="16002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c[i]=132FA776</a:t>
            </a:r>
          </a:p>
        </p:txBody>
      </p:sp>
      <p:cxnSp>
        <p:nvCxnSpPr>
          <p:cNvPr id="36879" name="Connettore 2 43"/>
          <p:cNvCxnSpPr>
            <a:cxnSpLocks noChangeShapeType="1"/>
          </p:cNvCxnSpPr>
          <p:nvPr/>
        </p:nvCxnSpPr>
        <p:spPr bwMode="auto">
          <a:xfrm>
            <a:off x="677863" y="3883025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0" name="CasellaDiTesto 44"/>
          <p:cNvSpPr txBox="1">
            <a:spLocks noChangeArrowheads="1"/>
          </p:cNvSpPr>
          <p:nvPr/>
        </p:nvSpPr>
        <p:spPr bwMode="auto">
          <a:xfrm>
            <a:off x="439738" y="3667125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36881" name="Connettore 2 47"/>
          <p:cNvCxnSpPr>
            <a:cxnSpLocks noChangeShapeType="1"/>
          </p:cNvCxnSpPr>
          <p:nvPr/>
        </p:nvCxnSpPr>
        <p:spPr bwMode="auto">
          <a:xfrm>
            <a:off x="2406650" y="3892550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2" name="CasellaDiTesto 48"/>
          <p:cNvSpPr txBox="1">
            <a:spLocks noChangeArrowheads="1"/>
          </p:cNvSpPr>
          <p:nvPr/>
        </p:nvSpPr>
        <p:spPr bwMode="auto">
          <a:xfrm>
            <a:off x="2166938" y="3676650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36883" name="CasellaDiTesto 34"/>
          <p:cNvSpPr txBox="1">
            <a:spLocks noChangeArrowheads="1"/>
          </p:cNvSpPr>
          <p:nvPr/>
        </p:nvSpPr>
        <p:spPr bwMode="auto">
          <a:xfrm>
            <a:off x="323850" y="5292725"/>
            <a:ext cx="364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C[i]=ENC(K, “FF54B1F1”</a:t>
            </a:r>
            <a:r>
              <a:rPr lang="it-IT" altLang="it-IT">
                <a:sym typeface="Symbol" pitchFamily="18" charset="2"/>
              </a:rPr>
              <a:t></a:t>
            </a:r>
            <a:r>
              <a:rPr lang="it-IT" altLang="it-IT"/>
              <a:t>“PASS=XXX”)</a:t>
            </a:r>
          </a:p>
        </p:txBody>
      </p:sp>
      <p:sp>
        <p:nvSpPr>
          <p:cNvPr id="36884" name="CasellaDiTesto 35"/>
          <p:cNvSpPr txBox="1">
            <a:spLocks noChangeArrowheads="1"/>
          </p:cNvSpPr>
          <p:nvPr/>
        </p:nvSpPr>
        <p:spPr bwMode="auto">
          <a:xfrm>
            <a:off x="323850" y="1196975"/>
            <a:ext cx="3943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/>
              <a:t>Collected data, including target password</a:t>
            </a:r>
          </a:p>
        </p:txBody>
      </p:sp>
      <p:cxnSp>
        <p:nvCxnSpPr>
          <p:cNvPr id="36885" name="Connettore 1 37"/>
          <p:cNvCxnSpPr>
            <a:cxnSpLocks noChangeShapeType="1"/>
          </p:cNvCxnSpPr>
          <p:nvPr/>
        </p:nvCxnSpPr>
        <p:spPr bwMode="auto">
          <a:xfrm>
            <a:off x="4572000" y="1052513"/>
            <a:ext cx="0" cy="5040312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6" name="CasellaDiTesto 38"/>
          <p:cNvSpPr txBox="1">
            <a:spLocks noChangeArrowheads="1"/>
          </p:cNvSpPr>
          <p:nvPr/>
        </p:nvSpPr>
        <p:spPr bwMode="auto">
          <a:xfrm>
            <a:off x="4732338" y="1196975"/>
            <a:ext cx="23129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/>
              <a:t>Chosen plaintext attack</a:t>
            </a:r>
          </a:p>
        </p:txBody>
      </p:sp>
      <p:sp>
        <p:nvSpPr>
          <p:cNvPr id="36887" name="Rectangle 5"/>
          <p:cNvSpPr>
            <a:spLocks noChangeArrowheads="1"/>
          </p:cNvSpPr>
          <p:nvPr/>
        </p:nvSpPr>
        <p:spPr bwMode="auto">
          <a:xfrm>
            <a:off x="6238875" y="3290888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6888" name="Rectangle 10"/>
          <p:cNvSpPr>
            <a:spLocks noChangeArrowheads="1"/>
          </p:cNvSpPr>
          <p:nvPr/>
        </p:nvSpPr>
        <p:spPr bwMode="auto">
          <a:xfrm>
            <a:off x="5934075" y="2205038"/>
            <a:ext cx="1524000" cy="28575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newmsg[0]</a:t>
            </a:r>
          </a:p>
        </p:txBody>
      </p:sp>
      <p:sp>
        <p:nvSpPr>
          <p:cNvPr id="36889" name="Rectangle 14"/>
          <p:cNvSpPr>
            <a:spLocks noChangeArrowheads="1"/>
          </p:cNvSpPr>
          <p:nvPr/>
        </p:nvSpPr>
        <p:spPr bwMode="auto">
          <a:xfrm>
            <a:off x="4791075" y="2205038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IV = X</a:t>
            </a:r>
          </a:p>
        </p:txBody>
      </p:sp>
      <p:sp>
        <p:nvSpPr>
          <p:cNvPr id="36890" name="Text Box 15"/>
          <p:cNvSpPr txBox="1">
            <a:spLocks noChangeArrowheads="1"/>
          </p:cNvSpPr>
          <p:nvPr/>
        </p:nvSpPr>
        <p:spPr bwMode="auto">
          <a:xfrm>
            <a:off x="6427788" y="2592388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6891" name="Line 19"/>
          <p:cNvSpPr>
            <a:spLocks noChangeShapeType="1"/>
          </p:cNvSpPr>
          <p:nvPr/>
        </p:nvSpPr>
        <p:spPr bwMode="auto">
          <a:xfrm>
            <a:off x="6664325" y="2490788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92" name="Line 24"/>
          <p:cNvSpPr>
            <a:spLocks noChangeShapeType="1"/>
          </p:cNvSpPr>
          <p:nvPr/>
        </p:nvSpPr>
        <p:spPr bwMode="auto">
          <a:xfrm>
            <a:off x="6619875" y="3005138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93" name="Freeform 26"/>
          <p:cNvSpPr>
            <a:spLocks/>
          </p:cNvSpPr>
          <p:nvPr/>
        </p:nvSpPr>
        <p:spPr bwMode="auto">
          <a:xfrm>
            <a:off x="5172075" y="2490788"/>
            <a:ext cx="1371600" cy="4000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94" name="Line 27"/>
          <p:cNvSpPr>
            <a:spLocks noChangeShapeType="1"/>
          </p:cNvSpPr>
          <p:nvPr/>
        </p:nvSpPr>
        <p:spPr bwMode="auto">
          <a:xfrm>
            <a:off x="6619875" y="3919538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95" name="Rectangle 44"/>
          <p:cNvSpPr>
            <a:spLocks noChangeArrowheads="1"/>
          </p:cNvSpPr>
          <p:nvPr/>
        </p:nvSpPr>
        <p:spPr bwMode="auto">
          <a:xfrm>
            <a:off x="5934075" y="4376738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newct[0]</a:t>
            </a:r>
          </a:p>
        </p:txBody>
      </p:sp>
      <p:cxnSp>
        <p:nvCxnSpPr>
          <p:cNvPr id="36896" name="Connettore 2 45"/>
          <p:cNvCxnSpPr>
            <a:cxnSpLocks noChangeShapeType="1"/>
          </p:cNvCxnSpPr>
          <p:nvPr/>
        </p:nvCxnSpPr>
        <p:spPr bwMode="auto">
          <a:xfrm>
            <a:off x="6084888" y="3838575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97" name="CasellaDiTesto 46"/>
          <p:cNvSpPr txBox="1">
            <a:spLocks noChangeArrowheads="1"/>
          </p:cNvSpPr>
          <p:nvPr/>
        </p:nvSpPr>
        <p:spPr bwMode="auto">
          <a:xfrm>
            <a:off x="5845175" y="3622675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36899" name="CasellaDiTesto 63"/>
          <p:cNvSpPr txBox="1">
            <a:spLocks noChangeArrowheads="1"/>
          </p:cNvSpPr>
          <p:nvPr/>
        </p:nvSpPr>
        <p:spPr bwMode="auto">
          <a:xfrm>
            <a:off x="5784850" y="1700213"/>
            <a:ext cx="2649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1600"/>
              <a:t>X</a:t>
            </a:r>
            <a:r>
              <a:rPr lang="it-IT" altLang="it-IT" sz="1600">
                <a:sym typeface="Symbol" pitchFamily="18" charset="2"/>
              </a:rPr>
              <a:t> </a:t>
            </a:r>
            <a:r>
              <a:rPr lang="it-IT" altLang="it-IT" sz="1600"/>
              <a:t>“FF54B1F1”</a:t>
            </a:r>
            <a:r>
              <a:rPr lang="it-IT" altLang="it-IT" sz="1600">
                <a:sym typeface="Symbol" pitchFamily="18" charset="2"/>
              </a:rPr>
              <a:t></a:t>
            </a:r>
            <a:r>
              <a:rPr lang="it-IT" altLang="it-IT" sz="1600"/>
              <a:t>“PASS=UGO”</a:t>
            </a:r>
          </a:p>
        </p:txBody>
      </p:sp>
      <p:cxnSp>
        <p:nvCxnSpPr>
          <p:cNvPr id="36900" name="Connettore 2 65"/>
          <p:cNvCxnSpPr>
            <a:cxnSpLocks noChangeShapeType="1"/>
            <a:stCxn id="36899" idx="2"/>
            <a:endCxn id="36888" idx="0"/>
          </p:cNvCxnSpPr>
          <p:nvPr/>
        </p:nvCxnSpPr>
        <p:spPr bwMode="auto">
          <a:xfrm flipH="1">
            <a:off x="6696075" y="2039938"/>
            <a:ext cx="414338" cy="1651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901" name="CasellaDiTesto 66"/>
          <p:cNvSpPr txBox="1">
            <a:spLocks noChangeArrowheads="1"/>
          </p:cNvSpPr>
          <p:nvPr/>
        </p:nvSpPr>
        <p:spPr bwMode="auto">
          <a:xfrm>
            <a:off x="6846888" y="2659063"/>
            <a:ext cx="2333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1600"/>
              <a:t>“FF54B1F1”</a:t>
            </a:r>
            <a:r>
              <a:rPr lang="it-IT" altLang="it-IT" sz="1600">
                <a:sym typeface="Symbol" pitchFamily="18" charset="2"/>
              </a:rPr>
              <a:t></a:t>
            </a:r>
            <a:r>
              <a:rPr lang="it-IT" altLang="it-IT" sz="1600"/>
              <a:t>“PASS=UGO”</a:t>
            </a:r>
          </a:p>
        </p:txBody>
      </p:sp>
      <p:cxnSp>
        <p:nvCxnSpPr>
          <p:cNvPr id="36902" name="Connettore 2 67"/>
          <p:cNvCxnSpPr>
            <a:cxnSpLocks noChangeShapeType="1"/>
          </p:cNvCxnSpPr>
          <p:nvPr/>
        </p:nvCxnSpPr>
        <p:spPr bwMode="auto">
          <a:xfrm flipH="1">
            <a:off x="6659563" y="2974975"/>
            <a:ext cx="414337" cy="1666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903" name="CasellaDiTesto 68"/>
          <p:cNvSpPr txBox="1">
            <a:spLocks noChangeArrowheads="1"/>
          </p:cNvSpPr>
          <p:nvPr/>
        </p:nvSpPr>
        <p:spPr bwMode="auto">
          <a:xfrm>
            <a:off x="4818063" y="5300663"/>
            <a:ext cx="4116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newct[0]=ENC(K, “FF54B1F1”</a:t>
            </a:r>
            <a:r>
              <a:rPr lang="it-IT" altLang="it-IT">
                <a:sym typeface="Symbol" pitchFamily="18" charset="2"/>
              </a:rPr>
              <a:t></a:t>
            </a:r>
            <a:r>
              <a:rPr lang="it-IT" altLang="it-IT"/>
              <a:t>“PASS=UGO”)</a:t>
            </a:r>
          </a:p>
        </p:txBody>
      </p:sp>
      <p:sp>
        <p:nvSpPr>
          <p:cNvPr id="36904" name="CasellaDiTesto 69"/>
          <p:cNvSpPr txBox="1">
            <a:spLocks noChangeArrowheads="1"/>
          </p:cNvSpPr>
          <p:nvPr/>
        </p:nvSpPr>
        <p:spPr bwMode="auto">
          <a:xfrm>
            <a:off x="5003800" y="5661025"/>
            <a:ext cx="3863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>
                <a:solidFill>
                  <a:srgbClr val="FF0000"/>
                </a:solidFill>
              </a:rPr>
              <a:t>If equal to c[i], then guess right!!</a:t>
            </a:r>
          </a:p>
          <a:p>
            <a:pPr eaLnBrk="1" hangingPunct="1"/>
            <a:r>
              <a:rPr lang="it-IT" altLang="it-IT" b="1">
                <a:solidFill>
                  <a:srgbClr val="FF0000"/>
                </a:solidFill>
              </a:rPr>
              <a:t>If different from c[i], then other pw right!!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99" grpId="0"/>
      <p:bldP spid="36901" grpId="0"/>
      <p:bldP spid="36903" grpId="0"/>
      <p:bldP spid="369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Exploited</a:t>
            </a:r>
            <a:r>
              <a:rPr lang="it-IT" dirty="0"/>
              <a:t> in TLS!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183187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Predictable</a:t>
            </a:r>
            <a:r>
              <a:rPr lang="it-IT" dirty="0"/>
              <a:t> IV: </a:t>
            </a:r>
            <a:r>
              <a:rPr lang="it-IT" dirty="0" err="1"/>
              <a:t>well</a:t>
            </a:r>
            <a:r>
              <a:rPr lang="it-IT" dirty="0"/>
              <a:t> </a:t>
            </a:r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vulnerability</a:t>
            </a:r>
            <a:endParaRPr lang="it-IT" dirty="0"/>
          </a:p>
          <a:p>
            <a:pPr lvl="2">
              <a:defRPr/>
            </a:pPr>
            <a:r>
              <a:rPr lang="it-IT" dirty="0" err="1"/>
              <a:t>Rogaway</a:t>
            </a:r>
            <a:r>
              <a:rPr lang="it-IT" dirty="0"/>
              <a:t> 1999 (on </a:t>
            </a:r>
            <a:r>
              <a:rPr lang="it-IT" dirty="0" err="1"/>
              <a:t>IPsec</a:t>
            </a:r>
            <a:r>
              <a:rPr lang="it-IT" dirty="0"/>
              <a:t> </a:t>
            </a:r>
            <a:r>
              <a:rPr lang="it-IT" dirty="0" err="1"/>
              <a:t>issues</a:t>
            </a:r>
            <a:r>
              <a:rPr lang="it-IT" dirty="0"/>
              <a:t>)</a:t>
            </a:r>
          </a:p>
          <a:p>
            <a:pPr lvl="2">
              <a:defRPr/>
            </a:pPr>
            <a:r>
              <a:rPr lang="it-IT" dirty="0" err="1"/>
              <a:t>Moller</a:t>
            </a:r>
            <a:r>
              <a:rPr lang="it-IT" dirty="0"/>
              <a:t> 2004 (</a:t>
            </a:r>
            <a:r>
              <a:rPr lang="it-IT" dirty="0" err="1"/>
              <a:t>explicitly</a:t>
            </a:r>
            <a:r>
              <a:rPr lang="it-IT" dirty="0"/>
              <a:t> </a:t>
            </a:r>
            <a:r>
              <a:rPr lang="it-IT" dirty="0" err="1"/>
              <a:t>addressing</a:t>
            </a:r>
            <a:r>
              <a:rPr lang="it-IT" dirty="0"/>
              <a:t> TLS)</a:t>
            </a:r>
          </a:p>
          <a:p>
            <a:pPr lvl="1">
              <a:defRPr/>
            </a:pPr>
            <a:r>
              <a:rPr lang="it-IT" dirty="0"/>
              <a:t>TLS 1.0: IV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new</a:t>
            </a:r>
            <a:r>
              <a:rPr lang="it-IT" dirty="0"/>
              <a:t> </a:t>
            </a:r>
            <a:r>
              <a:rPr lang="it-IT" dirty="0" err="1"/>
              <a:t>msg</a:t>
            </a:r>
            <a:r>
              <a:rPr lang="it-IT" dirty="0"/>
              <a:t> = last c[i]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message</a:t>
            </a:r>
            <a:endParaRPr lang="it-IT" dirty="0"/>
          </a:p>
          <a:p>
            <a:pPr>
              <a:defRPr/>
            </a:pPr>
            <a:r>
              <a:rPr lang="it-IT" dirty="0" err="1"/>
              <a:t>Corrected</a:t>
            </a:r>
            <a:r>
              <a:rPr lang="it-IT" dirty="0"/>
              <a:t> in TLS v1.1+</a:t>
            </a:r>
          </a:p>
          <a:p>
            <a:pPr lvl="1">
              <a:defRPr/>
            </a:pPr>
            <a:r>
              <a:rPr lang="it-IT" dirty="0" err="1"/>
              <a:t>Explicit</a:t>
            </a:r>
            <a:r>
              <a:rPr lang="it-IT" dirty="0"/>
              <a:t> IV per </a:t>
            </a:r>
            <a:r>
              <a:rPr lang="it-IT" dirty="0" err="1"/>
              <a:t>new</a:t>
            </a:r>
            <a:r>
              <a:rPr lang="it-IT" dirty="0"/>
              <a:t> </a:t>
            </a:r>
            <a:r>
              <a:rPr lang="it-IT" dirty="0" err="1"/>
              <a:t>msg</a:t>
            </a:r>
            <a:endParaRPr lang="it-IT" dirty="0"/>
          </a:p>
          <a:p>
            <a:pPr lvl="1">
              <a:defRPr/>
            </a:pPr>
            <a:r>
              <a:rPr lang="it-IT" dirty="0"/>
              <a:t>Note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mandatory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DTLS </a:t>
            </a:r>
          </a:p>
          <a:p>
            <a:pPr lvl="2">
              <a:defRPr/>
            </a:pPr>
            <a:r>
              <a:rPr lang="it-IT" dirty="0"/>
              <a:t>reception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msg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guaranteed</a:t>
            </a:r>
            <a:endParaRPr lang="it-IT" dirty="0"/>
          </a:p>
          <a:p>
            <a:pPr>
              <a:defRPr/>
            </a:pP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practical</a:t>
            </a:r>
            <a:r>
              <a:rPr lang="it-IT" dirty="0"/>
              <a:t> (?)</a:t>
            </a:r>
          </a:p>
          <a:p>
            <a:pPr lvl="1">
              <a:defRPr/>
            </a:pPr>
            <a:r>
              <a:rPr lang="it-IT" dirty="0" err="1"/>
              <a:t>Limited</a:t>
            </a:r>
            <a:r>
              <a:rPr lang="it-IT" dirty="0"/>
              <a:t> interest so far in </a:t>
            </a:r>
            <a:r>
              <a:rPr lang="it-IT" dirty="0" err="1"/>
              <a:t>deploying</a:t>
            </a:r>
            <a:r>
              <a:rPr lang="it-IT" dirty="0"/>
              <a:t> TLS1.1+ </a:t>
            </a:r>
          </a:p>
          <a:p>
            <a:pPr lvl="1">
              <a:defRPr/>
            </a:pPr>
            <a:r>
              <a:rPr lang="it-IT" dirty="0" err="1"/>
              <a:t>Vulnerability</a:t>
            </a:r>
            <a:r>
              <a:rPr lang="it-IT" dirty="0"/>
              <a:t> </a:t>
            </a:r>
            <a:r>
              <a:rPr lang="it-IT" dirty="0" err="1"/>
              <a:t>theoretical</a:t>
            </a:r>
            <a:r>
              <a:rPr lang="it-IT" dirty="0"/>
              <a:t>,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apparently</a:t>
            </a:r>
            <a:r>
              <a:rPr lang="it-IT" dirty="0"/>
              <a:t> hard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mount</a:t>
            </a:r>
            <a:endParaRPr lang="it-IT" dirty="0"/>
          </a:p>
          <a:p>
            <a:pPr lvl="2">
              <a:defRPr/>
            </a:pPr>
            <a:r>
              <a:rPr lang="it-IT" b="1" dirty="0" err="1">
                <a:solidFill>
                  <a:srgbClr val="FF0000"/>
                </a:solidFill>
              </a:rPr>
              <a:t>…until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september</a:t>
            </a:r>
            <a:r>
              <a:rPr lang="it-IT" b="1" dirty="0">
                <a:solidFill>
                  <a:srgbClr val="FF0000"/>
                </a:solidFill>
              </a:rPr>
              <a:t> 2011:</a:t>
            </a:r>
            <a:br>
              <a:rPr lang="it-IT" b="1" dirty="0">
                <a:solidFill>
                  <a:srgbClr val="FF0000"/>
                </a:solidFill>
              </a:rPr>
            </a:br>
            <a:r>
              <a:rPr lang="it-IT" b="1" dirty="0">
                <a:solidFill>
                  <a:srgbClr val="FF0000"/>
                </a:solidFill>
              </a:rPr>
              <a:t>     BEAST (T. </a:t>
            </a:r>
            <a:r>
              <a:rPr lang="it-IT" b="1" dirty="0" err="1">
                <a:solidFill>
                  <a:srgbClr val="FF0000"/>
                </a:solidFill>
              </a:rPr>
              <a:t>Duong</a:t>
            </a:r>
            <a:r>
              <a:rPr lang="it-IT" b="1" dirty="0">
                <a:solidFill>
                  <a:srgbClr val="FF0000"/>
                </a:solidFill>
              </a:rPr>
              <a:t> &amp; J. Rizzo)</a:t>
            </a:r>
            <a:r>
              <a:rPr lang="it-IT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believed</a:t>
            </a:r>
            <a:r>
              <a:rPr lang="it-IT" dirty="0"/>
              <a:t> to be </a:t>
            </a:r>
            <a:r>
              <a:rPr lang="it-IT" dirty="0" err="1"/>
              <a:t>unpractical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412776"/>
            <a:ext cx="8229600" cy="5040560"/>
          </a:xfrm>
        </p:spPr>
        <p:txBody>
          <a:bodyPr>
            <a:normAutofit/>
          </a:bodyPr>
          <a:lstStyle/>
          <a:p>
            <a:r>
              <a:rPr lang="it-IT" dirty="0"/>
              <a:t>Software </a:t>
            </a:r>
            <a:r>
              <a:rPr lang="it-IT" dirty="0" err="1"/>
              <a:t>issues</a:t>
            </a:r>
            <a:endParaRPr lang="it-IT" dirty="0"/>
          </a:p>
          <a:p>
            <a:pPr lvl="1"/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Attach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active</a:t>
            </a:r>
            <a:endParaRPr lang="it-IT" dirty="0"/>
          </a:p>
          <a:p>
            <a:pPr lvl="2"/>
            <a:r>
              <a:rPr lang="it-IT" dirty="0"/>
              <a:t>Active agent code </a:t>
            </a:r>
            <a:r>
              <a:rPr lang="it-IT" dirty="0" err="1"/>
              <a:t>running</a:t>
            </a:r>
            <a:r>
              <a:rPr lang="it-IT" dirty="0"/>
              <a:t> on </a:t>
            </a:r>
            <a:r>
              <a:rPr lang="it-IT" dirty="0" err="1"/>
              <a:t>user</a:t>
            </a:r>
            <a:r>
              <a:rPr lang="it-IT" dirty="0"/>
              <a:t> browser</a:t>
            </a:r>
          </a:p>
          <a:p>
            <a:pPr lvl="2"/>
            <a:r>
              <a:rPr lang="it-IT" dirty="0" err="1"/>
              <a:t>Injection</a:t>
            </a:r>
            <a:r>
              <a:rPr lang="it-IT" dirty="0"/>
              <a:t> of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plaintext</a:t>
            </a:r>
            <a:r>
              <a:rPr lang="it-IT" dirty="0"/>
              <a:t> from </a:t>
            </a:r>
            <a:r>
              <a:rPr lang="it-IT" dirty="0" err="1"/>
              <a:t>attacker</a:t>
            </a:r>
            <a:endParaRPr lang="it-IT" dirty="0"/>
          </a:p>
          <a:p>
            <a:pPr lvl="2"/>
            <a:endParaRPr lang="it-IT" dirty="0"/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Found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feasible</a:t>
            </a:r>
            <a:r>
              <a:rPr lang="it-IT" dirty="0">
                <a:solidFill>
                  <a:srgbClr val="FF0000"/>
                </a:solidFill>
              </a:rPr>
              <a:t> with </a:t>
            </a:r>
            <a:r>
              <a:rPr lang="it-IT" dirty="0" err="1">
                <a:solidFill>
                  <a:srgbClr val="FF0000"/>
                </a:solidFill>
              </a:rPr>
              <a:t>modern</a:t>
            </a:r>
            <a:r>
              <a:rPr lang="it-IT" dirty="0">
                <a:solidFill>
                  <a:srgbClr val="FF0000"/>
                </a:solidFill>
              </a:rPr>
              <a:t> web </a:t>
            </a:r>
            <a:r>
              <a:rPr lang="it-IT" dirty="0" err="1">
                <a:solidFill>
                  <a:srgbClr val="FF0000"/>
                </a:solidFill>
              </a:rPr>
              <a:t>technologies</a:t>
            </a:r>
            <a:endParaRPr lang="it-IT" dirty="0">
              <a:solidFill>
                <a:srgbClr val="FF0000"/>
              </a:solidFill>
            </a:endParaRPr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Websockets</a:t>
            </a:r>
            <a:r>
              <a:rPr lang="it-IT" dirty="0">
                <a:solidFill>
                  <a:srgbClr val="FF0000"/>
                </a:solidFill>
              </a:rPr>
              <a:t>, HTML5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2624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believed</a:t>
            </a:r>
            <a:r>
              <a:rPr lang="it-IT" dirty="0"/>
              <a:t> to be </a:t>
            </a:r>
            <a:r>
              <a:rPr lang="it-IT" dirty="0" err="1"/>
              <a:t>unpractical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412776"/>
            <a:ext cx="8229600" cy="5040560"/>
          </a:xfrm>
        </p:spPr>
        <p:txBody>
          <a:bodyPr>
            <a:normAutofit fontScale="85000" lnSpcReduction="10000"/>
          </a:bodyPr>
          <a:lstStyle/>
          <a:p>
            <a:r>
              <a:rPr lang="it-IT" dirty="0" err="1"/>
              <a:t>Complexity</a:t>
            </a:r>
            <a:r>
              <a:rPr lang="it-IT" dirty="0"/>
              <a:t> </a:t>
            </a:r>
            <a:r>
              <a:rPr lang="it-IT" dirty="0" err="1"/>
              <a:t>issues</a:t>
            </a:r>
            <a:endParaRPr lang="it-IT" dirty="0"/>
          </a:p>
          <a:p>
            <a:pPr lvl="1"/>
            <a:r>
              <a:rPr lang="it-IT" dirty="0"/>
              <a:t>Brute force </a:t>
            </a:r>
            <a:r>
              <a:rPr lang="it-IT" dirty="0" err="1"/>
              <a:t>attack</a:t>
            </a:r>
            <a:r>
              <a:rPr lang="it-IT" dirty="0"/>
              <a:t>: must </a:t>
            </a:r>
            <a:r>
              <a:rPr lang="it-IT" dirty="0" err="1"/>
              <a:t>provide</a:t>
            </a:r>
            <a:r>
              <a:rPr lang="it-IT" dirty="0"/>
              <a:t> a </a:t>
            </a:r>
            <a:r>
              <a:rPr lang="it-IT" dirty="0" err="1"/>
              <a:t>guess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content</a:t>
            </a:r>
            <a:r>
              <a:rPr lang="it-IT" dirty="0"/>
              <a:t> of a </a:t>
            </a:r>
            <a:r>
              <a:rPr lang="it-IT" dirty="0" err="1"/>
              <a:t>block</a:t>
            </a:r>
            <a:endParaRPr lang="it-IT" dirty="0"/>
          </a:p>
          <a:p>
            <a:pPr lvl="2"/>
            <a:r>
              <a:rPr lang="it-IT" dirty="0"/>
              <a:t>AES: 128 bits </a:t>
            </a:r>
            <a:r>
              <a:rPr lang="it-IT" dirty="0" err="1"/>
              <a:t>block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2</a:t>
            </a:r>
            <a:r>
              <a:rPr lang="it-IT" baseline="30000" dirty="0">
                <a:sym typeface="Wingdings" panose="05000000000000000000" pitchFamily="2" charset="2"/>
              </a:rPr>
              <a:t>128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guesses</a:t>
            </a:r>
            <a:r>
              <a:rPr lang="it-IT" dirty="0">
                <a:sym typeface="Wingdings" panose="05000000000000000000" pitchFamily="2" charset="2"/>
              </a:rPr>
              <a:t>  no way</a:t>
            </a:r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Authentication</a:t>
            </a:r>
            <a:r>
              <a:rPr lang="it-IT" dirty="0">
                <a:sym typeface="Wingdings" panose="05000000000000000000" pitchFamily="2" charset="2"/>
              </a:rPr>
              <a:t> cookies </a:t>
            </a:r>
            <a:r>
              <a:rPr lang="it-IT" dirty="0" err="1">
                <a:sym typeface="Wingdings" panose="05000000000000000000" pitchFamily="2" charset="2"/>
              </a:rPr>
              <a:t>may</a:t>
            </a:r>
            <a:r>
              <a:rPr lang="it-IT" dirty="0">
                <a:sym typeface="Wingdings" panose="05000000000000000000" pitchFamily="2" charset="2"/>
              </a:rPr>
              <a:t> be long!! </a:t>
            </a:r>
          </a:p>
          <a:p>
            <a:pPr lvl="2"/>
            <a:r>
              <a:rPr lang="it-IT" dirty="0" err="1">
                <a:sym typeface="Wingdings" panose="05000000000000000000" pitchFamily="2" charset="2"/>
              </a:rPr>
              <a:t>Complexity</a:t>
            </a:r>
            <a:r>
              <a:rPr lang="it-IT" dirty="0">
                <a:sym typeface="Wingdings" panose="05000000000000000000" pitchFamily="2" charset="2"/>
              </a:rPr>
              <a:t> of </a:t>
            </a:r>
            <a:r>
              <a:rPr lang="it-IT" dirty="0" err="1">
                <a:sym typeface="Wingdings" panose="05000000000000000000" pitchFamily="2" charset="2"/>
              </a:rPr>
              <a:t>guess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exponential</a:t>
            </a:r>
            <a:r>
              <a:rPr lang="it-IT" dirty="0">
                <a:sym typeface="Wingdings" panose="05000000000000000000" pitchFamily="2" charset="2"/>
              </a:rPr>
              <a:t> with </a:t>
            </a:r>
            <a:r>
              <a:rPr lang="it-IT" dirty="0" err="1">
                <a:sym typeface="Wingdings" panose="05000000000000000000" pitchFamily="2" charset="2"/>
              </a:rPr>
              <a:t>authentication</a:t>
            </a:r>
            <a:r>
              <a:rPr lang="it-IT" dirty="0">
                <a:sym typeface="Wingdings" panose="05000000000000000000" pitchFamily="2" charset="2"/>
              </a:rPr>
              <a:t> cookie </a:t>
            </a:r>
            <a:r>
              <a:rPr lang="it-IT" dirty="0" err="1">
                <a:sym typeface="Wingdings" panose="05000000000000000000" pitchFamily="2" charset="2"/>
              </a:rPr>
              <a:t>size</a:t>
            </a:r>
            <a:endParaRPr lang="it-IT" dirty="0">
              <a:sym typeface="Wingdings" panose="05000000000000000000" pitchFamily="2" charset="2"/>
            </a:endParaRPr>
          </a:p>
          <a:p>
            <a:pPr lvl="2"/>
            <a:r>
              <a:rPr lang="it-IT" dirty="0" err="1">
                <a:sym typeface="Wingdings" panose="05000000000000000000" pitchFamily="2" charset="2"/>
              </a:rPr>
              <a:t>Frequently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auth</a:t>
            </a:r>
            <a:r>
              <a:rPr lang="it-IT" dirty="0">
                <a:sym typeface="Wingdings" panose="05000000000000000000" pitchFamily="2" charset="2"/>
              </a:rPr>
              <a:t> cookies look </a:t>
            </a:r>
            <a:r>
              <a:rPr lang="it-IT" dirty="0" err="1">
                <a:sym typeface="Wingdings" panose="05000000000000000000" pitchFamily="2" charset="2"/>
              </a:rPr>
              <a:t>very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much</a:t>
            </a:r>
            <a:r>
              <a:rPr lang="it-IT" dirty="0">
                <a:sym typeface="Wingdings" panose="05000000000000000000" pitchFamily="2" charset="2"/>
              </a:rPr>
              <a:t> «</a:t>
            </a:r>
            <a:r>
              <a:rPr lang="it-IT" dirty="0" err="1">
                <a:sym typeface="Wingdings" panose="05000000000000000000" pitchFamily="2" charset="2"/>
              </a:rPr>
              <a:t>entropic</a:t>
            </a:r>
            <a:r>
              <a:rPr lang="it-IT" dirty="0">
                <a:sym typeface="Wingdings" panose="05000000000000000000" pitchFamily="2" charset="2"/>
              </a:rPr>
              <a:t>», hard to </a:t>
            </a:r>
            <a:r>
              <a:rPr lang="it-IT" dirty="0" err="1">
                <a:sym typeface="Wingdings" panose="05000000000000000000" pitchFamily="2" charset="2"/>
              </a:rPr>
              <a:t>dictionary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attack</a:t>
            </a:r>
            <a:endParaRPr lang="it-IT" dirty="0">
              <a:sym typeface="Wingdings" panose="05000000000000000000" pitchFamily="2" charset="2"/>
            </a:endParaRPr>
          </a:p>
          <a:p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Turned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out </a:t>
            </a:r>
            <a:r>
              <a:rPr lang="it-IT" b="1" dirty="0">
                <a:solidFill>
                  <a:srgbClr val="FF0000"/>
                </a:solidFill>
                <a:sym typeface="Wingdings" panose="05000000000000000000" pitchFamily="2" charset="2"/>
              </a:rPr>
              <a:t>NOT to be the case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! </a:t>
            </a:r>
          </a:p>
          <a:p>
            <a:pPr lvl="2"/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Breakthrough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enabler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: «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chosen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boundary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attack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»!!</a:t>
            </a:r>
          </a:p>
          <a:p>
            <a:pPr lvl="2"/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Attack LINEAR (!) with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authentication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cookie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size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!!</a:t>
            </a:r>
            <a:endParaRPr lang="it-IT" dirty="0">
              <a:solidFill>
                <a:srgbClr val="FF0000"/>
              </a:solidFill>
            </a:endParaRPr>
          </a:p>
          <a:p>
            <a:pPr lvl="2"/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156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Boundary</a:t>
            </a:r>
            <a:r>
              <a:rPr lang="it-IT" dirty="0"/>
              <a:t> </a:t>
            </a:r>
            <a:r>
              <a:rPr lang="it-IT" dirty="0" err="1"/>
              <a:t>attack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40709" y="1340768"/>
            <a:ext cx="8032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 L A H . B L A H . . P A S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 D = A L I C E % 0 1</a:t>
            </a:r>
          </a:p>
        </p:txBody>
      </p:sp>
      <p:sp>
        <p:nvSpPr>
          <p:cNvPr id="6" name="Rettangolo 5"/>
          <p:cNvSpPr/>
          <p:nvPr/>
        </p:nvSpPr>
        <p:spPr>
          <a:xfrm>
            <a:off x="112717" y="1324799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/>
          <p:cNvSpPr/>
          <p:nvPr/>
        </p:nvSpPr>
        <p:spPr>
          <a:xfrm>
            <a:off x="2560989" y="1324799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5009261" y="1324799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/>
          <p:cNvSpPr txBox="1"/>
          <p:nvPr/>
        </p:nvSpPr>
        <p:spPr>
          <a:xfrm>
            <a:off x="1336853" y="1916832"/>
            <a:ext cx="5230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AES </a:t>
            </a:r>
            <a:r>
              <a:rPr lang="it-IT" dirty="0" err="1"/>
              <a:t>Block</a:t>
            </a:r>
            <a:r>
              <a:rPr lang="it-IT" dirty="0"/>
              <a:t> «</a:t>
            </a:r>
            <a:r>
              <a:rPr lang="it-IT" dirty="0" err="1"/>
              <a:t>border</a:t>
            </a:r>
            <a:r>
              <a:rPr lang="it-IT" dirty="0"/>
              <a:t>»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aligned</a:t>
            </a:r>
            <a:r>
              <a:rPr lang="it-IT" dirty="0"/>
              <a:t> to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field</a:t>
            </a:r>
            <a:r>
              <a:rPr lang="it-IT" dirty="0"/>
              <a:t> of </a:t>
            </a:r>
            <a:r>
              <a:rPr lang="it-IT" dirty="0" err="1"/>
              <a:t>interest</a:t>
            </a:r>
            <a:endParaRPr lang="it-IT" dirty="0"/>
          </a:p>
          <a:p>
            <a:r>
              <a:rPr lang="it-IT" dirty="0"/>
              <a:t>And in general </a:t>
            </a:r>
            <a:r>
              <a:rPr lang="it-IT" dirty="0" err="1"/>
              <a:t>authentication</a:t>
            </a:r>
            <a:r>
              <a:rPr lang="it-IT" dirty="0"/>
              <a:t> </a:t>
            </a:r>
            <a:r>
              <a:rPr lang="it-IT" dirty="0" err="1"/>
              <a:t>token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inside a single </a:t>
            </a:r>
            <a:r>
              <a:rPr lang="it-IT" dirty="0" err="1"/>
              <a:t>block</a:t>
            </a:r>
            <a:endParaRPr lang="it-IT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40709" y="3971091"/>
            <a:ext cx="9571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B L A H . B L A H . . P A S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 D = A L I C E % 0 1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112717" y="3955122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/>
          <p:cNvSpPr/>
          <p:nvPr/>
        </p:nvSpPr>
        <p:spPr>
          <a:xfrm>
            <a:off x="2560989" y="3955122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/>
          <p:cNvSpPr/>
          <p:nvPr/>
        </p:nvSpPr>
        <p:spPr>
          <a:xfrm>
            <a:off x="5009261" y="3955122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/>
          <p:cNvSpPr txBox="1"/>
          <p:nvPr/>
        </p:nvSpPr>
        <p:spPr>
          <a:xfrm>
            <a:off x="1331640" y="4449886"/>
            <a:ext cx="6844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preamble</a:t>
            </a:r>
            <a:r>
              <a:rPr lang="it-IT" dirty="0"/>
              <a:t> text (</a:t>
            </a:r>
            <a:r>
              <a:rPr lang="it-IT" dirty="0" err="1"/>
              <a:t>controlled</a:t>
            </a:r>
            <a:r>
              <a:rPr lang="it-IT" dirty="0"/>
              <a:t> by </a:t>
            </a:r>
            <a:r>
              <a:rPr lang="it-IT" dirty="0" err="1"/>
              <a:t>attacker</a:t>
            </a:r>
            <a:r>
              <a:rPr lang="it-IT" dirty="0"/>
              <a:t>)</a:t>
            </a:r>
          </a:p>
          <a:p>
            <a:r>
              <a:rPr lang="it-IT" dirty="0" err="1"/>
              <a:t>Align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r>
              <a:rPr lang="it-IT" dirty="0"/>
              <a:t> </a:t>
            </a:r>
            <a:r>
              <a:rPr lang="it-IT" dirty="0" err="1"/>
              <a:t>token</a:t>
            </a:r>
            <a:r>
              <a:rPr lang="it-IT" dirty="0"/>
              <a:t> so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b="1" dirty="0">
                <a:solidFill>
                  <a:srgbClr val="FF0000"/>
                </a:solidFill>
              </a:rPr>
              <a:t>ONLY FIRST CHARACTER </a:t>
            </a:r>
            <a:r>
              <a:rPr lang="it-IT" b="1" dirty="0" err="1">
                <a:solidFill>
                  <a:srgbClr val="FF0000"/>
                </a:solidFill>
              </a:rPr>
              <a:t>is</a:t>
            </a:r>
            <a:r>
              <a:rPr lang="it-IT" b="1" dirty="0">
                <a:solidFill>
                  <a:srgbClr val="FF0000"/>
                </a:solidFill>
              </a:rPr>
              <a:t> in </a:t>
            </a:r>
            <a:r>
              <a:rPr lang="it-IT" b="1" dirty="0" err="1">
                <a:solidFill>
                  <a:srgbClr val="FF0000"/>
                </a:solidFill>
              </a:rPr>
              <a:t>block</a:t>
            </a:r>
            <a:r>
              <a:rPr lang="it-IT" b="1" dirty="0">
                <a:solidFill>
                  <a:srgbClr val="FF0000"/>
                </a:solidFill>
              </a:rPr>
              <a:t>!!</a:t>
            </a:r>
          </a:p>
          <a:p>
            <a:r>
              <a:rPr lang="it-IT" b="1" dirty="0"/>
              <a:t>And </a:t>
            </a:r>
            <a:r>
              <a:rPr lang="it-IT" b="1" dirty="0" err="1"/>
              <a:t>read</a:t>
            </a:r>
            <a:r>
              <a:rPr lang="it-IT" b="1" dirty="0"/>
              <a:t> </a:t>
            </a:r>
            <a:r>
              <a:rPr lang="it-IT" b="1" dirty="0" err="1"/>
              <a:t>relevant</a:t>
            </a:r>
            <a:r>
              <a:rPr lang="it-IT" b="1" dirty="0"/>
              <a:t> </a:t>
            </a:r>
            <a:r>
              <a:rPr lang="it-IT" b="1" dirty="0" err="1"/>
              <a:t>ciphertext</a:t>
            </a:r>
            <a:endParaRPr lang="it-IT" b="1" dirty="0"/>
          </a:p>
        </p:txBody>
      </p:sp>
      <p:sp>
        <p:nvSpPr>
          <p:cNvPr id="17" name="Ovale 16"/>
          <p:cNvSpPr/>
          <p:nvPr/>
        </p:nvSpPr>
        <p:spPr>
          <a:xfrm>
            <a:off x="7092280" y="3811106"/>
            <a:ext cx="293245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45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9" grpId="0" animBg="1"/>
      <p:bldP spid="11" grpId="0"/>
      <p:bldP spid="12" grpId="0"/>
      <p:bldP spid="13" grpId="0" animBg="1"/>
      <p:bldP spid="14" grpId="0" animBg="1"/>
      <p:bldP spid="15" grpId="0" animBg="1"/>
      <p:bldP spid="16" grpId="0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Boundary</a:t>
            </a:r>
            <a:r>
              <a:rPr lang="it-IT" dirty="0"/>
              <a:t> </a:t>
            </a:r>
            <a:r>
              <a:rPr lang="it-IT" dirty="0" err="1"/>
              <a:t>attack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50222"/>
            <a:ext cx="2133600" cy="263154"/>
          </a:xfrm>
          <a:prstGeom prst="rect">
            <a:avLst/>
          </a:prstGeom>
        </p:spPr>
        <p:txBody>
          <a:bodyPr/>
          <a:lstStyle/>
          <a:p>
            <a:fld id="{94C24E44-2925-4C26-8D7F-7F708DB383B7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18" name="CasellaDiTesto 17"/>
          <p:cNvSpPr txBox="1"/>
          <p:nvPr/>
        </p:nvSpPr>
        <p:spPr>
          <a:xfrm>
            <a:off x="35496" y="1356737"/>
            <a:ext cx="4647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 A S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 D = A L I C E % 0 1</a:t>
            </a:r>
          </a:p>
        </p:txBody>
      </p:sp>
      <p:sp>
        <p:nvSpPr>
          <p:cNvPr id="19" name="Rettangolo 18"/>
          <p:cNvSpPr/>
          <p:nvPr/>
        </p:nvSpPr>
        <p:spPr>
          <a:xfrm>
            <a:off x="107504" y="1340768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/>
          <p:cNvSpPr/>
          <p:nvPr/>
        </p:nvSpPr>
        <p:spPr>
          <a:xfrm>
            <a:off x="2555776" y="1340768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/>
          <p:cNvSpPr txBox="1"/>
          <p:nvPr/>
        </p:nvSpPr>
        <p:spPr>
          <a:xfrm>
            <a:off x="1326427" y="1835532"/>
            <a:ext cx="44930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perform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: </a:t>
            </a:r>
          </a:p>
          <a:p>
            <a:r>
              <a:rPr lang="it-IT" dirty="0"/>
              <a:t>256 </a:t>
            </a:r>
            <a:r>
              <a:rPr lang="it-IT" dirty="0" err="1"/>
              <a:t>guesses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! </a:t>
            </a:r>
          </a:p>
          <a:p>
            <a:r>
              <a:rPr lang="it-IT" dirty="0" err="1"/>
              <a:t>Less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base64 or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letters</a:t>
            </a:r>
            <a:r>
              <a:rPr lang="it-IT" dirty="0"/>
              <a:t>/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, </a:t>
            </a:r>
            <a:r>
              <a:rPr lang="it-IT" dirty="0" err="1"/>
              <a:t>only</a:t>
            </a:r>
            <a:endParaRPr lang="it-IT" b="1" dirty="0"/>
          </a:p>
        </p:txBody>
      </p:sp>
      <p:sp>
        <p:nvSpPr>
          <p:cNvPr id="21" name="CasellaDiTesto 20"/>
          <p:cNvSpPr txBox="1"/>
          <p:nvPr/>
        </p:nvSpPr>
        <p:spPr>
          <a:xfrm>
            <a:off x="35496" y="3827075"/>
            <a:ext cx="433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 S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 D = A L I C E % 0 1</a:t>
            </a:r>
          </a:p>
        </p:txBody>
      </p:sp>
      <p:sp>
        <p:nvSpPr>
          <p:cNvPr id="23" name="Rettangolo 22"/>
          <p:cNvSpPr/>
          <p:nvPr/>
        </p:nvSpPr>
        <p:spPr>
          <a:xfrm>
            <a:off x="107504" y="3811106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/>
          <p:cNvSpPr/>
          <p:nvPr/>
        </p:nvSpPr>
        <p:spPr>
          <a:xfrm>
            <a:off x="2555776" y="3811106"/>
            <a:ext cx="2376264" cy="448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/>
          <p:cNvSpPr txBox="1"/>
          <p:nvPr/>
        </p:nvSpPr>
        <p:spPr>
          <a:xfrm>
            <a:off x="1326427" y="4305870"/>
            <a:ext cx="5970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Once first </a:t>
            </a:r>
            <a:r>
              <a:rPr lang="it-IT" dirty="0" err="1"/>
              <a:t>character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, re-</a:t>
            </a:r>
            <a:r>
              <a:rPr lang="it-IT" dirty="0" err="1"/>
              <a:t>aling</a:t>
            </a:r>
            <a:r>
              <a:rPr lang="it-IT" dirty="0"/>
              <a:t> </a:t>
            </a:r>
            <a:r>
              <a:rPr lang="it-IT" dirty="0" err="1"/>
              <a:t>block</a:t>
            </a:r>
            <a:r>
              <a:rPr lang="it-IT" dirty="0"/>
              <a:t> and </a:t>
            </a:r>
            <a:r>
              <a:rPr lang="it-IT" dirty="0" err="1"/>
              <a:t>perform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: </a:t>
            </a:r>
          </a:p>
          <a:p>
            <a:r>
              <a:rPr lang="it-IT" dirty="0"/>
              <a:t>256 </a:t>
            </a:r>
            <a:r>
              <a:rPr lang="it-IT" dirty="0" err="1"/>
              <a:t>guesses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, </a:t>
            </a:r>
            <a:r>
              <a:rPr lang="it-IT" dirty="0" err="1"/>
              <a:t>again</a:t>
            </a:r>
            <a:r>
              <a:rPr lang="it-IT" dirty="0"/>
              <a:t>! </a:t>
            </a:r>
          </a:p>
        </p:txBody>
      </p:sp>
      <p:sp>
        <p:nvSpPr>
          <p:cNvPr id="26" name="CasellaDiTesto 11"/>
          <p:cNvSpPr txBox="1">
            <a:spLocks noChangeArrowheads="1"/>
          </p:cNvSpPr>
          <p:nvPr/>
        </p:nvSpPr>
        <p:spPr bwMode="auto">
          <a:xfrm>
            <a:off x="1619250" y="5229225"/>
            <a:ext cx="72526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Complexity</a:t>
            </a:r>
            <a:r>
              <a:rPr lang="it-IT" altLang="it-IT" sz="1800" b="0" dirty="0">
                <a:latin typeface="Arial Narrow" pitchFamily="34" charset="0"/>
              </a:rPr>
              <a:t> for N </a:t>
            </a:r>
            <a:r>
              <a:rPr lang="it-IT" altLang="it-IT" sz="1800" b="0" dirty="0" err="1">
                <a:latin typeface="Arial Narrow" pitchFamily="34" charset="0"/>
              </a:rPr>
              <a:t>bytes</a:t>
            </a:r>
            <a:r>
              <a:rPr lang="it-IT" altLang="it-IT" sz="1800" b="0" dirty="0">
                <a:latin typeface="Arial Narrow" pitchFamily="34" charset="0"/>
              </a:rPr>
              <a:t> cookie = 256*N 	e.g. 8 </a:t>
            </a:r>
            <a:r>
              <a:rPr lang="it-IT" altLang="it-IT" sz="1800" b="0" dirty="0" err="1">
                <a:latin typeface="Arial Narrow" pitchFamily="34" charset="0"/>
              </a:rPr>
              <a:t>bytes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passwd</a:t>
            </a:r>
            <a:r>
              <a:rPr lang="it-IT" altLang="it-IT" sz="1800" b="0" dirty="0">
                <a:latin typeface="Arial Narrow" pitchFamily="34" charset="0"/>
              </a:rPr>
              <a:t>: 256*8 = 2</a:t>
            </a:r>
            <a:r>
              <a:rPr lang="it-IT" altLang="it-IT" sz="1800" b="0" baseline="30000" dirty="0">
                <a:latin typeface="Arial Narrow" pitchFamily="34" charset="0"/>
              </a:rPr>
              <a:t>11</a:t>
            </a:r>
            <a:r>
              <a:rPr lang="it-IT" altLang="it-IT" sz="1800" b="0" dirty="0">
                <a:latin typeface="Arial Narrow" pitchFamily="34" charset="0"/>
              </a:rPr>
              <a:t> = 2048</a:t>
            </a:r>
            <a:endParaRPr lang="it-IT" altLang="it-IT" sz="1800" b="0" baseline="30000" dirty="0">
              <a:latin typeface="Arial Narrow" pitchFamily="34" charset="0"/>
            </a:endParaRPr>
          </a:p>
        </p:txBody>
      </p:sp>
      <p:sp>
        <p:nvSpPr>
          <p:cNvPr id="27" name="CasellaDiTesto 12"/>
          <p:cNvSpPr txBox="1">
            <a:spLocks noChangeArrowheads="1"/>
          </p:cNvSpPr>
          <p:nvPr/>
        </p:nvSpPr>
        <p:spPr bwMode="auto">
          <a:xfrm>
            <a:off x="1619250" y="5508625"/>
            <a:ext cx="73613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Versus </a:t>
            </a:r>
            <a:r>
              <a:rPr lang="it-IT" altLang="it-IT" sz="1800" b="0" dirty="0" err="1">
                <a:latin typeface="Arial Narrow" pitchFamily="34" charset="0"/>
              </a:rPr>
              <a:t>direct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guess</a:t>
            </a:r>
            <a:r>
              <a:rPr lang="it-IT" altLang="it-IT" sz="1800" b="0" dirty="0">
                <a:latin typeface="Arial Narrow" pitchFamily="34" charset="0"/>
              </a:rPr>
              <a:t> = 256</a:t>
            </a:r>
            <a:r>
              <a:rPr lang="it-IT" altLang="it-IT" sz="1800" b="0" baseline="30000" dirty="0">
                <a:latin typeface="Arial Narrow" pitchFamily="34" charset="0"/>
              </a:rPr>
              <a:t>N 		</a:t>
            </a:r>
            <a:r>
              <a:rPr lang="it-IT" altLang="it-IT" sz="1800" b="0" dirty="0">
                <a:latin typeface="Arial Narrow" pitchFamily="34" charset="0"/>
              </a:rPr>
              <a:t>e.g. 8 </a:t>
            </a:r>
            <a:r>
              <a:rPr lang="it-IT" altLang="it-IT" sz="1800" b="0" dirty="0" err="1">
                <a:latin typeface="Arial Narrow" pitchFamily="34" charset="0"/>
              </a:rPr>
              <a:t>bytes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passwd</a:t>
            </a:r>
            <a:r>
              <a:rPr lang="it-IT" altLang="it-IT" sz="1800" b="0" dirty="0">
                <a:latin typeface="Arial Narrow" pitchFamily="34" charset="0"/>
              </a:rPr>
              <a:t>: 256</a:t>
            </a:r>
            <a:r>
              <a:rPr lang="it-IT" altLang="it-IT" sz="1800" b="0" baseline="30000" dirty="0">
                <a:latin typeface="Arial Narrow" pitchFamily="34" charset="0"/>
              </a:rPr>
              <a:t>8</a:t>
            </a:r>
            <a:r>
              <a:rPr lang="it-IT" altLang="it-IT" sz="1800" b="0" dirty="0">
                <a:latin typeface="Arial Narrow" pitchFamily="34" charset="0"/>
              </a:rPr>
              <a:t> = 2</a:t>
            </a:r>
            <a:r>
              <a:rPr lang="it-IT" altLang="it-IT" sz="1800" b="0" baseline="30000" dirty="0">
                <a:latin typeface="Arial Narrow" pitchFamily="34" charset="0"/>
              </a:rPr>
              <a:t>64</a:t>
            </a:r>
            <a:r>
              <a:rPr lang="it-IT" altLang="it-IT" sz="1800" b="0" dirty="0">
                <a:latin typeface="Arial Narrow" pitchFamily="34" charset="0"/>
              </a:rPr>
              <a:t> =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baseline="30000" dirty="0">
                <a:latin typeface="Arial Narrow" pitchFamily="34" charset="0"/>
              </a:rPr>
              <a:t>					=</a:t>
            </a:r>
            <a:r>
              <a:rPr lang="it-IT" altLang="it-IT" sz="1800" b="0" dirty="0">
                <a:latin typeface="Arial Narrow" pitchFamily="34" charset="0"/>
              </a:rPr>
              <a:t> 18.446.744.073.709.551.616</a:t>
            </a:r>
            <a:endParaRPr lang="it-IT" altLang="it-IT" sz="1800" b="0" baseline="30000" dirty="0">
              <a:latin typeface="Arial Narrow" pitchFamily="34" charset="0"/>
            </a:endParaRPr>
          </a:p>
        </p:txBody>
      </p:sp>
      <p:sp>
        <p:nvSpPr>
          <p:cNvPr id="28" name="Ovale 27"/>
          <p:cNvSpPr/>
          <p:nvPr/>
        </p:nvSpPr>
        <p:spPr>
          <a:xfrm>
            <a:off x="2190523" y="1196752"/>
            <a:ext cx="293245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/>
          <p:cNvSpPr/>
          <p:nvPr/>
        </p:nvSpPr>
        <p:spPr>
          <a:xfrm>
            <a:off x="2190522" y="3675074"/>
            <a:ext cx="293245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872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2" grpId="0"/>
      <p:bldP spid="21" grpId="0"/>
      <p:bldP spid="23" grpId="0" animBg="1"/>
      <p:bldP spid="24" grpId="0" animBg="1"/>
      <p:bldP spid="25" grpId="0"/>
      <p:bldP spid="26" grpId="0"/>
      <p:bldP spid="27" grpId="0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Duong</a:t>
            </a:r>
            <a:r>
              <a:rPr lang="it-IT" dirty="0"/>
              <a:t>-Rizzo demo on </a:t>
            </a:r>
            <a:r>
              <a:rPr lang="it-IT" dirty="0" err="1"/>
              <a:t>Youtube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2708920"/>
            <a:ext cx="8229600" cy="3229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http://www.youtube.com/watch?v=BTqAIDVUvrU</a:t>
            </a:r>
          </a:p>
        </p:txBody>
      </p:sp>
    </p:spTree>
    <p:extLst>
      <p:ext uri="{BB962C8B-B14F-4D97-AF65-F5344CB8AC3E}">
        <p14:creationId xmlns:p14="http://schemas.microsoft.com/office/powerpoint/2010/main" val="2345224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CRIME </a:t>
            </a:r>
            <a:r>
              <a:rPr lang="it-IT" sz="3200" dirty="0" err="1"/>
              <a:t>attack</a:t>
            </a:r>
            <a:r>
              <a:rPr lang="it-IT" sz="3200" dirty="0"/>
              <a:t>: </a:t>
            </a:r>
            <a:r>
              <a:rPr lang="it-IT" sz="3200" dirty="0" err="1"/>
              <a:t>compression</a:t>
            </a:r>
            <a:r>
              <a:rPr lang="it-IT" sz="3200" dirty="0"/>
              <a:t> </a:t>
            </a:r>
            <a:r>
              <a:rPr lang="it-IT" sz="3200" dirty="0" err="1"/>
              <a:t>leaks</a:t>
            </a:r>
            <a:br>
              <a:rPr lang="it-IT" sz="3200" dirty="0"/>
            </a:br>
            <a:r>
              <a:rPr lang="it-IT" sz="3200" dirty="0"/>
              <a:t>(USABLE) information! </a:t>
            </a:r>
          </a:p>
        </p:txBody>
      </p:sp>
    </p:spTree>
    <p:extLst>
      <p:ext uri="{BB962C8B-B14F-4D97-AF65-F5344CB8AC3E}">
        <p14:creationId xmlns:p14="http://schemas.microsoft.com/office/powerpoint/2010/main" val="3067848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TLS </a:t>
            </a:r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harmful</a:t>
            </a:r>
            <a:endParaRPr lang="it-IT" dirty="0"/>
          </a:p>
        </p:txBody>
      </p:sp>
      <p:pic>
        <p:nvPicPr>
          <p:cNvPr id="1026" name="Picture 2" descr="https://lh5.googleusercontent.com/Gt837g80HVeGoIQjSBQTIbb2ERadlmZIMa0o6p-a-2o0xv_cPzhhEdOLlyE9LHwRzGV9NCCNV91hjxlzQiNzvBSVweUk4EcvsO0AWg_8jAg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" y="1556792"/>
            <a:ext cx="4130824" cy="413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56"/>
          <p:cNvSpPr txBox="1">
            <a:spLocks noChangeArrowheads="1"/>
          </p:cNvSpPr>
          <p:nvPr/>
        </p:nvSpPr>
        <p:spPr bwMode="auto">
          <a:xfrm>
            <a:off x="251520" y="5949280"/>
            <a:ext cx="217008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itchFamily="34" charset="0"/>
              </a:rPr>
              <a:t>Source: T. </a:t>
            </a:r>
            <a:r>
              <a:rPr lang="it-IT" altLang="it-IT" sz="1600" b="0" dirty="0" err="1">
                <a:latin typeface="Arial Narrow" pitchFamily="34" charset="0"/>
              </a:rPr>
              <a:t>Duong</a:t>
            </a:r>
            <a:r>
              <a:rPr lang="it-IT" altLang="it-IT" sz="1600" b="0" dirty="0">
                <a:latin typeface="Arial Narrow" pitchFamily="34" charset="0"/>
              </a:rPr>
              <a:t>, J. Rizzo</a:t>
            </a:r>
            <a:endParaRPr lang="en-US" altLang="it-IT" sz="1800" b="0" dirty="0">
              <a:latin typeface="Arial Narrow" pitchFamily="34" charset="0"/>
            </a:endParaRPr>
          </a:p>
        </p:txBody>
      </p:sp>
      <p:sp>
        <p:nvSpPr>
          <p:cNvPr id="8" name="Segnaposto contenuto 2"/>
          <p:cNvSpPr>
            <a:spLocks noGrp="1"/>
          </p:cNvSpPr>
          <p:nvPr>
            <p:ph idx="1"/>
          </p:nvPr>
        </p:nvSpPr>
        <p:spPr>
          <a:xfrm>
            <a:off x="4139952" y="1196752"/>
            <a:ext cx="4896544" cy="5256584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disabled</a:t>
            </a:r>
            <a:r>
              <a:rPr lang="it-IT" dirty="0"/>
              <a:t> in </a:t>
            </a:r>
            <a:r>
              <a:rPr lang="it-IT" dirty="0" err="1"/>
              <a:t>Chrome</a:t>
            </a:r>
            <a:r>
              <a:rPr lang="it-IT" dirty="0"/>
              <a:t> </a:t>
            </a:r>
            <a:r>
              <a:rPr lang="it-IT" dirty="0" err="1"/>
              <a:t>after</a:t>
            </a:r>
            <a:r>
              <a:rPr lang="it-IT" dirty="0"/>
              <a:t> </a:t>
            </a:r>
            <a:r>
              <a:rPr lang="it-IT" dirty="0" err="1"/>
              <a:t>september</a:t>
            </a:r>
            <a:r>
              <a:rPr lang="it-IT" dirty="0"/>
              <a:t> 2012 CRIME </a:t>
            </a:r>
            <a:r>
              <a:rPr lang="it-IT" dirty="0" err="1"/>
              <a:t>attack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Actually</a:t>
            </a:r>
            <a:r>
              <a:rPr lang="it-IT" dirty="0"/>
              <a:t>, more general than TSL: </a:t>
            </a:r>
            <a:r>
              <a:rPr lang="it-IT" dirty="0" err="1"/>
              <a:t>similar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in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settings</a:t>
            </a:r>
            <a:endParaRPr lang="it-IT" dirty="0"/>
          </a:p>
          <a:p>
            <a:pPr lvl="1"/>
            <a:r>
              <a:rPr lang="it-IT" dirty="0"/>
              <a:t>TIME – Timing Info-</a:t>
            </a:r>
            <a:r>
              <a:rPr lang="it-IT" dirty="0" err="1"/>
              <a:t>leaks</a:t>
            </a:r>
            <a:r>
              <a:rPr lang="it-IT" dirty="0"/>
              <a:t> Made Easy</a:t>
            </a:r>
          </a:p>
          <a:p>
            <a:pPr lvl="1"/>
            <a:r>
              <a:rPr lang="it-IT" dirty="0"/>
              <a:t>BREACH - Browser </a:t>
            </a:r>
            <a:r>
              <a:rPr lang="it-IT" dirty="0" err="1"/>
              <a:t>Reconnaissance</a:t>
            </a:r>
            <a:r>
              <a:rPr lang="it-IT" dirty="0"/>
              <a:t> and </a:t>
            </a:r>
            <a:r>
              <a:rPr lang="it-IT" dirty="0" err="1"/>
              <a:t>Exﬁltration</a:t>
            </a:r>
            <a:r>
              <a:rPr lang="it-IT" dirty="0"/>
              <a:t> via </a:t>
            </a:r>
            <a:r>
              <a:rPr lang="it-IT" dirty="0" err="1"/>
              <a:t>Adaptive</a:t>
            </a:r>
            <a:r>
              <a:rPr lang="it-IT" dirty="0"/>
              <a:t> </a:t>
            </a:r>
            <a:r>
              <a:rPr lang="it-IT" dirty="0" err="1"/>
              <a:t>Compression</a:t>
            </a:r>
            <a:r>
              <a:rPr lang="it-IT" dirty="0"/>
              <a:t> of </a:t>
            </a:r>
            <a:r>
              <a:rPr lang="it-IT" dirty="0" err="1"/>
              <a:t>Hypertext</a:t>
            </a:r>
            <a:endParaRPr lang="it-IT" dirty="0"/>
          </a:p>
          <a:p>
            <a:pPr lvl="2"/>
            <a:r>
              <a:rPr lang="it-IT" dirty="0" err="1"/>
              <a:t>Extends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to HTTP </a:t>
            </a:r>
            <a:r>
              <a:rPr lang="it-IT" dirty="0" err="1"/>
              <a:t>compression</a:t>
            </a:r>
            <a:endParaRPr lang="it-IT" dirty="0"/>
          </a:p>
          <a:p>
            <a:pPr lvl="2"/>
            <a:endParaRPr lang="it-IT" dirty="0"/>
          </a:p>
          <a:p>
            <a:r>
              <a:rPr lang="it-IT" dirty="0" err="1"/>
              <a:t>Not</a:t>
            </a:r>
            <a:r>
              <a:rPr lang="it-IT" dirty="0"/>
              <a:t> a </a:t>
            </a:r>
            <a:r>
              <a:rPr lang="it-IT" dirty="0" err="1"/>
              <a:t>problem</a:t>
            </a:r>
            <a:r>
              <a:rPr lang="it-IT" dirty="0"/>
              <a:t> of TLS, </a:t>
            </a:r>
            <a:r>
              <a:rPr lang="it-IT" dirty="0" err="1"/>
              <a:t>but</a:t>
            </a:r>
            <a:r>
              <a:rPr lang="it-IT" dirty="0"/>
              <a:t> a more general </a:t>
            </a:r>
            <a:r>
              <a:rPr lang="it-IT" dirty="0" err="1"/>
              <a:t>problem</a:t>
            </a:r>
            <a:r>
              <a:rPr lang="it-IT" dirty="0"/>
              <a:t>!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Actually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dirty="0" err="1">
                <a:solidFill>
                  <a:srgbClr val="FF0000"/>
                </a:solidFill>
              </a:rPr>
              <a:t>potential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vulnerability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known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since</a:t>
            </a:r>
            <a:r>
              <a:rPr lang="it-IT" dirty="0">
                <a:solidFill>
                  <a:srgbClr val="FF0000"/>
                </a:solidFill>
              </a:rPr>
              <a:t> 2002, </a:t>
            </a:r>
            <a:r>
              <a:rPr lang="it-IT" dirty="0" err="1">
                <a:solidFill>
                  <a:srgbClr val="FF0000"/>
                </a:solidFill>
              </a:rPr>
              <a:t>but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disregared</a:t>
            </a:r>
            <a:r>
              <a:rPr lang="it-IT" dirty="0">
                <a:solidFill>
                  <a:srgbClr val="FF0000"/>
                </a:solidFill>
              </a:rPr>
              <a:t> for 10 </a:t>
            </a:r>
            <a:r>
              <a:rPr lang="it-IT" dirty="0" err="1">
                <a:solidFill>
                  <a:srgbClr val="FF0000"/>
                </a:solidFill>
              </a:rPr>
              <a:t>years</a:t>
            </a:r>
            <a:endParaRPr lang="it-IT" dirty="0">
              <a:solidFill>
                <a:srgbClr val="FF0000"/>
              </a:solidFill>
            </a:endParaRPr>
          </a:p>
          <a:p>
            <a:pPr lvl="2"/>
            <a:r>
              <a:rPr lang="it-IT" dirty="0" err="1"/>
              <a:t>Kelsey</a:t>
            </a:r>
            <a:r>
              <a:rPr lang="it-IT" dirty="0"/>
              <a:t>, </a:t>
            </a:r>
            <a:r>
              <a:rPr lang="en-US" dirty="0"/>
              <a:t>Compression and Information Leakage of Plaintext</a:t>
            </a:r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737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leaks</a:t>
            </a:r>
            <a:r>
              <a:rPr lang="it-IT" dirty="0"/>
              <a:t> </a:t>
            </a:r>
            <a:r>
              <a:rPr lang="it-IT" dirty="0" err="1"/>
              <a:t>size</a:t>
            </a:r>
            <a:r>
              <a:rPr lang="it-IT" dirty="0"/>
              <a:t> information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506232" y="1356737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AAAABC</a:t>
            </a:r>
          </a:p>
        </p:txBody>
      </p:sp>
      <p:cxnSp>
        <p:nvCxnSpPr>
          <p:cNvPr id="8" name="Connettore 2 7"/>
          <p:cNvCxnSpPr/>
          <p:nvPr/>
        </p:nvCxnSpPr>
        <p:spPr>
          <a:xfrm>
            <a:off x="2195736" y="1618347"/>
            <a:ext cx="129614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2267744" y="1268760"/>
            <a:ext cx="10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compress</a:t>
            </a:r>
            <a:endParaRPr lang="it-IT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888164" y="1340768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4ABC</a:t>
            </a:r>
          </a:p>
        </p:txBody>
      </p:sp>
      <p:cxnSp>
        <p:nvCxnSpPr>
          <p:cNvPr id="12" name="Connettore 2 11"/>
          <p:cNvCxnSpPr/>
          <p:nvPr/>
        </p:nvCxnSpPr>
        <p:spPr>
          <a:xfrm>
            <a:off x="5148064" y="1618347"/>
            <a:ext cx="129614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5220072" y="126876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encrypt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6696476" y="1340768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X&amp;%$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506232" y="3409836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ABCDEF</a:t>
            </a:r>
          </a:p>
        </p:txBody>
      </p:sp>
      <p:cxnSp>
        <p:nvCxnSpPr>
          <p:cNvPr id="16" name="Connettore 2 15"/>
          <p:cNvCxnSpPr/>
          <p:nvPr/>
        </p:nvCxnSpPr>
        <p:spPr>
          <a:xfrm>
            <a:off x="2195736" y="3671446"/>
            <a:ext cx="129614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/>
          <p:cNvSpPr txBox="1"/>
          <p:nvPr/>
        </p:nvSpPr>
        <p:spPr>
          <a:xfrm>
            <a:off x="2267744" y="3321859"/>
            <a:ext cx="10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compress</a:t>
            </a:r>
            <a:endParaRPr lang="it-IT" dirty="0"/>
          </a:p>
        </p:txBody>
      </p:sp>
      <p:sp>
        <p:nvSpPr>
          <p:cNvPr id="18" name="CasellaDiTesto 17"/>
          <p:cNvSpPr txBox="1"/>
          <p:nvPr/>
        </p:nvSpPr>
        <p:spPr>
          <a:xfrm>
            <a:off x="3707904" y="3393867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ABCDEF</a:t>
            </a:r>
          </a:p>
        </p:txBody>
      </p:sp>
      <p:cxnSp>
        <p:nvCxnSpPr>
          <p:cNvPr id="19" name="Connettore 2 18"/>
          <p:cNvCxnSpPr/>
          <p:nvPr/>
        </p:nvCxnSpPr>
        <p:spPr>
          <a:xfrm>
            <a:off x="5148064" y="3671446"/>
            <a:ext cx="129614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/>
          <p:cNvSpPr txBox="1"/>
          <p:nvPr/>
        </p:nvSpPr>
        <p:spPr>
          <a:xfrm>
            <a:off x="5220072" y="3321859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encrypt</a:t>
            </a:r>
            <a:endParaRPr lang="it-IT" dirty="0"/>
          </a:p>
        </p:txBody>
      </p:sp>
      <p:sp>
        <p:nvSpPr>
          <p:cNvPr id="21" name="CasellaDiTesto 20"/>
          <p:cNvSpPr txBox="1"/>
          <p:nvPr/>
        </p:nvSpPr>
        <p:spPr>
          <a:xfrm>
            <a:off x="6696476" y="3393867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&amp;$£A£$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6696476" y="1979548"/>
            <a:ext cx="14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Size</a:t>
            </a:r>
            <a:r>
              <a:rPr lang="it-IT" b="1" dirty="0">
                <a:solidFill>
                  <a:srgbClr val="FF0000"/>
                </a:solidFill>
              </a:rPr>
              <a:t> = 4 </a:t>
            </a:r>
            <a:r>
              <a:rPr lang="it-IT" b="1" dirty="0" err="1">
                <a:solidFill>
                  <a:srgbClr val="FF0000"/>
                </a:solidFill>
              </a:rPr>
              <a:t>bytes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6712513" y="3923764"/>
            <a:ext cx="14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Size</a:t>
            </a:r>
            <a:r>
              <a:rPr lang="it-IT" b="1" dirty="0">
                <a:solidFill>
                  <a:srgbClr val="FF0000"/>
                </a:solidFill>
              </a:rPr>
              <a:t> = 6 </a:t>
            </a:r>
            <a:r>
              <a:rPr lang="it-IT" b="1" dirty="0" err="1">
                <a:solidFill>
                  <a:srgbClr val="FF0000"/>
                </a:solidFill>
              </a:rPr>
              <a:t>bytes</a:t>
            </a:r>
            <a:endParaRPr lang="it-I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86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20" grpId="0"/>
      <p:bldP spid="21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3568" y="44624"/>
            <a:ext cx="8136904" cy="792088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Combining</a:t>
            </a:r>
            <a:r>
              <a:rPr lang="it-IT" dirty="0"/>
              <a:t> </a:t>
            </a:r>
            <a:r>
              <a:rPr lang="it-IT" dirty="0" err="1"/>
              <a:t>compression</a:t>
            </a:r>
            <a:r>
              <a:rPr lang="it-IT" dirty="0"/>
              <a:t> with </a:t>
            </a:r>
            <a:r>
              <a:rPr lang="it-IT" dirty="0" err="1"/>
              <a:t>Plain</a:t>
            </a:r>
            <a:r>
              <a:rPr lang="it-IT" dirty="0"/>
              <a:t> text </a:t>
            </a:r>
            <a:r>
              <a:rPr lang="it-IT" dirty="0" err="1"/>
              <a:t>injection</a:t>
            </a:r>
            <a:r>
              <a:rPr lang="it-IT" dirty="0"/>
              <a:t> – </a:t>
            </a:r>
            <a:r>
              <a:rPr lang="it-IT" dirty="0" err="1"/>
              <a:t>concept</a:t>
            </a:r>
            <a:r>
              <a:rPr lang="it-IT" dirty="0"/>
              <a:t> idea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3923928" y="1412776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SHARON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3923928" y="2286164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</a:t>
            </a:r>
            <a:endParaRPr lang="it-IT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467544" y="1412776"/>
            <a:ext cx="311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Your data, </a:t>
            </a:r>
            <a:r>
              <a:rPr lang="it-IT" dirty="0" err="1"/>
              <a:t>unknown</a:t>
            </a:r>
            <a:r>
              <a:rPr lang="it-IT" dirty="0"/>
              <a:t> to </a:t>
            </a:r>
            <a:r>
              <a:rPr lang="it-IT" dirty="0" err="1"/>
              <a:t>attacker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467544" y="2204864"/>
            <a:ext cx="288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attacker</a:t>
            </a:r>
            <a:r>
              <a:rPr lang="it-IT" dirty="0"/>
              <a:t> can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size</a:t>
            </a:r>
            <a:r>
              <a:rPr lang="it-IT" dirty="0"/>
              <a:t> of </a:t>
            </a:r>
          </a:p>
          <a:p>
            <a:r>
              <a:rPr lang="it-IT" dirty="0" err="1"/>
              <a:t>Compressed+encrypted</a:t>
            </a:r>
            <a:r>
              <a:rPr lang="it-IT" dirty="0"/>
              <a:t> data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3923928" y="2339008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SHARON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83568" y="4302388"/>
            <a:ext cx="276229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AAA[</a:t>
            </a:r>
            <a:r>
              <a:rPr lang="it-IT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BBB[</a:t>
            </a:r>
            <a:r>
              <a:rPr lang="it-IT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SSS[</a:t>
            </a:r>
            <a:r>
              <a:rPr lang="it-IT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unknown</a:t>
            </a:r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67544" y="3212976"/>
            <a:ext cx="776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Attacker</a:t>
            </a:r>
            <a:r>
              <a:rPr lang="it-IT" dirty="0"/>
              <a:t> can </a:t>
            </a:r>
            <a:r>
              <a:rPr lang="it-IT" dirty="0" err="1"/>
              <a:t>repeatedly</a:t>
            </a:r>
            <a:r>
              <a:rPr lang="it-IT" dirty="0"/>
              <a:t> </a:t>
            </a:r>
            <a:r>
              <a:rPr lang="it-IT" dirty="0" err="1"/>
              <a:t>inject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prior</a:t>
            </a:r>
            <a:r>
              <a:rPr lang="it-IT" dirty="0"/>
              <a:t> to </a:t>
            </a:r>
            <a:r>
              <a:rPr lang="it-IT" dirty="0" err="1"/>
              <a:t>your</a:t>
            </a:r>
            <a:r>
              <a:rPr lang="it-IT" dirty="0"/>
              <a:t> data, and SEE </a:t>
            </a:r>
            <a:r>
              <a:rPr lang="it-IT" dirty="0" err="1"/>
              <a:t>size</a:t>
            </a:r>
            <a:r>
              <a:rPr lang="it-IT" dirty="0"/>
              <a:t> of </a:t>
            </a:r>
          </a:p>
          <a:p>
            <a:r>
              <a:rPr lang="it-IT" dirty="0" err="1"/>
              <a:t>encrypted</a:t>
            </a:r>
            <a:r>
              <a:rPr lang="it-IT" dirty="0"/>
              <a:t> + </a:t>
            </a:r>
            <a:r>
              <a:rPr lang="it-IT" dirty="0" err="1"/>
              <a:t>compressed</a:t>
            </a:r>
            <a:r>
              <a:rPr lang="it-IT" dirty="0"/>
              <a:t> </a:t>
            </a:r>
            <a:r>
              <a:rPr lang="it-IT" dirty="0" err="1"/>
              <a:t>result</a:t>
            </a:r>
            <a:endParaRPr lang="it-IT" dirty="0"/>
          </a:p>
        </p:txBody>
      </p:sp>
      <p:cxnSp>
        <p:nvCxnSpPr>
          <p:cNvPr id="15" name="Connettore 2 14"/>
          <p:cNvCxnSpPr/>
          <p:nvPr/>
        </p:nvCxnSpPr>
        <p:spPr>
          <a:xfrm>
            <a:off x="3419872" y="4590420"/>
            <a:ext cx="201338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/>
          <p:cNvSpPr txBox="1"/>
          <p:nvPr/>
        </p:nvSpPr>
        <p:spPr>
          <a:xfrm>
            <a:off x="3491383" y="4158372"/>
            <a:ext cx="194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Compress+encrypt</a:t>
            </a:r>
            <a:endParaRPr lang="it-IT" dirty="0"/>
          </a:p>
        </p:txBody>
      </p:sp>
      <p:sp>
        <p:nvSpPr>
          <p:cNvPr id="18" name="CasellaDiTesto 17"/>
          <p:cNvSpPr txBox="1"/>
          <p:nvPr/>
        </p:nvSpPr>
        <p:spPr>
          <a:xfrm>
            <a:off x="5940152" y="5157192"/>
            <a:ext cx="1688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xxxxxxx</a:t>
            </a:r>
            <a:endParaRPr lang="it-IT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5724128" y="4302388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3ASHARON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5724128" y="4725144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3BSHARON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5724128" y="5210036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4SHARON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5693251" y="4283224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xxxxxxxx</a:t>
            </a:r>
            <a:endParaRPr lang="it-IT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5724128" y="4725144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xxxxxxxx</a:t>
            </a:r>
            <a:endParaRPr lang="it-IT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4" name="Connettore 2 23"/>
          <p:cNvCxnSpPr/>
          <p:nvPr/>
        </p:nvCxnSpPr>
        <p:spPr>
          <a:xfrm>
            <a:off x="3419872" y="5022468"/>
            <a:ext cx="201338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/>
          <p:cNvCxnSpPr/>
          <p:nvPr/>
        </p:nvCxnSpPr>
        <p:spPr>
          <a:xfrm>
            <a:off x="3419872" y="5445224"/>
            <a:ext cx="201338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/>
          <p:cNvSpPr txBox="1"/>
          <p:nvPr/>
        </p:nvSpPr>
        <p:spPr>
          <a:xfrm>
            <a:off x="539552" y="5919663"/>
            <a:ext cx="7581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>
                <a:solidFill>
                  <a:srgbClr val="FF0000"/>
                </a:solidFill>
              </a:rPr>
              <a:t>What’s</a:t>
            </a:r>
            <a:r>
              <a:rPr lang="it-IT" sz="2400" b="1" dirty="0">
                <a:solidFill>
                  <a:srgbClr val="FF0000"/>
                </a:solidFill>
              </a:rPr>
              <a:t> the first </a:t>
            </a:r>
            <a:r>
              <a:rPr lang="it-IT" sz="2400" b="1" dirty="0" err="1">
                <a:solidFill>
                  <a:srgbClr val="FF0000"/>
                </a:solidFill>
              </a:rPr>
              <a:t>letter</a:t>
            </a:r>
            <a:r>
              <a:rPr lang="it-IT" sz="2400" b="1" dirty="0">
                <a:solidFill>
                  <a:srgbClr val="FF0000"/>
                </a:solidFill>
              </a:rPr>
              <a:t> of </a:t>
            </a:r>
            <a:r>
              <a:rPr lang="it-IT" sz="2400" b="1" dirty="0" err="1">
                <a:solidFill>
                  <a:srgbClr val="FF0000"/>
                </a:solidFill>
              </a:rPr>
              <a:t>your</a:t>
            </a:r>
            <a:r>
              <a:rPr lang="it-IT" sz="2400" b="1" dirty="0">
                <a:solidFill>
                  <a:srgbClr val="FF0000"/>
                </a:solidFill>
              </a:rPr>
              <a:t>  data? </a:t>
            </a:r>
            <a:r>
              <a:rPr lang="it-IT" sz="2400" b="1" dirty="0" err="1">
                <a:solidFill>
                  <a:srgbClr val="FF0000"/>
                </a:solidFill>
              </a:rPr>
              <a:t>Pretty</a:t>
            </a:r>
            <a:r>
              <a:rPr lang="it-IT" sz="2400" b="1" dirty="0">
                <a:solidFill>
                  <a:srgbClr val="FF0000"/>
                </a:solidFill>
              </a:rPr>
              <a:t> easy, </a:t>
            </a:r>
            <a:r>
              <a:rPr lang="it-IT" sz="2400" b="1" dirty="0" err="1">
                <a:solidFill>
                  <a:srgbClr val="FF0000"/>
                </a:solidFill>
              </a:rPr>
              <a:t>isn’t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it</a:t>
            </a:r>
            <a:r>
              <a:rPr lang="it-IT" sz="2400" b="1" dirty="0">
                <a:solidFill>
                  <a:srgbClr val="FF0000"/>
                </a:solidFill>
              </a:rPr>
              <a:t>? 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it-IT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05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Attack made </a:t>
            </a:r>
            <a:r>
              <a:rPr lang="it-IT" dirty="0" err="1"/>
              <a:t>practical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412776"/>
            <a:ext cx="8229600" cy="4896544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CRIME = </a:t>
            </a:r>
            <a:r>
              <a:rPr lang="en-US" dirty="0"/>
              <a:t>Compression Ratio Info-leak Made Easy</a:t>
            </a:r>
          </a:p>
          <a:p>
            <a:pPr lvl="1"/>
            <a:r>
              <a:rPr lang="it-IT" dirty="0" err="1"/>
              <a:t>Duong</a:t>
            </a:r>
            <a:r>
              <a:rPr lang="it-IT" dirty="0"/>
              <a:t> and Rizzo, </a:t>
            </a:r>
            <a:r>
              <a:rPr lang="it-IT" dirty="0" err="1"/>
              <a:t>again</a:t>
            </a:r>
            <a:r>
              <a:rPr lang="it-IT" dirty="0"/>
              <a:t>, </a:t>
            </a:r>
            <a:r>
              <a:rPr lang="it-IT" dirty="0" err="1"/>
              <a:t>september</a:t>
            </a:r>
            <a:r>
              <a:rPr lang="it-IT" dirty="0"/>
              <a:t> 2012</a:t>
            </a:r>
          </a:p>
          <a:p>
            <a:pPr lvl="1"/>
            <a:r>
              <a:rPr lang="it-IT" dirty="0"/>
              <a:t>Works IRRESPECTIVE of </a:t>
            </a:r>
            <a:r>
              <a:rPr lang="it-IT" dirty="0" err="1"/>
              <a:t>cipher</a:t>
            </a:r>
            <a:r>
              <a:rPr lang="it-IT" dirty="0"/>
              <a:t>!!</a:t>
            </a:r>
          </a:p>
          <a:p>
            <a:pPr lvl="1"/>
            <a:endParaRPr lang="it-IT" dirty="0"/>
          </a:p>
          <a:p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enablers</a:t>
            </a:r>
            <a:endParaRPr lang="it-IT" dirty="0"/>
          </a:p>
          <a:p>
            <a:pPr lvl="1"/>
            <a:r>
              <a:rPr lang="it-IT" dirty="0" err="1"/>
              <a:t>Injection</a:t>
            </a:r>
            <a:r>
              <a:rPr lang="it-IT" dirty="0"/>
              <a:t> of </a:t>
            </a:r>
            <a:r>
              <a:rPr lang="it-IT" dirty="0" err="1"/>
              <a:t>chosen</a:t>
            </a:r>
            <a:r>
              <a:rPr lang="it-IT" dirty="0"/>
              <a:t> text </a:t>
            </a:r>
            <a:r>
              <a:rPr lang="it-IT" dirty="0" err="1"/>
              <a:t>prior</a:t>
            </a:r>
            <a:r>
              <a:rPr lang="it-IT" dirty="0"/>
              <a:t> to </a:t>
            </a:r>
            <a:r>
              <a:rPr lang="it-IT" dirty="0" err="1"/>
              <a:t>user</a:t>
            </a:r>
            <a:r>
              <a:rPr lang="it-IT" dirty="0"/>
              <a:t> data</a:t>
            </a:r>
          </a:p>
          <a:p>
            <a:pPr lvl="2"/>
            <a:r>
              <a:rPr lang="it-IT" dirty="0" err="1"/>
              <a:t>Reusing</a:t>
            </a:r>
            <a:r>
              <a:rPr lang="it-IT" dirty="0"/>
              <a:t> BEAST software </a:t>
            </a:r>
            <a:r>
              <a:rPr lang="it-IT" dirty="0" err="1"/>
              <a:t>tools</a:t>
            </a:r>
            <a:endParaRPr lang="it-IT" dirty="0"/>
          </a:p>
          <a:p>
            <a:pPr lvl="1"/>
            <a:r>
              <a:rPr lang="it-IT" dirty="0" err="1"/>
              <a:t>Suitably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injected</a:t>
            </a:r>
            <a:r>
              <a:rPr lang="it-IT" dirty="0"/>
              <a:t> text</a:t>
            </a:r>
          </a:p>
          <a:p>
            <a:pPr lvl="2"/>
            <a:r>
              <a:rPr lang="it-IT" dirty="0" err="1"/>
              <a:t>Relates</a:t>
            </a:r>
            <a:r>
              <a:rPr lang="it-IT" dirty="0"/>
              <a:t> to </a:t>
            </a:r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</a:t>
            </a:r>
            <a:r>
              <a:rPr lang="it-IT" dirty="0" err="1"/>
              <a:t>details</a:t>
            </a:r>
            <a:endParaRPr lang="it-IT" dirty="0"/>
          </a:p>
          <a:p>
            <a:pPr lvl="3"/>
            <a:r>
              <a:rPr lang="it-IT" dirty="0" err="1"/>
              <a:t>Practically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for DEFLATE, in </a:t>
            </a:r>
            <a:r>
              <a:rPr lang="it-IT" dirty="0" err="1"/>
              <a:t>principle</a:t>
            </a:r>
            <a:r>
              <a:rPr lang="it-IT" dirty="0"/>
              <a:t> can be </a:t>
            </a:r>
            <a:r>
              <a:rPr lang="it-IT" dirty="0" err="1"/>
              <a:t>extended</a:t>
            </a:r>
            <a:r>
              <a:rPr lang="it-IT" dirty="0"/>
              <a:t> to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methods</a:t>
            </a:r>
            <a:endParaRPr lang="it-IT" dirty="0"/>
          </a:p>
          <a:p>
            <a:pPr lvl="1"/>
            <a:r>
              <a:rPr lang="it-IT" dirty="0"/>
              <a:t>Some extra </a:t>
            </a:r>
            <a:r>
              <a:rPr lang="it-IT" dirty="0" err="1"/>
              <a:t>tech</a:t>
            </a:r>
            <a:r>
              <a:rPr lang="it-IT" dirty="0"/>
              <a:t> </a:t>
            </a:r>
            <a:r>
              <a:rPr lang="it-IT" dirty="0" err="1"/>
              <a:t>details</a:t>
            </a:r>
            <a:r>
              <a:rPr lang="it-IT" dirty="0"/>
              <a:t> (</a:t>
            </a:r>
            <a:r>
              <a:rPr lang="it-IT" dirty="0" err="1"/>
              <a:t>skipped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721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Attack </a:t>
            </a:r>
            <a:r>
              <a:rPr lang="it-IT" dirty="0" err="1"/>
              <a:t>details</a:t>
            </a:r>
            <a:r>
              <a:rPr lang="it-IT" dirty="0"/>
              <a:t> (</a:t>
            </a:r>
            <a:r>
              <a:rPr lang="it-IT" dirty="0" err="1"/>
              <a:t>simplified</a:t>
            </a:r>
            <a:r>
              <a:rPr lang="it-IT" dirty="0"/>
              <a:t>)</a:t>
            </a:r>
            <a:endParaRPr lang="it-IT" sz="24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412777"/>
            <a:ext cx="8229600" cy="3024336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Attack relies on DEFLATE details</a:t>
            </a:r>
          </a:p>
          <a:p>
            <a:pPr>
              <a:defRPr/>
            </a:pPr>
            <a:r>
              <a:rPr lang="en-US" dirty="0"/>
              <a:t>DEFLATE (jointly) uses two sub-algorithms</a:t>
            </a:r>
          </a:p>
          <a:p>
            <a:pPr lvl="1">
              <a:defRPr/>
            </a:pPr>
            <a:r>
              <a:rPr lang="en-US" dirty="0"/>
              <a:t>Huffman coding </a:t>
            </a:r>
          </a:p>
          <a:p>
            <a:pPr lvl="2">
              <a:defRPr/>
            </a:pPr>
            <a:r>
              <a:rPr lang="en-US" dirty="0"/>
              <a:t>we don’t discuss it, to keep simple</a:t>
            </a:r>
          </a:p>
          <a:p>
            <a:pPr lvl="1">
              <a:defRPr/>
            </a:pPr>
            <a:r>
              <a:rPr lang="en-US" dirty="0"/>
              <a:t>LZ77: replaces repeated 3+ char strings with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offset,size</a:t>
            </a:r>
            <a:r>
              <a:rPr lang="en-US" dirty="0"/>
              <a:t>) pointers</a:t>
            </a:r>
          </a:p>
          <a:p>
            <a:pPr>
              <a:defRPr/>
            </a:pPr>
            <a:endParaRPr lang="en-US" dirty="0"/>
          </a:p>
          <a:p>
            <a:pPr lvl="1">
              <a:defRPr/>
            </a:pPr>
            <a:endParaRPr lang="it-IT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1331640" y="4653136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GIUSEPPE BIANCHI AND MARCO BIANCHINI	36B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1331640" y="5301208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GIUSEPPE BIANCHI AND MARCO (-18,7)NI	31B</a:t>
            </a:r>
          </a:p>
        </p:txBody>
      </p:sp>
    </p:spTree>
    <p:extLst>
      <p:ext uri="{BB962C8B-B14F-4D97-AF65-F5344CB8AC3E}">
        <p14:creationId xmlns:p14="http://schemas.microsoft.com/office/powerpoint/2010/main" val="94601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injects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text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err="1"/>
              <a:t>Legitimate</a:t>
            </a:r>
            <a:r>
              <a:rPr lang="it-IT" dirty="0"/>
              <a:t> </a:t>
            </a:r>
            <a:r>
              <a:rPr lang="it-IT" dirty="0" err="1"/>
              <a:t>user</a:t>
            </a:r>
            <a:r>
              <a:rPr lang="it-IT" dirty="0"/>
              <a:t> text:</a:t>
            </a:r>
          </a:p>
          <a:p>
            <a:pPr lvl="1"/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header</a:t>
            </a:r>
            <a:r>
              <a:rPr lang="it-IT" dirty="0"/>
              <a:t> + </a:t>
            </a:r>
            <a:r>
              <a:rPr lang="it-IT" dirty="0" err="1"/>
              <a:t>unknown</a:t>
            </a:r>
            <a:r>
              <a:rPr lang="it-IT" dirty="0"/>
              <a:t> secret</a:t>
            </a:r>
          </a:p>
          <a:p>
            <a:pPr lvl="1"/>
            <a:r>
              <a:rPr lang="it-IT" dirty="0"/>
              <a:t>e.g. </a:t>
            </a:r>
            <a:r>
              <a:rPr lang="it-IT" dirty="0" err="1"/>
              <a:t>authentication</a:t>
            </a:r>
            <a:r>
              <a:rPr lang="it-IT" dirty="0"/>
              <a:t> </a:t>
            </a:r>
            <a:r>
              <a:rPr lang="it-IT" dirty="0" err="1"/>
              <a:t>token</a:t>
            </a:r>
            <a:r>
              <a:rPr lang="it-IT" dirty="0"/>
              <a:t>: </a:t>
            </a:r>
            <a:r>
              <a:rPr lang="it-IT" dirty="0" err="1"/>
              <a:t>passwd</a:t>
            </a:r>
            <a:r>
              <a:rPr lang="it-IT" dirty="0"/>
              <a:t>=alice%01</a:t>
            </a:r>
          </a:p>
          <a:p>
            <a:r>
              <a:rPr lang="it-IT" dirty="0"/>
              <a:t>Message </a:t>
            </a:r>
            <a:r>
              <a:rPr lang="it-IT" dirty="0" err="1"/>
              <a:t>crafted</a:t>
            </a:r>
            <a:r>
              <a:rPr lang="it-IT" dirty="0"/>
              <a:t> by </a:t>
            </a:r>
            <a:r>
              <a:rPr lang="it-IT" dirty="0" err="1"/>
              <a:t>attacker</a:t>
            </a:r>
            <a:endParaRPr lang="it-IT" dirty="0"/>
          </a:p>
          <a:p>
            <a:pPr lvl="1"/>
            <a:r>
              <a:rPr lang="it-IT" b="1" dirty="0" err="1"/>
              <a:t>Att_input</a:t>
            </a:r>
            <a:r>
              <a:rPr lang="it-IT" dirty="0"/>
              <a:t> + [</a:t>
            </a:r>
            <a:r>
              <a:rPr lang="it-IT" dirty="0" err="1"/>
              <a:t>header</a:t>
            </a:r>
            <a:r>
              <a:rPr lang="it-IT" dirty="0"/>
              <a:t> + secret]</a:t>
            </a:r>
          </a:p>
          <a:p>
            <a:pPr lvl="1"/>
            <a:r>
              <a:rPr lang="it-IT" dirty="0" err="1"/>
              <a:t>Repeater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times</a:t>
            </a:r>
            <a:endParaRPr lang="it-IT" dirty="0"/>
          </a:p>
          <a:p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sees</a:t>
            </a:r>
            <a:endParaRPr lang="it-IT" dirty="0"/>
          </a:p>
          <a:p>
            <a:pPr lvl="1"/>
            <a:r>
              <a:rPr lang="it-IT" dirty="0" err="1"/>
              <a:t>Len</a:t>
            </a:r>
            <a:r>
              <a:rPr lang="it-IT" dirty="0"/>
              <a:t>(</a:t>
            </a:r>
            <a:r>
              <a:rPr lang="it-IT" dirty="0" err="1"/>
              <a:t>encrypt</a:t>
            </a:r>
            <a:r>
              <a:rPr lang="it-IT" dirty="0"/>
              <a:t>(</a:t>
            </a:r>
            <a:r>
              <a:rPr lang="it-IT" dirty="0" err="1"/>
              <a:t>compress</a:t>
            </a:r>
            <a:r>
              <a:rPr lang="it-IT" dirty="0"/>
              <a:t>(</a:t>
            </a:r>
            <a:r>
              <a:rPr lang="it-IT" dirty="0" err="1"/>
              <a:t>att_input+header+secret</a:t>
            </a:r>
            <a:r>
              <a:rPr lang="it-IT" dirty="0"/>
              <a:t>)))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50222"/>
            <a:ext cx="2133600" cy="263154"/>
          </a:xfrm>
          <a:prstGeom prst="rect">
            <a:avLst/>
          </a:prstGeom>
        </p:spPr>
        <p:txBody>
          <a:bodyPr/>
          <a:lstStyle/>
          <a:p>
            <a:fld id="{94C24E44-2925-4C26-8D7F-7F708DB383B7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435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chose</a:t>
            </a:r>
            <a:r>
              <a:rPr lang="it-IT" dirty="0"/>
              <a:t> input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395536" y="980660"/>
            <a:ext cx="818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twid=flavia\r\n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395536" y="1372638"/>
            <a:ext cx="8494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(-24,5)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395536" y="2492828"/>
            <a:ext cx="818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twid=f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twid=flavia\r\n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395536" y="2884806"/>
            <a:ext cx="8494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twid=f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</a:t>
            </a:r>
            <a:r>
              <a:rPr lang="pt-BR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(-24,6)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6711818" y="3255299"/>
            <a:ext cx="2180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1 byte </a:t>
            </a:r>
            <a:r>
              <a:rPr lang="it-IT" sz="2400" b="1" dirty="0" err="1">
                <a:solidFill>
                  <a:srgbClr val="FF0000"/>
                </a:solidFill>
              </a:rPr>
              <a:t>shorter</a:t>
            </a:r>
            <a:r>
              <a:rPr lang="it-IT" sz="2400" b="1" dirty="0">
                <a:solidFill>
                  <a:srgbClr val="FF0000"/>
                </a:solidFill>
              </a:rPr>
              <a:t>!!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1979712" y="1907472"/>
            <a:ext cx="226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Repeat</a:t>
            </a:r>
            <a:r>
              <a:rPr lang="it-IT" dirty="0"/>
              <a:t> </a:t>
            </a:r>
            <a:r>
              <a:rPr lang="it-IT" dirty="0" err="1"/>
              <a:t>guesses</a:t>
            </a:r>
            <a:r>
              <a:rPr lang="it-IT" dirty="0"/>
              <a:t>… </a:t>
            </a:r>
            <a:r>
              <a:rPr lang="it-IT" dirty="0" err="1"/>
              <a:t>until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979712" y="3644956"/>
            <a:ext cx="4863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And </a:t>
            </a:r>
            <a:r>
              <a:rPr lang="it-IT" dirty="0" err="1"/>
              <a:t>now</a:t>
            </a:r>
            <a:r>
              <a:rPr lang="it-IT" dirty="0"/>
              <a:t> start </a:t>
            </a:r>
            <a:r>
              <a:rPr lang="it-IT" dirty="0" err="1"/>
              <a:t>guessing</a:t>
            </a:r>
            <a:r>
              <a:rPr lang="it-IT" dirty="0"/>
              <a:t> </a:t>
            </a:r>
            <a:r>
              <a:rPr lang="it-IT" dirty="0" err="1"/>
              <a:t>second</a:t>
            </a:r>
            <a:r>
              <a:rPr lang="it-IT" dirty="0"/>
              <a:t> </a:t>
            </a:r>
            <a:r>
              <a:rPr lang="it-IT" dirty="0" err="1"/>
              <a:t>character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!!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395536" y="4158304"/>
            <a:ext cx="834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twid=fa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twid=flavia\r\n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395536" y="4550282"/>
            <a:ext cx="8648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twid=fa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(-24,6)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asellaDiTesto 16"/>
          <p:cNvSpPr txBox="1"/>
          <p:nvPr/>
        </p:nvSpPr>
        <p:spPr>
          <a:xfrm>
            <a:off x="395536" y="5094408"/>
            <a:ext cx="834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twid=fl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twid=flavia\r\n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CasellaDiTesto 17"/>
          <p:cNvSpPr txBox="1"/>
          <p:nvPr/>
        </p:nvSpPr>
        <p:spPr>
          <a:xfrm>
            <a:off x="395536" y="5486386"/>
            <a:ext cx="8494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 /comment:</a:t>
            </a: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twid=fl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 Cookie: </a:t>
            </a:r>
            <a:r>
              <a:rPr lang="pt-BR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(-24,7)</a:t>
            </a:r>
            <a:r>
              <a:rPr lang="pt-BR" sz="2000">
                <a:latin typeface="Courier New" panose="02070309020205020404" pitchFamily="49" charset="0"/>
                <a:cs typeface="Courier New" panose="02070309020205020404" pitchFamily="49" charset="0"/>
              </a:rPr>
              <a:t>avia\r\n</a:t>
            </a:r>
            <a:endParaRPr lang="it-IT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1979712" y="5795904"/>
            <a:ext cx="4184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And so on, </a:t>
            </a:r>
            <a:r>
              <a:rPr lang="it-IT" dirty="0" err="1"/>
              <a:t>linearly</a:t>
            </a:r>
            <a:r>
              <a:rPr lang="it-IT" dirty="0"/>
              <a:t> with secret </a:t>
            </a:r>
            <a:r>
              <a:rPr lang="it-IT" dirty="0" err="1"/>
              <a:t>size</a:t>
            </a:r>
            <a:r>
              <a:rPr lang="it-IT" dirty="0"/>
              <a:t> (</a:t>
            </a:r>
            <a:r>
              <a:rPr lang="it-IT" dirty="0" err="1"/>
              <a:t>again</a:t>
            </a:r>
            <a:r>
              <a:rPr lang="it-IT" dirty="0"/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164130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7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430" y="188572"/>
            <a:ext cx="8353042" cy="792088"/>
          </a:xfrm>
        </p:spPr>
        <p:txBody>
          <a:bodyPr/>
          <a:lstStyle/>
          <a:p>
            <a:r>
              <a:rPr lang="it-IT" dirty="0"/>
              <a:t>A bit more </a:t>
            </a:r>
            <a:r>
              <a:rPr lang="it-IT" dirty="0" err="1"/>
              <a:t>complex</a:t>
            </a:r>
            <a:r>
              <a:rPr lang="it-IT" dirty="0"/>
              <a:t> than this, </a:t>
            </a:r>
            <a:r>
              <a:rPr lang="it-IT" dirty="0" err="1"/>
              <a:t>but</a:t>
            </a:r>
            <a:r>
              <a:rPr lang="it-IT" dirty="0"/>
              <a:t>… </a:t>
            </a:r>
            <a:r>
              <a:rPr lang="it-IT" dirty="0" err="1"/>
              <a:t>enough</a:t>
            </a:r>
            <a:r>
              <a:rPr lang="it-IT" dirty="0"/>
              <a:t> to sketch the idea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 in bits,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bytes</a:t>
            </a:r>
            <a:endParaRPr lang="it-IT" dirty="0"/>
          </a:p>
          <a:p>
            <a:pPr lvl="1"/>
            <a:r>
              <a:rPr lang="it-IT" dirty="0"/>
              <a:t>With </a:t>
            </a:r>
            <a:r>
              <a:rPr lang="it-IT" dirty="0" err="1"/>
              <a:t>huffman</a:t>
            </a:r>
            <a:r>
              <a:rPr lang="it-IT" dirty="0"/>
              <a:t> </a:t>
            </a:r>
            <a:r>
              <a:rPr lang="it-IT" dirty="0" err="1"/>
              <a:t>coding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endParaRPr lang="it-IT" dirty="0"/>
          </a:p>
          <a:p>
            <a:pPr lvl="1"/>
            <a:r>
              <a:rPr lang="it-IT" dirty="0"/>
              <a:t>Must be </a:t>
            </a:r>
            <a:r>
              <a:rPr lang="it-IT" dirty="0" err="1"/>
              <a:t>careful</a:t>
            </a:r>
            <a:r>
              <a:rPr lang="it-IT" dirty="0"/>
              <a:t> to </a:t>
            </a:r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a byte </a:t>
            </a:r>
            <a:r>
              <a:rPr lang="it-IT" dirty="0" err="1"/>
              <a:t>difference</a:t>
            </a:r>
            <a:endParaRPr lang="it-IT" dirty="0"/>
          </a:p>
          <a:p>
            <a:r>
              <a:rPr lang="it-IT" dirty="0" err="1"/>
              <a:t>Done</a:t>
            </a:r>
            <a:r>
              <a:rPr lang="it-IT" dirty="0"/>
              <a:t> on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protocols</a:t>
            </a:r>
            <a:endParaRPr lang="it-IT" dirty="0"/>
          </a:p>
          <a:p>
            <a:pPr lvl="1"/>
            <a:r>
              <a:rPr lang="it-IT" dirty="0"/>
              <a:t>TLS</a:t>
            </a:r>
          </a:p>
          <a:p>
            <a:pPr lvl="1"/>
            <a:r>
              <a:rPr lang="it-IT" dirty="0"/>
              <a:t>SDPY (http2.0 candidate)</a:t>
            </a:r>
          </a:p>
          <a:p>
            <a:r>
              <a:rPr lang="it-IT" dirty="0"/>
              <a:t>Some </a:t>
            </a:r>
            <a:r>
              <a:rPr lang="it-IT" dirty="0" err="1"/>
              <a:t>technical</a:t>
            </a:r>
            <a:r>
              <a:rPr lang="it-IT" dirty="0"/>
              <a:t> </a:t>
            </a:r>
            <a:r>
              <a:rPr lang="it-IT" dirty="0" err="1"/>
              <a:t>differences</a:t>
            </a:r>
            <a:endParaRPr lang="it-IT" dirty="0"/>
          </a:p>
          <a:p>
            <a:pPr lvl="1"/>
            <a:r>
              <a:rPr lang="it-IT" dirty="0"/>
              <a:t>TLS: </a:t>
            </a:r>
            <a:r>
              <a:rPr lang="it-IT" dirty="0" err="1"/>
              <a:t>includes</a:t>
            </a:r>
            <a:r>
              <a:rPr lang="it-IT" dirty="0"/>
              <a:t> a </a:t>
            </a: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boundary</a:t>
            </a:r>
            <a:r>
              <a:rPr lang="it-IT" dirty="0"/>
              <a:t> </a:t>
            </a:r>
            <a:r>
              <a:rPr lang="it-IT" dirty="0" err="1"/>
              <a:t>attack</a:t>
            </a:r>
            <a:endParaRPr lang="it-IT" dirty="0"/>
          </a:p>
          <a:p>
            <a:pPr lvl="2"/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boundary</a:t>
            </a:r>
            <a:r>
              <a:rPr lang="it-IT" dirty="0"/>
              <a:t>: TLS </a:t>
            </a:r>
            <a:r>
              <a:rPr lang="it-IT" dirty="0" err="1"/>
              <a:t>fragment</a:t>
            </a:r>
            <a:r>
              <a:rPr lang="it-IT" dirty="0"/>
              <a:t> (versus AES </a:t>
            </a:r>
            <a:r>
              <a:rPr lang="it-IT" dirty="0" err="1"/>
              <a:t>block</a:t>
            </a:r>
            <a:r>
              <a:rPr lang="it-IT" dirty="0"/>
              <a:t> in crime)</a:t>
            </a:r>
          </a:p>
          <a:p>
            <a:pPr lvl="1"/>
            <a:r>
              <a:rPr lang="it-IT" dirty="0"/>
              <a:t>SPDY: must </a:t>
            </a:r>
            <a:r>
              <a:rPr lang="it-IT" dirty="0" err="1"/>
              <a:t>handle</a:t>
            </a:r>
            <a:r>
              <a:rPr lang="it-IT" dirty="0"/>
              <a:t> </a:t>
            </a:r>
            <a:r>
              <a:rPr lang="it-IT" dirty="0" err="1"/>
              <a:t>compression</a:t>
            </a:r>
            <a:r>
              <a:rPr lang="it-IT" dirty="0"/>
              <a:t> state over multiple </a:t>
            </a:r>
            <a:r>
              <a:rPr lang="it-IT" dirty="0" err="1"/>
              <a:t>requests</a:t>
            </a:r>
            <a:endParaRPr lang="it-IT" dirty="0"/>
          </a:p>
          <a:p>
            <a:pPr lvl="2"/>
            <a:r>
              <a:rPr lang="it-IT" dirty="0" err="1"/>
              <a:t>Uses</a:t>
            </a:r>
            <a:r>
              <a:rPr lang="it-IT" dirty="0"/>
              <a:t> </a:t>
            </a:r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dictionary</a:t>
            </a:r>
            <a:r>
              <a:rPr lang="it-IT" dirty="0"/>
              <a:t> </a:t>
            </a:r>
            <a:r>
              <a:rPr lang="it-IT" dirty="0" err="1"/>
              <a:t>window</a:t>
            </a:r>
            <a:endParaRPr lang="it-IT" dirty="0"/>
          </a:p>
          <a:p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optimizations</a:t>
            </a:r>
            <a:r>
              <a:rPr lang="it-IT" dirty="0"/>
              <a:t> to </a:t>
            </a:r>
            <a:r>
              <a:rPr lang="it-IT" dirty="0" err="1"/>
              <a:t>make</a:t>
            </a:r>
            <a:r>
              <a:rPr lang="it-IT" dirty="0"/>
              <a:t> the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faster</a:t>
            </a:r>
            <a:endParaRPr lang="it-IT" dirty="0"/>
          </a:p>
          <a:p>
            <a:pPr lvl="1"/>
            <a:r>
              <a:rPr lang="it-IT" dirty="0" err="1"/>
              <a:t>Less</a:t>
            </a:r>
            <a:r>
              <a:rPr lang="it-IT" dirty="0"/>
              <a:t> </a:t>
            </a:r>
            <a:r>
              <a:rPr lang="it-IT" dirty="0" err="1"/>
              <a:t>guesses</a:t>
            </a:r>
            <a:endParaRPr lang="it-IT" dirty="0"/>
          </a:p>
          <a:p>
            <a:pPr lvl="1"/>
            <a:r>
              <a:rPr lang="it-IT" dirty="0" err="1"/>
              <a:t>compression</a:t>
            </a:r>
            <a:r>
              <a:rPr lang="it-IT" dirty="0"/>
              <a:t> </a:t>
            </a:r>
            <a:r>
              <a:rPr lang="it-IT" dirty="0" err="1"/>
              <a:t>size</a:t>
            </a:r>
            <a:r>
              <a:rPr lang="it-IT" dirty="0"/>
              <a:t> </a:t>
            </a:r>
            <a:r>
              <a:rPr lang="it-IT" dirty="0" err="1"/>
              <a:t>separately</a:t>
            </a:r>
            <a:r>
              <a:rPr lang="it-IT" dirty="0"/>
              <a:t> </a:t>
            </a:r>
            <a:r>
              <a:rPr lang="it-IT" dirty="0" err="1"/>
              <a:t>computed</a:t>
            </a:r>
            <a:r>
              <a:rPr lang="it-IT" dirty="0"/>
              <a:t> by </a:t>
            </a:r>
            <a:r>
              <a:rPr lang="it-IT" dirty="0" err="1"/>
              <a:t>attacker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50222"/>
            <a:ext cx="2133600" cy="263154"/>
          </a:xfrm>
          <a:prstGeom prst="rect">
            <a:avLst/>
          </a:prstGeom>
        </p:spPr>
        <p:txBody>
          <a:bodyPr/>
          <a:lstStyle/>
          <a:p>
            <a:fld id="{94C24E44-2925-4C26-8D7F-7F708DB383B7}" type="slidenum">
              <a:rPr lang="it-IT" smtClean="0"/>
              <a:pPr/>
              <a:t>20</a:t>
            </a:fld>
            <a:endParaRPr lang="it-IT"/>
          </a:p>
        </p:txBody>
      </p:sp>
      <p:sp>
        <p:nvSpPr>
          <p:cNvPr id="5" name="CasellaDiTesto 4"/>
          <p:cNvSpPr txBox="1"/>
          <p:nvPr/>
        </p:nvSpPr>
        <p:spPr>
          <a:xfrm>
            <a:off x="611560" y="6021288"/>
            <a:ext cx="7936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More </a:t>
            </a:r>
            <a:r>
              <a:rPr lang="it-IT" dirty="0" err="1">
                <a:solidFill>
                  <a:srgbClr val="FF0000"/>
                </a:solidFill>
              </a:rPr>
              <a:t>details</a:t>
            </a:r>
            <a:r>
              <a:rPr lang="it-IT" dirty="0">
                <a:solidFill>
                  <a:srgbClr val="FF0000"/>
                </a:solidFill>
              </a:rPr>
              <a:t> @ http://www.ekoparty.org//archive/2012/CRIME_ekoparty2012.pdf</a:t>
            </a:r>
          </a:p>
        </p:txBody>
      </p:sp>
    </p:spTree>
    <p:extLst>
      <p:ext uri="{BB962C8B-B14F-4D97-AF65-F5344CB8AC3E}">
        <p14:creationId xmlns:p14="http://schemas.microsoft.com/office/powerpoint/2010/main" val="1522236759"/>
      </p:ext>
    </p:extLst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611D14-099B-4334-88DE-0C45F49FC4C3}"/>
</file>

<file path=customXml/itemProps2.xml><?xml version="1.0" encoding="utf-8"?>
<ds:datastoreItem xmlns:ds="http://schemas.openxmlformats.org/officeDocument/2006/customXml" ds:itemID="{03BD7DC3-F3D6-4B96-9145-B3DDE6D36C5B}"/>
</file>

<file path=customXml/itemProps3.xml><?xml version="1.0" encoding="utf-8"?>
<ds:datastoreItem xmlns:ds="http://schemas.openxmlformats.org/officeDocument/2006/customXml" ds:itemID="{C988DFF8-8104-436D-AA8A-D964DA816DF7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1612</Words>
  <Application>Microsoft Office PowerPoint</Application>
  <PresentationFormat>Presentazione su schermo (4:3)</PresentationFormat>
  <Paragraphs>271</Paragraphs>
  <Slides>20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8" baseType="lpstr">
      <vt:lpstr>Arial</vt:lpstr>
      <vt:lpstr>Arial Narrow</vt:lpstr>
      <vt:lpstr>Book Antiqua</vt:lpstr>
      <vt:lpstr>Bookman Old Style</vt:lpstr>
      <vt:lpstr>Courier New</vt:lpstr>
      <vt:lpstr>Times New Roman</vt:lpstr>
      <vt:lpstr>Wingdings</vt:lpstr>
      <vt:lpstr>214templ</vt:lpstr>
      <vt:lpstr>BEAST attack: exploits predictable CBC IV in TLS v1.0 </vt:lpstr>
      <vt:lpstr>CBC for multiple msg (same K)</vt:lpstr>
      <vt:lpstr>What if predictable IV?</vt:lpstr>
      <vt:lpstr>What if predictable IV?</vt:lpstr>
      <vt:lpstr>What if predictable IV?</vt:lpstr>
      <vt:lpstr>Exploited in TLS!</vt:lpstr>
      <vt:lpstr>Why attack believed to be unpractical</vt:lpstr>
      <vt:lpstr>Why attack believed to be unpractical</vt:lpstr>
      <vt:lpstr>Chosen Boundary attack</vt:lpstr>
      <vt:lpstr>Chosen Boundary attack</vt:lpstr>
      <vt:lpstr>See Duong-Rizzo demo on Youtube</vt:lpstr>
      <vt:lpstr>CRIME attack: compression leaks (USABLE) information! </vt:lpstr>
      <vt:lpstr>TLS Compression is harmful</vt:lpstr>
      <vt:lpstr>Compression leaks size information</vt:lpstr>
      <vt:lpstr>Combining compression with Plain text injection – concept idea</vt:lpstr>
      <vt:lpstr>Attack made practical</vt:lpstr>
      <vt:lpstr>Attack details (simplified)</vt:lpstr>
      <vt:lpstr>Attacker injects chosen text</vt:lpstr>
      <vt:lpstr>How to chose input</vt:lpstr>
      <vt:lpstr>A bit more complex than this, but… enough to sketch the idea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GB</cp:lastModifiedBy>
  <cp:revision>560</cp:revision>
  <cp:lastPrinted>1998-04-09T13:49:28Z</cp:lastPrinted>
  <dcterms:created xsi:type="dcterms:W3CDTF">1996-09-11T22:41:56Z</dcterms:created>
  <dcterms:modified xsi:type="dcterms:W3CDTF">2020-11-04T21:07:09Z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