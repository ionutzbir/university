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it-IT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6F890A9-2807-4EBB-B81D-B2AA78EC7F39}">
  <a:tblStyle styleId="{46F890A9-2807-4EBB-B81D-B2AA78EC7F39}" styleName="Dark Style 2 - Accent 5/Accent 6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noFill/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29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000523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756515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0" hdr="0" sldNum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148927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852673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333051" name="Google Shape;95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2725450" name="Google Shape;96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922467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830795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725368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7444015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465282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81368376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39927" name="Google Shape;14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2822644" name="Google Shape;15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762390" name="Google Shape;14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6120922" name="Google Shape;15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9770" name="Google Shape;173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8172088" name="Google Shape;174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000332" name="Google Shape;173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85568663" name="Google Shape;174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712259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7518926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571690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97541110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568514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0944300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885367" name="Google Shape;218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0248985" name="Google Shape;219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424749" name="Google Shape;218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6377399" name="Google Shape;219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650567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7620423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185700" name="Google Shape;241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13417409" name="Google Shape;242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210404" name="Google Shape;261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76340687" name="Google Shape;262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900505" name="Google Shape;289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82058613" name="Google Shape;290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107295" name="Google Shape;307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07661082" name="Google Shape;308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484950" name="Google Shape;307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58880714" name="Google Shape;308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21082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EF3BB8D2-AFA6-C21C-4B78-CE70871286A5}" type="datetime1">
              <a:rPr lang="it-IT"/>
              <a:t>18/08/2026</a:t>
            </a:fld>
            <a:endParaRPr/>
          </a:p>
        </p:txBody>
      </p:sp>
      <p:sp>
        <p:nvSpPr>
          <p:cNvPr id="934389186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2077269349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956477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1925482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36999659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F70C3E72-0235-91A5-292B-100DA3149FF6}" type="datetime1">
              <a:rPr lang="it-IT"/>
              <a:t>18/08/2026</a:t>
            </a:fld>
            <a:endParaRPr/>
          </a:p>
        </p:txBody>
      </p:sp>
      <p:sp>
        <p:nvSpPr>
          <p:cNvPr id="1663457052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512994360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535888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6272070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1410983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D16A1E48-5CEB-E156-D70B-9533F0D817B4}" type="datetime1">
              <a:rPr lang="it-IT"/>
              <a:t>18/08/2026</a:t>
            </a:fld>
            <a:endParaRPr/>
          </a:p>
        </p:txBody>
      </p:sp>
      <p:sp>
        <p:nvSpPr>
          <p:cNvPr id="1860090974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742828963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753546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5586827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8395741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7F26221A-91E5-B5DC-B4CA-F4834A7DD91C}" type="datetime1">
              <a:rPr lang="it-IT"/>
              <a:t>18/08/2026</a:t>
            </a:fld>
            <a:endParaRPr/>
          </a:p>
        </p:txBody>
      </p:sp>
      <p:sp>
        <p:nvSpPr>
          <p:cNvPr id="1681573839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274667772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420655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6432875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2662614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004625844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8CFC330B-BD3B-AB9C-107C-12D2560F860B}" type="datetime1">
              <a:rPr lang="it-IT"/>
              <a:t>18/08/2026</a:t>
            </a:fld>
            <a:endParaRPr/>
          </a:p>
        </p:txBody>
      </p:sp>
      <p:sp>
        <p:nvSpPr>
          <p:cNvPr id="1998884934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848106543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98708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3922501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754146274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6600883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5460085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446864992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82E7D4E6-BC13-D9CF-9B9E-710141B3D053}" type="datetime1">
              <a:rPr lang="it-IT"/>
              <a:t>18/08/2026</a:t>
            </a:fld>
            <a:endParaRPr/>
          </a:p>
        </p:txBody>
      </p:sp>
      <p:sp>
        <p:nvSpPr>
          <p:cNvPr id="411228804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961624888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67226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9732317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141DB1A6-5DD2-D073-C1BD-05F9F3AB2E37}" type="datetime1">
              <a:rPr lang="it-IT"/>
              <a:t>18/08/2026</a:t>
            </a:fld>
            <a:endParaRPr/>
          </a:p>
        </p:txBody>
      </p:sp>
      <p:sp>
        <p:nvSpPr>
          <p:cNvPr id="1378534758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598398918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586323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3660064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17195647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704146515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B74D7888-8AE8-D58C-CC7F-7B1A0557E2D1}" type="datetime1">
              <a:rPr lang="it-IT"/>
              <a:t>18/08/2026</a:t>
            </a:fld>
            <a:endParaRPr/>
          </a:p>
        </p:txBody>
      </p:sp>
      <p:sp>
        <p:nvSpPr>
          <p:cNvPr id="588334333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002063483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73661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238613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20238910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252031086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5D2F9B57-ABC7-0815-887D-A1EC316DD4FE}" type="datetime1">
              <a:rPr lang="it-IT"/>
              <a:t>18/08/2026</a:t>
            </a:fld>
            <a:endParaRPr/>
          </a:p>
        </p:txBody>
      </p:sp>
      <p:sp>
        <p:nvSpPr>
          <p:cNvPr id="1197673609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903698780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170525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849333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401358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3F653019-C03B-740B-59A7-4B4AD9890A36}" type="datetime1">
              <a:rPr lang="it-IT"/>
              <a:t>18/08/2026</a:t>
            </a:fld>
            <a:endParaRPr/>
          </a:p>
        </p:txBody>
      </p:sp>
      <p:sp>
        <p:nvSpPr>
          <p:cNvPr id="1985627988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987041123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404531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5536376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6702483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C59C3A29-B654-0D0A-2C62-6FA7FE4873F6}" type="datetime1">
              <a:rPr lang="it-IT"/>
              <a:t>18/08/2026</a:t>
            </a:fld>
            <a:endParaRPr/>
          </a:p>
        </p:txBody>
      </p:sp>
      <p:sp>
        <p:nvSpPr>
          <p:cNvPr id="756585304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217915251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305207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45856386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5539859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67C4199C-94A9-2687-CA90-20D1EFFD1349}" type="datetime1">
              <a:rPr lang="it-IT"/>
              <a:t>18/08/2026</a:t>
            </a:fld>
            <a:endParaRPr/>
          </a:p>
        </p:txBody>
      </p:sp>
      <p:sp>
        <p:nvSpPr>
          <p:cNvPr id="1432839095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34517576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media3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media4.sv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5844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23926" y="-6873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5864594" name="Titolo 1"/>
          <p:cNvSpPr>
            <a:spLocks noGrp="1"/>
          </p:cNvSpPr>
          <p:nvPr/>
        </p:nvSpPr>
        <p:spPr bwMode="auto">
          <a:xfrm>
            <a:off x="293978" y="716142"/>
            <a:ext cx="11210697" cy="1646301"/>
          </a:xfrm>
        </p:spPr>
        <p:txBody>
          <a:bodyPr spcFirstLastPara="1" vertOverflow="overflow" horzOverflow="overflow" vert="horz" wrap="square" lIns="91423" tIns="45698" rIns="91423" bIns="45698" numCol="1" spcCol="0" rtlCol="0" fromWordArt="0" anchor="ctr" anchorCtr="0" forceAA="0" upright="0" compatLnSpc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it-IT" b="1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Wallet Bitcoin in GoLang</a:t>
            </a:r>
            <a:endParaRPr b="1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1906335373" name="Segnaposto testo 4"/>
          <p:cNvSpPr>
            <a:spLocks noGrp="1"/>
          </p:cNvSpPr>
          <p:nvPr/>
        </p:nvSpPr>
        <p:spPr bwMode="auto">
          <a:xfrm flipH="0" flipV="0">
            <a:off x="514577" y="3360262"/>
            <a:ext cx="11210697" cy="640751"/>
          </a:xfrm>
        </p:spPr>
        <p:txBody>
          <a:bodyPr spcFirstLastPara="1" vertOverflow="overflow" horzOverflow="overflow" vert="horz" wrap="square" lIns="91423" tIns="45698" rIns="91423" bIns="45698" numCol="1" spcCol="0" rtlCol="0" fromWordArt="0" anchor="ctr" anchorCtr="0" forceAA="0" upright="0" compatLnSpc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799" algn="l" rtl="0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399" algn="l" rtl="0">
              <a:lnSpc>
                <a:spcPct val="10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0999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25400" indent="0" algn="ct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2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Sviluppo di un Hierarchical Deterministic Wallet in GoLang</a:t>
            </a:r>
            <a:endParaRPr sz="26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59399456" name="Segnaposto testo 7"/>
          <p:cNvSpPr>
            <a:spLocks noGrp="1"/>
          </p:cNvSpPr>
          <p:nvPr/>
        </p:nvSpPr>
        <p:spPr bwMode="auto">
          <a:xfrm flipH="0" flipV="0">
            <a:off x="266716" y="4931733"/>
            <a:ext cx="11607174" cy="906436"/>
          </a:xfrm>
        </p:spPr>
        <p:txBody>
          <a:bodyPr spcFirstLastPara="1" wrap="square" lIns="91423" tIns="45698" rIns="91423" bIns="45698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799" algn="l" rtl="0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399" algn="l" rtl="0">
              <a:lnSpc>
                <a:spcPct val="10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0999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25400" indent="0" algn="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Esame di Principles of Cryptocurrency Design — </a:t>
            </a: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aa 2025/2026 </a:t>
            </a:r>
            <a:endParaRPr lang="it-IT" sz="18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5400" indent="0" algn="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Zbirciog Ionut Georgian — 0381279</a:t>
            </a:r>
            <a:endParaRPr sz="1800">
              <a:solidFill>
                <a:schemeClr val="bg1"/>
              </a:solidFill>
              <a:latin typeface="Poppins"/>
              <a:cs typeface="Poppins"/>
            </a:endParaRPr>
          </a:p>
        </p:txBody>
      </p:sp>
      <p:pic>
        <p:nvPicPr>
          <p:cNvPr id="855074577" name="Picture 1273133703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rot="0" flipH="0" flipV="0">
            <a:off x="514577" y="630569"/>
            <a:ext cx="908724" cy="908724"/>
          </a:xfrm>
          <a:prstGeom prst="rect">
            <a:avLst/>
          </a:prstGeom>
        </p:spPr>
      </p:pic>
      <p:pic>
        <p:nvPicPr>
          <p:cNvPr id="568189283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9857687" y="1023579"/>
            <a:ext cx="1646988" cy="614875"/>
          </a:xfrm>
          <a:prstGeom prst="rect">
            <a:avLst/>
          </a:prstGeom>
        </p:spPr>
      </p:pic>
      <p:pic>
        <p:nvPicPr>
          <p:cNvPr id="53659025" name="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 flipH="0" flipV="0">
            <a:off x="650842" y="5143453"/>
            <a:ext cx="1058080" cy="105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0095257" name="Google Shape;98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-5891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412466" name="Google Shape;99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2624136"/>
            <a:ext cx="36004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433188" name="Google Shape;100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95775" y="2624137"/>
            <a:ext cx="36004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357385" name="Google Shape;101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124825" y="2624137"/>
            <a:ext cx="36004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1709220" name="Google Shape;102;p14"/>
          <p:cNvSpPr txBox="1"/>
          <p:nvPr/>
        </p:nvSpPr>
        <p:spPr bwMode="auto">
          <a:xfrm>
            <a:off x="847724" y="516382"/>
            <a:ext cx="1134679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Architettura del Wallet</a:t>
            </a:r>
            <a:endParaRPr lang="it-IT"/>
          </a:p>
        </p:txBody>
      </p:sp>
      <p:pic>
        <p:nvPicPr>
          <p:cNvPr id="1912042904" name="Google Shape;104;p14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308683" name="Google Shape;107;p14"/>
          <p:cNvSpPr txBox="1"/>
          <p:nvPr/>
        </p:nvSpPr>
        <p:spPr bwMode="auto">
          <a:xfrm>
            <a:off x="704849" y="3589598"/>
            <a:ext cx="3125639" cy="75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Generazione dell'entropia, mnemonic BIP-39 e derivazione gerarchica delle chiavi private/pubbliche tramite BIP-32 e BIP-44.</a:t>
            </a:r>
            <a:endParaRPr sz="1100">
              <a:latin typeface="Adwaita Sans"/>
              <a:cs typeface="Adwaita Sans"/>
            </a:endParaRPr>
          </a:p>
        </p:txBody>
      </p:sp>
      <p:sp>
        <p:nvSpPr>
          <p:cNvPr id="1796673975" name="Google Shape;110;p14"/>
          <p:cNvSpPr txBox="1"/>
          <p:nvPr/>
        </p:nvSpPr>
        <p:spPr bwMode="auto">
          <a:xfrm>
            <a:off x="4533899" y="3589598"/>
            <a:ext cx="3125279" cy="75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Selezione greedy degli UTXO, costruzione degli Input/Output, calcolo delle fee e firma ECDSA (Legacy e SegWit).</a:t>
            </a:r>
            <a:endParaRPr sz="1100">
              <a:latin typeface="Adwaita Sans"/>
              <a:cs typeface="Adwaita Sans"/>
            </a:endParaRPr>
          </a:p>
        </p:txBody>
      </p:sp>
      <p:sp>
        <p:nvSpPr>
          <p:cNvPr id="1917007423" name="Google Shape;113;p14"/>
          <p:cNvSpPr txBox="1"/>
          <p:nvPr/>
        </p:nvSpPr>
        <p:spPr bwMode="auto">
          <a:xfrm>
            <a:off x="8362949" y="3589598"/>
            <a:ext cx="3142919" cy="10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Persistenza sicura su disco, import ed export del wallet e  integrazione con nodo locale Bitcoin Core via API Proxy Python e fallback su Mempool REST.</a:t>
            </a:r>
            <a:endParaRPr sz="1100">
              <a:latin typeface="Adwaita Sans"/>
              <a:cs typeface="Adwaita Sans"/>
            </a:endParaRPr>
          </a:p>
        </p:txBody>
      </p:sp>
      <p:pic>
        <p:nvPicPr>
          <p:cNvPr id="403949452" name="Google Shape;114;p14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704849" y="289083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206122" name="Google Shape;115;p14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4533900" y="28908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210414" name="Google Shape;116;p14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8362950" y="28908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0107606" name="Flowchart: Alternate process 57549366"/>
          <p:cNvSpPr/>
          <p:nvPr/>
        </p:nvSpPr>
        <p:spPr bwMode="auto">
          <a:xfrm rot="0" flipH="0" flipV="0">
            <a:off x="1178121" y="2890836"/>
            <a:ext cx="2651288" cy="363323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1 – Gestione Chiavi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  <p:sp>
        <p:nvSpPr>
          <p:cNvPr id="731265208" name="Flowchart: Alternate process 57549366"/>
          <p:cNvSpPr/>
          <p:nvPr/>
        </p:nvSpPr>
        <p:spPr bwMode="auto">
          <a:xfrm rot="0" flipH="0" flipV="0">
            <a:off x="5006811" y="2890836"/>
            <a:ext cx="2651287" cy="363323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2 – Transazioni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  <p:sp>
        <p:nvSpPr>
          <p:cNvPr id="867044917" name="Flowchart: Alternate process 57549366"/>
          <p:cNvSpPr/>
          <p:nvPr/>
        </p:nvSpPr>
        <p:spPr bwMode="auto">
          <a:xfrm rot="0" flipH="0" flipV="0">
            <a:off x="8835861" y="2890836"/>
            <a:ext cx="2651287" cy="363322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1 – Broadcast &amp; Rete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597959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430181" name="Google Shape;124;p15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Mnemonic (BIP-39)</a:t>
            </a:r>
            <a:endParaRPr/>
          </a:p>
        </p:txBody>
      </p:sp>
      <p:pic>
        <p:nvPicPr>
          <p:cNvPr id="1722476391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0074615" name=""/>
          <p:cNvGrpSpPr/>
          <p:nvPr/>
        </p:nvGrpSpPr>
        <p:grpSpPr bwMode="auto">
          <a:xfrm>
            <a:off x="2075157" y="1236628"/>
            <a:ext cx="7905713" cy="1114587"/>
            <a:chOff x="0" y="0"/>
            <a:chExt cx="7905713" cy="1114587"/>
          </a:xfrm>
        </p:grpSpPr>
        <p:pic>
          <p:nvPicPr>
            <p:cNvPr id="1043847805" name="Google Shape;122;p15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rot="0" flipH="0" flipV="0">
              <a:off x="0" y="0"/>
              <a:ext cx="7842656" cy="1066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021268" name="Google Shape;131;p15"/>
            <p:cNvSpPr txBox="1"/>
            <p:nvPr/>
          </p:nvSpPr>
          <p:spPr bwMode="auto">
            <a:xfrm rot="0" flipH="0" flipV="0">
              <a:off x="136330" y="154107"/>
              <a:ext cx="7769382" cy="960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BIP-39</a:t>
              </a:r>
              <a:r>
                <a:rPr lang="en-US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 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Permette di generare un seed random e di codificarlo in una sequenza di 12-24 parole facili da salvare e memorizzare. Garantisce la portabilità completa del wallet verso altri wallet.</a:t>
              </a:r>
              <a:endParaRPr sz="1400" b="0">
                <a:latin typeface="Adwaita Sans"/>
                <a:cs typeface="Adwaita Sans"/>
              </a:endParaRPr>
            </a:p>
          </p:txBody>
        </p:sp>
      </p:grpSp>
      <p:sp>
        <p:nvSpPr>
          <p:cNvPr id="1545569775" name=""/>
          <p:cNvSpPr txBox="1"/>
          <p:nvPr/>
        </p:nvSpPr>
        <p:spPr bwMode="auto">
          <a:xfrm rot="0" flipH="0" flipV="0">
            <a:off x="466724" y="2705721"/>
            <a:ext cx="6704304" cy="26276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Entropia Iniziale</a:t>
            </a: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Generazione di 128/256 bit di entropia. Calcolo del checksum come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CS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=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SHA-256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(ENT)[:ENT / 32]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Mnemonic: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Si dividono gli  </a:t>
            </a:r>
            <a:r>
              <a:rPr lang="it-IT" sz="10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ENT + CS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bit in blocchi da 11 bit e si mappano sulla wordlist standard BIP-39, formando la </a:t>
            </a: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mnemonic sentence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Wordlist: 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Lista di 2048 parole (it, eng, chi), con le seguenti caratteristiche: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Non ambiguità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No parole simili (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built 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e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build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,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pena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penna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, etc...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)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Ordinamento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17793" marR="0" lvl="0" indent="-217793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Seed: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PBKDF2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HMAC-SHA512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seed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iter=2048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salt=”mnemonic” + passphrase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)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graphicFrame>
        <p:nvGraphicFramePr>
          <p:cNvPr id="1671614390" name="Table 1475532730"/>
          <p:cNvGraphicFramePr>
            <a:graphicFrameLocks xmlns:a="http://schemas.openxmlformats.org/drawingml/2006/main"/>
          </p:cNvGraphicFramePr>
          <p:nvPr/>
        </p:nvGraphicFramePr>
        <p:xfrm rot="0">
          <a:off x="7718767" y="2705721"/>
          <a:ext cx="4050000" cy="2275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{46F890A9-2807-4EBB-B81D-B2AA78EC7F39}</a:tableStyleId>
              </a:tblPr>
              <a:tblGrid>
                <a:gridCol w="1012499"/>
                <a:gridCol w="1012499"/>
                <a:gridCol w="1012500"/>
                <a:gridCol w="1012499"/>
              </a:tblGrid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ENT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CS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ENT+CS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MS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128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132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160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165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192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6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198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224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7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231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21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256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264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2179008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19049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5638" name="Google Shape;124;p15"/>
          <p:cNvSpPr txBox="1"/>
          <p:nvPr/>
        </p:nvSpPr>
        <p:spPr bwMode="auto">
          <a:xfrm>
            <a:off x="847724" y="518722"/>
            <a:ext cx="1135147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Master Key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e HD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(BIP-3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)</a:t>
            </a:r>
            <a:endParaRPr/>
          </a:p>
        </p:txBody>
      </p:sp>
      <p:pic>
        <p:nvPicPr>
          <p:cNvPr id="519771330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083699" name=""/>
          <p:cNvGrpSpPr/>
          <p:nvPr/>
        </p:nvGrpSpPr>
        <p:grpSpPr bwMode="auto">
          <a:xfrm>
            <a:off x="2409351" y="2797942"/>
            <a:ext cx="8060001" cy="1130347"/>
            <a:chOff x="0" y="0"/>
            <a:chExt cx="8060001" cy="1130347"/>
          </a:xfrm>
        </p:grpSpPr>
        <p:pic>
          <p:nvPicPr>
            <p:cNvPr id="317610623" name="Google Shape;122;p15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rot="0" flipH="0" flipV="0">
              <a:off x="0" y="0"/>
              <a:ext cx="8041027" cy="1125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113194" name="Google Shape;131;p15"/>
            <p:cNvSpPr txBox="1"/>
            <p:nvPr/>
          </p:nvSpPr>
          <p:spPr bwMode="auto">
            <a:xfrm rot="0" flipH="0" flipV="0">
              <a:off x="168218" y="169867"/>
              <a:ext cx="7891782" cy="960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BIP-32</a:t>
              </a:r>
              <a:r>
                <a:rPr lang="en-US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 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Permette di generare un intero albero di chiavi a partire da un’unico 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seed iniziale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. Tutte le chiavi derivano da una chiave master, pertanto è necessario solo salvare il seed iniziale (mnemonic) per ricostruire l’intero albero di chiavi.</a:t>
              </a:r>
              <a:endParaRPr sz="1400" b="0"/>
            </a:p>
          </p:txBody>
        </p:sp>
      </p:grpSp>
      <p:sp>
        <p:nvSpPr>
          <p:cNvPr id="2010288401" name=""/>
          <p:cNvSpPr txBox="1"/>
          <p:nvPr/>
        </p:nvSpPr>
        <p:spPr bwMode="auto">
          <a:xfrm rot="0" flipH="0" flipV="0">
            <a:off x="600075" y="4807113"/>
            <a:ext cx="11314611" cy="86162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6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Extended Private Key:</a:t>
            </a: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xpriv=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6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4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master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6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master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HMAC-SHA512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key = “Bitcoin seed”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data = seed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).</a:t>
            </a: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endParaRPr lang="it-IT" sz="1600" strike="noStrike" cap="none" spc="0">
              <a:solidFill>
                <a:schemeClr val="bg1"/>
              </a:solidFill>
              <a:latin typeface="Adwaita Sans"/>
              <a:ea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A partire da questa chiave, si derivano tutte le altre.</a:t>
            </a:r>
            <a:endParaRPr sz="160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pic>
        <p:nvPicPr>
          <p:cNvPr id="91158317" name="Google Shape;144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0" y="19049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1492216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6597692" name="Google Shape;124;p15"/>
          <p:cNvSpPr txBox="1"/>
          <p:nvPr/>
        </p:nvSpPr>
        <p:spPr bwMode="auto">
          <a:xfrm>
            <a:off x="847724" y="518722"/>
            <a:ext cx="1135147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Master Key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e HD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(BIP-3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)</a:t>
            </a:r>
            <a:endParaRPr/>
          </a:p>
        </p:txBody>
      </p:sp>
      <p:pic>
        <p:nvPicPr>
          <p:cNvPr id="2110019423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164424" name="Google Shape;144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0" y="19049"/>
            <a:ext cx="114300" cy="142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2890536" name=""/>
          <p:cNvGrpSpPr/>
          <p:nvPr/>
        </p:nvGrpSpPr>
        <p:grpSpPr bwMode="auto">
          <a:xfrm>
            <a:off x="247493" y="1896612"/>
            <a:ext cx="5476874" cy="2986085"/>
            <a:chOff x="0" y="0"/>
            <a:chExt cx="5476874" cy="2986085"/>
          </a:xfrm>
        </p:grpSpPr>
        <p:grpSp>
          <p:nvGrpSpPr>
            <p:cNvPr id="1573944886" name=""/>
            <p:cNvGrpSpPr/>
            <p:nvPr/>
          </p:nvGrpSpPr>
          <p:grpSpPr bwMode="auto">
            <a:xfrm>
              <a:off x="0" y="0"/>
              <a:ext cx="5476874" cy="2986085"/>
              <a:chOff x="0" y="0"/>
              <a:chExt cx="5476874" cy="2986085"/>
            </a:xfrm>
          </p:grpSpPr>
          <p:pic>
            <p:nvPicPr>
              <p:cNvPr id="2023056461" name="Google Shape;154;p16" descr="image.png"/>
              <p:cNvPicPr/>
              <p:nvPr/>
            </p:nvPicPr>
            <p:blipFill rotWithShape="1">
              <a:blip r:embed="rId6">
                <a:alphaModFix/>
              </a:blip>
              <a:srcRect l="0" t="0" r="0" b="0"/>
              <a:stretch/>
            </p:blipFill>
            <p:spPr bwMode="auto">
              <a:xfrm>
                <a:off x="0" y="0"/>
                <a:ext cx="5476874" cy="29860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156475" name="Google Shape;163;p16"/>
              <p:cNvSpPr txBox="1"/>
              <p:nvPr/>
            </p:nvSpPr>
            <p:spPr bwMode="auto">
              <a:xfrm>
                <a:off x="84251" y="188533"/>
                <a:ext cx="5258215" cy="228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14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it-IT" sz="1500" b="0" i="0" u="none" strike="noStrike" cap="none">
                    <a:solidFill>
                      <a:srgbClr val="F7931A"/>
                    </a:solidFill>
                    <a:latin typeface="Poppins SemiBold"/>
                    <a:ea typeface="Poppins SemiBold"/>
                    <a:cs typeface="Poppins SemiBold"/>
                  </a:rPr>
                  <a:t>Normal </a:t>
                </a:r>
                <a:r>
                  <a:rPr lang="en-US" sz="1500" b="0" i="0" u="none" strike="noStrike" cap="none">
                    <a:solidFill>
                      <a:srgbClr val="F7931A"/>
                    </a:solidFill>
                    <a:latin typeface="Poppins SemiBold"/>
                    <a:ea typeface="Poppins SemiBold"/>
                    <a:cs typeface="Poppins SemiBold"/>
                  </a:rPr>
                  <a:t>Derivation</a:t>
                </a:r>
                <a:endParaRPr/>
              </a:p>
            </p:txBody>
          </p:sp>
          <p:sp>
            <p:nvSpPr>
              <p:cNvPr id="311314332" name="Google Shape;164;p16"/>
              <p:cNvSpPr txBox="1"/>
              <p:nvPr/>
            </p:nvSpPr>
            <p:spPr bwMode="auto">
              <a:xfrm>
                <a:off x="217602" y="2028807"/>
                <a:ext cx="5193944" cy="823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it-IT" sz="1200" b="0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Permette di generare indirizzi senza usando solo la chiave pubblica del genitore, senza conoscerne la chiave privata. Usata all’interno di server </a:t>
                </a:r>
                <a:r>
                  <a:rPr lang="it-IT" sz="1200" b="1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watch-only</a:t>
                </a:r>
                <a:r>
                  <a:rPr lang="it-IT" sz="1200" b="0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.</a:t>
                </a:r>
                <a:endParaRPr sz="1800" b="0" i="1">
                  <a:latin typeface="Adwaita Sans"/>
                  <a:cs typeface="Adwaita Sans"/>
                </a:endParaRPr>
              </a:p>
            </p:txBody>
          </p:sp>
          <p:sp>
            <p:nvSpPr>
              <p:cNvPr id="113928183" name="Google Shape;165;p16"/>
              <p:cNvSpPr/>
              <p:nvPr/>
            </p:nvSpPr>
            <p:spPr bwMode="auto">
              <a:xfrm>
                <a:off x="331902" y="1788597"/>
                <a:ext cx="5000625" cy="19049"/>
              </a:xfrm>
              <a:prstGeom prst="rect">
                <a:avLst/>
              </a:prstGeom>
              <a:solidFill>
                <a:srgbClr val="334155"/>
              </a:solidFill>
              <a:ln>
                <a:noFill/>
              </a:ln>
            </p:spPr>
            <p:txBody>
              <a:bodyPr spcFirstLastPara="1" wrap="square" lIns="91423" tIns="45699" rIns="91423" bIns="45699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983177721" name="Google Shape;164;p16"/>
            <p:cNvSpPr txBox="1"/>
            <p:nvPr/>
          </p:nvSpPr>
          <p:spPr bwMode="auto">
            <a:xfrm>
              <a:off x="276519" y="864422"/>
              <a:ext cx="5044184" cy="619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sz="1200">
                  <a:solidFill>
                    <a:schemeClr val="bg1"/>
                  </a:solidFill>
                  <a:latin typeface="Adwaita Sans"/>
                  <a:ea typeface="Adwaita Sans"/>
                  <a:cs typeface="Adwaita Sans"/>
                </a:rPr>
                <a:t>La derivazione dei figlio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(i&lt;</m:t>
                        </m:r>
                        <m:sSup>
                          <m:sSupPr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31</m:t>
                            </m:r>
                          </m:sup>
                        </m:sSup>
                        <m:r>
                          <m:rPr/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oMath>
                    </m:oMathPara>
                  </a14:m>
                </mc:Choice>
                <mc:Fallback/>
              </mc:AlternateContent>
              <a:r>
                <a:rPr sz="1200">
                  <a:solidFill>
                    <a:schemeClr val="bg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endPara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I=</m:t>
                        </m:r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HMAC-SHA512</m:t>
                        </m:r>
                        <m:d>
                          <m:dPr>
                            <m:begChr m:val="("/>
                            <m:endChr m:val=")"/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parent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  </m:t>
                            </m:r>
                            <m:sSub>
                              <m:sSubPr>
                                <m:ctrl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kPub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parent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+i</m:t>
                            </m:r>
                          </m:e>
                        </m:d>
                      </m:oMath>
                    </m:oMathPara>
                  </a14:m>
                </mc:Choice>
                <mc:Fallback/>
              </mc:AlternateContent>
              <a:endParaRPr sz="1200">
                <a:solidFill>
                  <a:schemeClr val="bg1"/>
                </a:solidFill>
                <a:latin typeface="Adwaita Sans"/>
                <a:cs typeface="Adwaita Sans"/>
              </a:endParaRPr>
            </a:p>
          </p:txBody>
        </p:sp>
      </p:grpSp>
      <p:pic>
        <p:nvPicPr>
          <p:cNvPr id="257983962" name="Google Shape;154;p16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488183" y="1915662"/>
            <a:ext cx="5476874" cy="29860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3331502" name="Google Shape;163;p16"/>
          <p:cNvSpPr txBox="1"/>
          <p:nvPr/>
        </p:nvSpPr>
        <p:spPr bwMode="auto">
          <a:xfrm>
            <a:off x="6732809" y="2085146"/>
            <a:ext cx="5261814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500" b="0" i="0" u="none" strike="noStrike" cap="none">
                <a:solidFill>
                  <a:srgbClr val="F7931A"/>
                </a:solidFill>
                <a:latin typeface="Poppins SemiBold"/>
                <a:ea typeface="Poppins SemiBold"/>
                <a:cs typeface="Poppins SemiBold"/>
              </a:rPr>
              <a:t>Hardened </a:t>
            </a:r>
            <a:r>
              <a:rPr lang="en-US" sz="1500" b="0" i="0" u="none" strike="noStrike" cap="none">
                <a:solidFill>
                  <a:srgbClr val="F7931A"/>
                </a:solidFill>
                <a:latin typeface="Poppins SemiBold"/>
                <a:ea typeface="Poppins SemiBold"/>
                <a:cs typeface="Poppins SemiBold"/>
              </a:rPr>
              <a:t>Derivation</a:t>
            </a:r>
            <a:endParaRPr/>
          </a:p>
        </p:txBody>
      </p:sp>
      <p:sp>
        <p:nvSpPr>
          <p:cNvPr id="325670592" name="Google Shape;164;p16"/>
          <p:cNvSpPr txBox="1"/>
          <p:nvPr/>
        </p:nvSpPr>
        <p:spPr bwMode="auto">
          <a:xfrm>
            <a:off x="6696449" y="3953994"/>
            <a:ext cx="5195023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/>
            </a:pP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Si usa obbligatoriamente la chiave </a:t>
            </a:r>
            <a:r>
              <a:rPr sz="1200" b="1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privata</a:t>
            </a: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 del genitore </a:t>
            </a: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$\rightarrow$</a:t>
            </a: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 se un figlio viene compromesso, è matematicamente garantito che non potrà mai esporre il genitore o i "fratelli".</a:t>
            </a:r>
            <a:endParaRPr>
              <a:solidFill>
                <a:srgbClr val="728094"/>
              </a:solidFill>
              <a:latin typeface="Adwaita Sans"/>
              <a:cs typeface="Adwaita Sans"/>
            </a:endParaRPr>
          </a:p>
        </p:txBody>
      </p:sp>
      <p:sp>
        <p:nvSpPr>
          <p:cNvPr id="2101265291" name="Google Shape;165;p16"/>
          <p:cNvSpPr/>
          <p:nvPr/>
        </p:nvSpPr>
        <p:spPr bwMode="auto">
          <a:xfrm>
            <a:off x="6752250" y="3685209"/>
            <a:ext cx="5000625" cy="1904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5597848" name="Google Shape;164;p16"/>
          <p:cNvSpPr txBox="1"/>
          <p:nvPr/>
        </p:nvSpPr>
        <p:spPr bwMode="auto">
          <a:xfrm>
            <a:off x="6732809" y="2493540"/>
            <a:ext cx="5120863" cy="956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La derivazione dei figlio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i≥</m:t>
                          </m:r>
                          <m:sSup>
                            <m:sSup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endParaRPr sz="1200">
              <a:solidFill>
                <a:schemeClr val="bg1"/>
              </a:solidFill>
              <a:latin typeface="Adwaita Sans"/>
              <a:ea typeface="Adwaita Sans"/>
              <a:cs typeface="Adwaita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=HMAC-SHA512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 0x00+</m:t>
                          </m:r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+i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120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mod n,                     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120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6253972" name="Google Shape;152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255273" name="Google Shape;155;p16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Derivazione HD: BIP-32 &amp; BIP-44</a:t>
            </a:r>
            <a:endParaRPr/>
          </a:p>
        </p:txBody>
      </p:sp>
      <p:pic>
        <p:nvPicPr>
          <p:cNvPr id="2066646786" name="Google Shape;157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928981" name="Google Shape;122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 rot="0" flipH="0" flipV="0">
            <a:off x="1735096" y="1042943"/>
            <a:ext cx="8041026" cy="1125406"/>
          </a:xfrm>
          <a:prstGeom prst="rect">
            <a:avLst/>
          </a:prstGeom>
          <a:noFill/>
          <a:ln>
            <a:noFill/>
          </a:ln>
        </p:spPr>
      </p:pic>
      <p:sp>
        <p:nvSpPr>
          <p:cNvPr id="1613719288" name="Google Shape;131;p15"/>
          <p:cNvSpPr txBox="1"/>
          <p:nvPr/>
        </p:nvSpPr>
        <p:spPr bwMode="auto">
          <a:xfrm rot="0" flipH="0" flipV="0">
            <a:off x="1871426" y="1197050"/>
            <a:ext cx="7905462" cy="9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BIP-44</a:t>
            </a:r>
            <a:r>
              <a:rPr lang="en-US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r>
              <a:rPr lang="it-IT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Definisce una </a:t>
            </a:r>
            <a:r>
              <a:rPr sz="1400" b="1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struttura ad albero universale e ordinata</a:t>
            </a:r>
            <a:r>
              <a:rPr sz="1400" b="0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per organizzare le chiavi e gli indirizzi generati con BIP32, rendendo un singolo wallet compatibile con più criptovalute e account diversi.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1313842717" name="Google Shape;158;p16"/>
          <p:cNvSpPr txBox="1"/>
          <p:nvPr/>
        </p:nvSpPr>
        <p:spPr bwMode="auto">
          <a:xfrm>
            <a:off x="284085" y="2471050"/>
            <a:ext cx="5751437" cy="21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Struttura Derivation </a:t>
            </a:r>
            <a:r>
              <a:rPr lang="en-US" sz="1400" b="1" i="0" u="none" strike="noStrike" cap="none">
                <a:solidFill>
                  <a:srgbClr val="37BAF5"/>
                </a:solidFill>
                <a:latin typeface="Poppins"/>
                <a:ea typeface="Poppins"/>
                <a:cs typeface="Poppins"/>
              </a:rPr>
              <a:t>Path</a:t>
            </a:r>
            <a:endParaRPr/>
          </a:p>
        </p:txBody>
      </p:sp>
      <p:sp>
        <p:nvSpPr>
          <p:cNvPr id="881084171" name=""/>
          <p:cNvSpPr txBox="1"/>
          <p:nvPr/>
        </p:nvSpPr>
        <p:spPr bwMode="auto">
          <a:xfrm rot="0" flipH="0" flipV="0">
            <a:off x="284085" y="3658221"/>
            <a:ext cx="11653010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Purpose: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sz="120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44’ indica che il wallet segue BIP-44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Coin Type: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Specifica la criptovaluta (0’ per Bitcoin, 1’ per Testnet). Viene usato anche da criptovalute diverse, ad esempio 60’ per Ethereum.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Account: 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Permette di definire più account, dividendo i fondi in conti logici (lavoro, personale, etc...).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Change: 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Permette di dividere gli indirizzi in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indirizzi di ricezione (external chain, </a:t>
            </a:r>
            <a:r>
              <a:rPr sz="1200" b="1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0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)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indirizzi di resto (internal chain,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1)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Address Index: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Gli indirizzi sono numerazi sequenzialmente a partire da 0, incrementando di volta in volta.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sp>
        <p:nvSpPr>
          <p:cNvPr id="2118965329" name=""/>
          <p:cNvSpPr/>
          <p:nvPr/>
        </p:nvSpPr>
        <p:spPr bwMode="auto">
          <a:xfrm rot="0" flipH="0" flipV="0">
            <a:off x="284085" y="2843195"/>
            <a:ext cx="5665901" cy="530257"/>
          </a:xfrm>
          <a:prstGeom prst="flowChartAlternateProcess">
            <a:avLst/>
          </a:prstGeom>
          <a:solidFill>
            <a:srgbClr val="0206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>
                <a:solidFill>
                  <a:srgbClr val="298EBF"/>
                </a:solidFill>
                <a:latin typeface="Adwaita Sans"/>
                <a:ea typeface="Adwaita Sans"/>
                <a:cs typeface="Adwaita Sans"/>
              </a:rPr>
              <a:t>m / purpose’ / coin_type’ / account’ / change / address_index</a:t>
            </a:r>
            <a:endParaRPr sz="1200">
              <a:solidFill>
                <a:srgbClr val="298EBF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7769964" name="Google Shape;152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9586238" name="Google Shape;155;p16"/>
          <p:cNvSpPr txBox="1"/>
          <p:nvPr/>
        </p:nvSpPr>
        <p:spPr bwMode="auto">
          <a:xfrm>
            <a:off x="885825" y="466724"/>
            <a:ext cx="1130617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Derivazione HD: BIP-32 &amp; BIP-44</a:t>
            </a:r>
            <a:endParaRPr/>
          </a:p>
        </p:txBody>
      </p:sp>
      <p:pic>
        <p:nvPicPr>
          <p:cNvPr id="2135772905" name="Google Shape;157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6110791" name=""/>
          <p:cNvSpPr txBox="1"/>
          <p:nvPr/>
        </p:nvSpPr>
        <p:spPr bwMode="auto">
          <a:xfrm rot="0" flipH="0" flipV="0">
            <a:off x="4312809" y="1821958"/>
            <a:ext cx="45720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36128733" name=""/>
          <p:cNvSpPr txBox="1"/>
          <p:nvPr/>
        </p:nvSpPr>
        <p:spPr bwMode="auto">
          <a:xfrm rot="0" flipH="0" flipV="0">
            <a:off x="2427448" y="1340798"/>
            <a:ext cx="61863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21413684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620482" y="1046658"/>
            <a:ext cx="6369645" cy="5334900"/>
          </a:xfrm>
          <a:prstGeom prst="rect">
            <a:avLst/>
          </a:prstGeom>
        </p:spPr>
      </p:pic>
      <p:sp>
        <p:nvSpPr>
          <p:cNvPr id="96934350" name=""/>
          <p:cNvSpPr txBox="1"/>
          <p:nvPr/>
        </p:nvSpPr>
        <p:spPr bwMode="auto">
          <a:xfrm rot="0" flipH="0" flipV="0">
            <a:off x="466724" y="1821958"/>
            <a:ext cx="2450837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type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ExtendedKey 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struct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Key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   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ChainCode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Depth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 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ParentFP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4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ChildNumber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uint32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ea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IsPrivate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bool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sz="1000">
              <a:solidFill>
                <a:schemeClr val="bg1"/>
              </a:solidFill>
              <a:latin typeface="JetBrainsMono NF"/>
              <a:cs typeface="JetBrainsMono NF"/>
            </a:endParaRPr>
          </a:p>
        </p:txBody>
      </p:sp>
      <p:pic>
        <p:nvPicPr>
          <p:cNvPr id="1446106676" name="Google Shape;122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 rot="0" flipH="0" flipV="0">
            <a:off x="466724" y="1232782"/>
            <a:ext cx="3208530" cy="35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9289534" name="Google Shape;131;p15"/>
          <p:cNvSpPr txBox="1"/>
          <p:nvPr/>
        </p:nvSpPr>
        <p:spPr bwMode="auto">
          <a:xfrm rot="0" flipH="0" flipV="0">
            <a:off x="771524" y="1298708"/>
            <a:ext cx="290373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 b="0">
                <a:solidFill>
                  <a:schemeClr val="bg1"/>
                </a:solidFill>
              </a:rPr>
              <a:t>Ogni nodo dell’albero è una ExtendedKey</a:t>
            </a:r>
            <a:endParaRPr sz="1200" b="0">
              <a:solidFill>
                <a:schemeClr val="bg1"/>
              </a:solidFill>
            </a:endParaRPr>
          </a:p>
        </p:txBody>
      </p:sp>
      <p:pic>
        <p:nvPicPr>
          <p:cNvPr id="1689516993" name="Google Shape;239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66427" y="1302878"/>
            <a:ext cx="171450" cy="190499"/>
          </a:xfrm>
          <a:prstGeom prst="rect">
            <a:avLst/>
          </a:prstGeom>
          <a:noFill/>
          <a:ln>
            <a:noFill/>
          </a:ln>
        </p:spPr>
      </p:pic>
      <p:sp>
        <p:nvSpPr>
          <p:cNvPr id="627678141" name=""/>
          <p:cNvSpPr txBox="1"/>
          <p:nvPr/>
        </p:nvSpPr>
        <p:spPr bwMode="auto">
          <a:xfrm rot="0" flipH="0" flipV="0">
            <a:off x="466724" y="4056110"/>
            <a:ext cx="2337467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Address 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SigningKey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PubKeyHash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Address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Legacy 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bool  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Path   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[]uint32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Balance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int64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sz="1000">
              <a:solidFill>
                <a:schemeClr val="bg1"/>
              </a:solidFill>
              <a:latin typeface="JetBrainsMono NF"/>
              <a:cs typeface="JetBrainsMono NF"/>
            </a:endParaRPr>
          </a:p>
        </p:txBody>
      </p:sp>
      <p:pic>
        <p:nvPicPr>
          <p:cNvPr id="1299675397" name="Google Shape;122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 rot="0" flipH="0" flipV="0">
            <a:off x="466724" y="3373504"/>
            <a:ext cx="2883764" cy="35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802222" name="Google Shape;131;p15"/>
          <p:cNvSpPr txBox="1"/>
          <p:nvPr/>
        </p:nvSpPr>
        <p:spPr bwMode="auto">
          <a:xfrm rot="0" flipH="0" flipV="0">
            <a:off x="771525" y="3439429"/>
            <a:ext cx="273898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 b="0">
                <a:solidFill>
                  <a:schemeClr val="bg1"/>
                </a:solidFill>
              </a:rPr>
              <a:t>Ogni foglia rappresenta un indirizzo</a:t>
            </a:r>
            <a:endParaRPr sz="1200" b="0">
              <a:solidFill>
                <a:schemeClr val="bg1"/>
              </a:solidFill>
            </a:endParaRPr>
          </a:p>
        </p:txBody>
      </p:sp>
      <p:pic>
        <p:nvPicPr>
          <p:cNvPr id="124189412" name="Google Shape;239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66427" y="3443599"/>
            <a:ext cx="171450" cy="19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7491976" name="Google Shape;176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402413" name="Google Shape;178;p17"/>
          <p:cNvSpPr txBox="1"/>
          <p:nvPr/>
        </p:nvSpPr>
        <p:spPr bwMode="auto">
          <a:xfrm>
            <a:off x="885825" y="466724"/>
            <a:ext cx="1130617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Implementazione Indirizzi: P2PKH vs P2WPKH</a:t>
            </a:r>
            <a:endParaRPr/>
          </a:p>
        </p:txBody>
      </p:sp>
      <p:pic>
        <p:nvPicPr>
          <p:cNvPr id="1014924873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84713" name="Google Shape;198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 flipH="0" flipV="0">
            <a:off x="442732" y="1223202"/>
            <a:ext cx="795336" cy="24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54524564" name="Google Shape;178;p17"/>
          <p:cNvSpPr txBox="1"/>
          <p:nvPr/>
        </p:nvSpPr>
        <p:spPr bwMode="auto">
          <a:xfrm flipH="0" flipV="0">
            <a:off x="442732" y="1593187"/>
            <a:ext cx="3264861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PKH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 Legacy</a:t>
            </a:r>
            <a:endParaRPr/>
          </a:p>
        </p:txBody>
      </p:sp>
      <p:pic>
        <p:nvPicPr>
          <p:cNvPr id="105741613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237540" y="2376830"/>
            <a:ext cx="7343775" cy="371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1463984" name="Google Shape;176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80035" name="Google Shape;178;p17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Implementazione Indirizzi: P2PKH vs P2WPKH</a:t>
            </a:r>
            <a:endParaRPr/>
          </a:p>
        </p:txBody>
      </p:sp>
      <p:pic>
        <p:nvPicPr>
          <p:cNvPr id="931198440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34924" name="Google Shape;199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42732" y="1252242"/>
            <a:ext cx="8286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631345" name="Google Shape;178;p17"/>
          <p:cNvSpPr txBox="1"/>
          <p:nvPr/>
        </p:nvSpPr>
        <p:spPr bwMode="auto">
          <a:xfrm flipH="0" flipV="0">
            <a:off x="442732" y="1591747"/>
            <a:ext cx="323324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PKH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 SegWit</a:t>
            </a:r>
            <a:endParaRPr/>
          </a:p>
        </p:txBody>
      </p:sp>
      <p:pic>
        <p:nvPicPr>
          <p:cNvPr id="95308533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871786" y="2057447"/>
            <a:ext cx="7334249" cy="371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6936812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4" y="-7855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316314" name="Google Shape;178;p17"/>
          <p:cNvSpPr txBox="1"/>
          <p:nvPr/>
        </p:nvSpPr>
        <p:spPr bwMode="auto">
          <a:xfrm>
            <a:off x="885825" y="536001"/>
            <a:ext cx="1134793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</a:t>
            </a:r>
            <a:endParaRPr/>
          </a:p>
        </p:txBody>
      </p:sp>
      <p:pic>
        <p:nvPicPr>
          <p:cNvPr id="828673794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7757528" name=""/>
          <p:cNvSpPr/>
          <p:nvPr/>
        </p:nvSpPr>
        <p:spPr bwMode="auto">
          <a:xfrm rot="0" flipH="0" flipV="0">
            <a:off x="3409407" y="3099611"/>
            <a:ext cx="2150489" cy="36332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it-IT" sz="1000" u="none" strike="noStrike" cap="none" spc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Change</m:t>
                      </m:r>
                      <m:r>
                        <m:rPr>
                          <m:sty m:val="p"/>
                        </m:rPr>
                        <a:rPr lang="it-IT" sz="1000" u="none" strike="noStrike" cap="none" spc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lang="it-IT" sz="1000" b="0" i="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Input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Target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Fee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lang="it-IT" sz="1000" b="0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grpSp>
        <p:nvGrpSpPr>
          <p:cNvPr id="494172456" name=""/>
          <p:cNvGrpSpPr/>
          <p:nvPr/>
        </p:nvGrpSpPr>
        <p:grpSpPr bwMode="auto">
          <a:xfrm>
            <a:off x="529275" y="2602900"/>
            <a:ext cx="11196145" cy="1888437"/>
            <a:chOff x="0" y="0"/>
            <a:chExt cx="11196145" cy="1888437"/>
          </a:xfrm>
        </p:grpSpPr>
        <p:grpSp>
          <p:nvGrpSpPr>
            <p:cNvPr id="1083745336" name=""/>
            <p:cNvGrpSpPr/>
            <p:nvPr/>
          </p:nvGrpSpPr>
          <p:grpSpPr bwMode="auto">
            <a:xfrm rot="0" flipH="0" flipV="0">
              <a:off x="0" y="0"/>
              <a:ext cx="2540080" cy="1881989"/>
              <a:chOff x="0" y="0"/>
              <a:chExt cx="2540080" cy="1881989"/>
            </a:xfrm>
          </p:grpSpPr>
          <p:sp>
            <p:nvSpPr>
              <p:cNvPr id="513591917" name=""/>
              <p:cNvSpPr/>
              <p:nvPr/>
            </p:nvSpPr>
            <p:spPr bwMode="auto">
              <a:xfrm rot="0" flipH="0" flipV="0">
                <a:off x="0" y="0"/>
                <a:ext cx="2540080" cy="1881989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1339087939" name=""/>
              <p:cNvSpPr txBox="1"/>
              <p:nvPr/>
            </p:nvSpPr>
            <p:spPr bwMode="auto">
              <a:xfrm rot="0" flipH="0" flipV="0">
                <a:off x="144100" y="274948"/>
                <a:ext cx="2264387" cy="13414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01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UTXO Selection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cs typeface="Poppi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rPr>
                  <a:t>Il wallet seleziona gli UTXO non spesi dal set per coprire l’importo inviato.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  <p:sp>
          <p:nvSpPr>
            <p:cNvPr id="1980308656" name=""/>
            <p:cNvSpPr/>
            <p:nvPr/>
          </p:nvSpPr>
          <p:spPr bwMode="auto">
            <a:xfrm rot="0" flipH="0" flipV="0">
              <a:off x="5419117" y="827852"/>
              <a:ext cx="240223" cy="325731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sp>
          <p:nvSpPr>
            <p:cNvPr id="1582927320" name=""/>
            <p:cNvSpPr/>
            <p:nvPr/>
          </p:nvSpPr>
          <p:spPr bwMode="auto">
            <a:xfrm rot="0" flipH="0" flipV="0">
              <a:off x="8340640" y="827852"/>
              <a:ext cx="240223" cy="325731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sp>
          <p:nvSpPr>
            <p:cNvPr id="1973854038" name=""/>
            <p:cNvSpPr/>
            <p:nvPr/>
          </p:nvSpPr>
          <p:spPr bwMode="auto">
            <a:xfrm rot="0" flipH="0" flipV="0">
              <a:off x="2557994" y="837240"/>
              <a:ext cx="240224" cy="325732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grpSp>
          <p:nvGrpSpPr>
            <p:cNvPr id="1101290643" name=""/>
            <p:cNvGrpSpPr/>
            <p:nvPr/>
          </p:nvGrpSpPr>
          <p:grpSpPr bwMode="auto">
            <a:xfrm>
              <a:off x="2848232" y="6448"/>
              <a:ext cx="2540079" cy="1881988"/>
              <a:chOff x="0" y="0"/>
              <a:chExt cx="2540079" cy="1881988"/>
            </a:xfrm>
          </p:grpSpPr>
          <p:grpSp>
            <p:nvGrpSpPr>
              <p:cNvPr id="608014859" name=""/>
              <p:cNvGrpSpPr/>
              <p:nvPr/>
            </p:nvGrpSpPr>
            <p:grpSpPr bwMode="auto">
              <a:xfrm rot="0" flipH="0" flipV="0">
                <a:off x="0" y="0"/>
                <a:ext cx="2540079" cy="1881988"/>
                <a:chOff x="0" y="0"/>
                <a:chExt cx="2540079" cy="1881988"/>
              </a:xfrm>
            </p:grpSpPr>
            <p:sp>
              <p:nvSpPr>
                <p:cNvPr id="1631244231" name=""/>
                <p:cNvSpPr/>
                <p:nvPr/>
              </p:nvSpPr>
              <p:spPr bwMode="auto">
                <a:xfrm rot="0" flipH="0" flipV="0">
                  <a:off x="0" y="0"/>
                  <a:ext cx="2540079" cy="1881988"/>
                </a:xfrm>
                <a:prstGeom prst="flowChartAlternateProcess">
                  <a:avLst/>
                </a:prstGeom>
                <a:solidFill>
                  <a:srgbClr val="1E293B"/>
                </a:solidFill>
                <a:ln w="19050" cap="flat" cmpd="sng" algn="ctr">
                  <a:solidFill>
                    <a:srgbClr val="0E2F4B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 b="1">
                    <a:solidFill>
                      <a:schemeClr val="bg1">
                        <a:lumMod val="75000"/>
                      </a:schemeClr>
                    </a:solidFill>
                    <a:latin typeface="JetBrainsMono NF"/>
                    <a:cs typeface="JetBrainsMono NF"/>
                  </a:endParaRPr>
                </a:p>
              </p:txBody>
            </p:sp>
            <p:sp>
              <p:nvSpPr>
                <p:cNvPr id="1651967607" name=""/>
                <p:cNvSpPr txBox="1"/>
                <p:nvPr/>
              </p:nvSpPr>
              <p:spPr bwMode="auto">
                <a:xfrm rot="0" flipH="0" flipV="0">
                  <a:off x="144099" y="274947"/>
                  <a:ext cx="2349346" cy="118908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sz="1200" b="1">
                      <a:solidFill>
                        <a:srgbClr val="F39119"/>
                      </a:solidFill>
                      <a:latin typeface="Poppins"/>
                      <a:ea typeface="Poppins"/>
                      <a:cs typeface="Poppins"/>
                    </a:rPr>
                    <a:t>FASE 02</a:t>
                  </a:r>
                  <a:endParaRPr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endParaRPr>
                </a:p>
                <a:p>
                  <a:pPr>
                    <a:defRPr/>
                  </a:pPr>
                  <a:endParaRPr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endParaRPr>
                </a:p>
                <a:p>
                  <a:pPr>
                    <a:defRPr/>
                  </a:pPr>
                  <a:r>
                    <a:rPr lang="it-IT" sz="1200" b="1" i="0" u="none" strike="noStrike" cap="none" spc="0">
                      <a:solidFill>
                        <a:schemeClr val="bg1"/>
                      </a:solidFill>
                      <a:latin typeface="Poppins"/>
                      <a:ea typeface="Poppins"/>
                      <a:cs typeface="Poppins"/>
                    </a:rPr>
                    <a:t>Fee &amp; Change</a:t>
                  </a:r>
                  <a:endParaRPr lang="it-IT" sz="1200" b="1" i="0" u="none" strike="noStrike" cap="none" spc="0">
                    <a:solidFill>
                      <a:schemeClr val="bg1"/>
                    </a:solidFill>
                    <a:latin typeface="Times New Roman"/>
                    <a:cs typeface="Times New Roman"/>
                  </a:endParaRPr>
                </a:p>
                <a:p>
                  <a:pPr>
                    <a:defRPr/>
                  </a:pPr>
                  <a:endParaRPr b="1">
                    <a:solidFill>
                      <a:srgbClr val="F39119"/>
                    </a:solidFill>
                    <a:latin typeface="Poppins"/>
                    <a:cs typeface="Poppins"/>
                  </a:endParaRPr>
                </a:p>
                <a:p>
                  <a:pPr>
                    <a:defRPr/>
                  </a:pPr>
                  <a:r>
                    <a:rPr sz="1000" b="0">
                      <a:solidFill>
                        <a:schemeClr val="bg1">
                          <a:lumMod val="75000"/>
                        </a:schemeClr>
                      </a:solidFill>
                      <a:latin typeface="Adwaita Sans"/>
                      <a:ea typeface="Adwaita Sans"/>
                      <a:cs typeface="Adwaita Sans"/>
                    </a:rPr>
                    <a:t>Si stima la dimensione (vB) e si calcola l’Output di Resto (Change).</a:t>
                  </a:r>
                  <a:endPara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endParaRPr>
                </a:p>
              </p:txBody>
            </p:sp>
          </p:grpSp>
          <p:sp>
            <p:nvSpPr>
              <p:cNvPr id="634812457" name=""/>
              <p:cNvSpPr/>
              <p:nvPr/>
            </p:nvSpPr>
            <p:spPr bwMode="auto">
              <a:xfrm rot="0" flipH="0" flipV="0">
                <a:off x="194277" y="1415577"/>
                <a:ext cx="2150489" cy="363324"/>
              </a:xfrm>
              <a:prstGeom prst="roundRect">
                <a:avLst>
                  <a:gd name="adj" fmla="val 16667"/>
                </a:avLst>
              </a:prstGeom>
              <a:solidFill>
                <a:srgbClr val="0F172A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l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Change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ff"/>
                              <m:subHide m:val="on"/>
                              <m:supHide m:val="on"/>
                              <m:ctrlPr>
                                <a:rPr lang="it-IT" sz="1000" b="0" i="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Input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Target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Fee</m:t>
                              </m:r>
                            </m:e>
                          </m:nary>
                        </m:oMath>
                      </m:oMathPara>
                    </a14:m>
                  </mc:Choice>
                  <mc:Fallback/>
                </mc:AlternateContent>
                <a:endParaRPr lang="it-IT" sz="1000" b="0" i="0" u="none" strike="noStrike" cap="none" spc="0">
                  <a:solidFill>
                    <a:srgbClr val="00B0F0"/>
                  </a:solidFill>
                  <a:latin typeface="Times New Roman"/>
                  <a:cs typeface="Times New Roman"/>
                </a:endParaRPr>
              </a:p>
            </p:txBody>
          </p:sp>
        </p:grpSp>
        <p:grpSp>
          <p:nvGrpSpPr>
            <p:cNvPr id="527421207" name=""/>
            <p:cNvGrpSpPr/>
            <p:nvPr/>
          </p:nvGrpSpPr>
          <p:grpSpPr bwMode="auto">
            <a:xfrm>
              <a:off x="5734541" y="0"/>
              <a:ext cx="2540079" cy="1881988"/>
              <a:chOff x="0" y="0"/>
              <a:chExt cx="2540079" cy="1881988"/>
            </a:xfrm>
          </p:grpSpPr>
          <p:sp>
            <p:nvSpPr>
              <p:cNvPr id="1549424329" name=""/>
              <p:cNvSpPr/>
              <p:nvPr/>
            </p:nvSpPr>
            <p:spPr bwMode="auto">
              <a:xfrm rot="0" flipH="0" flipV="0">
                <a:off x="0" y="0"/>
                <a:ext cx="2540079" cy="1881988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323474262" name=""/>
              <p:cNvSpPr txBox="1"/>
              <p:nvPr/>
            </p:nvSpPr>
            <p:spPr bwMode="auto">
              <a:xfrm rot="0" flipH="0" flipV="0">
                <a:off x="113006" y="270254"/>
                <a:ext cx="2314066" cy="13414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03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Build Transaction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cs typeface="Poppi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rPr>
                  <a:t>Vengono definiti e fissati tutti gli input e gli Output con i relativi valori finali.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  <p:grpSp>
          <p:nvGrpSpPr>
            <p:cNvPr id="1008501957" name=""/>
            <p:cNvGrpSpPr/>
            <p:nvPr/>
          </p:nvGrpSpPr>
          <p:grpSpPr bwMode="auto">
            <a:xfrm>
              <a:off x="8656065" y="0"/>
              <a:ext cx="2540079" cy="1881988"/>
              <a:chOff x="0" y="0"/>
              <a:chExt cx="2540079" cy="1881988"/>
            </a:xfrm>
          </p:grpSpPr>
          <p:sp>
            <p:nvSpPr>
              <p:cNvPr id="742538961" name=""/>
              <p:cNvSpPr/>
              <p:nvPr/>
            </p:nvSpPr>
            <p:spPr bwMode="auto">
              <a:xfrm rot="0" flipH="0" flipV="0">
                <a:off x="0" y="0"/>
                <a:ext cx="2540079" cy="1881988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827285953" name=""/>
              <p:cNvSpPr txBox="1"/>
              <p:nvPr/>
            </p:nvSpPr>
            <p:spPr bwMode="auto">
              <a:xfrm rot="0" flipH="0" flipV="0">
                <a:off x="113005" y="270254"/>
                <a:ext cx="2354025" cy="128052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04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Sign Inputs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cs typeface="Adwaita Sans"/>
                  </a:rPr>
                  <a:t>Viene calcolato il SigHash e generate le firme ECDSA per ciascun input.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1646970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4" y="-78556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228288" name="Google Shape;178;p17"/>
          <p:cNvSpPr txBox="1"/>
          <p:nvPr/>
        </p:nvSpPr>
        <p:spPr bwMode="auto">
          <a:xfrm>
            <a:off x="885825" y="542841"/>
            <a:ext cx="1136161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Transazioni: Legacy vs SegWit</a:t>
            </a:r>
            <a:endParaRPr/>
          </a:p>
        </p:txBody>
      </p:sp>
      <p:pic>
        <p:nvPicPr>
          <p:cNvPr id="1031654270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3" y="576261"/>
            <a:ext cx="304798" cy="26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8168146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4" y="-78556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19281" name="Google Shape;178;p17"/>
          <p:cNvSpPr txBox="1"/>
          <p:nvPr/>
        </p:nvSpPr>
        <p:spPr bwMode="auto">
          <a:xfrm>
            <a:off x="885825" y="549321"/>
            <a:ext cx="1137457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Transazioni: Esempi</a:t>
            </a:r>
            <a:endParaRPr/>
          </a:p>
        </p:txBody>
      </p:sp>
      <p:pic>
        <p:nvPicPr>
          <p:cNvPr id="112265567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3" y="576261"/>
            <a:ext cx="304798" cy="26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3424982" name="Google Shape;221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3571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312096" name="Google Shape;223;p19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Il Problema della Coin Selection</a:t>
            </a:r>
            <a:endParaRPr/>
          </a:p>
        </p:txBody>
      </p:sp>
      <p:pic>
        <p:nvPicPr>
          <p:cNvPr id="797474069" name="Google Shape;22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964390" name="Google Shape;226;p19"/>
          <p:cNvSpPr txBox="1"/>
          <p:nvPr/>
        </p:nvSpPr>
        <p:spPr bwMode="auto">
          <a:xfrm>
            <a:off x="466725" y="2386012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Perché non è un problema banale?</a:t>
            </a:r>
            <a:endParaRPr/>
          </a:p>
        </p:txBody>
      </p:sp>
      <p:sp>
        <p:nvSpPr>
          <p:cNvPr id="1173423808" name="Google Shape;227;p19"/>
          <p:cNvSpPr txBox="1"/>
          <p:nvPr/>
        </p:nvSpPr>
        <p:spPr bwMode="auto">
          <a:xfrm>
            <a:off x="466725" y="2805112"/>
            <a:ext cx="5476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Selezionare quali UTXO spendere è un problema equivalente al </a:t>
            </a:r>
            <a:r>
              <a:rPr lang="en-US" sz="11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Knapsack Problem (NP-Hard)</a:t>
            </a: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  <a:endParaRPr/>
          </a:p>
        </p:txBody>
      </p:sp>
      <p:sp>
        <p:nvSpPr>
          <p:cNvPr id="1865708889" name=""/>
          <p:cNvSpPr txBox="1"/>
          <p:nvPr/>
        </p:nvSpPr>
        <p:spPr bwMode="auto">
          <a:xfrm rot="0" flipH="0" flipV="0">
            <a:off x="466724" y="3617961"/>
            <a:ext cx="5365726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Commissioni: 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Più input, più grande sarà la transazione in vByte, più commissioni.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Dust Avoidance: 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Evitare di creare output di resto con valore inferiore al costo della fee per spenderli.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Privacy:</a:t>
            </a:r>
            <a:r>
              <a:rPr sz="1200" b="0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Unire troppi UTXO collega indirizi diversi allo stesso proprietario.</a:t>
            </a:r>
            <a:endParaRPr sz="12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pic>
        <p:nvPicPr>
          <p:cNvPr id="1737222623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781799" y="1716748"/>
            <a:ext cx="3802424" cy="3802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0725331" name="Google Shape;221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-14288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551728" name="Google Shape;223;p19"/>
          <p:cNvSpPr txBox="1"/>
          <p:nvPr/>
        </p:nvSpPr>
        <p:spPr bwMode="auto">
          <a:xfrm>
            <a:off x="847724" y="466724"/>
            <a:ext cx="113442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Il Problema della Coin Selection</a:t>
            </a:r>
            <a:endParaRPr/>
          </a:p>
        </p:txBody>
      </p:sp>
      <p:pic>
        <p:nvPicPr>
          <p:cNvPr id="413766537" name="Google Shape;22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9022804" name=""/>
          <p:cNvGrpSpPr/>
          <p:nvPr/>
        </p:nvGrpSpPr>
        <p:grpSpPr bwMode="auto">
          <a:xfrm>
            <a:off x="3255426" y="1003988"/>
            <a:ext cx="5916973" cy="5575394"/>
            <a:chOff x="0" y="0"/>
            <a:chExt cx="5916973" cy="5575394"/>
          </a:xfrm>
        </p:grpSpPr>
        <p:pic>
          <p:nvPicPr>
            <p:cNvPr id="1759747771" name="Google Shape;222;p19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flipH="0" flipV="0">
              <a:off x="0" y="0"/>
              <a:ext cx="5916973" cy="5567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673789" name=""/>
            <p:cNvSpPr txBox="1"/>
            <p:nvPr/>
          </p:nvSpPr>
          <p:spPr bwMode="auto">
            <a:xfrm rot="0" flipH="0" flipV="0">
              <a:off x="125451" y="484875"/>
              <a:ext cx="5761468" cy="5090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function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SelectInputs(UTXO_Pool, TargetAmount, FeeRate):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SortDescendingByValue(UTXO_Pool)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BaseSize       &lt;- 44  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10 B (Header) + 34 B (Dest. Output)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Accumulated    &lt;- 0</a:t>
              </a:r>
              <a:endParaRPr sz="80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CountLegacy    &lt;- 0</a:t>
              </a:r>
              <a:endParaRPr sz="80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CountSegwit    &lt;- 0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SelectedInputs &lt;- []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for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each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UTXO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UTXO_Pool: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Accumulated += UTXO.value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SelectedInputs.append(UTXO)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IsSegwit(UTXO):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	CountSegwit++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cs typeface="JetBrainsMono NF"/>
                </a:rPr>
                <a:t>else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	CountLegacy++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lang="it-IT" sz="800" b="0" i="0" u="none" strike="noStrike" cap="none" spc="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148 B per P2PKH input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cs typeface="JetBrainsMono NF"/>
                </a:rPr>
                <a:t> + 68 B per P2WPKH input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EstimatedSize &lt;- BaseSize + (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CountLegacy * 148) + (CountSegwit * 68)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EstimatedFee  &lt;- EstimatedSize * FeeRate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endParaRPr sz="800">
                <a:solidFill>
                  <a:srgbClr val="00B0F0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rgbClr val="00B0F0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Accumulated &gt;= TargetAmount + EstimatedFee: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Change &lt;- Accumulated - TargetAmount - EstimatedFee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Change &gt; 0: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Aggiunta del Change Output (34 B) e ricalcolo fee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SizeWithChange &lt;- EstimatedSize + 34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FeeWithChange  &lt;- SizeWithChange * FeeRate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NewChange      &lt;- Accumulated - TargetAmount - FeeWithChange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NewChange &gt;= 0: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EstimatedFee &lt;- FeeWithChange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Change       &lt;- NewChange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else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:</a:t>
              </a: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cs typeface="JetBrainsMono NF"/>
                </a:rPr>
                <a:t># NewChange &lt; 0, non ho abbastanza resto per coprire l’output di 			       resto, rimane ai miner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Change &lt;- 0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return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SelectedInputs, EstimatedFee, 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raise </a:t>
              </a:r>
              <a:r>
                <a:rPr sz="800">
                  <a:solidFill>
                    <a:srgbClr val="00B0F0"/>
                  </a:solidFill>
                  <a:latin typeface="JetBrainsMono NF"/>
                  <a:ea typeface="JetBrainsMono NF"/>
                  <a:cs typeface="JetBrainsMono NF"/>
                </a:rPr>
                <a:t>Error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(</a:t>
              </a:r>
              <a:r>
                <a:rPr sz="800">
                  <a:solidFill>
                    <a:srgbClr val="00B050"/>
                  </a:solidFill>
                  <a:latin typeface="JetBrainsMono NF"/>
                  <a:ea typeface="JetBrainsMono NF"/>
                  <a:cs typeface="JetBrainsMono NF"/>
                </a:rPr>
                <a:t>"Insufficient Funds"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</p:txBody>
        </p:sp>
        <p:grpSp>
          <p:nvGrpSpPr>
            <p:cNvPr id="2055079592" name=""/>
            <p:cNvGrpSpPr/>
            <p:nvPr/>
          </p:nvGrpSpPr>
          <p:grpSpPr bwMode="auto">
            <a:xfrm>
              <a:off x="188116" y="204786"/>
              <a:ext cx="5251375" cy="228960"/>
              <a:chOff x="0" y="0"/>
              <a:chExt cx="5251375" cy="228960"/>
            </a:xfrm>
          </p:grpSpPr>
          <p:sp>
            <p:nvSpPr>
              <p:cNvPr id="67166888" name="Google Shape;231;p19"/>
              <p:cNvSpPr txBox="1"/>
              <p:nvPr/>
            </p:nvSpPr>
            <p:spPr bwMode="auto">
              <a:xfrm>
                <a:off x="0" y="0"/>
                <a:ext cx="5251375" cy="228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14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sz="1500" b="0" i="0" u="none" strike="noStrike" cap="none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</a:rPr>
                  <a:t>Algoritmo Greedy Adottato</a:t>
                </a:r>
                <a:endParaRPr/>
              </a:p>
            </p:txBody>
          </p:sp>
          <p:pic>
            <p:nvPicPr>
              <p:cNvPr id="2024239926" name="Google Shape;239;p19" descr="image.png"/>
              <p:cNvPicPr/>
              <p:nvPr/>
            </p:nvPicPr>
            <p:blipFill rotWithShape="1">
              <a:blip r:embed="rId6">
                <a:alphaModFix/>
              </a:blip>
              <a:srcRect l="0" t="0" r="0" b="0"/>
              <a:stretch/>
            </p:blipFill>
            <p:spPr bwMode="auto">
              <a:xfrm>
                <a:off x="0" y="0"/>
                <a:ext cx="171450" cy="1904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9384944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4" y="-78556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884390" name="Google Shape;178;p17"/>
          <p:cNvSpPr txBox="1"/>
          <p:nvPr/>
        </p:nvSpPr>
        <p:spPr bwMode="auto">
          <a:xfrm>
            <a:off x="885825" y="557601"/>
            <a:ext cx="1139113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Transazioni: Esempi (Prima e dopo ottimizzazione algoritmo)</a:t>
            </a:r>
            <a:endParaRPr/>
          </a:p>
        </p:txBody>
      </p:sp>
      <p:pic>
        <p:nvPicPr>
          <p:cNvPr id="773676469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3" y="576261"/>
            <a:ext cx="304798" cy="266698"/>
          </a:xfrm>
          <a:prstGeom prst="rect">
            <a:avLst/>
          </a:prstGeom>
          <a:noFill/>
          <a:ln>
            <a:noFill/>
          </a:ln>
        </p:spPr>
      </p:pic>
      <p:sp>
        <p:nvSpPr>
          <p:cNvPr id="697329005" name=""/>
          <p:cNvSpPr txBox="1"/>
          <p:nvPr/>
        </p:nvSpPr>
        <p:spPr bwMode="auto">
          <a:xfrm rot="0" flipH="0" flipV="0">
            <a:off x="563924" y="5070117"/>
            <a:ext cx="10775890" cy="5185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34961e10f23e99ea6feff5504e87ce198a2b68cfcd95915e2e1b9c6ea3fa6e04</a:t>
            </a:r>
            <a:r>
              <a:rPr>
                <a:solidFill>
                  <a:schemeClr val="bg1"/>
                </a:solidFill>
              </a:rPr>
              <a:t>: 3 input (2 segwit + legacy) 520 size (365 vbytes), 362 fee</a:t>
            </a:r>
            <a:br>
              <a:rPr>
                <a:solidFill>
                  <a:schemeClr val="bg1"/>
                </a:solidFill>
              </a:rPr>
            </a:br>
            <a:r>
              <a:rPr lang="it-IT" sz="1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c10743ed19eb49f87541abef204226e7e36d101b26efe1975aea658bba5e2493: 2 input (segwit + legacy) 374 size, 294 fee</a:t>
            </a:r>
            <a:endParaRPr lang="it-IT" sz="14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748154" name=""/>
          <p:cNvSpPr txBox="1"/>
          <p:nvPr/>
        </p:nvSpPr>
        <p:spPr bwMode="auto">
          <a:xfrm rot="0" flipH="0" flipV="0">
            <a:off x="563924" y="3491324"/>
            <a:ext cx="6535229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it-IT" sz="1200" b="0" i="0" u="none" strike="noStrike" cap="none" spc="0">
                <a:solidFill>
                  <a:srgbClr val="DB4A0B"/>
                </a:solidFill>
                <a:latin typeface="JetBrainsMono NF"/>
                <a:ea typeface="JetBrainsMono NF"/>
                <a:cs typeface="JetBrainsMono NF"/>
              </a:rPr>
              <a:t>if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IsSegwit(UTXO):</a:t>
            </a: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 algn="l"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CountSewit++</a:t>
            </a: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 algn="l">
              <a:defRPr/>
            </a:pPr>
            <a:r>
              <a:rPr lang="it-IT" sz="1200" b="0" i="0" u="none" strike="noStrike" cap="none" spc="0">
                <a:solidFill>
                  <a:srgbClr val="DB4A0B"/>
                </a:solidFill>
                <a:latin typeface="JetBrainsMono NF"/>
                <a:ea typeface="JetBrainsMono NF"/>
                <a:cs typeface="JetBrainsMono NF"/>
              </a:rPr>
              <a:t>else</a:t>
            </a: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 algn="l"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CountLegacy++</a:t>
            </a: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 algn="l">
              <a:defRPr/>
            </a:pP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 algn="l">
              <a:defRPr/>
            </a:pPr>
            <a:r>
              <a:rPr lang="it-IT" sz="1200" b="0" i="0" u="none" strike="noStrike" cap="none" spc="0">
                <a:solidFill>
                  <a:schemeClr val="bg1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# 148 B per P2PKH input</a:t>
            </a:r>
            <a:r>
              <a:rPr lang="it-IT" sz="1200" b="0" i="0" u="none" strike="noStrike" cap="none" spc="0">
                <a:solidFill>
                  <a:schemeClr val="bg1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 + 68 B per P2WPKH input</a:t>
            </a:r>
            <a:endParaRPr lang="it-IT" sz="1200" b="0" i="0" u="none" strike="noStrike" cap="none" spc="0">
              <a:solidFill>
                <a:schemeClr val="bg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EstimatedSize &lt;- BaseSize + (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CountLegacy * 148) + (CountSegwit * 68) </a:t>
            </a:r>
            <a:endParaRPr sz="1200"/>
          </a:p>
        </p:txBody>
      </p:sp>
      <p:sp>
        <p:nvSpPr>
          <p:cNvPr id="1779831000" name=""/>
          <p:cNvSpPr txBox="1"/>
          <p:nvPr/>
        </p:nvSpPr>
        <p:spPr bwMode="auto">
          <a:xfrm rot="0" flipH="0" flipV="0">
            <a:off x="563924" y="1543050"/>
            <a:ext cx="656114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it-IT" sz="1200" b="0" i="0" u="none" strike="noStrike" cap="none" spc="0">
                <a:solidFill>
                  <a:schemeClr val="bg1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# 148 B per input (UppeBound)</a:t>
            </a:r>
            <a:endParaRPr lang="it-IT" sz="1200" b="0" i="0" u="none" strike="noStrike" cap="none" spc="0">
              <a:solidFill>
                <a:schemeClr val="bg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EstimatedSize &lt;- BaseSize + (</a:t>
            </a:r>
            <a:r>
              <a:rPr lang="it-IT" sz="1200" b="0" i="0" u="none" strike="noStrike" cap="none" spc="0">
                <a:solidFill>
                  <a:srgbClr val="DB4A0B"/>
                </a:solidFill>
                <a:latin typeface="JetBrainsMono NF"/>
                <a:ea typeface="JetBrainsMono NF"/>
                <a:cs typeface="JetBrainsMono NF"/>
              </a:rPr>
              <a:t>len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(SelectedInputs) * 148)</a:t>
            </a:r>
            <a:endParaRPr sz="1200"/>
          </a:p>
        </p:txBody>
      </p:sp>
      <p:sp>
        <p:nvSpPr>
          <p:cNvPr id="981410310" name=""/>
          <p:cNvSpPr/>
          <p:nvPr/>
        </p:nvSpPr>
        <p:spPr bwMode="auto">
          <a:xfrm rot="0" flipH="0" flipV="0">
            <a:off x="563924" y="1081499"/>
            <a:ext cx="1180562" cy="409574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1600" b="1">
                <a:solidFill>
                  <a:srgbClr val="2F92C3"/>
                </a:solidFill>
                <a:latin typeface="Poppins"/>
                <a:ea typeface="Poppins"/>
                <a:cs typeface="Poppins"/>
              </a:rPr>
              <a:t>BEFORE</a:t>
            </a:r>
            <a:endParaRPr sz="1600" b="0">
              <a:solidFill>
                <a:srgbClr val="2F92C3"/>
              </a:solidFill>
              <a:latin typeface="Poppins"/>
              <a:cs typeface="Poppins"/>
            </a:endParaRPr>
          </a:p>
        </p:txBody>
      </p:sp>
      <p:sp>
        <p:nvSpPr>
          <p:cNvPr id="488948466" name=""/>
          <p:cNvSpPr/>
          <p:nvPr/>
        </p:nvSpPr>
        <p:spPr bwMode="auto">
          <a:xfrm rot="0" flipH="0" flipV="0">
            <a:off x="563924" y="2940868"/>
            <a:ext cx="1180561" cy="409574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1600" b="1">
                <a:solidFill>
                  <a:srgbClr val="2F92C3"/>
                </a:solidFill>
                <a:latin typeface="Poppins"/>
                <a:ea typeface="Poppins"/>
                <a:cs typeface="Poppins"/>
              </a:rPr>
              <a:t>AFTER</a:t>
            </a:r>
            <a:endParaRPr sz="1600" b="0">
              <a:solidFill>
                <a:srgbClr val="2F92C3"/>
              </a:solidFill>
              <a:latin typeface="Poppins"/>
              <a:cs typeface="Poppins"/>
            </a:endParaRPr>
          </a:p>
        </p:txBody>
      </p:sp>
      <p:sp>
        <p:nvSpPr>
          <p:cNvPr id="1594016199" name=""/>
          <p:cNvSpPr txBox="1"/>
          <p:nvPr/>
        </p:nvSpPr>
        <p:spPr bwMode="auto">
          <a:xfrm rot="0" flipH="0" flipV="0">
            <a:off x="640125" y="2186399"/>
            <a:ext cx="843034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70334154" name=""/>
          <p:cNvSpPr txBox="1"/>
          <p:nvPr/>
        </p:nvSpPr>
        <p:spPr bwMode="auto">
          <a:xfrm rot="0" flipH="0" flipV="0">
            <a:off x="563924" y="2186399"/>
            <a:ext cx="10257179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it-IT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150a9abd5edfb4e3c9f1bf96ccb53c2174f3d245699b4c68a959f18cac348d82</a:t>
            </a:r>
            <a:r>
              <a:rPr>
                <a:solidFill>
                  <a:schemeClr val="bg1"/>
                </a:solidFill>
              </a:rPr>
              <a:t>: 2 input (legacy) 373 size, 374 fee</a:t>
            </a:r>
            <a:br>
              <a:rPr>
                <a:solidFill>
                  <a:schemeClr val="bg1"/>
                </a:solidFill>
              </a:rPr>
            </a:br>
            <a:r>
              <a:rPr lang="it-IT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0d5341d21931f570f939c917e7ff3f00578f2aa53f61e096a62eb055b43ebc98</a:t>
            </a:r>
            <a:r>
              <a:rPr>
                <a:solidFill>
                  <a:schemeClr val="bg1"/>
                </a:solidFill>
              </a:rPr>
              <a:t>: 2 input (legacy + segwit) 374 size (290 vbytes), 374 fee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84105794" name=""/>
          <p:cNvSpPr txBox="1"/>
          <p:nvPr/>
        </p:nvSpPr>
        <p:spPr bwMode="auto">
          <a:xfrm rot="0" flipH="0" flipV="0">
            <a:off x="4278674" y="3138899"/>
            <a:ext cx="545854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Il paradosso di SegWit: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La transazione a 3 input trasmette più byte fisici sulla rete (</a:t>
            </a: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520 B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vs 374 B), ma grazie allo sconto del 75% sui dati witness richiede meno fee contabili (</a:t>
            </a: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362 sat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vs 374 sat) rispetto alla transazione mista a 2 input non ottimizzata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08529867" name=""/>
          <p:cNvSpPr txBox="1"/>
          <p:nvPr/>
        </p:nvSpPr>
        <p:spPr bwMode="auto">
          <a:xfrm rot="0" flipH="0" flipV="0">
            <a:off x="706799" y="5996399"/>
            <a:ext cx="551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METERE A CONFRONTO LE TASSE DI ELECTRUM CON LE MIE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44913" name="Google Shape;244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703346" name="Google Shape;245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688191" name="Google Shape;246;p20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9577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300373" name="Google Shape;247;p20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12482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sp>
        <p:nvSpPr>
          <p:cNvPr id="409271895" name="Google Shape;248;p20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Strategie di Coin Selection a Confronto</a:t>
            </a:r>
            <a:endParaRPr/>
          </a:p>
        </p:txBody>
      </p:sp>
      <p:pic>
        <p:nvPicPr>
          <p:cNvPr id="392855844" name="Google Shape;250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833970" name="Google Shape;251;p20"/>
          <p:cNvSpPr txBox="1"/>
          <p:nvPr/>
        </p:nvSpPr>
        <p:spPr bwMode="auto">
          <a:xfrm>
            <a:off x="704849" y="3005136"/>
            <a:ext cx="329013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Greedy</a:t>
            </a:r>
            <a:r>
              <a:rPr lang="it-IT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 Algorithm</a:t>
            </a:r>
            <a:endParaRPr/>
          </a:p>
        </p:txBody>
      </p:sp>
      <p:sp>
        <p:nvSpPr>
          <p:cNvPr id="1451724251" name="Google Shape;253;p20"/>
          <p:cNvSpPr txBox="1"/>
          <p:nvPr/>
        </p:nvSpPr>
        <p:spPr bwMode="auto">
          <a:xfrm>
            <a:off x="704850" y="3767137"/>
            <a:ext cx="3124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Ordina gli UTXO dal più grande al più piccolo. Minimizza il numero di input per la singola transazione, ma tende a creare resto frammentato.</a:t>
            </a:r>
            <a:endParaRPr/>
          </a:p>
        </p:txBody>
      </p:sp>
      <p:sp>
        <p:nvSpPr>
          <p:cNvPr id="42273723" name="Google Shape;254;p20"/>
          <p:cNvSpPr txBox="1"/>
          <p:nvPr/>
        </p:nvSpPr>
        <p:spPr bwMode="auto">
          <a:xfrm>
            <a:off x="4533899" y="3005136"/>
            <a:ext cx="328257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Branch and Bound</a:t>
            </a:r>
            <a:endParaRPr/>
          </a:p>
        </p:txBody>
      </p:sp>
      <p:sp>
        <p:nvSpPr>
          <p:cNvPr id="411127991" name="Google Shape;256;p20"/>
          <p:cNvSpPr txBox="1"/>
          <p:nvPr/>
        </p:nvSpPr>
        <p:spPr bwMode="auto">
          <a:xfrm flipH="0" flipV="0">
            <a:off x="4533899" y="3767136"/>
            <a:ext cx="3160559" cy="96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Cerca una combinazione esatta di UTXO che soddisfi il target </a:t>
            </a: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senza generare alcun resto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 fallisce la soluzione esatta, passa all’algoritmo </a:t>
            </a:r>
            <a:r>
              <a:rPr lang="it-IT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Single Random Draw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.</a:t>
            </a:r>
            <a:endParaRPr i="0"/>
          </a:p>
        </p:txBody>
      </p:sp>
      <p:sp>
        <p:nvSpPr>
          <p:cNvPr id="1509278453" name="Google Shape;257;p20"/>
          <p:cNvSpPr txBox="1"/>
          <p:nvPr/>
        </p:nvSpPr>
        <p:spPr bwMode="auto">
          <a:xfrm>
            <a:off x="8362949" y="3005136"/>
            <a:ext cx="328689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ELECTRUM ALGORITHM</a:t>
            </a:r>
            <a:endParaRPr/>
          </a:p>
        </p:txBody>
      </p:sp>
      <p:sp>
        <p:nvSpPr>
          <p:cNvPr id="766228971" name="Google Shape;259;p20"/>
          <p:cNvSpPr txBox="1"/>
          <p:nvPr/>
        </p:nvSpPr>
        <p:spPr bwMode="auto">
          <a:xfrm flipH="0" flipV="0">
            <a:off x="8362949" y="3767136"/>
            <a:ext cx="3207359" cy="96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 spende un indirizzo, spende </a:t>
            </a:r>
            <a:r>
              <a:rPr lang="it-IT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tutti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i suoi UTXO per ridurre il bloat UTXO. 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Penalizza i resti eccessivamente grandi rispetto alla transazione.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Penalizza i resti molto diversi dall’importo inviato.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2355518" name=""/>
          <p:cNvSpPr/>
          <p:nvPr/>
        </p:nvSpPr>
        <p:spPr bwMode="auto">
          <a:xfrm rot="0" flipH="0" flipV="0">
            <a:off x="4533899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BITCOIN CORE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  <p:sp>
        <p:nvSpPr>
          <p:cNvPr id="440307341" name=""/>
          <p:cNvSpPr/>
          <p:nvPr/>
        </p:nvSpPr>
        <p:spPr bwMode="auto">
          <a:xfrm rot="0" flipH="0" flipV="0">
            <a:off x="619124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GO WALLET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  <p:sp>
        <p:nvSpPr>
          <p:cNvPr id="826793167" name=""/>
          <p:cNvSpPr/>
          <p:nvPr/>
        </p:nvSpPr>
        <p:spPr bwMode="auto">
          <a:xfrm rot="0" flipH="0" flipV="0">
            <a:off x="8362949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ELECTRUM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280520" name="Google Shape;264;p21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044662" name="Google Shape;266;p21"/>
          <p:cNvSpPr txBox="1"/>
          <p:nvPr/>
        </p:nvSpPr>
        <p:spPr bwMode="auto">
          <a:xfrm>
            <a:off x="819150" y="466725"/>
            <a:ext cx="11372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Persistenza del Wallet su Disco</a:t>
            </a:r>
            <a:endParaRPr/>
          </a:p>
        </p:txBody>
      </p:sp>
      <p:sp>
        <p:nvSpPr>
          <p:cNvPr id="1251730849" name="Google Shape;267;p21"/>
          <p:cNvSpPr txBox="1"/>
          <p:nvPr/>
        </p:nvSpPr>
        <p:spPr bwMode="auto">
          <a:xfrm>
            <a:off x="10229850" y="6515100"/>
            <a:ext cx="1495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Fase 3: Storage &amp; Recupero</a:t>
            </a:r>
            <a:endParaRPr/>
          </a:p>
        </p:txBody>
      </p:sp>
      <p:pic>
        <p:nvPicPr>
          <p:cNvPr id="1051390812" name="Google Shape;268;p21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865101" name="Google Shape;292;p22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581562" name="Google Shape;293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2628900"/>
            <a:ext cx="1125855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789110" name="Google Shape;294;p22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1102965" y="2867025"/>
            <a:ext cx="19240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710384" name="Google Shape;295;p22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752826" y="2867025"/>
            <a:ext cx="20193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0054245" name="Google Shape;296;p22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497937" y="2867025"/>
            <a:ext cx="25908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3826124" name="Google Shape;297;p22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Broadcast Transazioni: Architettura Proxy</a:t>
            </a:r>
            <a:endParaRPr/>
          </a:p>
        </p:txBody>
      </p:sp>
      <p:sp>
        <p:nvSpPr>
          <p:cNvPr id="1947885613" name="Google Shape;298;p22"/>
          <p:cNvSpPr txBox="1"/>
          <p:nvPr/>
        </p:nvSpPr>
        <p:spPr bwMode="auto">
          <a:xfrm>
            <a:off x="10325100" y="6515100"/>
            <a:ext cx="14001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Fase 3: Integrazione Nodo</a:t>
            </a:r>
            <a:endParaRPr/>
          </a:p>
        </p:txBody>
      </p:sp>
      <p:pic>
        <p:nvPicPr>
          <p:cNvPr id="803329918" name="Google Shape;299;p22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396282" name="Google Shape;300;p22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3823245" y="30146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332872" name="Google Shape;301;p22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7568356" y="30146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505615" name="Google Shape;302;p22"/>
          <p:cNvSpPr txBox="1"/>
          <p:nvPr/>
        </p:nvSpPr>
        <p:spPr bwMode="auto">
          <a:xfrm>
            <a:off x="466725" y="3781425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Perché un Proxy Python?</a:t>
            </a:r>
            <a:endParaRPr/>
          </a:p>
        </p:txBody>
      </p:sp>
      <p:sp>
        <p:nvSpPr>
          <p:cNvPr id="1928763564" name="Google Shape;303;p22"/>
          <p:cNvSpPr txBox="1"/>
          <p:nvPr/>
        </p:nvSpPr>
        <p:spPr bwMode="auto">
          <a:xfrm>
            <a:off x="466725" y="4191000"/>
            <a:ext cx="54768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Il nodo Bitcoin Core espone un'interfaccia RPC complessa e sensibile. Il server Python agisce da middleware sicuro esponendo solo gli endpoint essenziali (es. /sendtx, /utxos).</a:t>
            </a:r>
            <a:endParaRPr/>
          </a:p>
        </p:txBody>
      </p:sp>
      <p:sp>
        <p:nvSpPr>
          <p:cNvPr id="997370807" name="Google Shape;304;p22"/>
          <p:cNvSpPr txBox="1"/>
          <p:nvPr/>
        </p:nvSpPr>
        <p:spPr bwMode="auto">
          <a:xfrm>
            <a:off x="6248400" y="3781425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Isolamento &amp; Sicurezza</a:t>
            </a:r>
            <a:endParaRPr/>
          </a:p>
        </p:txBody>
      </p:sp>
      <p:sp>
        <p:nvSpPr>
          <p:cNvPr id="2087984343" name="Google Shape;305;p22"/>
          <p:cNvSpPr txBox="1"/>
          <p:nvPr/>
        </p:nvSpPr>
        <p:spPr bwMode="auto">
          <a:xfrm>
            <a:off x="6248400" y="4191000"/>
            <a:ext cx="54768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Le credenziali RPC del nodo rimangono sul server locale. Il wallet Go invia unicamente la transazione già firmata in esadecimale (rawtx).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355727" name="Google Shape;310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452215" name="Google Shape;311;p2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48400" y="2705100"/>
            <a:ext cx="54768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4558273" name="Google Shape;312;p23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Resilienza di Rete: Fallback REST</a:t>
            </a:r>
            <a:endParaRPr/>
          </a:p>
        </p:txBody>
      </p:sp>
      <p:sp>
        <p:nvSpPr>
          <p:cNvPr id="2019768443" name="Google Shape;313;p23"/>
          <p:cNvSpPr txBox="1"/>
          <p:nvPr/>
        </p:nvSpPr>
        <p:spPr bwMode="auto">
          <a:xfrm>
            <a:off x="10458450" y="6515100"/>
            <a:ext cx="1266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Fase 3: High Availability</a:t>
            </a:r>
            <a:endParaRPr/>
          </a:p>
        </p:txBody>
      </p:sp>
      <p:pic>
        <p:nvPicPr>
          <p:cNvPr id="2061143228" name="Google Shape;314;p23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910714" name="Google Shape;315;p23"/>
          <p:cNvSpPr txBox="1"/>
          <p:nvPr/>
        </p:nvSpPr>
        <p:spPr bwMode="auto">
          <a:xfrm>
            <a:off x="466725" y="2705100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Gestione dei Fallimento di Rete</a:t>
            </a:r>
            <a:endParaRPr/>
          </a:p>
        </p:txBody>
      </p:sp>
      <p:sp>
        <p:nvSpPr>
          <p:cNvPr id="676489011" name="Google Shape;316;p23"/>
          <p:cNvSpPr txBox="1"/>
          <p:nvPr/>
        </p:nvSpPr>
        <p:spPr bwMode="auto">
          <a:xfrm>
            <a:off x="733424" y="3095625"/>
            <a:ext cx="5210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Primary Provider: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Nodo Bitcoin Core locale gestito tramite il Proxy Python.</a:t>
            </a:r>
            <a:endParaRPr/>
          </a:p>
        </p:txBody>
      </p:sp>
      <p:sp>
        <p:nvSpPr>
          <p:cNvPr id="1399738360" name="Google Shape;317;p23"/>
          <p:cNvSpPr txBox="1"/>
          <p:nvPr/>
        </p:nvSpPr>
        <p:spPr bwMode="auto">
          <a:xfrm>
            <a:off x="733424" y="3686175"/>
            <a:ext cx="5210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Failover Automatico: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Se il nodo è offline o in fase di sincronizzazione, il wallet intercetta l'errore.</a:t>
            </a:r>
            <a:endParaRPr/>
          </a:p>
        </p:txBody>
      </p:sp>
      <p:sp>
        <p:nvSpPr>
          <p:cNvPr id="1418313157" name="Google Shape;318;p23"/>
          <p:cNvSpPr txBox="1"/>
          <p:nvPr/>
        </p:nvSpPr>
        <p:spPr bwMode="auto">
          <a:xfrm>
            <a:off x="733424" y="4276725"/>
            <a:ext cx="5210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Secondary Provider: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Chiamata HTTP REST verso le API di Mempool.space.</a:t>
            </a:r>
            <a:endParaRPr/>
          </a:p>
        </p:txBody>
      </p:sp>
      <p:sp>
        <p:nvSpPr>
          <p:cNvPr id="423681158" name="Google Shape;319;p23"/>
          <p:cNvSpPr txBox="1"/>
          <p:nvPr/>
        </p:nvSpPr>
        <p:spPr bwMode="auto">
          <a:xfrm>
            <a:off x="6410325" y="2876550"/>
            <a:ext cx="20669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// Flusso di Broadcast con Fallback</a:t>
            </a:r>
            <a:endParaRPr/>
          </a:p>
        </p:txBody>
      </p:sp>
      <p:sp>
        <p:nvSpPr>
          <p:cNvPr id="1606620244" name="Google Shape;320;p23"/>
          <p:cNvSpPr txBox="1"/>
          <p:nvPr/>
        </p:nvSpPr>
        <p:spPr bwMode="auto">
          <a:xfrm>
            <a:off x="8515350" y="28765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</a:rPr>
              <a:t>func</a:t>
            </a:r>
            <a:endParaRPr/>
          </a:p>
        </p:txBody>
      </p:sp>
      <p:sp>
        <p:nvSpPr>
          <p:cNvPr id="1754847569" name="Google Shape;321;p23"/>
          <p:cNvSpPr txBox="1"/>
          <p:nvPr/>
        </p:nvSpPr>
        <p:spPr bwMode="auto">
          <a:xfrm>
            <a:off x="9525000" y="2876550"/>
            <a:ext cx="723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</a:rPr>
              <a:t>BroadcastTx</a:t>
            </a:r>
            <a:endParaRPr/>
          </a:p>
        </p:txBody>
      </p:sp>
      <p:sp>
        <p:nvSpPr>
          <p:cNvPr id="234633351" name="Google Shape;322;p23"/>
          <p:cNvSpPr txBox="1"/>
          <p:nvPr/>
        </p:nvSpPr>
        <p:spPr bwMode="auto">
          <a:xfrm>
            <a:off x="10677525" y="2876550"/>
            <a:ext cx="333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</a:rPr>
              <a:t>string</a:t>
            </a:r>
            <a:endParaRPr/>
          </a:p>
        </p:txBody>
      </p:sp>
      <p:sp>
        <p:nvSpPr>
          <p:cNvPr id="1137013712" name="Google Shape;323;p23"/>
          <p:cNvSpPr txBox="1"/>
          <p:nvPr/>
        </p:nvSpPr>
        <p:spPr bwMode="auto">
          <a:xfrm>
            <a:off x="7629525" y="3062287"/>
            <a:ext cx="4381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</a:rPr>
              <a:t>SendTx</a:t>
            </a:r>
            <a:endParaRPr/>
          </a:p>
        </p:txBody>
      </p:sp>
      <p:sp>
        <p:nvSpPr>
          <p:cNvPr id="630134413" name="Google Shape;324;p23"/>
          <p:cNvSpPr txBox="1"/>
          <p:nvPr/>
        </p:nvSpPr>
        <p:spPr bwMode="auto">
          <a:xfrm>
            <a:off x="8543925" y="3062287"/>
            <a:ext cx="76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</a:rPr>
              <a:t>if</a:t>
            </a:r>
            <a:endParaRPr/>
          </a:p>
        </p:txBody>
      </p:sp>
      <p:sp>
        <p:nvSpPr>
          <p:cNvPr id="1495340135" name="Google Shape;325;p23"/>
          <p:cNvSpPr txBox="1"/>
          <p:nvPr/>
        </p:nvSpPr>
        <p:spPr bwMode="auto">
          <a:xfrm>
            <a:off x="9344025" y="3062287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</a:rPr>
              <a:t>return</a:t>
            </a:r>
            <a:endParaRPr/>
          </a:p>
        </p:txBody>
      </p:sp>
      <p:sp>
        <p:nvSpPr>
          <p:cNvPr id="1168088090" name="Google Shape;326;p23"/>
          <p:cNvSpPr txBox="1"/>
          <p:nvPr/>
        </p:nvSpPr>
        <p:spPr bwMode="auto">
          <a:xfrm>
            <a:off x="9915525" y="3062287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// Inviata via Nodo Locale</a:t>
            </a:r>
            <a:endParaRPr/>
          </a:p>
        </p:txBody>
      </p:sp>
      <p:sp>
        <p:nvSpPr>
          <p:cNvPr id="1031458799" name="Google Shape;327;p23"/>
          <p:cNvSpPr txBox="1"/>
          <p:nvPr/>
        </p:nvSpPr>
        <p:spPr bwMode="auto">
          <a:xfrm>
            <a:off x="6629400" y="3248025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</a:rPr>
              <a:t>Println</a:t>
            </a:r>
            <a:endParaRPr/>
          </a:p>
        </p:txBody>
      </p:sp>
      <p:sp>
        <p:nvSpPr>
          <p:cNvPr id="1660458226" name="Google Shape;328;p23"/>
          <p:cNvSpPr txBox="1"/>
          <p:nvPr/>
        </p:nvSpPr>
        <p:spPr bwMode="auto">
          <a:xfrm>
            <a:off x="7048500" y="3248025"/>
            <a:ext cx="3419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</a:rPr>
              <a:t>"Nodo locale indisponibile. Fallback su Mempool.space..."</a:t>
            </a:r>
            <a:endParaRPr/>
          </a:p>
        </p:txBody>
      </p:sp>
      <p:sp>
        <p:nvSpPr>
          <p:cNvPr id="2065684129" name="Google Shape;329;p23"/>
          <p:cNvSpPr txBox="1"/>
          <p:nvPr/>
        </p:nvSpPr>
        <p:spPr bwMode="auto">
          <a:xfrm>
            <a:off x="10553700" y="3248025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</a:rPr>
              <a:t>return</a:t>
            </a:r>
            <a:endParaRPr/>
          </a:p>
        </p:txBody>
      </p:sp>
      <p:sp>
        <p:nvSpPr>
          <p:cNvPr id="1292040001" name="Google Shape;330;p23"/>
          <p:cNvSpPr txBox="1"/>
          <p:nvPr/>
        </p:nvSpPr>
        <p:spPr bwMode="auto">
          <a:xfrm>
            <a:off x="7467600" y="3433762"/>
            <a:ext cx="5905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</a:rPr>
              <a:t>Broadcast</a:t>
            </a:r>
            <a:endParaRPr/>
          </a:p>
        </p:txBody>
      </p:sp>
      <p:pic>
        <p:nvPicPr>
          <p:cNvPr id="632107444" name="Google Shape;331;p2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6725" y="311467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472289" name="Google Shape;332;p2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6725" y="370522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979177" name="Google Shape;333;p2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6725" y="4295775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569530" name="Google Shape;312;p23"/>
          <p:cNvSpPr txBox="1"/>
          <p:nvPr/>
        </p:nvSpPr>
        <p:spPr bwMode="auto">
          <a:xfrm>
            <a:off x="847724" y="523942"/>
            <a:ext cx="1136191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Funzionamento Applicativo</a:t>
            </a:r>
            <a:endParaRPr/>
          </a:p>
        </p:txBody>
      </p:sp>
      <p:sp>
        <p:nvSpPr>
          <p:cNvPr id="1009487694" name="Google Shape;313;p23"/>
          <p:cNvSpPr txBox="1"/>
          <p:nvPr/>
        </p:nvSpPr>
        <p:spPr bwMode="auto">
          <a:xfrm>
            <a:off x="10458450" y="6515100"/>
            <a:ext cx="126682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Fase 3: High Availability</a:t>
            </a:r>
            <a:endParaRPr/>
          </a:p>
        </p:txBody>
      </p:sp>
      <p:pic>
        <p:nvPicPr>
          <p:cNvPr id="692558073" name="Google Shape;314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modified xsi:type="dcterms:W3CDTF">2026-08-19T13:52:27Z</dcterms:modified>
</cp:coreProperties>
</file>