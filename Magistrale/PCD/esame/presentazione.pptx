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  <a:defRPr lang="it-IT"/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46F890A9-2807-4EBB-B81D-B2AA78EC7F39}">
  <a:tblStyle styleId="{46F890A9-2807-4EBB-B81D-B2AA78EC7F39}" styleName="Dark Style 2 - Accent 5/Accent 6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noFill/>
            </a:ln>
          </a:top>
          <a:bottom>
            <a:ln w="12700">
              <a:noFill/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  <a:fill>
          <a:solidFill>
            <a:schemeClr val="accent5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12700">
              <a:noFill/>
            </a:ln>
          </a:bottom>
        </a:tcBdr>
        <a:fill>
          <a:solidFill>
            <a:schemeClr val="accent6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  <p:guide pos="29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 /><Relationship Id="rId26" Type="http://schemas.openxmlformats.org/officeDocument/2006/relationships/tableStyles" Target="tableStyles.xml" /><Relationship Id="rId2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9090037" name="Google Shape;3;n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992283" name="Google Shape;4;n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dt="0" ftr="0" hdr="0" sldNum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863214" name="Google Shape;81;p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7699495" name="Google Shape;82;p1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645396" name="Google Shape;95;p2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8128836" name="Google Shape;96;p2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353695" name="Google Shape;118;p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6450429" name="Google Shape;119;p3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037939" name="Google Shape;118;p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85482141" name="Google Shape;119;p3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7110683" name="Google Shape;118;p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98445080" name="Google Shape;119;p3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1074486" name="Google Shape;149;p4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6780492" name="Google Shape;150;p4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377392" name="Google Shape;149;p4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4991779" name="Google Shape;150;p4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919647" name="Google Shape;173;p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7796991" name="Google Shape;174;p5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230824" name="Google Shape;173;p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35367598" name="Google Shape;174;p5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1248455" name="Google Shape;201;p6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0087607" name="Google Shape;202;p6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704268" name="Google Shape;201;p6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8083103" name="Google Shape;202;p6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973291" name="Google Shape;201;p6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737568" name="Google Shape;202;p6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5994697" name="Google Shape;218;p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53189032" name="Google Shape;219;p7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890977" name="Google Shape;218;p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034204" name="Google Shape;219;p7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15808" name="Google Shape;201;p6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2505105" name="Google Shape;202;p6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613401" name="Google Shape;241;p8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8282380" name="Google Shape;242;p8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1908885" name="Google Shape;261;p9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93585" name="Google Shape;262;p9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4608032" name="Google Shape;289;p1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95823727" name="Google Shape;290;p10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545405" name="Google Shape;307;p1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7988233" name="Google Shape;308;p11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423548" name="Google Shape;307;p1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48923114" name="Google Shape;308;p11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909148" name="Google Shape;12;p2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EF3BB8D2-AFA6-C21C-4B78-CE70871286A5}" type="datetime1">
              <a:rPr lang="it-IT"/>
              <a:t>18/08/2026</a:t>
            </a:fld>
            <a:endParaRPr/>
          </a:p>
        </p:txBody>
      </p:sp>
      <p:sp>
        <p:nvSpPr>
          <p:cNvPr id="1491723577" name="Google Shape;13;p2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390581198" name="Google Shape;14;p2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149891" name="Google Shape;16;p3"/>
          <p:cNvSpPr txBox="1"/>
          <p:nvPr>
            <p:ph type="ctrTitle"/>
          </p:nvPr>
        </p:nvSpPr>
        <p:spPr bwMode="auto"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24447564" name="Google Shape;17;p3"/>
          <p:cNvSpPr txBox="1"/>
          <p:nvPr>
            <p:ph type="subTitle" idx="1"/>
          </p:nvPr>
        </p:nvSpPr>
        <p:spPr bwMode="auto">
          <a:xfrm>
            <a:off x="1371600" y="3886200"/>
            <a:ext cx="6400800" cy="17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971972504" name="Google Shape;18;p3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F70C3E72-0235-91A5-292B-100DA3149FF6}" type="datetime1">
              <a:rPr lang="it-IT"/>
              <a:t>18/08/2026</a:t>
            </a:fld>
            <a:endParaRPr/>
          </a:p>
        </p:txBody>
      </p:sp>
      <p:sp>
        <p:nvSpPr>
          <p:cNvPr id="1516042826" name="Google Shape;19;p3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1253064556" name="Google Shape;20;p3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Content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794268" name="Google Shape;22;p4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73082651" name="Google Shape;23;p4"/>
          <p:cNvSpPr txBox="1"/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04701738" name="Google Shape;24;p4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D16A1E48-5CEB-E156-D70B-9533F0D817B4}" type="datetime1">
              <a:rPr lang="it-IT"/>
              <a:t>18/08/2026</a:t>
            </a:fld>
            <a:endParaRPr/>
          </a:p>
        </p:txBody>
      </p:sp>
      <p:sp>
        <p:nvSpPr>
          <p:cNvPr id="1258134241" name="Google Shape;25;p4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1067000168" name="Google Shape;26;p4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4426068" name="Google Shape;28;p5"/>
          <p:cNvSpPr txBox="1"/>
          <p:nvPr>
            <p:ph type="title"/>
          </p:nvPr>
        </p:nvSpPr>
        <p:spPr bwMode="auto"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10554297" name="Google Shape;29;p5"/>
          <p:cNvSpPr txBox="1"/>
          <p:nvPr>
            <p:ph type="body" idx="1"/>
          </p:nvPr>
        </p:nvSpPr>
        <p:spPr bwMode="auto"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5523141" name="Google Shape;30;p5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7F26221A-91E5-B5DC-B4CA-F4834A7DD91C}" type="datetime1">
              <a:rPr lang="it-IT"/>
              <a:t>18/08/2026</a:t>
            </a:fld>
            <a:endParaRPr/>
          </a:p>
        </p:txBody>
      </p:sp>
      <p:sp>
        <p:nvSpPr>
          <p:cNvPr id="1631508655" name="Google Shape;31;p5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320077124" name="Google Shape;32;p5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wo Content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872" name="Google Shape;34;p6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07509560" name="Google Shape;35;p6"/>
          <p:cNvSpPr txBox="1"/>
          <p:nvPr>
            <p:ph type="body" idx="1"/>
          </p:nvPr>
        </p:nvSpPr>
        <p:spPr bwMode="auto"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537849936" name="Google Shape;36;p6"/>
          <p:cNvSpPr txBox="1"/>
          <p:nvPr>
            <p:ph type="body" idx="2"/>
          </p:nvPr>
        </p:nvSpPr>
        <p:spPr bwMode="auto"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04935751" name="Google Shape;37;p6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8CFC330B-BD3B-AB9C-107C-12D2560F860B}" type="datetime1">
              <a:rPr lang="it-IT"/>
              <a:t>18/08/2026</a:t>
            </a:fld>
            <a:endParaRPr/>
          </a:p>
        </p:txBody>
      </p:sp>
      <p:sp>
        <p:nvSpPr>
          <p:cNvPr id="788686774" name="Google Shape;38;p6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122242339" name="Google Shape;39;p6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mparison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840447" name="Google Shape;41;p7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07402037" name="Google Shape;42;p7"/>
          <p:cNvSpPr txBox="1"/>
          <p:nvPr>
            <p:ph type="body" idx="1"/>
          </p:nvPr>
        </p:nvSpPr>
        <p:spPr bwMode="auto"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238191931" name="Google Shape;43;p7"/>
          <p:cNvSpPr txBox="1"/>
          <p:nvPr>
            <p:ph type="body" idx="2"/>
          </p:nvPr>
        </p:nvSpPr>
        <p:spPr bwMode="auto"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018571498" name="Google Shape;44;p7"/>
          <p:cNvSpPr txBox="1"/>
          <p:nvPr>
            <p:ph type="body" idx="3"/>
          </p:nvPr>
        </p:nvSpPr>
        <p:spPr bwMode="auto"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349846208" name="Google Shape;45;p7"/>
          <p:cNvSpPr txBox="1"/>
          <p:nvPr>
            <p:ph type="body" idx="4"/>
          </p:nvPr>
        </p:nvSpPr>
        <p:spPr bwMode="auto"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842590021" name="Google Shape;46;p7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82E7D4E6-BC13-D9CF-9B9E-710141B3D053}" type="datetime1">
              <a:rPr lang="it-IT"/>
              <a:t>18/08/2026</a:t>
            </a:fld>
            <a:endParaRPr/>
          </a:p>
        </p:txBody>
      </p:sp>
      <p:sp>
        <p:nvSpPr>
          <p:cNvPr id="1892353817" name="Google Shape;47;p7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2088148806" name="Google Shape;48;p7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820322" name="Google Shape;50;p8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9698023" name="Google Shape;51;p8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141DB1A6-5DD2-D073-C1BD-05F9F3AB2E37}" type="datetime1">
              <a:rPr lang="it-IT"/>
              <a:t>18/08/2026</a:t>
            </a:fld>
            <a:endParaRPr/>
          </a:p>
        </p:txBody>
      </p:sp>
      <p:sp>
        <p:nvSpPr>
          <p:cNvPr id="1905673463" name="Google Shape;52;p8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922392254" name="Google Shape;53;p8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t with Caption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685694" name="Google Shape;55;p9"/>
          <p:cNvSpPr txBox="1"/>
          <p:nvPr>
            <p:ph type="title"/>
          </p:nvPr>
        </p:nvSpPr>
        <p:spPr bwMode="auto"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28216843" name="Google Shape;56;p9"/>
          <p:cNvSpPr txBox="1"/>
          <p:nvPr>
            <p:ph type="body" idx="1"/>
          </p:nvPr>
        </p:nvSpPr>
        <p:spPr bwMode="auto"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799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67945188" name="Google Shape;57;p9"/>
          <p:cNvSpPr txBox="1"/>
          <p:nvPr>
            <p:ph type="body" idx="2"/>
          </p:nvPr>
        </p:nvSpPr>
        <p:spPr bwMode="auto"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374489576" name="Google Shape;58;p9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B74D7888-8AE8-D58C-CC7F-7B1A0557E2D1}" type="datetime1">
              <a:rPr lang="it-IT"/>
              <a:t>18/08/2026</a:t>
            </a:fld>
            <a:endParaRPr/>
          </a:p>
        </p:txBody>
      </p:sp>
      <p:sp>
        <p:nvSpPr>
          <p:cNvPr id="1742973169" name="Google Shape;59;p9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260856451" name="Google Shape;60;p9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Picture with Caption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1129166" name="Google Shape;62;p10"/>
          <p:cNvSpPr txBox="1"/>
          <p:nvPr>
            <p:ph type="title"/>
          </p:nvPr>
        </p:nvSpPr>
        <p:spPr bwMode="auto"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0858030" name="Google Shape;63;p10"/>
          <p:cNvSpPr/>
          <p:nvPr>
            <p:ph type="pic" idx="2"/>
          </p:nvPr>
        </p:nvSpPr>
        <p:spPr bwMode="auto"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338242697" name="Google Shape;64;p10"/>
          <p:cNvSpPr txBox="1"/>
          <p:nvPr>
            <p:ph type="body" idx="1"/>
          </p:nvPr>
        </p:nvSpPr>
        <p:spPr bwMode="auto"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1208983946" name="Google Shape;65;p10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5D2F9B57-ABC7-0815-887D-A1EC316DD4FE}" type="datetime1">
              <a:rPr lang="it-IT"/>
              <a:t>18/08/2026</a:t>
            </a:fld>
            <a:endParaRPr/>
          </a:p>
        </p:txBody>
      </p:sp>
      <p:sp>
        <p:nvSpPr>
          <p:cNvPr id="731047193" name="Google Shape;66;p10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1228199227" name="Google Shape;67;p10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Vertical Text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650817" name="Google Shape;69;p11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39542706" name="Google Shape;70;p11"/>
          <p:cNvSpPr txBox="1"/>
          <p:nvPr>
            <p:ph type="body" idx="1"/>
          </p:nvPr>
        </p:nvSpPr>
        <p:spPr bwMode="auto"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15415981" name="Google Shape;71;p11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3F653019-C03B-740B-59A7-4B4AD9890A36}" type="datetime1">
              <a:rPr lang="it-IT"/>
              <a:t>18/08/2026</a:t>
            </a:fld>
            <a:endParaRPr/>
          </a:p>
        </p:txBody>
      </p:sp>
      <p:sp>
        <p:nvSpPr>
          <p:cNvPr id="1453108092" name="Google Shape;72;p11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1401653849" name="Google Shape;73;p11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Vertical Title and Text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267701" name="Google Shape;75;p12"/>
          <p:cNvSpPr txBox="1"/>
          <p:nvPr>
            <p:ph type="title"/>
          </p:nvPr>
        </p:nvSpPr>
        <p:spPr bwMode="auto"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09686979" name="Google Shape;76;p12"/>
          <p:cNvSpPr txBox="1"/>
          <p:nvPr>
            <p:ph type="body" idx="1"/>
          </p:nvPr>
        </p:nvSpPr>
        <p:spPr bwMode="auto"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84751860" name="Google Shape;77;p12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fld id="{C59C3A29-B654-0D0A-2C62-6FA7FE4873F6}" type="datetime1">
              <a:rPr lang="it-IT"/>
              <a:t>18/08/2026</a:t>
            </a:fld>
            <a:endParaRPr/>
          </a:p>
        </p:txBody>
      </p:sp>
      <p:sp>
        <p:nvSpPr>
          <p:cNvPr id="1476580644" name="Google Shape;78;p12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1185827221" name="Google Shape;79;p12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5170072" name="Google Shape;6;p1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297652766" name="Google Shape;7;p1"/>
          <p:cNvSpPr txBox="1"/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799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75103934" name="Google Shape;8;p1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fld id="{67C4199C-94A9-2687-CA90-20D1EFFD1349}" type="datetime1">
              <a:rPr lang="it-IT"/>
              <a:t>18/08/2026</a:t>
            </a:fld>
            <a:endParaRPr/>
          </a:p>
        </p:txBody>
      </p:sp>
      <p:sp>
        <p:nvSpPr>
          <p:cNvPr id="1203299622" name="Google Shape;9;p1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r>
              <a:rPr/>
              <a:t>PCD 2025/2026</a:t>
            </a:r>
            <a:endParaRPr/>
          </a:p>
        </p:txBody>
      </p:sp>
      <p:sp>
        <p:nvSpPr>
          <p:cNvPr id="689327313" name="Google Shape;10;p1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media1.svg"/><Relationship Id="rId6" Type="http://schemas.openxmlformats.org/officeDocument/2006/relationships/image" Target="../media/image3.png"/><Relationship Id="rId7" Type="http://schemas.openxmlformats.org/officeDocument/2006/relationships/image" Target="../media/media2.svg"/><Relationship Id="rId8" Type="http://schemas.openxmlformats.org/officeDocument/2006/relationships/image" Target="../media/image4.png"/><Relationship Id="rId9" Type="http://schemas.openxmlformats.org/officeDocument/2006/relationships/image" Target="../media/media3.sv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Relationship Id="rId7" Type="http://schemas.openxmlformats.org/officeDocument/2006/relationships/image" Target="../media/image1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9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media4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26.png"/><Relationship Id="rId6" Type="http://schemas.openxmlformats.org/officeDocument/2006/relationships/image" Target="../media/image18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3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Relationship Id="rId10" Type="http://schemas.openxmlformats.org/officeDocument/2006/relationships/image" Target="../media/image3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14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3904613" name="Google Shape;84;p13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23926" y="-6873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1807213" name="Titolo 1"/>
          <p:cNvSpPr>
            <a:spLocks noGrp="1"/>
          </p:cNvSpPr>
          <p:nvPr/>
        </p:nvSpPr>
        <p:spPr bwMode="auto">
          <a:xfrm>
            <a:off x="293978" y="716142"/>
            <a:ext cx="11210697" cy="1646301"/>
          </a:xfrm>
        </p:spPr>
        <p:txBody>
          <a:bodyPr spcFirstLastPara="1" vertOverflow="overflow" horzOverflow="overflow" vert="horz" wrap="square" lIns="91423" tIns="45698" rIns="91423" bIns="45698" numCol="1" spcCol="0" rtlCol="0" fromWordArt="0" anchor="ctr" anchorCtr="0" forceAA="0" upright="0" compatLnSpc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it-IT" b="1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Wallet Bitcoin in GoLang</a:t>
            </a:r>
            <a:endParaRPr b="1">
              <a:solidFill>
                <a:schemeClr val="bg1"/>
              </a:solidFill>
              <a:latin typeface="Poppins"/>
              <a:cs typeface="Poppins"/>
            </a:endParaRPr>
          </a:p>
        </p:txBody>
      </p:sp>
      <p:sp>
        <p:nvSpPr>
          <p:cNvPr id="817253225" name="Segnaposto testo 4"/>
          <p:cNvSpPr>
            <a:spLocks noGrp="1"/>
          </p:cNvSpPr>
          <p:nvPr/>
        </p:nvSpPr>
        <p:spPr bwMode="auto">
          <a:xfrm flipH="0" flipV="0">
            <a:off x="514577" y="3360262"/>
            <a:ext cx="11210697" cy="640751"/>
          </a:xfrm>
        </p:spPr>
        <p:txBody>
          <a:bodyPr spcFirstLastPara="1" vertOverflow="overflow" horzOverflow="overflow" vert="horz" wrap="square" lIns="91423" tIns="45698" rIns="91423" bIns="45698" numCol="1" spcCol="0" rtlCol="0" fromWordArt="0" anchor="ctr" anchorCtr="0" forceAA="0" upright="0" compatLnSpc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799" algn="l" rtl="0">
              <a:lnSpc>
                <a:spcPct val="100000"/>
              </a:lnSpc>
              <a:spcBef>
                <a:spcPts val="639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406399" algn="l" rtl="0">
              <a:lnSpc>
                <a:spcPct val="100000"/>
              </a:lnSpc>
              <a:spcBef>
                <a:spcPts val="559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80999" algn="l" rtl="0">
              <a:lnSpc>
                <a:spcPct val="100000"/>
              </a:lnSpc>
              <a:spcBef>
                <a:spcPts val="479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25400" indent="0" algn="ctr">
              <a:buClr>
                <a:schemeClr val="dk1"/>
              </a:buClr>
              <a:buSzPts val="3200"/>
              <a:buFont typeface="Arial"/>
              <a:buNone/>
              <a:defRPr/>
            </a:pPr>
            <a:r>
              <a:rPr lang="it-IT" sz="26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Sviluppo di un Hierarchical Deterministic Wallet in GoLang</a:t>
            </a:r>
            <a:endParaRPr sz="2600">
              <a:solidFill>
                <a:schemeClr val="bg1"/>
              </a:solidFill>
              <a:latin typeface="Poppins"/>
              <a:cs typeface="Poppins"/>
            </a:endParaRPr>
          </a:p>
        </p:txBody>
      </p:sp>
      <p:sp>
        <p:nvSpPr>
          <p:cNvPr id="1771125056" name="Segnaposto testo 7"/>
          <p:cNvSpPr>
            <a:spLocks noGrp="1"/>
          </p:cNvSpPr>
          <p:nvPr/>
        </p:nvSpPr>
        <p:spPr bwMode="auto">
          <a:xfrm flipH="0" flipV="0">
            <a:off x="266716" y="4931733"/>
            <a:ext cx="11607174" cy="906436"/>
          </a:xfrm>
        </p:spPr>
        <p:txBody>
          <a:bodyPr spcFirstLastPara="1" wrap="square" lIns="91423" tIns="45698" rIns="91423" bIns="45698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799" algn="l" rtl="0">
              <a:lnSpc>
                <a:spcPct val="100000"/>
              </a:lnSpc>
              <a:spcBef>
                <a:spcPts val="639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406399" algn="l" rtl="0">
              <a:lnSpc>
                <a:spcPct val="100000"/>
              </a:lnSpc>
              <a:spcBef>
                <a:spcPts val="559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80999" algn="l" rtl="0">
              <a:lnSpc>
                <a:spcPct val="100000"/>
              </a:lnSpc>
              <a:spcBef>
                <a:spcPts val="479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55599" algn="l" rtl="0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25400" indent="0" algn="r">
              <a:buClr>
                <a:schemeClr val="dk1"/>
              </a:buClr>
              <a:buSzPts val="3200"/>
              <a:buFont typeface="Arial"/>
              <a:buNone/>
              <a:defRPr/>
            </a:pPr>
            <a:r>
              <a:rPr lang="it-IT" sz="18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Esame di Principles of Cryptocurrency Design — </a:t>
            </a:r>
            <a:r>
              <a:rPr lang="it-IT" sz="18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aa 2025/2026 </a:t>
            </a:r>
            <a:endParaRPr lang="it-IT" sz="1800">
              <a:solidFill>
                <a:schemeClr val="bg1"/>
              </a:solidFill>
              <a:latin typeface="Poppins"/>
              <a:ea typeface="Poppins"/>
              <a:cs typeface="Poppins"/>
            </a:endParaRPr>
          </a:p>
          <a:p>
            <a:pPr marL="25400" indent="0" algn="r">
              <a:buClr>
                <a:schemeClr val="dk1"/>
              </a:buClr>
              <a:buSzPts val="3200"/>
              <a:buFont typeface="Arial"/>
              <a:buNone/>
              <a:defRPr/>
            </a:pPr>
            <a:r>
              <a:rPr lang="it-IT" sz="18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Zbirciog Ionut Georgian — 0381279</a:t>
            </a:r>
            <a:endParaRPr sz="1800">
              <a:solidFill>
                <a:schemeClr val="bg1"/>
              </a:solidFill>
              <a:latin typeface="Poppins"/>
              <a:cs typeface="Poppins"/>
            </a:endParaRPr>
          </a:p>
        </p:txBody>
      </p:sp>
      <p:pic>
        <p:nvPicPr>
          <p:cNvPr id="1273747839" name="Picture 1273133703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 rot="0" flipH="0" flipV="0">
            <a:off x="514577" y="630569"/>
            <a:ext cx="908724" cy="908724"/>
          </a:xfrm>
          <a:prstGeom prst="rect">
            <a:avLst/>
          </a:prstGeom>
        </p:spPr>
      </p:pic>
      <p:pic>
        <p:nvPicPr>
          <p:cNvPr id="13780843" name="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9857687" y="1023579"/>
            <a:ext cx="1646988" cy="614875"/>
          </a:xfrm>
          <a:prstGeom prst="rect">
            <a:avLst/>
          </a:prstGeom>
        </p:spPr>
      </p:pic>
      <p:pic>
        <p:nvPicPr>
          <p:cNvPr id="1003589391" name=""/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 bwMode="auto">
          <a:xfrm flipH="0" flipV="0">
            <a:off x="650842" y="5143453"/>
            <a:ext cx="1058080" cy="10580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44043529" name="Google Shape;98;p14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-5891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257321" name="Google Shape;99;p14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4" y="2624136"/>
            <a:ext cx="3600450" cy="232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0987881" name="Google Shape;100;p14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4295775" y="2624137"/>
            <a:ext cx="3600450" cy="232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6704086" name="Google Shape;101;p14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8124825" y="2624137"/>
            <a:ext cx="3600450" cy="2324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7181896" name="Google Shape;102;p14"/>
          <p:cNvSpPr txBox="1"/>
          <p:nvPr/>
        </p:nvSpPr>
        <p:spPr bwMode="auto">
          <a:xfrm>
            <a:off x="847724" y="516382"/>
            <a:ext cx="11346794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Architettura del Wallet</a:t>
            </a:r>
            <a:endParaRPr lang="it-IT"/>
          </a:p>
        </p:txBody>
      </p:sp>
      <p:pic>
        <p:nvPicPr>
          <p:cNvPr id="17751858" name="Google Shape;104;p14" descr="image.png"/>
          <p:cNvPicPr/>
          <p:nvPr/>
        </p:nvPicPr>
        <p:blipFill rotWithShape="1">
          <a:blip r:embed="rId7">
            <a:alphaModFix/>
          </a:blip>
          <a:srcRect l="0" t="0" r="0" b="0"/>
          <a:stretch/>
        </p:blipFill>
        <p:spPr bwMode="auto">
          <a:xfrm>
            <a:off x="466725" y="5762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2135923" name="Google Shape;107;p14"/>
          <p:cNvSpPr txBox="1"/>
          <p:nvPr/>
        </p:nvSpPr>
        <p:spPr bwMode="auto">
          <a:xfrm>
            <a:off x="704849" y="3589598"/>
            <a:ext cx="3125639" cy="754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100" b="0" i="0" u="none" strike="noStrike" cap="none">
                <a:solidFill>
                  <a:srgbClr val="94A3B8"/>
                </a:solidFill>
                <a:latin typeface="Adwaita Sans"/>
                <a:ea typeface="Adwaita Sans"/>
                <a:cs typeface="Adwaita Sans"/>
              </a:rPr>
              <a:t>Generazione dell'entropia, mnemonic BIP-39 e derivazione gerarchica delle chiavi private/pubbliche tramite BIP-32 e BIP-44.</a:t>
            </a:r>
            <a:endParaRPr sz="1100">
              <a:latin typeface="Adwaita Sans"/>
              <a:cs typeface="Adwaita Sans"/>
            </a:endParaRPr>
          </a:p>
        </p:txBody>
      </p:sp>
      <p:sp>
        <p:nvSpPr>
          <p:cNvPr id="1277369179" name="Google Shape;110;p14"/>
          <p:cNvSpPr txBox="1"/>
          <p:nvPr/>
        </p:nvSpPr>
        <p:spPr bwMode="auto">
          <a:xfrm>
            <a:off x="4533899" y="3589598"/>
            <a:ext cx="3125279" cy="754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100" b="0" i="0" u="none" strike="noStrike" cap="none">
                <a:solidFill>
                  <a:srgbClr val="94A3B8"/>
                </a:solidFill>
                <a:latin typeface="Adwaita Sans"/>
                <a:ea typeface="Adwaita Sans"/>
                <a:cs typeface="Adwaita Sans"/>
              </a:rPr>
              <a:t>Selezione greedy degli UTXO, costruzione degli Input/Output, calcolo delle fee e firma ECDSA (Legacy e SegWit).</a:t>
            </a:r>
            <a:endParaRPr sz="1100">
              <a:latin typeface="Adwaita Sans"/>
              <a:cs typeface="Adwaita Sans"/>
            </a:endParaRPr>
          </a:p>
        </p:txBody>
      </p:sp>
      <p:sp>
        <p:nvSpPr>
          <p:cNvPr id="458655842" name="Google Shape;113;p14"/>
          <p:cNvSpPr txBox="1"/>
          <p:nvPr/>
        </p:nvSpPr>
        <p:spPr bwMode="auto">
          <a:xfrm>
            <a:off x="8362949" y="3589598"/>
            <a:ext cx="3142919" cy="10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100" b="0" i="0" u="none" strike="noStrike" cap="none">
                <a:solidFill>
                  <a:srgbClr val="94A3B8"/>
                </a:solidFill>
                <a:latin typeface="Adwaita Sans"/>
                <a:ea typeface="Adwaita Sans"/>
                <a:cs typeface="Adwaita Sans"/>
              </a:rPr>
              <a:t>Persistenza sicura su disco, import ed export del wallet e  integrazione con nodo locale Bitcoin Core via API Proxy Python e fallback su Mempool REST.</a:t>
            </a:r>
            <a:endParaRPr sz="1100">
              <a:latin typeface="Adwaita Sans"/>
              <a:cs typeface="Adwaita Sans"/>
            </a:endParaRPr>
          </a:p>
        </p:txBody>
      </p:sp>
      <p:pic>
        <p:nvPicPr>
          <p:cNvPr id="409774833" name="Google Shape;114;p14" descr="image.png"/>
          <p:cNvPicPr/>
          <p:nvPr/>
        </p:nvPicPr>
        <p:blipFill rotWithShape="1">
          <a:blip r:embed="rId8">
            <a:alphaModFix/>
          </a:blip>
          <a:srcRect l="0" t="0" r="0" b="0"/>
          <a:stretch/>
        </p:blipFill>
        <p:spPr bwMode="auto">
          <a:xfrm>
            <a:off x="704849" y="289083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1379703" name="Google Shape;115;p14" descr="image.png"/>
          <p:cNvPicPr/>
          <p:nvPr/>
        </p:nvPicPr>
        <p:blipFill rotWithShape="1">
          <a:blip r:embed="rId9">
            <a:alphaModFix/>
          </a:blip>
          <a:srcRect l="0" t="0" r="0" b="0"/>
          <a:stretch/>
        </p:blipFill>
        <p:spPr bwMode="auto">
          <a:xfrm>
            <a:off x="4533900" y="2890837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200341" name="Google Shape;116;p14" descr="image.png"/>
          <p:cNvPicPr/>
          <p:nvPr/>
        </p:nvPicPr>
        <p:blipFill rotWithShape="1">
          <a:blip r:embed="rId10">
            <a:alphaModFix/>
          </a:blip>
          <a:srcRect l="0" t="0" r="0" b="0"/>
          <a:stretch/>
        </p:blipFill>
        <p:spPr bwMode="auto">
          <a:xfrm>
            <a:off x="8362950" y="2890837"/>
            <a:ext cx="3810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443041" name="Flowchart: Alternate process 57549366"/>
          <p:cNvSpPr/>
          <p:nvPr/>
        </p:nvSpPr>
        <p:spPr bwMode="auto">
          <a:xfrm rot="0" flipH="0" flipV="0">
            <a:off x="1178121" y="2890836"/>
            <a:ext cx="2651288" cy="363323"/>
          </a:xfrm>
          <a:prstGeom prst="flowChartAlternateProcess">
            <a:avLst/>
          </a:prstGeom>
          <a:solidFill>
            <a:schemeClr val="accent6">
              <a:alpha val="24999"/>
            </a:schemeClr>
          </a:solidFill>
          <a:ln w="6350" cap="flat" cmpd="sng" algn="ctr">
            <a:solidFill>
              <a:schemeClr val="accent6">
                <a:lumMod val="74901"/>
              </a:schemeClr>
            </a:solidFill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it-IT" sz="1400" b="1">
                <a:solidFill>
                  <a:srgbClr val="F7931A"/>
                </a:solidFill>
                <a:latin typeface="Poppins"/>
                <a:ea typeface="Poppins"/>
                <a:cs typeface="Poppins"/>
              </a:rPr>
              <a:t>STEP 1 – Gestione Chiavi</a:t>
            </a:r>
            <a:endParaRPr sz="1400" b="1">
              <a:solidFill>
                <a:srgbClr val="F7931A"/>
              </a:solidFill>
              <a:latin typeface="Poppins"/>
              <a:cs typeface="Poppins"/>
            </a:endParaRPr>
          </a:p>
        </p:txBody>
      </p:sp>
      <p:sp>
        <p:nvSpPr>
          <p:cNvPr id="2033178410" name="Flowchart: Alternate process 57549366"/>
          <p:cNvSpPr/>
          <p:nvPr/>
        </p:nvSpPr>
        <p:spPr bwMode="auto">
          <a:xfrm rot="0" flipH="0" flipV="0">
            <a:off x="5006811" y="2890836"/>
            <a:ext cx="2651287" cy="363323"/>
          </a:xfrm>
          <a:prstGeom prst="flowChartAlternateProcess">
            <a:avLst/>
          </a:prstGeom>
          <a:solidFill>
            <a:schemeClr val="accent6">
              <a:alpha val="24999"/>
            </a:schemeClr>
          </a:solidFill>
          <a:ln w="6350" cap="flat" cmpd="sng" algn="ctr">
            <a:solidFill>
              <a:schemeClr val="accent6">
                <a:lumMod val="74901"/>
              </a:schemeClr>
            </a:solidFill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it-IT" sz="1400" b="1">
                <a:solidFill>
                  <a:srgbClr val="F7931A"/>
                </a:solidFill>
                <a:latin typeface="Poppins"/>
                <a:ea typeface="Poppins"/>
                <a:cs typeface="Poppins"/>
              </a:rPr>
              <a:t>STEP 2 – Transazioni</a:t>
            </a:r>
            <a:endParaRPr sz="1400" b="1">
              <a:solidFill>
                <a:srgbClr val="F7931A"/>
              </a:solidFill>
              <a:latin typeface="Poppins"/>
              <a:cs typeface="Poppins"/>
            </a:endParaRPr>
          </a:p>
        </p:txBody>
      </p:sp>
      <p:sp>
        <p:nvSpPr>
          <p:cNvPr id="456596851" name="Flowchart: Alternate process 57549366"/>
          <p:cNvSpPr/>
          <p:nvPr/>
        </p:nvSpPr>
        <p:spPr bwMode="auto">
          <a:xfrm rot="0" flipH="0" flipV="0">
            <a:off x="8835861" y="2890836"/>
            <a:ext cx="2651287" cy="363322"/>
          </a:xfrm>
          <a:prstGeom prst="flowChartAlternateProcess">
            <a:avLst/>
          </a:prstGeom>
          <a:solidFill>
            <a:schemeClr val="accent6">
              <a:alpha val="24999"/>
            </a:schemeClr>
          </a:solidFill>
          <a:ln w="6350" cap="flat" cmpd="sng" algn="ctr">
            <a:solidFill>
              <a:schemeClr val="accent6">
                <a:lumMod val="74901"/>
              </a:schemeClr>
            </a:solidFill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it-IT" sz="1400" b="1">
                <a:solidFill>
                  <a:srgbClr val="F7931A"/>
                </a:solidFill>
                <a:latin typeface="Poppins"/>
                <a:ea typeface="Poppins"/>
                <a:cs typeface="Poppins"/>
              </a:rPr>
              <a:t>STEP 1 – Broadcast &amp; Rete</a:t>
            </a:r>
            <a:endParaRPr sz="1400" b="1">
              <a:solidFill>
                <a:srgbClr val="F7931A"/>
              </a:solidFill>
              <a:latin typeface="Poppins"/>
              <a:cs typeface="Poppi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0169258" name="Google Shape;121;p15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6357740" name="Google Shape;124;p15"/>
          <p:cNvSpPr txBox="1"/>
          <p:nvPr/>
        </p:nvSpPr>
        <p:spPr bwMode="auto">
          <a:xfrm>
            <a:off x="847725" y="466725"/>
            <a:ext cx="1134427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Generazione della Mnemonic (BIP-39)</a:t>
            </a:r>
            <a:endParaRPr/>
          </a:p>
        </p:txBody>
      </p:sp>
      <p:pic>
        <p:nvPicPr>
          <p:cNvPr id="121019071" name="Google Shape;126;p15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5" y="576262"/>
            <a:ext cx="266700" cy="266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1843384" name=""/>
          <p:cNvGrpSpPr/>
          <p:nvPr/>
        </p:nvGrpSpPr>
        <p:grpSpPr bwMode="auto">
          <a:xfrm>
            <a:off x="2075157" y="1236628"/>
            <a:ext cx="7905713" cy="1114587"/>
            <a:chOff x="0" y="0"/>
            <a:chExt cx="7905713" cy="1114587"/>
          </a:xfrm>
        </p:grpSpPr>
        <p:pic>
          <p:nvPicPr>
            <p:cNvPr id="1043847805" name="Google Shape;122;p15" descr="image.png"/>
            <p:cNvPicPr/>
            <p:nvPr/>
          </p:nvPicPr>
          <p:blipFill rotWithShape="1">
            <a:blip r:embed="rId5">
              <a:alphaModFix/>
            </a:blip>
            <a:srcRect l="0" t="0" r="0" b="0"/>
            <a:stretch/>
          </p:blipFill>
          <p:spPr bwMode="auto">
            <a:xfrm rot="0" flipH="0" flipV="0">
              <a:off x="0" y="0"/>
              <a:ext cx="7842656" cy="106649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72021268" name="Google Shape;131;p15"/>
            <p:cNvSpPr txBox="1"/>
            <p:nvPr/>
          </p:nvSpPr>
          <p:spPr bwMode="auto">
            <a:xfrm rot="0" flipH="0" flipV="0">
              <a:off x="136330" y="154107"/>
              <a:ext cx="7769382" cy="9604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it-IT" sz="1400" b="1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BIP-39</a:t>
              </a:r>
              <a:r>
                <a:rPr lang="en-US" sz="1400" b="1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:</a:t>
              </a:r>
              <a:r>
                <a:rPr lang="it-IT" sz="1400" b="1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 </a:t>
              </a:r>
              <a:r>
                <a:rPr lang="it-IT" sz="1400" b="0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Permette di generare un seed random e di codificarlo in una sequenza di 12-24 parole facili da salvare e memorizzare. Garantisce la portabilità completa del wallet verso altri wallet.</a:t>
              </a:r>
              <a:endParaRPr sz="1400" b="0">
                <a:latin typeface="Adwaita Sans"/>
                <a:cs typeface="Adwaita Sans"/>
              </a:endParaRPr>
            </a:p>
          </p:txBody>
        </p:sp>
      </p:grpSp>
      <p:sp>
        <p:nvSpPr>
          <p:cNvPr id="2079287871" name=""/>
          <p:cNvSpPr txBox="1"/>
          <p:nvPr/>
        </p:nvSpPr>
        <p:spPr bwMode="auto">
          <a:xfrm rot="0" flipH="0" flipV="0">
            <a:off x="466724" y="2705721"/>
            <a:ext cx="6704304" cy="26276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39821" marR="0" indent="-239821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lang="it-IT" sz="1200" b="1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Entropia Iniziale</a:t>
            </a:r>
            <a:r>
              <a:rPr lang="it-IT" sz="1200" b="1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:</a:t>
            </a:r>
            <a:r>
              <a:rPr lang="it-IT" sz="1200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 Generazione di 128/256 bit di entropia. Calcolo del checksum come </a:t>
            </a:r>
            <a:r>
              <a:rPr lang="it-IT" sz="12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CS</a:t>
            </a:r>
            <a:r>
              <a:rPr lang="it-IT" sz="12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</a:t>
            </a:r>
            <a:r>
              <a:rPr lang="it-IT" sz="12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=</a:t>
            </a:r>
            <a:r>
              <a:rPr lang="it-IT" sz="12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</a:t>
            </a:r>
            <a:r>
              <a:rPr lang="it-IT" sz="12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SHA-256</a:t>
            </a:r>
            <a:r>
              <a:rPr lang="it-IT" sz="12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(ENT)[:ENT / 32]</a:t>
            </a:r>
            <a:r>
              <a:rPr lang="it-IT" sz="120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.</a:t>
            </a:r>
            <a:endParaRPr sz="120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39821" marR="0" indent="-239821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lang="it-IT" sz="1200" b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Mnemonic:</a:t>
            </a: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Si dividono gli  </a:t>
            </a:r>
            <a:r>
              <a:rPr lang="it-IT" sz="10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ENT + CS</a:t>
            </a: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bit in blocchi da 11 bit e si mappano sulla wordlist standard BIP-39, formando la </a:t>
            </a:r>
            <a:r>
              <a:rPr lang="it-IT" sz="1200" b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mnemonic sentence</a:t>
            </a: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.</a:t>
            </a:r>
            <a:endParaRPr lang="it-IT"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39821" marR="0" indent="-239821" algn="l" defTabSz="914400" rtl="0">
              <a:lnSpc>
                <a:spcPts val="1414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lang="it-IT" sz="1200" b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Wordlist: </a:t>
            </a: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Lista di 2048 parole (it, eng, chi), con le seguenti caratteristiche:</a:t>
            </a:r>
            <a:endParaRPr lang="it-IT"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617843" marR="0" lvl="1" indent="-217793" algn="l" defTabSz="9144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Ø"/>
              <a:defRPr/>
            </a:pP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Non ambiguità</a:t>
            </a:r>
            <a:endParaRPr lang="it-IT"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617843" marR="0" lvl="1" indent="-217793" algn="l" defTabSz="9144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Ø"/>
              <a:defRPr/>
            </a:pP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No parole simili (</a:t>
            </a:r>
            <a:r>
              <a:rPr lang="it-IT" sz="1200" b="0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built </a:t>
            </a:r>
            <a:r>
              <a:rPr lang="it-IT"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e </a:t>
            </a:r>
            <a:r>
              <a:rPr lang="it-IT" sz="1200" b="0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build</a:t>
            </a:r>
            <a:r>
              <a:rPr lang="it-IT"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, </a:t>
            </a:r>
            <a:r>
              <a:rPr lang="it-IT" sz="1200" b="0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pena</a:t>
            </a:r>
            <a:r>
              <a:rPr lang="it-IT"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e </a:t>
            </a:r>
            <a:r>
              <a:rPr lang="it-IT" sz="1200" b="0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penna</a:t>
            </a:r>
            <a:r>
              <a:rPr lang="it-IT"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, etc...</a:t>
            </a: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)</a:t>
            </a:r>
            <a:endParaRPr lang="it-IT"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617843" marR="0" lvl="1" indent="-217793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Ø"/>
              <a:defRPr/>
            </a:pP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Ordinamento</a:t>
            </a:r>
            <a:endParaRPr lang="it-IT"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17793" marR="0" lvl="0" indent="-217793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lang="it-IT" sz="1200" b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Seed:</a:t>
            </a:r>
            <a:r>
              <a:rPr lang="it-IT"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PBKDF2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(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HMAC-SHA512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, 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seed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, 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iter=2048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, 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salt=”mnemonic” + passphrase</a:t>
            </a:r>
            <a:r>
              <a:rPr lang="it-IT" sz="1200" b="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)</a:t>
            </a:r>
            <a:endParaRPr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</p:txBody>
      </p:sp>
      <p:graphicFrame>
        <p:nvGraphicFramePr>
          <p:cNvPr id="623975342" name="Table 1475532730"/>
          <p:cNvGraphicFramePr>
            <a:graphicFrameLocks xmlns:a="http://schemas.openxmlformats.org/drawingml/2006/main"/>
          </p:cNvGraphicFramePr>
          <p:nvPr/>
        </p:nvGraphicFramePr>
        <p:xfrm rot="0">
          <a:off x="7718767" y="2705721"/>
          <a:ext cx="4050000" cy="227520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{46F890A9-2807-4EBB-B81D-B2AA78EC7F39}</a:tableStyleId>
              </a:tblPr>
              <a:tblGrid>
                <a:gridCol w="1012499"/>
                <a:gridCol w="1012499"/>
                <a:gridCol w="1012500"/>
                <a:gridCol w="1012499"/>
              </a:tblGrid>
              <a:tr h="379200"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>
                          <a:solidFill>
                            <a:srgbClr val="18294F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ENT</a:t>
                      </a:r>
                      <a:endParaRPr sz="1000">
                        <a:solidFill>
                          <a:srgbClr val="18294F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F7931A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>
                          <a:solidFill>
                            <a:srgbClr val="18294F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CS</a:t>
                      </a:r>
                      <a:endParaRPr sz="1000">
                        <a:solidFill>
                          <a:srgbClr val="18294F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F7931A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>
                          <a:solidFill>
                            <a:srgbClr val="18294F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ENT+CS</a:t>
                      </a:r>
                      <a:endParaRPr sz="1000">
                        <a:solidFill>
                          <a:srgbClr val="18294F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F7931A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>
                          <a:solidFill>
                            <a:srgbClr val="18294F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MS</a:t>
                      </a:r>
                      <a:endParaRPr sz="1000">
                        <a:solidFill>
                          <a:srgbClr val="18294F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F7931A"/>
                    </a:solidFill>
                  </a:tcPr>
                </a:tc>
              </a:tr>
              <a:tr h="379200"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128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4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132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12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79200"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160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5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165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15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79200"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192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6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198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18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79200"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224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7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231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21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79200"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256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8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264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marL="25400" indent="0" algn="ctr"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  <a:defRPr/>
                      </a:pPr>
                      <a:r>
                        <a:rPr lang="it-IT" sz="1000" b="1">
                          <a:solidFill>
                            <a:schemeClr val="bg1"/>
                          </a:solidFill>
                          <a:latin typeface="Adwaita Sans"/>
                          <a:ea typeface="Adwaita Sans"/>
                          <a:cs typeface="Adwaita Sans"/>
                        </a:rPr>
                        <a:t>24</a:t>
                      </a:r>
                      <a:endParaRPr sz="1000" b="1">
                        <a:solidFill>
                          <a:schemeClr val="bg1"/>
                        </a:solidFill>
                        <a:latin typeface="Adwaita Sans"/>
                        <a:cs typeface="Adwaita Sans"/>
                      </a:endParaRPr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0085429" name="Google Shape;121;p15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19049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837501" name="Google Shape;124;p15"/>
          <p:cNvSpPr txBox="1"/>
          <p:nvPr/>
        </p:nvSpPr>
        <p:spPr bwMode="auto">
          <a:xfrm>
            <a:off x="847724" y="518722"/>
            <a:ext cx="11351474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Generazione della 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Master Key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e HD</a:t>
            </a: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(BIP-3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</a:t>
            </a: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)</a:t>
            </a:r>
            <a:endParaRPr/>
          </a:p>
        </p:txBody>
      </p:sp>
      <p:pic>
        <p:nvPicPr>
          <p:cNvPr id="1385983050" name="Google Shape;126;p15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4" y="576261"/>
            <a:ext cx="266699" cy="2666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81793247" name=""/>
          <p:cNvGrpSpPr/>
          <p:nvPr/>
        </p:nvGrpSpPr>
        <p:grpSpPr bwMode="auto">
          <a:xfrm>
            <a:off x="2409351" y="2797942"/>
            <a:ext cx="8060001" cy="1130347"/>
            <a:chOff x="0" y="0"/>
            <a:chExt cx="8060001" cy="1130347"/>
          </a:xfrm>
        </p:grpSpPr>
        <p:pic>
          <p:nvPicPr>
            <p:cNvPr id="317610623" name="Google Shape;122;p15" descr="image.png"/>
            <p:cNvPicPr/>
            <p:nvPr/>
          </p:nvPicPr>
          <p:blipFill rotWithShape="1">
            <a:blip r:embed="rId5">
              <a:alphaModFix/>
            </a:blip>
            <a:srcRect l="0" t="0" r="0" b="0"/>
            <a:stretch/>
          </p:blipFill>
          <p:spPr bwMode="auto">
            <a:xfrm rot="0" flipH="0" flipV="0">
              <a:off x="0" y="0"/>
              <a:ext cx="8041027" cy="112540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79113194" name="Google Shape;131;p15"/>
            <p:cNvSpPr txBox="1"/>
            <p:nvPr/>
          </p:nvSpPr>
          <p:spPr bwMode="auto">
            <a:xfrm rot="0" flipH="0" flipV="0">
              <a:off x="168218" y="169867"/>
              <a:ext cx="7891782" cy="9604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it-IT" sz="1400" b="1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BIP-32</a:t>
              </a:r>
              <a:r>
                <a:rPr lang="en-US" sz="1400" b="1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:</a:t>
              </a:r>
              <a:r>
                <a:rPr lang="it-IT" sz="1400" b="1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 </a:t>
              </a:r>
              <a:r>
                <a:rPr lang="it-IT" sz="1400" b="0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Permette di generare un intero albero di chiavi a partire da un’unico </a:t>
              </a:r>
              <a:r>
                <a:rPr lang="it-IT" sz="1400" b="1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seed iniziale</a:t>
              </a:r>
              <a:r>
                <a:rPr lang="it-IT" sz="1400" b="0" i="0" u="none" strike="noStrike" cap="none" spc="0">
                  <a:solidFill>
                    <a:srgbClr val="CBD5E1"/>
                  </a:solidFill>
                  <a:latin typeface="Adwaita Sans"/>
                  <a:ea typeface="Adwaita Sans"/>
                  <a:cs typeface="Adwaita Sans"/>
                </a:rPr>
                <a:t>. Tutte le chiavi derivano da una chiave master, pertanto è necessario solo salvare il seed iniziale (mnemonic) per ricostruire l’intero albero di chiavi.</a:t>
              </a:r>
              <a:endParaRPr sz="1400" b="0"/>
            </a:p>
          </p:txBody>
        </p:sp>
      </p:grpSp>
      <p:sp>
        <p:nvSpPr>
          <p:cNvPr id="1039507789" name=""/>
          <p:cNvSpPr txBox="1"/>
          <p:nvPr/>
        </p:nvSpPr>
        <p:spPr bwMode="auto">
          <a:xfrm rot="0" flipH="0" flipV="0">
            <a:off x="600075" y="4807113"/>
            <a:ext cx="11314611" cy="86162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39821" marR="0" indent="-239821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lang="it-IT" sz="1600" b="1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Extended Private Key:</a:t>
            </a:r>
            <a:r>
              <a:rPr lang="it-IT" sz="1600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chemeClr val="bg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xpriv=</m:t>
                      </m:r>
                      <m:d>
                        <m:dPr>
                          <m:begChr m:val="("/>
                          <m:endChr m:val=")"/>
                          <m:ctrlPr>
                            <a:rPr lang="it-IT" sz="16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6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14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master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sz="16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master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it-IT" sz="1200" u="none" strike="noStrike" cap="none" spc="0">
                          <a:solidFill>
                            <a:schemeClr val="bg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</m:oMath>
                  </m:oMathPara>
                </a14:m>
              </mc:Choice>
              <mc:Fallback/>
            </mc:AlternateContent>
            <a:r>
              <a:rPr lang="it-IT" sz="1600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 </a:t>
            </a:r>
            <a:r>
              <a:rPr lang="it-IT" sz="16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HMAC-SHA512</a:t>
            </a:r>
            <a:r>
              <a:rPr lang="it-IT" sz="16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(</a:t>
            </a:r>
            <a:r>
              <a:rPr lang="it-IT" sz="16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key = “Bitcoin seed”</a:t>
            </a:r>
            <a:r>
              <a:rPr lang="it-IT" sz="16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, </a:t>
            </a:r>
            <a:r>
              <a:rPr lang="it-IT" sz="16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data = seed</a:t>
            </a:r>
            <a:r>
              <a:rPr lang="it-IT" sz="1600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).</a:t>
            </a:r>
            <a:r>
              <a:rPr lang="it-IT" sz="1600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 </a:t>
            </a:r>
            <a:endParaRPr lang="it-IT" sz="1600" strike="noStrike" cap="none" spc="0">
              <a:solidFill>
                <a:schemeClr val="bg1"/>
              </a:solidFill>
              <a:latin typeface="Adwaita Sans"/>
              <a:ea typeface="Adwaita Sans"/>
              <a:cs typeface="Adwaita Sans"/>
            </a:endParaRPr>
          </a:p>
          <a:p>
            <a:pPr marL="239821" marR="0" indent="-239821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lang="it-IT" sz="1600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A partire da questa chiave, si derivano tutte le altre.</a:t>
            </a:r>
            <a:endParaRPr sz="160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</p:txBody>
      </p:sp>
      <p:pic>
        <p:nvPicPr>
          <p:cNvPr id="1762224301" name="Google Shape;144;p15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0" y="19049"/>
            <a:ext cx="114300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20149219" name="Google Shape;121;p15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9343424" name="Google Shape;124;p15"/>
          <p:cNvSpPr txBox="1"/>
          <p:nvPr/>
        </p:nvSpPr>
        <p:spPr bwMode="auto">
          <a:xfrm>
            <a:off x="847724" y="518722"/>
            <a:ext cx="11351474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Generazione della 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Master Key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e HD</a:t>
            </a: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(BIP-3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</a:t>
            </a: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)</a:t>
            </a:r>
            <a:endParaRPr/>
          </a:p>
        </p:txBody>
      </p:sp>
      <p:pic>
        <p:nvPicPr>
          <p:cNvPr id="686953332" name="Google Shape;126;p15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4" y="576261"/>
            <a:ext cx="266699" cy="266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8294137" name="Google Shape;144;p15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0" y="19049"/>
            <a:ext cx="114300" cy="142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0304832" name=""/>
          <p:cNvGrpSpPr/>
          <p:nvPr/>
        </p:nvGrpSpPr>
        <p:grpSpPr bwMode="auto">
          <a:xfrm>
            <a:off x="247493" y="1896612"/>
            <a:ext cx="5476874" cy="2986085"/>
            <a:chOff x="0" y="0"/>
            <a:chExt cx="5476874" cy="2986085"/>
          </a:xfrm>
        </p:grpSpPr>
        <p:grpSp>
          <p:nvGrpSpPr>
            <p:cNvPr id="1573944886" name=""/>
            <p:cNvGrpSpPr/>
            <p:nvPr/>
          </p:nvGrpSpPr>
          <p:grpSpPr bwMode="auto">
            <a:xfrm>
              <a:off x="0" y="0"/>
              <a:ext cx="5476874" cy="2986085"/>
              <a:chOff x="0" y="0"/>
              <a:chExt cx="5476874" cy="2986085"/>
            </a:xfrm>
          </p:grpSpPr>
          <p:pic>
            <p:nvPicPr>
              <p:cNvPr id="2023056461" name="Google Shape;154;p16" descr="image.png"/>
              <p:cNvPicPr/>
              <p:nvPr/>
            </p:nvPicPr>
            <p:blipFill rotWithShape="1">
              <a:blip r:embed="rId6">
                <a:alphaModFix/>
              </a:blip>
              <a:srcRect l="0" t="0" r="0" b="0"/>
              <a:stretch/>
            </p:blipFill>
            <p:spPr bwMode="auto">
              <a:xfrm>
                <a:off x="0" y="0"/>
                <a:ext cx="5476874" cy="29860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9156475" name="Google Shape;163;p16"/>
              <p:cNvSpPr txBox="1"/>
              <p:nvPr/>
            </p:nvSpPr>
            <p:spPr bwMode="auto">
              <a:xfrm>
                <a:off x="84251" y="188533"/>
                <a:ext cx="5258215" cy="228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14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it-IT" sz="1500" b="0" i="0" u="none" strike="noStrike" cap="none">
                    <a:solidFill>
                      <a:srgbClr val="F7931A"/>
                    </a:solidFill>
                    <a:latin typeface="Poppins SemiBold"/>
                    <a:ea typeface="Poppins SemiBold"/>
                    <a:cs typeface="Poppins SemiBold"/>
                  </a:rPr>
                  <a:t>Normal </a:t>
                </a:r>
                <a:r>
                  <a:rPr lang="en-US" sz="1500" b="0" i="0" u="none" strike="noStrike" cap="none">
                    <a:solidFill>
                      <a:srgbClr val="F7931A"/>
                    </a:solidFill>
                    <a:latin typeface="Poppins SemiBold"/>
                    <a:ea typeface="Poppins SemiBold"/>
                    <a:cs typeface="Poppins SemiBold"/>
                  </a:rPr>
                  <a:t>Derivation</a:t>
                </a:r>
                <a:endParaRPr/>
              </a:p>
            </p:txBody>
          </p:sp>
          <p:sp>
            <p:nvSpPr>
              <p:cNvPr id="311314332" name="Google Shape;164;p16"/>
              <p:cNvSpPr txBox="1"/>
              <p:nvPr/>
            </p:nvSpPr>
            <p:spPr bwMode="auto">
              <a:xfrm>
                <a:off x="217602" y="2028807"/>
                <a:ext cx="5193944" cy="8233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it-IT" sz="1200" b="0" i="0" u="none" strike="noStrike" cap="none">
                    <a:solidFill>
                      <a:srgbClr val="94A3B8"/>
                    </a:solidFill>
                    <a:latin typeface="Adwaita Sans"/>
                    <a:ea typeface="Adwaita Sans"/>
                    <a:cs typeface="Adwaita Sans"/>
                  </a:rPr>
                  <a:t>Permette di generare indirizzi senza usando solo la chiave pubblica del genitore, senza conoscerne la chiave privata. Usata all’interno di server </a:t>
                </a:r>
                <a:r>
                  <a:rPr lang="it-IT" sz="1200" b="1" i="0" u="none" strike="noStrike" cap="none">
                    <a:solidFill>
                      <a:srgbClr val="94A3B8"/>
                    </a:solidFill>
                    <a:latin typeface="Adwaita Sans"/>
                    <a:ea typeface="Adwaita Sans"/>
                    <a:cs typeface="Adwaita Sans"/>
                  </a:rPr>
                  <a:t>watch-only</a:t>
                </a:r>
                <a:r>
                  <a:rPr lang="it-IT" sz="1200" b="0" i="0" u="none" strike="noStrike" cap="none">
                    <a:solidFill>
                      <a:srgbClr val="94A3B8"/>
                    </a:solidFill>
                    <a:latin typeface="Adwaita Sans"/>
                    <a:ea typeface="Adwaita Sans"/>
                    <a:cs typeface="Adwaita Sans"/>
                  </a:rPr>
                  <a:t>.</a:t>
                </a:r>
                <a:endParaRPr sz="1800" b="0" i="1">
                  <a:latin typeface="Adwaita Sans"/>
                  <a:cs typeface="Adwaita Sans"/>
                </a:endParaRPr>
              </a:p>
            </p:txBody>
          </p:sp>
          <p:sp>
            <p:nvSpPr>
              <p:cNvPr id="113928183" name="Google Shape;165;p16"/>
              <p:cNvSpPr/>
              <p:nvPr/>
            </p:nvSpPr>
            <p:spPr bwMode="auto">
              <a:xfrm>
                <a:off x="331902" y="1788597"/>
                <a:ext cx="5000625" cy="19049"/>
              </a:xfrm>
              <a:prstGeom prst="rect">
                <a:avLst/>
              </a:prstGeom>
              <a:solidFill>
                <a:srgbClr val="334155"/>
              </a:solidFill>
              <a:ln>
                <a:noFill/>
              </a:ln>
            </p:spPr>
            <p:txBody>
              <a:bodyPr spcFirstLastPara="1" wrap="square" lIns="91423" tIns="45699" rIns="91423" bIns="45699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983177721" name="Google Shape;164;p16"/>
            <p:cNvSpPr txBox="1"/>
            <p:nvPr/>
          </p:nvSpPr>
          <p:spPr bwMode="auto">
            <a:xfrm>
              <a:off x="276519" y="864422"/>
              <a:ext cx="5044184" cy="6190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sz="1200">
                  <a:solidFill>
                    <a:schemeClr val="bg1"/>
                  </a:solidFill>
                  <a:latin typeface="Adwaita Sans"/>
                  <a:ea typeface="Adwaita Sans"/>
                  <a:cs typeface="Adwaita Sans"/>
                </a:rPr>
                <a:t>La derivazione dei figlio </a:t>
              </a: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r>
                          <m:rPr>
                            <m:sty m:val="p"/>
                          </m:rPr>
                          <a:rPr lang="it-IT" sz="1200" u="none" strike="noStrike" cap="none" spc="0">
                            <a:solidFill>
                              <a:schemeClr val="bg1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(i&lt;</m:t>
                        </m:r>
                        <m:sSup>
                          <m:sSupPr>
                            <m:ctrlPr>
                              <a:rPr lang="it-IT" sz="1200" u="none" strike="noStrike" cap="none" spc="0">
                                <a:solidFill>
                                  <a:schemeClr val="bg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it-IT" sz="1200" u="none" strike="noStrike" cap="none" spc="0">
                                <a:solidFill>
                                  <a:schemeClr val="bg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it-IT" sz="1200" u="none" strike="noStrike" cap="none" spc="0">
                                <a:solidFill>
                                  <a:schemeClr val="bg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31</m:t>
                            </m:r>
                          </m:sup>
                        </m:sSup>
                        <m:r>
                          <m:rPr/>
                          <a:rPr lang="it-IT" sz="1200" u="none" strike="noStrike" cap="none" spc="0">
                            <a:solidFill>
                              <a:schemeClr val="bg1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</mc:Choice>
                <mc:Fallback/>
              </mc:AlternateContent>
              <a:r>
                <a:rPr sz="1200">
                  <a:solidFill>
                    <a:schemeClr val="bg1"/>
                  </a:solidFill>
                  <a:latin typeface="Adwaita Sans"/>
                  <a:ea typeface="Adwaita Sans"/>
                  <a:cs typeface="Adwaita Sans"/>
                </a:rPr>
                <a:t>:</a:t>
              </a:r>
              <a:endParaRPr sz="1200">
                <a:solidFill>
                  <a:schemeClr val="bg1"/>
                </a:solidFill>
                <a:latin typeface="Adwaita Sans"/>
                <a:ea typeface="Adwaita Sans"/>
                <a:cs typeface="Adwaita Sans"/>
              </a:endParaRPr>
            </a:p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r>
                          <m:rPr>
                            <m:sty m:val="p"/>
                          </m:rPr>
                          <a:rPr lang="it-IT" sz="1200" u="none" strike="noStrike" cap="none" spc="0">
                            <a:solidFill>
                              <a:schemeClr val="bg1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I=</m:t>
                        </m:r>
                        <m:r>
                          <m:rPr>
                            <m:sty m:val="p"/>
                          </m:rPr>
                          <a:rPr lang="it-IT" sz="1200" u="none" strike="noStrike" cap="none" spc="0">
                            <a:solidFill>
                              <a:schemeClr val="bg1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HMAC-SHA512</m:t>
                        </m:r>
                        <m:d>
                          <m:dPr>
                            <m:begChr m:val="("/>
                            <m:endChr m:val=")"/>
                            <m:ctrlPr>
                              <a:rPr lang="it-IT" sz="1200" u="none" strike="noStrike" cap="none" spc="0">
                                <a:solidFill>
                                  <a:schemeClr val="bg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1200" u="none" strike="noStrike" cap="none" spc="0">
                                    <a:solidFill>
                                      <a:schemeClr val="bg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it-IT" sz="1200" u="none" strike="noStrike" cap="none" spc="0">
                                    <a:solidFill>
                                      <a:schemeClr val="bg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it-IT" sz="1200" u="none" strike="noStrike" cap="none" spc="0">
                                    <a:solidFill>
                                      <a:schemeClr val="bg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parent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it-IT" sz="1200" u="none" strike="noStrike" cap="none" spc="0">
                                <a:solidFill>
                                  <a:schemeClr val="bg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  </m:t>
                            </m:r>
                            <m:sSub>
                              <m:sSubPr>
                                <m:ctrlPr>
                                  <a:rPr lang="it-IT" sz="1200" u="none" strike="noStrike" cap="none" spc="0">
                                    <a:solidFill>
                                      <a:schemeClr val="bg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it-IT" sz="1200" u="none" strike="noStrike" cap="none" spc="0">
                                    <a:solidFill>
                                      <a:schemeClr val="bg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kPub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it-IT" sz="1200" u="none" strike="noStrike" cap="none" spc="0">
                                    <a:solidFill>
                                      <a:schemeClr val="bg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parent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it-IT" sz="1200" u="none" strike="noStrike" cap="none" spc="0">
                                <a:solidFill>
                                  <a:schemeClr val="bg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+i</m:t>
                            </m:r>
                          </m:e>
                        </m:d>
                      </m:oMath>
                    </m:oMathPara>
                  </a14:m>
                </mc:Choice>
                <mc:Fallback/>
              </mc:AlternateContent>
              <a:endParaRPr sz="1200">
                <a:solidFill>
                  <a:schemeClr val="bg1"/>
                </a:solidFill>
                <a:latin typeface="Adwaita Sans"/>
                <a:cs typeface="Adwaita Sans"/>
              </a:endParaRPr>
            </a:p>
          </p:txBody>
        </p:sp>
      </p:grpSp>
      <p:pic>
        <p:nvPicPr>
          <p:cNvPr id="1111107398" name="Google Shape;154;p16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6488183" y="1915662"/>
            <a:ext cx="5476874" cy="2986085"/>
          </a:xfrm>
          <a:prstGeom prst="rect">
            <a:avLst/>
          </a:prstGeom>
          <a:noFill/>
          <a:ln>
            <a:noFill/>
          </a:ln>
        </p:spPr>
      </p:pic>
      <p:sp>
        <p:nvSpPr>
          <p:cNvPr id="864562069" name="Google Shape;163;p16"/>
          <p:cNvSpPr txBox="1"/>
          <p:nvPr/>
        </p:nvSpPr>
        <p:spPr bwMode="auto">
          <a:xfrm>
            <a:off x="6732809" y="2085146"/>
            <a:ext cx="5261814" cy="22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4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500" b="0" i="0" u="none" strike="noStrike" cap="none">
                <a:solidFill>
                  <a:srgbClr val="F7931A"/>
                </a:solidFill>
                <a:latin typeface="Poppins SemiBold"/>
                <a:ea typeface="Poppins SemiBold"/>
                <a:cs typeface="Poppins SemiBold"/>
              </a:rPr>
              <a:t>Hardened </a:t>
            </a:r>
            <a:r>
              <a:rPr lang="en-US" sz="1500" b="0" i="0" u="none" strike="noStrike" cap="none">
                <a:solidFill>
                  <a:srgbClr val="F7931A"/>
                </a:solidFill>
                <a:latin typeface="Poppins SemiBold"/>
                <a:ea typeface="Poppins SemiBold"/>
                <a:cs typeface="Poppins SemiBold"/>
              </a:rPr>
              <a:t>Derivation</a:t>
            </a:r>
            <a:endParaRPr/>
          </a:p>
        </p:txBody>
      </p:sp>
      <p:sp>
        <p:nvSpPr>
          <p:cNvPr id="1677397067" name="Google Shape;164;p16"/>
          <p:cNvSpPr txBox="1"/>
          <p:nvPr/>
        </p:nvSpPr>
        <p:spPr bwMode="auto">
          <a:xfrm>
            <a:off x="6696449" y="3953994"/>
            <a:ext cx="5195023" cy="5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/>
            </a:pPr>
            <a:r>
              <a:rPr sz="1200" b="0" i="0" u="none">
                <a:solidFill>
                  <a:srgbClr val="728094"/>
                </a:solidFill>
                <a:latin typeface="Adwaita Sans"/>
                <a:ea typeface="Adwaita Sans"/>
                <a:cs typeface="Adwaita Sans"/>
              </a:rPr>
              <a:t>Si usa obbligatoriamente la chiave </a:t>
            </a:r>
            <a:r>
              <a:rPr sz="1200" b="1" i="0" u="none">
                <a:solidFill>
                  <a:srgbClr val="728094"/>
                </a:solidFill>
                <a:latin typeface="Adwaita Sans"/>
                <a:ea typeface="Adwaita Sans"/>
                <a:cs typeface="Adwaita Sans"/>
              </a:rPr>
              <a:t>privata</a:t>
            </a:r>
            <a:r>
              <a:rPr sz="1200" b="0" i="0" u="none">
                <a:solidFill>
                  <a:srgbClr val="728094"/>
                </a:solidFill>
                <a:latin typeface="Adwaita Sans"/>
                <a:ea typeface="Adwaita Sans"/>
                <a:cs typeface="Adwaita Sans"/>
              </a:rPr>
              <a:t> del genitore </a:t>
            </a:r>
            <a:r>
              <a:rPr sz="1200" b="0" i="0" u="none">
                <a:solidFill>
                  <a:srgbClr val="728094"/>
                </a:solidFill>
                <a:latin typeface="Adwaita Sans"/>
                <a:ea typeface="Adwaita Sans"/>
                <a:cs typeface="Adwaita Sans"/>
              </a:rPr>
              <a:t>$\rightarrow$</a:t>
            </a:r>
            <a:r>
              <a:rPr sz="1200" b="0" i="0" u="none">
                <a:solidFill>
                  <a:srgbClr val="728094"/>
                </a:solidFill>
                <a:latin typeface="Adwaita Sans"/>
                <a:ea typeface="Adwaita Sans"/>
                <a:cs typeface="Adwaita Sans"/>
              </a:rPr>
              <a:t> se un figlio viene compromesso, è matematicamente garantito che non potrà mai esporre il genitore o i "fratelli".</a:t>
            </a:r>
            <a:endParaRPr>
              <a:solidFill>
                <a:srgbClr val="728094"/>
              </a:solidFill>
              <a:latin typeface="Adwaita Sans"/>
              <a:cs typeface="Adwaita Sans"/>
            </a:endParaRPr>
          </a:p>
        </p:txBody>
      </p:sp>
      <p:sp>
        <p:nvSpPr>
          <p:cNvPr id="101449057" name="Google Shape;165;p16"/>
          <p:cNvSpPr/>
          <p:nvPr/>
        </p:nvSpPr>
        <p:spPr bwMode="auto">
          <a:xfrm>
            <a:off x="6752250" y="3685209"/>
            <a:ext cx="5000625" cy="1904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67100178" name="Google Shape;164;p16"/>
          <p:cNvSpPr txBox="1"/>
          <p:nvPr/>
        </p:nvSpPr>
        <p:spPr bwMode="auto">
          <a:xfrm>
            <a:off x="6732809" y="2493540"/>
            <a:ext cx="5120863" cy="956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20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La derivazione dei figlio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i≥</m:t>
                          </m:r>
                          <m:sSup>
                            <m:sSupPr>
                              <m:ctrl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sz="120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:</a:t>
            </a:r>
            <a:endParaRPr sz="1200">
              <a:solidFill>
                <a:schemeClr val="bg1"/>
              </a:solidFill>
              <a:latin typeface="Adwaita Sans"/>
              <a:ea typeface="Adwaita Sans"/>
              <a:cs typeface="Adwaita Sa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it-IT" sz="1200" u="none" strike="noStrike" cap="none" spc="0">
                          <a:solidFill>
                            <a:schemeClr val="bg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  <m:sSub>
                        <m:sSubPr>
                          <m:ctrl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it-IT" sz="1200" u="none" strike="noStrike" cap="none" spc="0">
                          <a:solidFill>
                            <a:schemeClr val="bg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=HMAC-SHA512</m:t>
                      </m:r>
                      <m:d>
                        <m:dPr>
                          <m:begChr m:val="("/>
                          <m:endChr m:val=")"/>
                          <m:ctrl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parent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 0x00+</m:t>
                          </m:r>
                          <m:sSub>
                            <m:sSubPr>
                              <m:ctrl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parent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+i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120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it-IT" sz="1200" u="none" strike="noStrike" cap="none" spc="0">
                          <a:solidFill>
                            <a:schemeClr val="bg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1200" u="none" strike="noStrike" cap="none" spc="0">
                                  <a:solidFill>
                                    <a:schemeClr val="bg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parent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it-IT" sz="1200" u="none" strike="noStrike" cap="none" spc="0">
                          <a:solidFill>
                            <a:schemeClr val="bg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mod n,                     </m:t>
                      </m:r>
                      <m:sSub>
                        <m:sSubPr>
                          <m:ctrl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it-IT" sz="1200" u="none" strike="noStrike" cap="none" spc="0">
                          <a:solidFill>
                            <a:schemeClr val="bg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1200" u="none" strike="noStrike" cap="none" spc="0">
                              <a:solidFill>
                                <a:schemeClr val="bg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200">
              <a:solidFill>
                <a:schemeClr val="bg1"/>
              </a:solidFill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9272256" name="Google Shape;152;p16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06652892" name="Google Shape;155;p16"/>
          <p:cNvSpPr txBox="1"/>
          <p:nvPr/>
        </p:nvSpPr>
        <p:spPr bwMode="auto">
          <a:xfrm>
            <a:off x="885825" y="466725"/>
            <a:ext cx="11306174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Derivazione HD: BIP-32 &amp; BIP-44</a:t>
            </a:r>
            <a:endParaRPr/>
          </a:p>
        </p:txBody>
      </p:sp>
      <p:pic>
        <p:nvPicPr>
          <p:cNvPr id="2142954995" name="Google Shape;157;p16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5" y="576262"/>
            <a:ext cx="304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1627145" name="Google Shape;122;p15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 rot="0" flipH="0" flipV="0">
            <a:off x="1735096" y="1042943"/>
            <a:ext cx="8041026" cy="1125406"/>
          </a:xfrm>
          <a:prstGeom prst="rect">
            <a:avLst/>
          </a:prstGeom>
          <a:noFill/>
          <a:ln>
            <a:noFill/>
          </a:ln>
        </p:spPr>
      </p:pic>
      <p:sp>
        <p:nvSpPr>
          <p:cNvPr id="1961164936" name="Google Shape;131;p15"/>
          <p:cNvSpPr txBox="1"/>
          <p:nvPr/>
        </p:nvSpPr>
        <p:spPr bwMode="auto">
          <a:xfrm rot="0" flipH="0" flipV="0">
            <a:off x="1871426" y="1197050"/>
            <a:ext cx="7905462" cy="96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400" b="1" i="0" u="none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BIP-44</a:t>
            </a:r>
            <a:r>
              <a:rPr lang="en-US" sz="1400" b="1" i="0" u="none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:</a:t>
            </a:r>
            <a:r>
              <a:rPr lang="it-IT" sz="1400" b="1" i="0" u="none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 </a:t>
            </a:r>
            <a:r>
              <a:rPr sz="1400" b="0" i="0" u="none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Definisce una </a:t>
            </a:r>
            <a:r>
              <a:rPr sz="1400" b="1" i="0" u="none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struttura ad albero universale e ordinata</a:t>
            </a:r>
            <a:r>
              <a:rPr sz="1400" b="0" i="0" u="none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 per organizzare le chiavi e gli indirizzi generati con BIP32, rendendo un singolo wallet compatibile con più criptovalute e account diversi.</a:t>
            </a:r>
            <a:endParaRPr sz="1400" b="0">
              <a:solidFill>
                <a:schemeClr val="bg1"/>
              </a:solidFill>
            </a:endParaRPr>
          </a:p>
        </p:txBody>
      </p:sp>
      <p:sp>
        <p:nvSpPr>
          <p:cNvPr id="1967978594" name="Google Shape;158;p16"/>
          <p:cNvSpPr txBox="1"/>
          <p:nvPr/>
        </p:nvSpPr>
        <p:spPr bwMode="auto">
          <a:xfrm>
            <a:off x="284085" y="2471050"/>
            <a:ext cx="5751437" cy="213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4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</a:rPr>
              <a:t>Struttura Derivation </a:t>
            </a:r>
            <a:r>
              <a:rPr lang="en-US" sz="1400" b="1" i="0" u="none" strike="noStrike" cap="none">
                <a:solidFill>
                  <a:srgbClr val="37BAF5"/>
                </a:solidFill>
                <a:latin typeface="Poppins"/>
                <a:ea typeface="Poppins"/>
                <a:cs typeface="Poppins"/>
              </a:rPr>
              <a:t>Path</a:t>
            </a:r>
            <a:endParaRPr/>
          </a:p>
        </p:txBody>
      </p:sp>
      <p:sp>
        <p:nvSpPr>
          <p:cNvPr id="530391337" name=""/>
          <p:cNvSpPr txBox="1"/>
          <p:nvPr/>
        </p:nvSpPr>
        <p:spPr bwMode="auto">
          <a:xfrm rot="0" flipH="0" flipV="0">
            <a:off x="284085" y="3658221"/>
            <a:ext cx="11653010" cy="19206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39821" marR="0" indent="-239821" algn="l" defTabSz="9144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lang="it-IT" sz="1200" b="1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Purpose:</a:t>
            </a:r>
            <a:r>
              <a:rPr lang="it-IT" sz="1200" strike="noStrike" cap="none" spc="0">
                <a:solidFill>
                  <a:schemeClr val="bg1"/>
                </a:solidFill>
                <a:latin typeface="Adwaita Sans"/>
                <a:ea typeface="Adwaita Sans"/>
                <a:cs typeface="Adwaita Sans"/>
              </a:rPr>
              <a:t> </a:t>
            </a:r>
            <a:r>
              <a:rPr sz="120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44’ indica che il wallet segue BIP-44</a:t>
            </a:r>
            <a:r>
              <a:rPr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.</a:t>
            </a:r>
            <a:endParaRPr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39821" marR="0" indent="-239821" algn="l" defTabSz="9144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sz="1200" b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Coin Type:</a:t>
            </a:r>
            <a:r>
              <a:rPr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Specifica la criptovaluta (0’ per Bitcoin, 1’ per Testnet). Viene usato anche da criptovalute diverse, ad esempio 60’ per Ethereum.</a:t>
            </a:r>
            <a:endParaRPr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39821" marR="0" indent="-239821" algn="l" defTabSz="9144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sz="1200" b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Account: </a:t>
            </a:r>
            <a:r>
              <a:rPr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Permette di definire più account, dividendo i fondi in conti logici (lavoro, personale, etc...).</a:t>
            </a:r>
            <a:endParaRPr sz="1200" b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39821" marR="0" indent="-239821" algn="l" defTabSz="9144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sz="1200" b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Change: </a:t>
            </a:r>
            <a:r>
              <a:rPr sz="1200" b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Permette di dividere gli indirizzi in </a:t>
            </a:r>
            <a:r>
              <a:rPr sz="1200" b="0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indirizzi di ricezione (external chain, </a:t>
            </a:r>
            <a:r>
              <a:rPr sz="1200" b="1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0</a:t>
            </a:r>
            <a:r>
              <a:rPr sz="1200" b="0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)</a:t>
            </a:r>
            <a:r>
              <a:rPr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e</a:t>
            </a:r>
            <a:r>
              <a:rPr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</a:t>
            </a:r>
            <a:r>
              <a:rPr sz="1200" b="0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indirizzi di resto (internal chain, </a:t>
            </a:r>
            <a:r>
              <a:rPr sz="1200" b="0" i="1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1)</a:t>
            </a:r>
            <a:r>
              <a:rPr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.</a:t>
            </a:r>
            <a:endParaRPr sz="1200" b="0" i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39821" marR="0" indent="-239821" algn="l" defTabSz="9144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sz="1200" b="1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Address Index:</a:t>
            </a:r>
            <a:r>
              <a:rPr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Gli indirizzi sono numerazi sequenzialmente a partire da 0, incrementando di volta in volta.</a:t>
            </a:r>
            <a:endParaRPr sz="1200" b="0" i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</p:txBody>
      </p:sp>
      <p:sp>
        <p:nvSpPr>
          <p:cNvPr id="875057503" name=""/>
          <p:cNvSpPr/>
          <p:nvPr/>
        </p:nvSpPr>
        <p:spPr bwMode="auto">
          <a:xfrm rot="0" flipH="0" flipV="0">
            <a:off x="284085" y="2843195"/>
            <a:ext cx="5665901" cy="530257"/>
          </a:xfrm>
          <a:prstGeom prst="flowChartAlternateProcess">
            <a:avLst/>
          </a:prstGeom>
          <a:solidFill>
            <a:srgbClr val="02061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200">
                <a:solidFill>
                  <a:srgbClr val="298EBF"/>
                </a:solidFill>
                <a:latin typeface="Adwaita Sans"/>
                <a:ea typeface="Adwaita Sans"/>
                <a:cs typeface="Adwaita Sans"/>
              </a:rPr>
              <a:t>m / purpose’ / coin_type’ / account’ / change / address_index</a:t>
            </a:r>
            <a:endParaRPr sz="1200">
              <a:solidFill>
                <a:srgbClr val="298EBF"/>
              </a:solidFill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9296683" name="Google Shape;152;p16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923103" name="Google Shape;155;p16"/>
          <p:cNvSpPr txBox="1"/>
          <p:nvPr/>
        </p:nvSpPr>
        <p:spPr bwMode="auto">
          <a:xfrm>
            <a:off x="885825" y="466724"/>
            <a:ext cx="11306173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Derivazione HD: BIP-32 &amp; BIP-44</a:t>
            </a:r>
            <a:endParaRPr/>
          </a:p>
        </p:txBody>
      </p:sp>
      <p:pic>
        <p:nvPicPr>
          <p:cNvPr id="2044619099" name="Google Shape;157;p16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4" y="576261"/>
            <a:ext cx="304799" cy="266699"/>
          </a:xfrm>
          <a:prstGeom prst="rect">
            <a:avLst/>
          </a:prstGeom>
          <a:noFill/>
          <a:ln>
            <a:noFill/>
          </a:ln>
        </p:spPr>
      </p:pic>
      <p:sp>
        <p:nvSpPr>
          <p:cNvPr id="1618173322" name=""/>
          <p:cNvSpPr txBox="1"/>
          <p:nvPr/>
        </p:nvSpPr>
        <p:spPr bwMode="auto">
          <a:xfrm rot="0" flipH="0" flipV="0">
            <a:off x="4312809" y="1821958"/>
            <a:ext cx="45720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0722475" name=""/>
          <p:cNvSpPr txBox="1"/>
          <p:nvPr/>
        </p:nvSpPr>
        <p:spPr bwMode="auto">
          <a:xfrm rot="0" flipH="0" flipV="0">
            <a:off x="2427448" y="1340798"/>
            <a:ext cx="6186340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pic>
        <p:nvPicPr>
          <p:cNvPr id="81378706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620482" y="1046658"/>
            <a:ext cx="6369645" cy="5334900"/>
          </a:xfrm>
          <a:prstGeom prst="rect">
            <a:avLst/>
          </a:prstGeom>
        </p:spPr>
      </p:pic>
      <p:sp>
        <p:nvSpPr>
          <p:cNvPr id="1661206761" name=""/>
          <p:cNvSpPr txBox="1"/>
          <p:nvPr/>
        </p:nvSpPr>
        <p:spPr bwMode="auto">
          <a:xfrm rot="0" flipH="0" flipV="0">
            <a:off x="466723" y="1821957"/>
            <a:ext cx="2451196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it-IT" sz="10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type</a:t>
            </a:r>
            <a:r>
              <a:rPr lang="it-IT" sz="10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ExtendedKey </a:t>
            </a:r>
            <a:r>
              <a:rPr lang="it-IT" sz="10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struct</a:t>
            </a:r>
            <a:r>
              <a:rPr lang="it-IT" sz="10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{</a:t>
            </a:r>
            <a:endParaRPr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37BAF5"/>
                </a:solidFill>
                <a:latin typeface="JetBrainsMono NF"/>
                <a:ea typeface="JetBrainsMono NF"/>
                <a:cs typeface="JetBrainsMono NF"/>
              </a:rPr>
              <a:t>Key 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   [</a:t>
            </a:r>
            <a:r>
              <a:rPr lang="it-IT" sz="1000" b="0" i="0" u="none" strike="noStrike" cap="none" spc="0">
                <a:solidFill>
                  <a:srgbClr val="37BAF5"/>
                </a:solidFill>
                <a:latin typeface="JetBrainsMono NF"/>
                <a:ea typeface="JetBrainsMono NF"/>
                <a:cs typeface="JetBrainsMono NF"/>
              </a:rPr>
              <a:t>32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]byte</a:t>
            </a:r>
            <a:endParaRPr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ChainCode</a:t>
            </a:r>
            <a:r>
              <a:rPr lang="it-IT" sz="10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  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</a:t>
            </a:r>
            <a:r>
              <a:rPr lang="it-IT" sz="1000" b="0" i="0" u="none" strike="noStrike" cap="none" spc="0">
                <a:solidFill>
                  <a:srgbClr val="37BAF5"/>
                </a:solidFill>
                <a:latin typeface="JetBrainsMono NF"/>
                <a:ea typeface="JetBrainsMono NF"/>
                <a:cs typeface="JetBrainsMono NF"/>
              </a:rPr>
              <a:t>32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]byte</a:t>
            </a:r>
            <a:endParaRPr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37BAF5"/>
                </a:solidFill>
                <a:latin typeface="JetBrainsMono NF"/>
                <a:ea typeface="JetBrainsMono NF"/>
                <a:cs typeface="JetBrainsMono NF"/>
              </a:rPr>
              <a:t>Depth 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 byte</a:t>
            </a:r>
            <a:endParaRPr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37BAF5"/>
                </a:solidFill>
                <a:latin typeface="JetBrainsMono NF"/>
                <a:ea typeface="JetBrainsMono NF"/>
                <a:cs typeface="JetBrainsMono NF"/>
              </a:rPr>
              <a:t>ParentFP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[</a:t>
            </a:r>
            <a:r>
              <a:rPr lang="it-IT" sz="1000" b="0" i="0" u="none" strike="noStrike" cap="none" spc="0">
                <a:solidFill>
                  <a:srgbClr val="37BAF5"/>
                </a:solidFill>
                <a:latin typeface="JetBrainsMono NF"/>
                <a:ea typeface="JetBrainsMono NF"/>
                <a:cs typeface="JetBrainsMono NF"/>
              </a:rPr>
              <a:t>4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]byte</a:t>
            </a:r>
            <a:endParaRPr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37BAF5"/>
                </a:solidFill>
                <a:latin typeface="JetBrainsMono NF"/>
                <a:ea typeface="JetBrainsMono NF"/>
                <a:cs typeface="JetBrainsMono NF"/>
              </a:rPr>
              <a:t>ChildNumber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uint32</a:t>
            </a:r>
            <a:endParaRPr lang="it-IT" sz="1000" b="0" i="0" u="none" strike="noStrike" cap="none" spc="0">
              <a:solidFill>
                <a:schemeClr val="bg1"/>
              </a:solidFill>
              <a:latin typeface="JetBrainsMono NF"/>
              <a:ea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37BAF5"/>
                </a:solidFill>
                <a:latin typeface="JetBrainsMono NF"/>
                <a:ea typeface="JetBrainsMono NF"/>
                <a:cs typeface="JetBrainsMono NF"/>
              </a:rPr>
              <a:t>IsPrivate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bool</a:t>
            </a:r>
            <a:endParaRPr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}</a:t>
            </a:r>
            <a:endParaRPr sz="1000">
              <a:solidFill>
                <a:schemeClr val="bg1"/>
              </a:solidFill>
              <a:latin typeface="JetBrainsMono NF"/>
              <a:cs typeface="JetBrainsMono NF"/>
            </a:endParaRPr>
          </a:p>
        </p:txBody>
      </p:sp>
      <p:pic>
        <p:nvPicPr>
          <p:cNvPr id="100724177" name="Google Shape;122;p15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 rot="0" flipH="0" flipV="0">
            <a:off x="466724" y="1232782"/>
            <a:ext cx="3208530" cy="353503"/>
          </a:xfrm>
          <a:prstGeom prst="rect">
            <a:avLst/>
          </a:prstGeom>
          <a:noFill/>
          <a:ln>
            <a:noFill/>
          </a:ln>
        </p:spPr>
      </p:pic>
      <p:sp>
        <p:nvSpPr>
          <p:cNvPr id="871891236" name="Google Shape;131;p15"/>
          <p:cNvSpPr txBox="1"/>
          <p:nvPr/>
        </p:nvSpPr>
        <p:spPr bwMode="auto">
          <a:xfrm rot="0" flipH="0" flipV="0">
            <a:off x="771524" y="1298708"/>
            <a:ext cx="2903730" cy="27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200" b="0">
                <a:solidFill>
                  <a:schemeClr val="bg1"/>
                </a:solidFill>
              </a:rPr>
              <a:t>Ogni nodo dell’albero è una ExtendedKey</a:t>
            </a:r>
            <a:endParaRPr sz="1200" b="0">
              <a:solidFill>
                <a:schemeClr val="bg1"/>
              </a:solidFill>
            </a:endParaRPr>
          </a:p>
        </p:txBody>
      </p:sp>
      <p:pic>
        <p:nvPicPr>
          <p:cNvPr id="817568201" name="Google Shape;239;p19" descr="image.png"/>
          <p:cNvPicPr/>
          <p:nvPr/>
        </p:nvPicPr>
        <p:blipFill rotWithShape="1">
          <a:blip r:embed="rId7">
            <a:alphaModFix/>
          </a:blip>
          <a:srcRect l="0" t="0" r="0" b="0"/>
          <a:stretch/>
        </p:blipFill>
        <p:spPr bwMode="auto">
          <a:xfrm>
            <a:off x="566427" y="1302878"/>
            <a:ext cx="171450" cy="190499"/>
          </a:xfrm>
          <a:prstGeom prst="rect">
            <a:avLst/>
          </a:prstGeom>
          <a:noFill/>
          <a:ln>
            <a:noFill/>
          </a:ln>
        </p:spPr>
      </p:pic>
      <p:sp>
        <p:nvSpPr>
          <p:cNvPr id="312089638" name=""/>
          <p:cNvSpPr txBox="1"/>
          <p:nvPr/>
        </p:nvSpPr>
        <p:spPr bwMode="auto">
          <a:xfrm rot="0" flipH="0" flipV="0">
            <a:off x="466724" y="4056110"/>
            <a:ext cx="2337467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it-IT" sz="10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type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Address </a:t>
            </a:r>
            <a:r>
              <a:rPr lang="it-IT" sz="10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struct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{</a:t>
            </a:r>
            <a:endParaRPr lang="it-IT"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00B0F0"/>
                </a:solidFill>
                <a:latin typeface="JetBrainsMono NF"/>
                <a:ea typeface="JetBrainsMono NF"/>
                <a:cs typeface="JetBrainsMono NF"/>
              </a:rPr>
              <a:t>SigningKey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[]byte</a:t>
            </a:r>
            <a:endParaRPr lang="it-IT"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00B0F0"/>
                </a:solidFill>
                <a:latin typeface="JetBrainsMono NF"/>
                <a:ea typeface="JetBrainsMono NF"/>
                <a:cs typeface="JetBrainsMono NF"/>
              </a:rPr>
              <a:t>PubKeyHash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[]byte   </a:t>
            </a:r>
            <a:endParaRPr lang="it-IT"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00B0F0"/>
                </a:solidFill>
                <a:latin typeface="JetBrainsMono NF"/>
                <a:ea typeface="JetBrainsMono NF"/>
                <a:cs typeface="JetBrainsMono NF"/>
              </a:rPr>
              <a:t>Address   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string   </a:t>
            </a:r>
            <a:endParaRPr lang="it-IT"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00B0F0"/>
                </a:solidFill>
                <a:latin typeface="JetBrainsMono NF"/>
                <a:ea typeface="JetBrainsMono NF"/>
                <a:cs typeface="JetBrainsMono NF"/>
              </a:rPr>
              <a:t>Legacy    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bool     </a:t>
            </a:r>
            <a:endParaRPr lang="it-IT"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00B0F0"/>
                </a:solidFill>
                <a:latin typeface="JetBrainsMono NF"/>
                <a:ea typeface="JetBrainsMono NF"/>
                <a:cs typeface="JetBrainsMono NF"/>
              </a:rPr>
              <a:t>Path      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[]uint32 </a:t>
            </a:r>
            <a:endParaRPr lang="it-IT"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000" b="0" i="0" u="none" strike="noStrike" cap="none" spc="0">
                <a:solidFill>
                  <a:srgbClr val="00B0F0"/>
                </a:solidFill>
                <a:latin typeface="JetBrainsMono NF"/>
                <a:ea typeface="JetBrainsMono NF"/>
                <a:cs typeface="JetBrainsMono NF"/>
              </a:rPr>
              <a:t>Balance    </a:t>
            </a: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int64   </a:t>
            </a:r>
            <a:endParaRPr lang="it-IT" sz="10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}</a:t>
            </a:r>
            <a:endParaRPr sz="1000">
              <a:solidFill>
                <a:schemeClr val="bg1"/>
              </a:solidFill>
              <a:latin typeface="JetBrainsMono NF"/>
              <a:cs typeface="JetBrainsMono NF"/>
            </a:endParaRPr>
          </a:p>
        </p:txBody>
      </p:sp>
      <p:pic>
        <p:nvPicPr>
          <p:cNvPr id="1096147124" name="Google Shape;122;p15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 rot="0" flipH="0" flipV="0">
            <a:off x="466724" y="3373504"/>
            <a:ext cx="2883764" cy="353503"/>
          </a:xfrm>
          <a:prstGeom prst="rect">
            <a:avLst/>
          </a:prstGeom>
          <a:noFill/>
          <a:ln>
            <a:noFill/>
          </a:ln>
        </p:spPr>
      </p:pic>
      <p:sp>
        <p:nvSpPr>
          <p:cNvPr id="1833387959" name="Google Shape;131;p15"/>
          <p:cNvSpPr txBox="1"/>
          <p:nvPr/>
        </p:nvSpPr>
        <p:spPr bwMode="auto">
          <a:xfrm rot="0" flipH="0" flipV="0">
            <a:off x="771525" y="3439429"/>
            <a:ext cx="2738980" cy="27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200" b="0">
                <a:solidFill>
                  <a:schemeClr val="bg1"/>
                </a:solidFill>
              </a:rPr>
              <a:t>Ogni foglia rappresenta un indirizzo</a:t>
            </a:r>
            <a:endParaRPr sz="1200" b="0">
              <a:solidFill>
                <a:schemeClr val="bg1"/>
              </a:solidFill>
            </a:endParaRPr>
          </a:p>
        </p:txBody>
      </p:sp>
      <p:pic>
        <p:nvPicPr>
          <p:cNvPr id="2016388646" name="Google Shape;239;p19" descr="image.png"/>
          <p:cNvPicPr/>
          <p:nvPr/>
        </p:nvPicPr>
        <p:blipFill rotWithShape="1">
          <a:blip r:embed="rId7">
            <a:alphaModFix/>
          </a:blip>
          <a:srcRect l="0" t="0" r="0" b="0"/>
          <a:stretch/>
        </p:blipFill>
        <p:spPr bwMode="auto">
          <a:xfrm>
            <a:off x="566427" y="3443599"/>
            <a:ext cx="171450" cy="190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90235242" name="Google Shape;176;p17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9540286" name="Google Shape;178;p17"/>
          <p:cNvSpPr txBox="1"/>
          <p:nvPr/>
        </p:nvSpPr>
        <p:spPr bwMode="auto">
          <a:xfrm>
            <a:off x="885825" y="466724"/>
            <a:ext cx="11306173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Implementazione Indirizzi: P2PKH vs P2WPKH</a:t>
            </a:r>
            <a:endParaRPr/>
          </a:p>
        </p:txBody>
      </p:sp>
      <p:pic>
        <p:nvPicPr>
          <p:cNvPr id="929886810" name="Google Shape;180;p1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4" y="576261"/>
            <a:ext cx="304799" cy="266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74854500" name="Google Shape;198;p17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 flipH="0" flipV="0">
            <a:off x="442732" y="1223202"/>
            <a:ext cx="795336" cy="247649"/>
          </a:xfrm>
          <a:prstGeom prst="rect">
            <a:avLst/>
          </a:prstGeom>
          <a:noFill/>
          <a:ln>
            <a:noFill/>
          </a:ln>
        </p:spPr>
      </p:pic>
      <p:sp>
        <p:nvSpPr>
          <p:cNvPr id="1693006274" name="Google Shape;178;p17"/>
          <p:cNvSpPr txBox="1"/>
          <p:nvPr/>
        </p:nvSpPr>
        <p:spPr bwMode="auto">
          <a:xfrm flipH="0" flipV="0">
            <a:off x="442732" y="1593187"/>
            <a:ext cx="3264861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P2</a:t>
            </a: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PKH 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— Legacy</a:t>
            </a:r>
            <a:endParaRPr/>
          </a:p>
        </p:txBody>
      </p:sp>
      <p:pic>
        <p:nvPicPr>
          <p:cNvPr id="178364970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237540" y="2376830"/>
            <a:ext cx="7343775" cy="3714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449433" name="Google Shape;176;p17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8936002" name="Google Shape;178;p17"/>
          <p:cNvSpPr txBox="1"/>
          <p:nvPr/>
        </p:nvSpPr>
        <p:spPr bwMode="auto">
          <a:xfrm>
            <a:off x="885825" y="466725"/>
            <a:ext cx="11306174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Implementazione Indirizzi: P2PKH vs P2WPKH</a:t>
            </a:r>
            <a:endParaRPr/>
          </a:p>
        </p:txBody>
      </p:sp>
      <p:pic>
        <p:nvPicPr>
          <p:cNvPr id="343860436" name="Google Shape;180;p1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5" y="576262"/>
            <a:ext cx="304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6907501" name="Google Shape;199;p17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442732" y="1252242"/>
            <a:ext cx="8286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467898373" name="Google Shape;178;p17"/>
          <p:cNvSpPr txBox="1"/>
          <p:nvPr/>
        </p:nvSpPr>
        <p:spPr bwMode="auto">
          <a:xfrm flipH="0" flipV="0">
            <a:off x="442732" y="1591747"/>
            <a:ext cx="3233242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</a:t>
            </a: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W</a:t>
            </a: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PKH </a:t>
            </a: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— SegWit</a:t>
            </a:r>
            <a:endParaRPr/>
          </a:p>
        </p:txBody>
      </p:sp>
      <p:pic>
        <p:nvPicPr>
          <p:cNvPr id="162989340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871786" y="2057447"/>
            <a:ext cx="7334249" cy="3714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5050549" name="Google Shape;204;p18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-27494" y="-7855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6895619" name="Google Shape;178;p17"/>
          <p:cNvSpPr txBox="1"/>
          <p:nvPr/>
        </p:nvSpPr>
        <p:spPr bwMode="auto">
          <a:xfrm>
            <a:off x="885825" y="536001"/>
            <a:ext cx="11347932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Transazioni</a:t>
            </a:r>
            <a:endParaRPr/>
          </a:p>
        </p:txBody>
      </p:sp>
      <p:pic>
        <p:nvPicPr>
          <p:cNvPr id="1516813795" name="Google Shape;180;p1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4" y="576261"/>
            <a:ext cx="304799" cy="266699"/>
          </a:xfrm>
          <a:prstGeom prst="rect">
            <a:avLst/>
          </a:prstGeom>
          <a:noFill/>
          <a:ln>
            <a:noFill/>
          </a:ln>
        </p:spPr>
      </p:pic>
      <p:sp>
        <p:nvSpPr>
          <p:cNvPr id="1083958591" name=""/>
          <p:cNvSpPr/>
          <p:nvPr/>
        </p:nvSpPr>
        <p:spPr bwMode="auto">
          <a:xfrm rot="0" flipH="0" flipV="0">
            <a:off x="3409407" y="3099611"/>
            <a:ext cx="2150489" cy="363323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it-IT" sz="1000" u="none" strike="noStrike" cap="none" spc="0">
                          <a:solidFill>
                            <a:srgbClr val="00B0F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Change</m:t>
                      </m:r>
                      <m:r>
                        <m:rPr>
                          <m:sty m:val="p"/>
                        </m:rPr>
                        <a:rPr lang="it-IT" sz="1000" u="none" strike="noStrike" cap="none" spc="0">
                          <a:solidFill>
                            <a:srgbClr val="00B0F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subHide m:val="on"/>
                          <m:supHide m:val="on"/>
                          <m:ctrlPr>
                            <a:rPr lang="it-IT" sz="1000" b="0" i="0" u="none" strike="noStrike" cap="none" spc="0">
                              <a:solidFill>
                                <a:srgbClr val="00B0F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it-IT" sz="1000" u="none" strike="noStrike" cap="none" spc="0">
                              <a:solidFill>
                                <a:srgbClr val="00B0F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Input</m:t>
                          </m:r>
                          <m:r>
                            <m:rPr>
                              <m:sty m:val="p"/>
                            </m:rPr>
                            <a:rPr lang="it-IT" sz="1000" u="none" strike="noStrike" cap="none" spc="0">
                              <a:solidFill>
                                <a:srgbClr val="00B0F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it-IT" sz="1000" u="none" strike="noStrike" cap="none" spc="0">
                              <a:solidFill>
                                <a:srgbClr val="00B0F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Target</m:t>
                          </m:r>
                          <m:r>
                            <m:rPr>
                              <m:sty m:val="p"/>
                            </m:rPr>
                            <a:rPr lang="it-IT" sz="1000" u="none" strike="noStrike" cap="none" spc="0">
                              <a:solidFill>
                                <a:srgbClr val="00B0F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it-IT" sz="1000" u="none" strike="noStrike" cap="none" spc="0">
                              <a:solidFill>
                                <a:srgbClr val="00B0F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Fee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it-IT" sz="1000" b="0" i="0" u="none" strike="noStrike" cap="none" spc="0">
              <a:solidFill>
                <a:srgbClr val="00B0F0"/>
              </a:solidFill>
              <a:latin typeface="Times New Roman"/>
              <a:cs typeface="Times New Roman"/>
            </a:endParaRPr>
          </a:p>
        </p:txBody>
      </p:sp>
      <p:grpSp>
        <p:nvGrpSpPr>
          <p:cNvPr id="1035111056" name=""/>
          <p:cNvGrpSpPr/>
          <p:nvPr/>
        </p:nvGrpSpPr>
        <p:grpSpPr bwMode="auto">
          <a:xfrm>
            <a:off x="529275" y="2602900"/>
            <a:ext cx="11196145" cy="1888437"/>
            <a:chOff x="0" y="0"/>
            <a:chExt cx="11196145" cy="1888437"/>
          </a:xfrm>
        </p:grpSpPr>
        <p:grpSp>
          <p:nvGrpSpPr>
            <p:cNvPr id="1083745336" name=""/>
            <p:cNvGrpSpPr/>
            <p:nvPr/>
          </p:nvGrpSpPr>
          <p:grpSpPr bwMode="auto">
            <a:xfrm rot="0" flipH="0" flipV="0">
              <a:off x="0" y="0"/>
              <a:ext cx="2540080" cy="1881989"/>
              <a:chOff x="0" y="0"/>
              <a:chExt cx="2540080" cy="1881989"/>
            </a:xfrm>
          </p:grpSpPr>
          <p:sp>
            <p:nvSpPr>
              <p:cNvPr id="513591917" name=""/>
              <p:cNvSpPr/>
              <p:nvPr/>
            </p:nvSpPr>
            <p:spPr bwMode="auto">
              <a:xfrm rot="0" flipH="0" flipV="0">
                <a:off x="0" y="0"/>
                <a:ext cx="2540080" cy="1881989"/>
              </a:xfrm>
              <a:prstGeom prst="flowChartAlternateProcess">
                <a:avLst/>
              </a:prstGeom>
              <a:solidFill>
                <a:srgbClr val="1E293B"/>
              </a:solidFill>
              <a:ln w="19050" cap="flat" cmpd="sng" algn="ctr">
                <a:solidFill>
                  <a:srgbClr val="0E2F4B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 b="1">
                  <a:solidFill>
                    <a:schemeClr val="bg1">
                      <a:lumMod val="75000"/>
                    </a:schemeClr>
                  </a:solidFill>
                  <a:latin typeface="JetBrainsMono NF"/>
                  <a:cs typeface="JetBrainsMono NF"/>
                </a:endParaRPr>
              </a:p>
            </p:txBody>
          </p:sp>
          <p:sp>
            <p:nvSpPr>
              <p:cNvPr id="1339087939" name=""/>
              <p:cNvSpPr txBox="1"/>
              <p:nvPr/>
            </p:nvSpPr>
            <p:spPr bwMode="auto">
              <a:xfrm rot="0" flipH="0" flipV="0">
                <a:off x="144100" y="274948"/>
                <a:ext cx="2264387" cy="13414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sz="1200" b="1">
                    <a:solidFill>
                      <a:srgbClr val="F39119"/>
                    </a:solidFill>
                    <a:latin typeface="Poppins"/>
                    <a:ea typeface="Poppins"/>
                    <a:cs typeface="Poppins"/>
                  </a:rPr>
                  <a:t>FASE 01</a:t>
                </a:r>
                <a:endParaRPr b="1">
                  <a:solidFill>
                    <a:srgbClr val="F39119"/>
                  </a:solidFill>
                  <a:latin typeface="Poppins"/>
                  <a:ea typeface="Poppins"/>
                  <a:cs typeface="Poppins"/>
                </a:endParaRPr>
              </a:p>
              <a:p>
                <a:pPr>
                  <a:defRPr/>
                </a:pPr>
                <a:endParaRPr b="1">
                  <a:solidFill>
                    <a:srgbClr val="F39119"/>
                  </a:solidFill>
                  <a:latin typeface="Poppins"/>
                  <a:ea typeface="Poppins"/>
                  <a:cs typeface="Poppins"/>
                </a:endParaRPr>
              </a:p>
              <a:p>
                <a:pPr>
                  <a:defRPr/>
                </a:pPr>
                <a:r>
                  <a:rPr lang="it-IT" sz="1200" b="1" i="0" u="none" strike="noStrike" cap="none" spc="0">
                    <a:solidFill>
                      <a:schemeClr val="bg1"/>
                    </a:solidFill>
                    <a:latin typeface="Poppins"/>
                    <a:ea typeface="Poppins"/>
                    <a:cs typeface="Poppins"/>
                  </a:rPr>
                  <a:t>UTXO Selection</a:t>
                </a:r>
                <a:endParaRPr lang="it-IT" sz="1200" b="1" i="0" u="none" strike="noStrike" cap="none" spc="0">
                  <a:solidFill>
                    <a:schemeClr val="bg1"/>
                  </a:solidFill>
                  <a:latin typeface="Times New Roman"/>
                  <a:cs typeface="Times New Roman"/>
                </a:endParaRPr>
              </a:p>
              <a:p>
                <a:pPr>
                  <a:defRPr/>
                </a:pPr>
                <a:endParaRPr b="1">
                  <a:solidFill>
                    <a:srgbClr val="F39119"/>
                  </a:solidFill>
                  <a:latin typeface="Poppins"/>
                  <a:cs typeface="Poppins"/>
                </a:endParaRPr>
              </a:p>
              <a:p>
                <a:pPr>
                  <a:defRPr/>
                </a:pPr>
                <a:r>
                  <a:rPr sz="1000" b="0">
                    <a:solidFill>
                      <a:schemeClr val="bg1">
                        <a:lumMod val="75000"/>
                      </a:schemeClr>
                    </a:solidFill>
                    <a:latin typeface="Adwaita Sans"/>
                    <a:ea typeface="Adwaita Sans"/>
                    <a:cs typeface="Adwaita Sans"/>
                  </a:rPr>
                  <a:t>Il wallet seleziona gli UTXO non spesi dal set per coprire l’importo inviato.</a:t>
                </a:r>
                <a:endParaRPr sz="1000" b="0">
                  <a:solidFill>
                    <a:schemeClr val="bg1">
                      <a:lumMod val="75000"/>
                    </a:schemeClr>
                  </a:solidFill>
                  <a:latin typeface="Adwaita Sans"/>
                  <a:cs typeface="Adwaita Sans"/>
                </a:endParaRPr>
              </a:p>
            </p:txBody>
          </p:sp>
        </p:grpSp>
        <p:sp>
          <p:nvSpPr>
            <p:cNvPr id="1980308656" name=""/>
            <p:cNvSpPr/>
            <p:nvPr/>
          </p:nvSpPr>
          <p:spPr bwMode="auto">
            <a:xfrm rot="0" flipH="0" flipV="0">
              <a:off x="5419117" y="827852"/>
              <a:ext cx="240222" cy="325731"/>
            </a:xfrm>
            <a:prstGeom prst="chevron">
              <a:avLst>
                <a:gd name="adj" fmla="val 50000"/>
              </a:avLst>
            </a:prstGeom>
            <a:solidFill>
              <a:srgbClr val="F39119"/>
            </a:solidFill>
            <a:ln w="25400" cap="flat" cmpd="sng" algn="ctr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 u="sng"/>
            </a:p>
          </p:txBody>
        </p:sp>
        <p:sp>
          <p:nvSpPr>
            <p:cNvPr id="1582927320" name=""/>
            <p:cNvSpPr/>
            <p:nvPr/>
          </p:nvSpPr>
          <p:spPr bwMode="auto">
            <a:xfrm rot="0" flipH="0" flipV="0">
              <a:off x="8340640" y="827852"/>
              <a:ext cx="240222" cy="325731"/>
            </a:xfrm>
            <a:prstGeom prst="chevron">
              <a:avLst>
                <a:gd name="adj" fmla="val 50000"/>
              </a:avLst>
            </a:prstGeom>
            <a:solidFill>
              <a:srgbClr val="F39119"/>
            </a:solidFill>
            <a:ln w="25400" cap="flat" cmpd="sng" algn="ctr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 u="sng"/>
            </a:p>
          </p:txBody>
        </p:sp>
        <p:sp>
          <p:nvSpPr>
            <p:cNvPr id="1973854038" name=""/>
            <p:cNvSpPr/>
            <p:nvPr/>
          </p:nvSpPr>
          <p:spPr bwMode="auto">
            <a:xfrm rot="0" flipH="0" flipV="0">
              <a:off x="2557994" y="837240"/>
              <a:ext cx="240224" cy="325732"/>
            </a:xfrm>
            <a:prstGeom prst="chevron">
              <a:avLst>
                <a:gd name="adj" fmla="val 50000"/>
              </a:avLst>
            </a:prstGeom>
            <a:solidFill>
              <a:srgbClr val="F39119"/>
            </a:solidFill>
            <a:ln w="25400" cap="flat" cmpd="sng" algn="ctr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 u="sng"/>
            </a:p>
          </p:txBody>
        </p:sp>
        <p:grpSp>
          <p:nvGrpSpPr>
            <p:cNvPr id="1101290643" name=""/>
            <p:cNvGrpSpPr/>
            <p:nvPr/>
          </p:nvGrpSpPr>
          <p:grpSpPr bwMode="auto">
            <a:xfrm>
              <a:off x="2848232" y="6448"/>
              <a:ext cx="2540079" cy="1881988"/>
              <a:chOff x="0" y="0"/>
              <a:chExt cx="2540079" cy="1881988"/>
            </a:xfrm>
          </p:grpSpPr>
          <p:grpSp>
            <p:nvGrpSpPr>
              <p:cNvPr id="608014859" name=""/>
              <p:cNvGrpSpPr/>
              <p:nvPr/>
            </p:nvGrpSpPr>
            <p:grpSpPr bwMode="auto">
              <a:xfrm rot="0" flipH="0" flipV="0">
                <a:off x="0" y="0"/>
                <a:ext cx="2540079" cy="1881988"/>
                <a:chOff x="0" y="0"/>
                <a:chExt cx="2540079" cy="1881988"/>
              </a:xfrm>
            </p:grpSpPr>
            <p:sp>
              <p:nvSpPr>
                <p:cNvPr id="1631244231" name=""/>
                <p:cNvSpPr/>
                <p:nvPr/>
              </p:nvSpPr>
              <p:spPr bwMode="auto">
                <a:xfrm rot="0" flipH="0" flipV="0">
                  <a:off x="0" y="0"/>
                  <a:ext cx="2540079" cy="1881988"/>
                </a:xfrm>
                <a:prstGeom prst="flowChartAlternateProcess">
                  <a:avLst/>
                </a:prstGeom>
                <a:solidFill>
                  <a:srgbClr val="1E293B"/>
                </a:solidFill>
                <a:ln w="19050" cap="flat" cmpd="sng" algn="ctr">
                  <a:solidFill>
                    <a:srgbClr val="0E2F4B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 b="1">
                    <a:solidFill>
                      <a:schemeClr val="bg1">
                        <a:lumMod val="75000"/>
                      </a:schemeClr>
                    </a:solidFill>
                    <a:latin typeface="JetBrainsMono NF"/>
                    <a:cs typeface="JetBrainsMono NF"/>
                  </a:endParaRPr>
                </a:p>
              </p:txBody>
            </p:sp>
            <p:sp>
              <p:nvSpPr>
                <p:cNvPr id="1651967607" name=""/>
                <p:cNvSpPr txBox="1"/>
                <p:nvPr/>
              </p:nvSpPr>
              <p:spPr bwMode="auto">
                <a:xfrm rot="0" flipH="0" flipV="0">
                  <a:off x="144099" y="274947"/>
                  <a:ext cx="2349346" cy="118908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sz="1200" b="1">
                      <a:solidFill>
                        <a:srgbClr val="F39119"/>
                      </a:solidFill>
                      <a:latin typeface="Poppins"/>
                      <a:ea typeface="Poppins"/>
                      <a:cs typeface="Poppins"/>
                    </a:rPr>
                    <a:t>FASE 02</a:t>
                  </a:r>
                  <a:endParaRPr b="1">
                    <a:solidFill>
                      <a:srgbClr val="F39119"/>
                    </a:solidFill>
                    <a:latin typeface="Poppins"/>
                    <a:ea typeface="Poppins"/>
                    <a:cs typeface="Poppins"/>
                  </a:endParaRPr>
                </a:p>
                <a:p>
                  <a:pPr>
                    <a:defRPr/>
                  </a:pPr>
                  <a:endParaRPr b="1">
                    <a:solidFill>
                      <a:srgbClr val="F39119"/>
                    </a:solidFill>
                    <a:latin typeface="Poppins"/>
                    <a:ea typeface="Poppins"/>
                    <a:cs typeface="Poppins"/>
                  </a:endParaRPr>
                </a:p>
                <a:p>
                  <a:pPr>
                    <a:defRPr/>
                  </a:pPr>
                  <a:r>
                    <a:rPr lang="it-IT" sz="1200" b="1" i="0" u="none" strike="noStrike" cap="none" spc="0">
                      <a:solidFill>
                        <a:schemeClr val="bg1"/>
                      </a:solidFill>
                      <a:latin typeface="Poppins"/>
                      <a:ea typeface="Poppins"/>
                      <a:cs typeface="Poppins"/>
                    </a:rPr>
                    <a:t>Fee &amp; Change</a:t>
                  </a:r>
                  <a:endParaRPr lang="it-IT" sz="1200" b="1" i="0" u="none" strike="noStrike" cap="none" spc="0">
                    <a:solidFill>
                      <a:schemeClr val="bg1"/>
                    </a:solidFill>
                    <a:latin typeface="Times New Roman"/>
                    <a:cs typeface="Times New Roman"/>
                  </a:endParaRPr>
                </a:p>
                <a:p>
                  <a:pPr>
                    <a:defRPr/>
                  </a:pPr>
                  <a:endParaRPr b="1">
                    <a:solidFill>
                      <a:srgbClr val="F39119"/>
                    </a:solidFill>
                    <a:latin typeface="Poppins"/>
                    <a:cs typeface="Poppins"/>
                  </a:endParaRPr>
                </a:p>
                <a:p>
                  <a:pPr>
                    <a:defRPr/>
                  </a:pPr>
                  <a:r>
                    <a:rPr sz="1000" b="0">
                      <a:solidFill>
                        <a:schemeClr val="bg1">
                          <a:lumMod val="75000"/>
                        </a:schemeClr>
                      </a:solidFill>
                      <a:latin typeface="Adwaita Sans"/>
                      <a:ea typeface="Adwaita Sans"/>
                      <a:cs typeface="Adwaita Sans"/>
                    </a:rPr>
                    <a:t>Si stima la dimensione (vB) e si calcola l’Output di Resto (Change).</a:t>
                  </a:r>
                  <a:endParaRPr sz="1000" b="0">
                    <a:solidFill>
                      <a:schemeClr val="bg1">
                        <a:lumMod val="75000"/>
                      </a:schemeClr>
                    </a:solidFill>
                    <a:latin typeface="Adwaita Sans"/>
                    <a:ea typeface="Adwaita Sans"/>
                    <a:cs typeface="Adwaita Sans"/>
                  </a:endParaRPr>
                </a:p>
              </p:txBody>
            </p:sp>
          </p:grpSp>
          <p:sp>
            <p:nvSpPr>
              <p:cNvPr id="634812457" name=""/>
              <p:cNvSpPr/>
              <p:nvPr/>
            </p:nvSpPr>
            <p:spPr bwMode="auto">
              <a:xfrm rot="0" flipH="0" flipV="0">
                <a:off x="194277" y="1415577"/>
                <a:ext cx="2150489" cy="363323"/>
              </a:xfrm>
              <a:prstGeom prst="roundRect">
                <a:avLst>
                  <a:gd name="adj" fmla="val 16667"/>
                </a:avLst>
              </a:prstGeom>
              <a:solidFill>
                <a:srgbClr val="0F172A"/>
              </a:solidFill>
              <a:ln w="25400" cap="flat" cmpd="sng" algn="ctr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l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r>
                            <m:rPr>
                              <m:sty m:val="p"/>
                            </m:rPr>
                            <a:rPr lang="it-IT" sz="1000" u="none" strike="noStrike" cap="none" spc="0">
                              <a:solidFill>
                                <a:srgbClr val="00B0F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Change</m:t>
                          </m:r>
                          <m:r>
                            <m:rPr>
                              <m:sty m:val="p"/>
                            </m:rPr>
                            <a:rPr lang="it-IT" sz="1000" u="none" strike="noStrike" cap="none" spc="0">
                              <a:solidFill>
                                <a:srgbClr val="00B0F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nary>
                            <m:naryPr>
                              <m:chr m:val="∑"/>
                              <m:grow m:val="off"/>
                              <m:subHide m:val="on"/>
                              <m:supHide m:val="on"/>
                              <m:ctrlPr>
                                <a:rPr lang="it-IT" sz="1000" b="0" i="0" u="none" strike="noStrike" cap="none" spc="0">
                                  <a:solidFill>
                                    <a:srgbClr val="00B0F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it-IT" sz="1000" u="none" strike="noStrike" cap="none" spc="0">
                                  <a:solidFill>
                                    <a:srgbClr val="00B0F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Input</m:t>
                              </m:r>
                              <m:r>
                                <m:rPr>
                                  <m:sty m:val="p"/>
                                </m:rPr>
                                <a:rPr lang="it-IT" sz="1000" u="none" strike="noStrike" cap="none" spc="0">
                                  <a:solidFill>
                                    <a:srgbClr val="00B0F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r>
                                <m:rPr>
                                  <m:sty m:val="p"/>
                                </m:rPr>
                                <a:rPr lang="it-IT" sz="1000" u="none" strike="noStrike" cap="none" spc="0">
                                  <a:solidFill>
                                    <a:srgbClr val="00B0F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Target</m:t>
                              </m:r>
                              <m:r>
                                <m:rPr>
                                  <m:sty m:val="p"/>
                                </m:rPr>
                                <a:rPr lang="it-IT" sz="1000" u="none" strike="noStrike" cap="none" spc="0">
                                  <a:solidFill>
                                    <a:srgbClr val="00B0F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r>
                                <m:rPr>
                                  <m:sty m:val="p"/>
                                </m:rPr>
                                <a:rPr lang="it-IT" sz="1000" u="none" strike="noStrike" cap="none" spc="0">
                                  <a:solidFill>
                                    <a:srgbClr val="00B0F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Fee</m:t>
                              </m:r>
                            </m:e>
                          </m:nary>
                        </m:oMath>
                      </m:oMathPara>
                    </a14:m>
                  </mc:Choice>
                  <mc:Fallback/>
                </mc:AlternateContent>
                <a:endParaRPr lang="it-IT" sz="1000" b="0" i="0" u="none" strike="noStrike" cap="none" spc="0">
                  <a:solidFill>
                    <a:srgbClr val="00B0F0"/>
                  </a:solidFill>
                  <a:latin typeface="Times New Roman"/>
                  <a:cs typeface="Times New Roman"/>
                </a:endParaRPr>
              </a:p>
            </p:txBody>
          </p:sp>
        </p:grpSp>
        <p:grpSp>
          <p:nvGrpSpPr>
            <p:cNvPr id="527421207" name=""/>
            <p:cNvGrpSpPr/>
            <p:nvPr/>
          </p:nvGrpSpPr>
          <p:grpSpPr bwMode="auto">
            <a:xfrm>
              <a:off x="5734541" y="0"/>
              <a:ext cx="2540079" cy="1881988"/>
              <a:chOff x="0" y="0"/>
              <a:chExt cx="2540079" cy="1881988"/>
            </a:xfrm>
          </p:grpSpPr>
          <p:sp>
            <p:nvSpPr>
              <p:cNvPr id="1549424329" name=""/>
              <p:cNvSpPr/>
              <p:nvPr/>
            </p:nvSpPr>
            <p:spPr bwMode="auto">
              <a:xfrm rot="0" flipH="0" flipV="0">
                <a:off x="0" y="0"/>
                <a:ext cx="2540079" cy="1881988"/>
              </a:xfrm>
              <a:prstGeom prst="flowChartAlternateProcess">
                <a:avLst/>
              </a:prstGeom>
              <a:solidFill>
                <a:srgbClr val="1E293B"/>
              </a:solidFill>
              <a:ln w="19050" cap="flat" cmpd="sng" algn="ctr">
                <a:solidFill>
                  <a:srgbClr val="0E2F4B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 b="1">
                  <a:solidFill>
                    <a:schemeClr val="bg1">
                      <a:lumMod val="75000"/>
                    </a:schemeClr>
                  </a:solidFill>
                  <a:latin typeface="JetBrainsMono NF"/>
                  <a:cs typeface="JetBrainsMono NF"/>
                </a:endParaRPr>
              </a:p>
            </p:txBody>
          </p:sp>
          <p:sp>
            <p:nvSpPr>
              <p:cNvPr id="323474262" name=""/>
              <p:cNvSpPr txBox="1"/>
              <p:nvPr/>
            </p:nvSpPr>
            <p:spPr bwMode="auto">
              <a:xfrm rot="0" flipH="0" flipV="0">
                <a:off x="113006" y="270254"/>
                <a:ext cx="2314066" cy="13414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sz="1200" b="1">
                    <a:solidFill>
                      <a:srgbClr val="F39119"/>
                    </a:solidFill>
                    <a:latin typeface="Poppins"/>
                    <a:ea typeface="Poppins"/>
                    <a:cs typeface="Poppins"/>
                  </a:rPr>
                  <a:t>FASE 03</a:t>
                </a:r>
                <a:endParaRPr b="1">
                  <a:solidFill>
                    <a:srgbClr val="F39119"/>
                  </a:solidFill>
                  <a:latin typeface="Poppins"/>
                  <a:ea typeface="Poppins"/>
                  <a:cs typeface="Poppins"/>
                </a:endParaRPr>
              </a:p>
              <a:p>
                <a:pPr>
                  <a:defRPr/>
                </a:pPr>
                <a:endParaRPr b="1">
                  <a:solidFill>
                    <a:srgbClr val="F39119"/>
                  </a:solidFill>
                  <a:latin typeface="Poppins"/>
                  <a:ea typeface="Poppins"/>
                  <a:cs typeface="Poppins"/>
                </a:endParaRPr>
              </a:p>
              <a:p>
                <a:pPr>
                  <a:defRPr/>
                </a:pPr>
                <a:r>
                  <a:rPr lang="it-IT" sz="1200" b="1" i="0" u="none" strike="noStrike" cap="none" spc="0">
                    <a:solidFill>
                      <a:schemeClr val="bg1"/>
                    </a:solidFill>
                    <a:latin typeface="Poppins"/>
                    <a:ea typeface="Poppins"/>
                    <a:cs typeface="Poppins"/>
                  </a:rPr>
                  <a:t>Build Transaction</a:t>
                </a:r>
                <a:endParaRPr lang="it-IT" sz="1200" b="1" i="0" u="none" strike="noStrike" cap="none" spc="0">
                  <a:solidFill>
                    <a:schemeClr val="bg1"/>
                  </a:solidFill>
                  <a:latin typeface="Times New Roman"/>
                  <a:cs typeface="Times New Roman"/>
                </a:endParaRPr>
              </a:p>
              <a:p>
                <a:pPr>
                  <a:defRPr/>
                </a:pPr>
                <a:endParaRPr b="1">
                  <a:solidFill>
                    <a:srgbClr val="F39119"/>
                  </a:solidFill>
                  <a:latin typeface="Poppins"/>
                  <a:cs typeface="Poppins"/>
                </a:endParaRPr>
              </a:p>
              <a:p>
                <a:pPr>
                  <a:defRPr/>
                </a:pPr>
                <a:r>
                  <a:rPr sz="1000" b="0">
                    <a:solidFill>
                      <a:schemeClr val="bg1">
                        <a:lumMod val="75000"/>
                      </a:schemeClr>
                    </a:solidFill>
                    <a:latin typeface="Adwaita Sans"/>
                    <a:ea typeface="Adwaita Sans"/>
                    <a:cs typeface="Adwaita Sans"/>
                  </a:rPr>
                  <a:t>Vengono definiti e fissati tutti gli input e gli Output con i relativi valori finali.</a:t>
                </a:r>
                <a:endParaRPr sz="1000" b="0">
                  <a:solidFill>
                    <a:schemeClr val="bg1">
                      <a:lumMod val="75000"/>
                    </a:schemeClr>
                  </a:solidFill>
                  <a:latin typeface="Adwaita Sans"/>
                  <a:cs typeface="Adwaita Sans"/>
                </a:endParaRPr>
              </a:p>
            </p:txBody>
          </p:sp>
        </p:grpSp>
        <p:grpSp>
          <p:nvGrpSpPr>
            <p:cNvPr id="1008501957" name=""/>
            <p:cNvGrpSpPr/>
            <p:nvPr/>
          </p:nvGrpSpPr>
          <p:grpSpPr bwMode="auto">
            <a:xfrm>
              <a:off x="8656065" y="0"/>
              <a:ext cx="2540079" cy="1881988"/>
              <a:chOff x="0" y="0"/>
              <a:chExt cx="2540079" cy="1881988"/>
            </a:xfrm>
          </p:grpSpPr>
          <p:sp>
            <p:nvSpPr>
              <p:cNvPr id="742538961" name=""/>
              <p:cNvSpPr/>
              <p:nvPr/>
            </p:nvSpPr>
            <p:spPr bwMode="auto">
              <a:xfrm rot="0" flipH="0" flipV="0">
                <a:off x="0" y="0"/>
                <a:ext cx="2540079" cy="1881988"/>
              </a:xfrm>
              <a:prstGeom prst="flowChartAlternateProcess">
                <a:avLst/>
              </a:prstGeom>
              <a:solidFill>
                <a:srgbClr val="1E293B"/>
              </a:solidFill>
              <a:ln w="19050" cap="flat" cmpd="sng" algn="ctr">
                <a:solidFill>
                  <a:srgbClr val="0E2F4B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 b="1">
                  <a:solidFill>
                    <a:schemeClr val="bg1">
                      <a:lumMod val="75000"/>
                    </a:schemeClr>
                  </a:solidFill>
                  <a:latin typeface="JetBrainsMono NF"/>
                  <a:cs typeface="JetBrainsMono NF"/>
                </a:endParaRPr>
              </a:p>
            </p:txBody>
          </p:sp>
          <p:sp>
            <p:nvSpPr>
              <p:cNvPr id="827285953" name=""/>
              <p:cNvSpPr txBox="1"/>
              <p:nvPr/>
            </p:nvSpPr>
            <p:spPr bwMode="auto">
              <a:xfrm rot="0" flipH="0" flipV="0">
                <a:off x="113005" y="270254"/>
                <a:ext cx="2354025" cy="128052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sz="1200" b="1">
                    <a:solidFill>
                      <a:srgbClr val="F39119"/>
                    </a:solidFill>
                    <a:latin typeface="Poppins"/>
                    <a:ea typeface="Poppins"/>
                    <a:cs typeface="Poppins"/>
                  </a:rPr>
                  <a:t>FASE 04</a:t>
                </a:r>
                <a:endParaRPr b="1">
                  <a:solidFill>
                    <a:srgbClr val="F39119"/>
                  </a:solidFill>
                  <a:latin typeface="Poppins"/>
                  <a:ea typeface="Poppins"/>
                  <a:cs typeface="Poppins"/>
                </a:endParaRPr>
              </a:p>
              <a:p>
                <a:pPr>
                  <a:defRPr/>
                </a:pPr>
                <a:endParaRPr b="1">
                  <a:solidFill>
                    <a:srgbClr val="F39119"/>
                  </a:solidFill>
                  <a:latin typeface="Poppins"/>
                  <a:ea typeface="Poppins"/>
                  <a:cs typeface="Poppins"/>
                </a:endParaRPr>
              </a:p>
              <a:p>
                <a:pPr>
                  <a:defRPr/>
                </a:pPr>
                <a:r>
                  <a:rPr lang="it-IT" sz="1200" b="1" i="0" u="none" strike="noStrike" cap="none" spc="0">
                    <a:solidFill>
                      <a:schemeClr val="bg1"/>
                    </a:solidFill>
                    <a:latin typeface="Poppins"/>
                    <a:ea typeface="Poppins"/>
                    <a:cs typeface="Poppins"/>
                  </a:rPr>
                  <a:t>Sign Inputs</a:t>
                </a:r>
                <a:endParaRPr lang="it-IT" sz="1200" b="1" i="0" u="none" strike="noStrike" cap="none" spc="0">
                  <a:solidFill>
                    <a:schemeClr val="bg1"/>
                  </a:solidFill>
                  <a:latin typeface="Times New Roman"/>
                  <a:cs typeface="Times New Roman"/>
                </a:endParaRPr>
              </a:p>
              <a:p>
                <a:pPr>
                  <a:defRPr/>
                </a:pPr>
                <a:endParaRPr sz="1000" b="0">
                  <a:solidFill>
                    <a:schemeClr val="bg1">
                      <a:lumMod val="75000"/>
                    </a:schemeClr>
                  </a:solidFill>
                  <a:latin typeface="Adwaita Sans"/>
                  <a:cs typeface="Adwaita Sans"/>
                </a:endParaRPr>
              </a:p>
              <a:p>
                <a:pPr>
                  <a:defRPr/>
                </a:pPr>
                <a:r>
                  <a:rPr sz="1000" b="0">
                    <a:solidFill>
                      <a:schemeClr val="bg1">
                        <a:lumMod val="75000"/>
                      </a:schemeClr>
                    </a:solidFill>
                    <a:latin typeface="Adwaita Sans"/>
                    <a:cs typeface="Adwaita Sans"/>
                  </a:rPr>
                  <a:t>Viene calcolato il SigHash e generate le firme ECDSA per ciascun input.</a:t>
                </a:r>
                <a:endParaRPr sz="1000" b="0">
                  <a:solidFill>
                    <a:schemeClr val="bg1">
                      <a:lumMod val="75000"/>
                    </a:schemeClr>
                  </a:solidFill>
                  <a:latin typeface="Adwaita Sans"/>
                  <a:cs typeface="Adwaita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4954136" name="Google Shape;204;p18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-27494" y="-78555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190473" name="Google Shape;178;p17"/>
          <p:cNvSpPr txBox="1"/>
          <p:nvPr/>
        </p:nvSpPr>
        <p:spPr bwMode="auto">
          <a:xfrm>
            <a:off x="885825" y="542841"/>
            <a:ext cx="11361612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Transazioni: Legacy vs SegWit</a:t>
            </a:r>
            <a:endParaRPr/>
          </a:p>
        </p:txBody>
      </p:sp>
      <p:pic>
        <p:nvPicPr>
          <p:cNvPr id="1909452654" name="Google Shape;180;p1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3" y="576261"/>
            <a:ext cx="304798" cy="2666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06325890" name="Google Shape;204;p18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-27494" y="-78555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860372" name="Google Shape;178;p17"/>
          <p:cNvSpPr txBox="1"/>
          <p:nvPr/>
        </p:nvSpPr>
        <p:spPr bwMode="auto">
          <a:xfrm>
            <a:off x="885825" y="549321"/>
            <a:ext cx="11374572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Transazioni: Esempi</a:t>
            </a:r>
            <a:endParaRPr/>
          </a:p>
        </p:txBody>
      </p:sp>
      <p:pic>
        <p:nvPicPr>
          <p:cNvPr id="1955833796" name="Google Shape;180;p1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3" y="576261"/>
            <a:ext cx="304798" cy="2666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47818378" name="Google Shape;221;p19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3571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7392276" name="Google Shape;223;p19"/>
          <p:cNvSpPr txBox="1"/>
          <p:nvPr/>
        </p:nvSpPr>
        <p:spPr bwMode="auto">
          <a:xfrm>
            <a:off x="847725" y="466725"/>
            <a:ext cx="1134427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Il Problema della Coin Selection</a:t>
            </a:r>
            <a:endParaRPr/>
          </a:p>
        </p:txBody>
      </p:sp>
      <p:pic>
        <p:nvPicPr>
          <p:cNvPr id="2032455435" name="Google Shape;225;p19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5" y="5762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7995485" name="Google Shape;226;p19"/>
          <p:cNvSpPr txBox="1"/>
          <p:nvPr/>
        </p:nvSpPr>
        <p:spPr bwMode="auto">
          <a:xfrm>
            <a:off x="466725" y="2386012"/>
            <a:ext cx="57507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Perché non è un problema banale?</a:t>
            </a:r>
            <a:endParaRPr/>
          </a:p>
        </p:txBody>
      </p:sp>
      <p:sp>
        <p:nvSpPr>
          <p:cNvPr id="560535427" name="Google Shape;227;p19"/>
          <p:cNvSpPr txBox="1"/>
          <p:nvPr/>
        </p:nvSpPr>
        <p:spPr bwMode="auto">
          <a:xfrm>
            <a:off x="466725" y="2805112"/>
            <a:ext cx="54768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1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Selezionare quali UTXO spendere è un problema equivalente al </a:t>
            </a:r>
            <a:r>
              <a:rPr lang="en-US" sz="11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Knapsack Problem (NP-Hard)</a:t>
            </a:r>
            <a:r>
              <a:rPr lang="en-US" sz="11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.</a:t>
            </a:r>
            <a:endParaRPr/>
          </a:p>
        </p:txBody>
      </p:sp>
      <p:sp>
        <p:nvSpPr>
          <p:cNvPr id="1929136527" name=""/>
          <p:cNvSpPr txBox="1"/>
          <p:nvPr/>
        </p:nvSpPr>
        <p:spPr bwMode="auto">
          <a:xfrm rot="0" flipH="0" flipV="0">
            <a:off x="466724" y="3617961"/>
            <a:ext cx="536572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39820" marR="0" indent="-239820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sz="1200" b="1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Commissioni: </a:t>
            </a:r>
            <a:r>
              <a:rPr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Più input, più grande sarà la transazione in vByte, più commissioni.</a:t>
            </a:r>
            <a:endParaRPr sz="1200" b="0" i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39820" marR="0" indent="-239820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sz="1200" b="1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Dust Avoidance: </a:t>
            </a:r>
            <a:r>
              <a:rPr sz="1200" b="0" i="0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Evitare di creare output di resto con valore inferiore al costo della fee per spenderli.</a:t>
            </a:r>
            <a:endParaRPr sz="1200" b="0" i="0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  <a:p>
            <a:pPr marL="239820" marR="0" indent="-239820" algn="l" defTabSz="9144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Font typeface="Wingdings"/>
              <a:buChar char="ü"/>
              <a:defRPr/>
            </a:pPr>
            <a:r>
              <a:rPr sz="1200" b="1" i="0" u="none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Privacy:</a:t>
            </a:r>
            <a:r>
              <a:rPr sz="1200" b="0" i="0" u="none" strike="noStrike" cap="none" spc="0">
                <a:solidFill>
                  <a:schemeClr val="bg1"/>
                </a:solidFill>
                <a:latin typeface="Adwaita Sans"/>
                <a:cs typeface="Adwaita Sans"/>
              </a:rPr>
              <a:t> Unire troppi UTXO collega indirizi diversi allo stesso proprietario.</a:t>
            </a:r>
            <a:endParaRPr sz="1200" b="0" u="none" strike="noStrike" cap="none" spc="0">
              <a:solidFill>
                <a:schemeClr val="bg1"/>
              </a:solidFill>
              <a:latin typeface="Adwaita Sans"/>
              <a:cs typeface="Adwaita Sans"/>
            </a:endParaRPr>
          </a:p>
        </p:txBody>
      </p:sp>
      <p:pic>
        <p:nvPicPr>
          <p:cNvPr id="733846567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flipH="0" flipV="0">
            <a:off x="6781799" y="1716748"/>
            <a:ext cx="3802424" cy="38024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061752" name="Google Shape;221;p19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-14288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9817407" name="Google Shape;223;p19"/>
          <p:cNvSpPr txBox="1"/>
          <p:nvPr/>
        </p:nvSpPr>
        <p:spPr bwMode="auto">
          <a:xfrm>
            <a:off x="847724" y="466724"/>
            <a:ext cx="11344274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Il Problema della Coin Selection</a:t>
            </a:r>
            <a:endParaRPr/>
          </a:p>
        </p:txBody>
      </p:sp>
      <p:pic>
        <p:nvPicPr>
          <p:cNvPr id="856060595" name="Google Shape;225;p19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4" y="576261"/>
            <a:ext cx="266699" cy="2666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2398356" name=""/>
          <p:cNvGrpSpPr/>
          <p:nvPr/>
        </p:nvGrpSpPr>
        <p:grpSpPr bwMode="auto">
          <a:xfrm>
            <a:off x="3255426" y="1003987"/>
            <a:ext cx="5916972" cy="5575394"/>
            <a:chOff x="0" y="0"/>
            <a:chExt cx="5916972" cy="5575394"/>
          </a:xfrm>
        </p:grpSpPr>
        <p:pic>
          <p:nvPicPr>
            <p:cNvPr id="1759747771" name="Google Shape;222;p19" descr="image.png"/>
            <p:cNvPicPr/>
            <p:nvPr/>
          </p:nvPicPr>
          <p:blipFill rotWithShape="1">
            <a:blip r:embed="rId5">
              <a:alphaModFix/>
            </a:blip>
            <a:srcRect l="0" t="0" r="0" b="0"/>
            <a:stretch/>
          </p:blipFill>
          <p:spPr bwMode="auto">
            <a:xfrm flipH="0" flipV="0">
              <a:off x="0" y="0"/>
              <a:ext cx="5916973" cy="55677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5673789" name=""/>
            <p:cNvSpPr txBox="1"/>
            <p:nvPr/>
          </p:nvSpPr>
          <p:spPr bwMode="auto">
            <a:xfrm rot="0" flipH="0" flipV="0">
              <a:off x="125451" y="484875"/>
              <a:ext cx="5761827" cy="5090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l">
                <a:defRPr/>
              </a:pP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function 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SelectInputs(UTXO_Pool, TargetAmount, FeeRate):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SortDescendingByValue(UTXO_Pool)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BaseSize       &lt;- 44   </a:t>
              </a:r>
              <a:r>
                <a:rPr sz="800">
                  <a:solidFill>
                    <a:schemeClr val="bg1">
                      <a:lumMod val="50000"/>
                    </a:schemeClr>
                  </a:solidFill>
                  <a:latin typeface="JetBrainsMono NF"/>
                  <a:ea typeface="JetBrainsMono NF"/>
                  <a:cs typeface="JetBrainsMono NF"/>
                </a:rPr>
                <a:t># 10 B (Header) + 34 B (Dest. Output)</a:t>
              </a:r>
              <a:endParaRPr sz="800">
                <a:solidFill>
                  <a:schemeClr val="bg1">
                    <a:lumMod val="50000"/>
                  </a:schemeClr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Accumulated    &lt;- 0</a:t>
              </a:r>
              <a:endParaRPr sz="80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CountLegacy    &lt;- 0</a:t>
              </a:r>
              <a:endParaRPr sz="80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CountSegwit    &lt;- 0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SelectedInputs &lt;- []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for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each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 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UTXO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in 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UTXO_Pool: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Accumulated += UTXO.value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SelectedInputs.append(UTXO)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cs typeface="JetBrainsMono NF"/>
                </a:rPr>
                <a:t>        </a:t>
              </a:r>
              <a:r>
                <a:rPr sz="800">
                  <a:solidFill>
                    <a:srgbClr val="DB4A0B"/>
                  </a:solidFill>
                  <a:latin typeface="JetBrainsMono NF"/>
                  <a:cs typeface="JetBrainsMono NF"/>
                </a:rPr>
                <a:t>if </a:t>
              </a:r>
              <a:r>
                <a:rPr sz="800">
                  <a:solidFill>
                    <a:schemeClr val="bg1"/>
                  </a:solidFill>
                  <a:latin typeface="JetBrainsMono NF"/>
                  <a:cs typeface="JetBrainsMono NF"/>
                </a:rPr>
                <a:t>IsSegwit(UTXO):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cs typeface="JetBrainsMono NF"/>
                </a:rPr>
                <a:t>	CountSegwit++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cs typeface="JetBrainsMono NF"/>
                </a:rPr>
                <a:t>        </a:t>
              </a:r>
              <a:r>
                <a:rPr sz="800">
                  <a:solidFill>
                    <a:srgbClr val="DB4A0B"/>
                  </a:solidFill>
                  <a:latin typeface="JetBrainsMono NF"/>
                  <a:cs typeface="JetBrainsMono NF"/>
                </a:rPr>
                <a:t>else</a:t>
              </a:r>
              <a:endParaRPr sz="800">
                <a:solidFill>
                  <a:srgbClr val="9E3F19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cs typeface="JetBrainsMono NF"/>
                </a:rPr>
                <a:t>	CountLegacy++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cs typeface="JetBrainsMono NF"/>
                </a:rPr>
                <a:t>        </a:t>
              </a:r>
              <a:r>
                <a:rPr lang="it-IT" sz="800" b="0" i="0" u="none" strike="noStrike" cap="none" spc="0">
                  <a:solidFill>
                    <a:schemeClr val="bg1">
                      <a:lumMod val="50000"/>
                    </a:schemeClr>
                  </a:solidFill>
                  <a:latin typeface="JetBrainsMono NF"/>
                  <a:ea typeface="JetBrainsMono NF"/>
                  <a:cs typeface="JetBrainsMono NF"/>
                </a:rPr>
                <a:t># 148 B per P2PKH input</a:t>
              </a:r>
              <a:r>
                <a:rPr sz="800">
                  <a:solidFill>
                    <a:schemeClr val="bg1">
                      <a:lumMod val="50000"/>
                    </a:schemeClr>
                  </a:solidFill>
                  <a:latin typeface="JetBrainsMono NF"/>
                  <a:cs typeface="JetBrainsMono NF"/>
                </a:rPr>
                <a:t> + 68 B per P2WPKH input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EstimatedSize &lt;- BaseSize + (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CountLegacy * 148) + (CountSegwit * 68) </a:t>
              </a:r>
              <a:r>
                <a:rPr sz="800">
                  <a:solidFill>
                    <a:schemeClr val="bg1">
                      <a:lumMod val="50000"/>
                    </a:schemeClr>
                  </a:solidFill>
                  <a:latin typeface="JetBrainsMono NF"/>
                  <a:ea typeface="JetBrainsMono NF"/>
                  <a:cs typeface="JetBrainsMono NF"/>
                </a:rPr>
                <a:t> </a:t>
              </a:r>
              <a:endParaRPr sz="800">
                <a:solidFill>
                  <a:schemeClr val="bg1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EstimatedFee  &lt;- EstimatedSize * FeeRate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</a:t>
              </a:r>
              <a:endParaRPr sz="800">
                <a:solidFill>
                  <a:srgbClr val="00B0F0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rgbClr val="00B0F0"/>
                  </a:solidFill>
                  <a:latin typeface="JetBrainsMono NF"/>
                  <a:ea typeface="JetBrainsMono NF"/>
                  <a:cs typeface="JetBrainsMono NF"/>
                </a:rPr>
                <a:t>       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if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 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Accumulated &gt;= TargetAmount + EstimatedFee: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Change &lt;- Accumulated - TargetAmount - EstimatedFee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if 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Change &gt; 0: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</a:t>
              </a:r>
              <a:r>
                <a:rPr sz="800">
                  <a:solidFill>
                    <a:schemeClr val="bg1">
                      <a:lumMod val="50000"/>
                    </a:schemeClr>
                  </a:solidFill>
                  <a:latin typeface="JetBrainsMono NF"/>
                  <a:ea typeface="JetBrainsMono NF"/>
                  <a:cs typeface="JetBrainsMono NF"/>
                </a:rPr>
                <a:t># Aggiunta del Change Output (34 B) e ricalcolo fee</a:t>
              </a:r>
              <a:endParaRPr sz="800">
                <a:solidFill>
                  <a:schemeClr val="bg1">
                    <a:lumMod val="50000"/>
                  </a:schemeClr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SizeWithChange &lt;- EstimatedSize + 34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FeeWithChange  &lt;- SizeWithChange * FeeRate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NewChange      &lt;- Accumulated - TargetAmount - FeeWithChange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if 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NewChange &gt;= 0: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    EstimatedFee &lt;- FeeWithChange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    Change       &lt;- NewChange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else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:</a:t>
              </a:r>
              <a:r>
                <a:rPr sz="800">
                  <a:solidFill>
                    <a:schemeClr val="bg1"/>
                  </a:solidFill>
                  <a:latin typeface="JetBrainsMono NF"/>
                  <a:cs typeface="JetBrainsMono NF"/>
                </a:rPr>
                <a:t> </a:t>
              </a:r>
              <a:r>
                <a:rPr sz="800">
                  <a:solidFill>
                    <a:schemeClr val="bg1">
                      <a:lumMod val="50000"/>
                    </a:schemeClr>
                  </a:solidFill>
                  <a:latin typeface="JetBrainsMono NF"/>
                  <a:cs typeface="JetBrainsMono NF"/>
                </a:rPr>
                <a:t># NewChange &lt; 0, non ho abbastanza resto per coprire l’output di 			       resto, rimane ai miner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        Change &lt;- 0 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       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return 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SelectedInputs, EstimatedFee, Change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  <a:p>
              <a:pPr algn="l">
                <a:defRPr/>
              </a:pP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    </a:t>
              </a:r>
              <a:r>
                <a:rPr sz="800">
                  <a:solidFill>
                    <a:srgbClr val="DB4A0B"/>
                  </a:solidFill>
                  <a:latin typeface="JetBrainsMono NF"/>
                  <a:ea typeface="JetBrainsMono NF"/>
                  <a:cs typeface="JetBrainsMono NF"/>
                </a:rPr>
                <a:t>raise </a:t>
              </a:r>
              <a:r>
                <a:rPr sz="800">
                  <a:solidFill>
                    <a:srgbClr val="00B0F0"/>
                  </a:solidFill>
                  <a:latin typeface="JetBrainsMono NF"/>
                  <a:ea typeface="JetBrainsMono NF"/>
                  <a:cs typeface="JetBrainsMono NF"/>
                </a:rPr>
                <a:t>Error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(</a:t>
              </a:r>
              <a:r>
                <a:rPr sz="800">
                  <a:solidFill>
                    <a:srgbClr val="00B050"/>
                  </a:solidFill>
                  <a:latin typeface="JetBrainsMono NF"/>
                  <a:ea typeface="JetBrainsMono NF"/>
                  <a:cs typeface="JetBrainsMono NF"/>
                </a:rPr>
                <a:t>"Insufficient Funds"</a:t>
              </a:r>
              <a:r>
                <a:rPr sz="800">
                  <a:solidFill>
                    <a:schemeClr val="bg1"/>
                  </a:solidFill>
                  <a:latin typeface="JetBrainsMono NF"/>
                  <a:ea typeface="JetBrainsMono NF"/>
                  <a:cs typeface="JetBrainsMono NF"/>
                </a:rPr>
                <a:t>)</a:t>
              </a:r>
              <a:endParaRPr sz="800">
                <a:solidFill>
                  <a:schemeClr val="bg1"/>
                </a:solidFill>
                <a:latin typeface="JetBrainsMono NF"/>
                <a:cs typeface="JetBrainsMono NF"/>
              </a:endParaRPr>
            </a:p>
          </p:txBody>
        </p:sp>
        <p:grpSp>
          <p:nvGrpSpPr>
            <p:cNvPr id="2055079592" name=""/>
            <p:cNvGrpSpPr/>
            <p:nvPr/>
          </p:nvGrpSpPr>
          <p:grpSpPr bwMode="auto">
            <a:xfrm>
              <a:off x="188115" y="204786"/>
              <a:ext cx="5251374" cy="228960"/>
              <a:chOff x="0" y="0"/>
              <a:chExt cx="5251374" cy="228960"/>
            </a:xfrm>
          </p:grpSpPr>
          <p:sp>
            <p:nvSpPr>
              <p:cNvPr id="67166888" name="Google Shape;231;p19"/>
              <p:cNvSpPr txBox="1"/>
              <p:nvPr/>
            </p:nvSpPr>
            <p:spPr bwMode="auto">
              <a:xfrm>
                <a:off x="0" y="0"/>
                <a:ext cx="5251375" cy="228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14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en-US" sz="1500" b="0" i="0" u="none" strike="noStrike" cap="none">
                    <a:solidFill>
                      <a:srgbClr val="FFFFFF"/>
                    </a:solidFill>
                    <a:latin typeface="Poppins SemiBold"/>
                    <a:ea typeface="Poppins SemiBold"/>
                    <a:cs typeface="Poppins SemiBold"/>
                  </a:rPr>
                  <a:t>Algoritmo Greedy Adottato</a:t>
                </a:r>
                <a:endParaRPr/>
              </a:p>
            </p:txBody>
          </p:sp>
          <p:pic>
            <p:nvPicPr>
              <p:cNvPr id="2024239926" name="Google Shape;239;p19" descr="image.png"/>
              <p:cNvPicPr/>
              <p:nvPr/>
            </p:nvPicPr>
            <p:blipFill rotWithShape="1">
              <a:blip r:embed="rId6">
                <a:alphaModFix/>
              </a:blip>
              <a:srcRect l="0" t="0" r="0" b="0"/>
              <a:stretch/>
            </p:blipFill>
            <p:spPr bwMode="auto">
              <a:xfrm>
                <a:off x="0" y="0"/>
                <a:ext cx="171450" cy="190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253321" name="Google Shape;204;p18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-27494" y="-78555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1454182" name="Google Shape;178;p17"/>
          <p:cNvSpPr txBox="1"/>
          <p:nvPr/>
        </p:nvSpPr>
        <p:spPr bwMode="auto">
          <a:xfrm>
            <a:off x="885825" y="557601"/>
            <a:ext cx="11391132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Transazioni: Esempi (Prima e dopo ottimizzazione algoritmo)</a:t>
            </a:r>
            <a:endParaRPr/>
          </a:p>
        </p:txBody>
      </p:sp>
      <p:pic>
        <p:nvPicPr>
          <p:cNvPr id="280807036" name="Google Shape;180;p17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3" y="576261"/>
            <a:ext cx="304798" cy="266698"/>
          </a:xfrm>
          <a:prstGeom prst="rect">
            <a:avLst/>
          </a:prstGeom>
          <a:noFill/>
          <a:ln>
            <a:noFill/>
          </a:ln>
        </p:spPr>
      </p:pic>
      <p:sp>
        <p:nvSpPr>
          <p:cNvPr id="599035523" name=""/>
          <p:cNvSpPr txBox="1"/>
          <p:nvPr/>
        </p:nvSpPr>
        <p:spPr bwMode="auto">
          <a:xfrm rot="0" flipH="0" flipV="0">
            <a:off x="563924" y="5070117"/>
            <a:ext cx="10775890" cy="5185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it-IT" sz="1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34961e10f23e99ea6feff5504e87ce198a2b68cfcd95915e2e1b9c6ea3fa6e04</a:t>
            </a:r>
            <a:r>
              <a:rPr>
                <a:solidFill>
                  <a:schemeClr val="bg1"/>
                </a:solidFill>
              </a:rPr>
              <a:t>: 3 input (2 segwit + legacy) 520 size (365 vbytes), 362 fee</a:t>
            </a:r>
            <a:br>
              <a:rPr>
                <a:solidFill>
                  <a:schemeClr val="bg1"/>
                </a:solidFill>
              </a:rPr>
            </a:br>
            <a:r>
              <a:rPr lang="it-IT" sz="1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c10743ed19eb49f87541abef204226e7e36d101b26efe1975aea658bba5e2493: 2 input (segwit + legacy) 374 size, 294 fee</a:t>
            </a:r>
            <a:endParaRPr lang="it-IT" sz="1400" b="0" i="0" u="none" strike="noStrike" cap="none" spc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4510910" name=""/>
          <p:cNvSpPr txBox="1"/>
          <p:nvPr/>
        </p:nvSpPr>
        <p:spPr bwMode="auto">
          <a:xfrm rot="0" flipH="0" flipV="0">
            <a:off x="563924" y="3491324"/>
            <a:ext cx="6535229" cy="1371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it-IT" sz="1200" b="0" i="0" u="none" strike="noStrike" cap="none" spc="0">
                <a:solidFill>
                  <a:srgbClr val="DB4A0B"/>
                </a:solidFill>
                <a:latin typeface="JetBrainsMono NF"/>
                <a:ea typeface="JetBrainsMono NF"/>
                <a:cs typeface="JetBrainsMono NF"/>
              </a:rPr>
              <a:t>if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IsSegwit(UTXO):</a:t>
            </a:r>
            <a:endParaRPr sz="120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 algn="l"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CountSewit++</a:t>
            </a:r>
            <a:endParaRPr sz="120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 algn="l">
              <a:defRPr/>
            </a:pPr>
            <a:r>
              <a:rPr lang="it-IT" sz="1200" b="0" i="0" u="none" strike="noStrike" cap="none" spc="0">
                <a:solidFill>
                  <a:srgbClr val="DB4A0B"/>
                </a:solidFill>
                <a:latin typeface="JetBrainsMono NF"/>
                <a:ea typeface="JetBrainsMono NF"/>
                <a:cs typeface="JetBrainsMono NF"/>
              </a:rPr>
              <a:t>else</a:t>
            </a:r>
            <a:endParaRPr sz="120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 algn="l"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CountLegacy++</a:t>
            </a:r>
            <a:endParaRPr sz="120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 algn="l">
              <a:defRPr/>
            </a:pPr>
            <a:endParaRPr sz="120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 algn="l">
              <a:defRPr/>
            </a:pPr>
            <a:r>
              <a:rPr lang="it-IT" sz="1200" b="0" i="0" u="none" strike="noStrike" cap="none" spc="0">
                <a:solidFill>
                  <a:schemeClr val="bg1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# 148 B per P2PKH input</a:t>
            </a:r>
            <a:r>
              <a:rPr lang="it-IT" sz="1200" b="0" i="0" u="none" strike="noStrike" cap="none" spc="0">
                <a:solidFill>
                  <a:schemeClr val="bg1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 + 68 B per P2WPKH input</a:t>
            </a:r>
            <a:endParaRPr lang="it-IT" sz="1200" b="0" i="0" u="none" strike="noStrike" cap="none" spc="0">
              <a:solidFill>
                <a:schemeClr val="bg1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EstimatedSize &lt;- BaseSize + (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CountLegacy * 148) + (CountSegwit * 68) </a:t>
            </a:r>
            <a:endParaRPr sz="1200"/>
          </a:p>
        </p:txBody>
      </p:sp>
      <p:sp>
        <p:nvSpPr>
          <p:cNvPr id="1430918585" name=""/>
          <p:cNvSpPr txBox="1"/>
          <p:nvPr/>
        </p:nvSpPr>
        <p:spPr bwMode="auto">
          <a:xfrm rot="0" flipH="0" flipV="0">
            <a:off x="563924" y="1543050"/>
            <a:ext cx="6561148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it-IT" sz="1200" b="0" i="0" u="none" strike="noStrike" cap="none" spc="0">
                <a:solidFill>
                  <a:schemeClr val="bg1">
                    <a:lumMod val="50000"/>
                  </a:schemeClr>
                </a:solidFill>
                <a:latin typeface="JetBrainsMono NF"/>
                <a:ea typeface="JetBrainsMono NF"/>
                <a:cs typeface="JetBrainsMono NF"/>
              </a:rPr>
              <a:t># 148 B per input (UppeBound)</a:t>
            </a:r>
            <a:endParaRPr lang="it-IT" sz="1200" b="0" i="0" u="none" strike="noStrike" cap="none" spc="0">
              <a:solidFill>
                <a:schemeClr val="bg1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EstimatedSize &lt;- BaseSize + (</a:t>
            </a:r>
            <a:r>
              <a:rPr lang="it-IT" sz="1200" b="0" i="0" u="none" strike="noStrike" cap="none" spc="0">
                <a:solidFill>
                  <a:srgbClr val="DB4A0B"/>
                </a:solidFill>
                <a:latin typeface="JetBrainsMono NF"/>
                <a:ea typeface="JetBrainsMono NF"/>
                <a:cs typeface="JetBrainsMono NF"/>
              </a:rPr>
              <a:t>len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(SelectedInputs) * 148)</a:t>
            </a:r>
            <a:endParaRPr sz="1200"/>
          </a:p>
        </p:txBody>
      </p:sp>
      <p:sp>
        <p:nvSpPr>
          <p:cNvPr id="946464629" name=""/>
          <p:cNvSpPr/>
          <p:nvPr/>
        </p:nvSpPr>
        <p:spPr bwMode="auto">
          <a:xfrm rot="0" flipH="0" flipV="0">
            <a:off x="563924" y="1081499"/>
            <a:ext cx="1180562" cy="409574"/>
          </a:xfrm>
          <a:prstGeom prst="roundRect">
            <a:avLst>
              <a:gd name="adj" fmla="val 16667"/>
            </a:avLst>
          </a:prstGeom>
          <a:solidFill>
            <a:srgbClr val="213E57"/>
          </a:solidFill>
          <a:ln w="12700" cap="flat" cmpd="sng" algn="ctr">
            <a:solidFill>
              <a:srgbClr val="265E7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ctr">
              <a:defRPr/>
            </a:pPr>
            <a:r>
              <a:rPr sz="1600" b="1">
                <a:solidFill>
                  <a:srgbClr val="2F92C3"/>
                </a:solidFill>
                <a:latin typeface="Poppins"/>
                <a:ea typeface="Poppins"/>
                <a:cs typeface="Poppins"/>
              </a:rPr>
              <a:t>BEFORE</a:t>
            </a:r>
            <a:endParaRPr sz="1600" b="0">
              <a:solidFill>
                <a:srgbClr val="2F92C3"/>
              </a:solidFill>
              <a:latin typeface="Poppins"/>
              <a:cs typeface="Poppins"/>
            </a:endParaRPr>
          </a:p>
        </p:txBody>
      </p:sp>
      <p:sp>
        <p:nvSpPr>
          <p:cNvPr id="1708224043" name=""/>
          <p:cNvSpPr/>
          <p:nvPr/>
        </p:nvSpPr>
        <p:spPr bwMode="auto">
          <a:xfrm rot="0" flipH="0" flipV="0">
            <a:off x="563924" y="2940868"/>
            <a:ext cx="1180561" cy="409574"/>
          </a:xfrm>
          <a:prstGeom prst="roundRect">
            <a:avLst>
              <a:gd name="adj" fmla="val 16667"/>
            </a:avLst>
          </a:prstGeom>
          <a:solidFill>
            <a:srgbClr val="213E57"/>
          </a:solidFill>
          <a:ln w="12700" cap="flat" cmpd="sng" algn="ctr">
            <a:solidFill>
              <a:srgbClr val="265E7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ctr">
              <a:defRPr/>
            </a:pPr>
            <a:r>
              <a:rPr sz="1600" b="1">
                <a:solidFill>
                  <a:srgbClr val="2F92C3"/>
                </a:solidFill>
                <a:latin typeface="Poppins"/>
                <a:ea typeface="Poppins"/>
                <a:cs typeface="Poppins"/>
              </a:rPr>
              <a:t>AFTER</a:t>
            </a:r>
            <a:endParaRPr sz="1600" b="0">
              <a:solidFill>
                <a:srgbClr val="2F92C3"/>
              </a:solidFill>
              <a:latin typeface="Poppins"/>
              <a:cs typeface="Poppins"/>
            </a:endParaRPr>
          </a:p>
        </p:txBody>
      </p:sp>
      <p:sp>
        <p:nvSpPr>
          <p:cNvPr id="1271968270" name=""/>
          <p:cNvSpPr txBox="1"/>
          <p:nvPr/>
        </p:nvSpPr>
        <p:spPr bwMode="auto">
          <a:xfrm rot="0" flipH="0" flipV="0">
            <a:off x="640125" y="2186399"/>
            <a:ext cx="843034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177948309" name=""/>
          <p:cNvSpPr txBox="1"/>
          <p:nvPr/>
        </p:nvSpPr>
        <p:spPr bwMode="auto">
          <a:xfrm rot="0" flipH="0" flipV="0">
            <a:off x="563924" y="2186399"/>
            <a:ext cx="10257179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it-IT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150a9abd5edfb4e3c9f1bf96ccb53c2174f3d245699b4c68a959f18cac348d82</a:t>
            </a:r>
            <a:r>
              <a:rPr>
                <a:solidFill>
                  <a:schemeClr val="bg1"/>
                </a:solidFill>
              </a:rPr>
              <a:t>: 2 input (legacy) 373 size, 374 fee</a:t>
            </a:r>
            <a:br>
              <a:rPr>
                <a:solidFill>
                  <a:schemeClr val="bg1"/>
                </a:solidFill>
              </a:rPr>
            </a:br>
            <a:r>
              <a:rPr lang="it-IT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0d5341d21931f570f939c917e7ff3f00578f2aa53f61e096a62eb055b43ebc98</a:t>
            </a:r>
            <a:r>
              <a:rPr>
                <a:solidFill>
                  <a:schemeClr val="bg1"/>
                </a:solidFill>
              </a:rPr>
              <a:t>: 2 input (legacy + segwit) 374 size (290 vbytes), 374 fee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69329492" name=""/>
          <p:cNvSpPr txBox="1"/>
          <p:nvPr/>
        </p:nvSpPr>
        <p:spPr bwMode="auto">
          <a:xfrm rot="0" flipH="0" flipV="0">
            <a:off x="4278674" y="3138899"/>
            <a:ext cx="545854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Il paradosso di SegWit: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La transazione a 3 input trasmette più byte fisici sulla rete (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520 B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vs 374 B), ma grazie allo sconto del 75% sui dati witness richiede meno fee contabili (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362 sat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vs 374 sat) rispetto alla transazione mista a 2 input non ottimizzata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762803492" name=""/>
          <p:cNvSpPr txBox="1"/>
          <p:nvPr/>
        </p:nvSpPr>
        <p:spPr bwMode="auto">
          <a:xfrm rot="0" flipH="0" flipV="0">
            <a:off x="706799" y="5996399"/>
            <a:ext cx="5518232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solidFill>
                  <a:schemeClr val="bg1"/>
                </a:solidFill>
              </a:rPr>
              <a:t>METERE A CONFRONTO LE TASSE DI ELECTRUM CON LE MIE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343990" name="Google Shape;244;p20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2843969" name="Google Shape;245;p20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5" y="2767012"/>
            <a:ext cx="3600450" cy="2038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800217" name="Google Shape;246;p20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4295775" y="2767012"/>
            <a:ext cx="3600450" cy="2038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616571" name="Google Shape;247;p20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8124825" y="2767012"/>
            <a:ext cx="3600450" cy="2038349"/>
          </a:xfrm>
          <a:prstGeom prst="rect">
            <a:avLst/>
          </a:prstGeom>
          <a:noFill/>
          <a:ln>
            <a:noFill/>
          </a:ln>
        </p:spPr>
      </p:pic>
      <p:sp>
        <p:nvSpPr>
          <p:cNvPr id="1619457593" name="Google Shape;248;p20"/>
          <p:cNvSpPr txBox="1"/>
          <p:nvPr/>
        </p:nvSpPr>
        <p:spPr bwMode="auto">
          <a:xfrm>
            <a:off x="885825" y="466725"/>
            <a:ext cx="11306174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Strategie di Coin Selection a Confronto</a:t>
            </a:r>
            <a:endParaRPr/>
          </a:p>
        </p:txBody>
      </p:sp>
      <p:pic>
        <p:nvPicPr>
          <p:cNvPr id="22510204" name="Google Shape;250;p20" descr="image.png"/>
          <p:cNvPicPr/>
          <p:nvPr/>
        </p:nvPicPr>
        <p:blipFill rotWithShape="1">
          <a:blip r:embed="rId7">
            <a:alphaModFix/>
          </a:blip>
          <a:srcRect l="0" t="0" r="0" b="0"/>
          <a:stretch/>
        </p:blipFill>
        <p:spPr bwMode="auto">
          <a:xfrm>
            <a:off x="466725" y="576262"/>
            <a:ext cx="3048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89517971" name="Google Shape;251;p20"/>
          <p:cNvSpPr txBox="1"/>
          <p:nvPr/>
        </p:nvSpPr>
        <p:spPr bwMode="auto">
          <a:xfrm>
            <a:off x="704849" y="3005136"/>
            <a:ext cx="3290130" cy="22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00" b="0" i="0" u="none" strike="noStrike" cap="non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Greedy</a:t>
            </a:r>
            <a:r>
              <a:rPr lang="it-IT" sz="1500" b="0" i="0" u="none" strike="noStrike" cap="non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 Algorithm</a:t>
            </a:r>
            <a:endParaRPr/>
          </a:p>
        </p:txBody>
      </p:sp>
      <p:sp>
        <p:nvSpPr>
          <p:cNvPr id="330070758" name="Google Shape;253;p20"/>
          <p:cNvSpPr txBox="1"/>
          <p:nvPr/>
        </p:nvSpPr>
        <p:spPr bwMode="auto">
          <a:xfrm>
            <a:off x="704850" y="3767137"/>
            <a:ext cx="31242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Ordina gli UTXO dal più grande al più piccolo. Minimizza il numero di input per la singola transazione, ma tende a creare resto frammentato.</a:t>
            </a:r>
            <a:endParaRPr/>
          </a:p>
        </p:txBody>
      </p:sp>
      <p:sp>
        <p:nvSpPr>
          <p:cNvPr id="1149798505" name="Google Shape;254;p20"/>
          <p:cNvSpPr txBox="1"/>
          <p:nvPr/>
        </p:nvSpPr>
        <p:spPr bwMode="auto">
          <a:xfrm>
            <a:off x="4533899" y="3005136"/>
            <a:ext cx="3282570" cy="22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00" b="0" i="0" u="none" strike="noStrike" cap="non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Branch and Bound</a:t>
            </a:r>
            <a:endParaRPr/>
          </a:p>
        </p:txBody>
      </p:sp>
      <p:sp>
        <p:nvSpPr>
          <p:cNvPr id="1037369072" name="Google Shape;256;p20"/>
          <p:cNvSpPr txBox="1"/>
          <p:nvPr/>
        </p:nvSpPr>
        <p:spPr bwMode="auto">
          <a:xfrm flipH="0" flipV="0">
            <a:off x="4533899" y="3767136"/>
            <a:ext cx="3160559" cy="960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Cerca una combinazione esatta di UTXO che soddisfi il target </a:t>
            </a:r>
            <a:r>
              <a:rPr lang="en-US" sz="105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senza generare alcun resto</a:t>
            </a:r>
            <a:r>
              <a:rPr lang="it-IT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.</a:t>
            </a:r>
            <a:endParaRPr lang="it-IT" sz="1050" b="0" i="0" u="none" strike="noStrike" cap="none">
              <a:solidFill>
                <a:srgbClr val="94A3B8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Se fallisce la soluzione esatta, passa all’algoritmo </a:t>
            </a:r>
            <a:r>
              <a:rPr lang="it-IT" sz="1050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Single Random Draw</a:t>
            </a:r>
            <a:r>
              <a:rPr lang="it-IT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.</a:t>
            </a:r>
            <a:endParaRPr i="0"/>
          </a:p>
        </p:txBody>
      </p:sp>
      <p:sp>
        <p:nvSpPr>
          <p:cNvPr id="510897220" name="Google Shape;257;p20"/>
          <p:cNvSpPr txBox="1"/>
          <p:nvPr/>
        </p:nvSpPr>
        <p:spPr bwMode="auto">
          <a:xfrm>
            <a:off x="8362947" y="3005136"/>
            <a:ext cx="3295530" cy="22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500" b="0" i="0" u="none" strike="noStrike" cap="non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Electrum Algorithm</a:t>
            </a:r>
            <a:endParaRPr/>
          </a:p>
        </p:txBody>
      </p:sp>
      <p:sp>
        <p:nvSpPr>
          <p:cNvPr id="928672342" name="Google Shape;259;p20"/>
          <p:cNvSpPr txBox="1"/>
          <p:nvPr/>
        </p:nvSpPr>
        <p:spPr bwMode="auto">
          <a:xfrm flipH="0" flipV="0">
            <a:off x="8362949" y="3767136"/>
            <a:ext cx="3207359" cy="960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Se spende un indirizzo, spende </a:t>
            </a:r>
            <a:r>
              <a:rPr lang="it-IT" sz="1050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tutti</a:t>
            </a:r>
            <a:r>
              <a:rPr lang="it-IT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 i suoi UTXO per ridurre il bloat UTXO. </a:t>
            </a:r>
            <a:r>
              <a:rPr lang="it-IT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Penalizza i resti eccessivamente grandi rispetto alla transazione.</a:t>
            </a:r>
            <a:endParaRPr lang="it-IT" sz="1050" b="0" i="0" u="none" strike="noStrike" cap="none">
              <a:solidFill>
                <a:srgbClr val="94A3B8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Penalizza i resti molto diversi dall’importo inviato.</a:t>
            </a:r>
            <a:endParaRPr lang="it-IT" sz="1050" b="0" i="0" u="none" strike="noStrike" cap="none">
              <a:solidFill>
                <a:srgbClr val="94A3B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63435423" name=""/>
          <p:cNvSpPr/>
          <p:nvPr/>
        </p:nvSpPr>
        <p:spPr bwMode="auto">
          <a:xfrm rot="0" flipH="0" flipV="0">
            <a:off x="4533899" y="3348449"/>
            <a:ext cx="3209923" cy="257173"/>
          </a:xfrm>
          <a:prstGeom prst="roundRect">
            <a:avLst>
              <a:gd name="adj" fmla="val 16667"/>
            </a:avLst>
          </a:prstGeom>
          <a:solidFill>
            <a:srgbClr val="213E57"/>
          </a:solidFill>
          <a:ln w="12700" cap="flat" cmpd="sng" algn="ctr">
            <a:solidFill>
              <a:srgbClr val="265E7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/>
          <a:p>
            <a:pPr algn="l">
              <a:defRPr/>
            </a:pPr>
            <a:r>
              <a:rPr sz="1100" b="0">
                <a:solidFill>
                  <a:srgbClr val="2F92C3"/>
                </a:solidFill>
                <a:latin typeface="JetBrainsMono NF SemiBold"/>
                <a:ea typeface="JetBrainsMono NF SemiBold"/>
                <a:cs typeface="JetBrainsMono NF SemiBold"/>
              </a:rPr>
              <a:t>BITCOIN CORE</a:t>
            </a:r>
            <a:endParaRPr sz="1100" b="0">
              <a:solidFill>
                <a:srgbClr val="2F92C3"/>
              </a:solidFill>
              <a:latin typeface="JetBrainsMono NF SemiBold"/>
              <a:ea typeface="JetBrainsMono NF SemiBold"/>
              <a:cs typeface="JetBrainsMono NF SemiBold"/>
            </a:endParaRPr>
          </a:p>
        </p:txBody>
      </p:sp>
      <p:sp>
        <p:nvSpPr>
          <p:cNvPr id="657073760" name=""/>
          <p:cNvSpPr/>
          <p:nvPr/>
        </p:nvSpPr>
        <p:spPr bwMode="auto">
          <a:xfrm rot="0" flipH="0" flipV="0">
            <a:off x="619124" y="3348449"/>
            <a:ext cx="3209923" cy="257173"/>
          </a:xfrm>
          <a:prstGeom prst="roundRect">
            <a:avLst>
              <a:gd name="adj" fmla="val 16667"/>
            </a:avLst>
          </a:prstGeom>
          <a:solidFill>
            <a:srgbClr val="213E57"/>
          </a:solidFill>
          <a:ln w="12700" cap="flat" cmpd="sng" algn="ctr">
            <a:solidFill>
              <a:srgbClr val="265E7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/>
          <a:p>
            <a:pPr algn="l">
              <a:defRPr/>
            </a:pPr>
            <a:r>
              <a:rPr sz="1100" b="0">
                <a:solidFill>
                  <a:srgbClr val="2F92C3"/>
                </a:solidFill>
                <a:latin typeface="JetBrainsMono NF SemiBold"/>
                <a:ea typeface="JetBrainsMono NF SemiBold"/>
                <a:cs typeface="JetBrainsMono NF SemiBold"/>
              </a:rPr>
              <a:t>GO WALLET</a:t>
            </a:r>
            <a:endParaRPr sz="1100" b="0">
              <a:solidFill>
                <a:srgbClr val="2F92C3"/>
              </a:solidFill>
              <a:latin typeface="JetBrainsMono NF SemiBold"/>
              <a:ea typeface="JetBrainsMono NF SemiBold"/>
              <a:cs typeface="JetBrainsMono NF SemiBold"/>
            </a:endParaRPr>
          </a:p>
        </p:txBody>
      </p:sp>
      <p:sp>
        <p:nvSpPr>
          <p:cNvPr id="1135597785" name=""/>
          <p:cNvSpPr/>
          <p:nvPr/>
        </p:nvSpPr>
        <p:spPr bwMode="auto">
          <a:xfrm rot="0" flipH="0" flipV="0">
            <a:off x="8362949" y="3348449"/>
            <a:ext cx="3209923" cy="257173"/>
          </a:xfrm>
          <a:prstGeom prst="roundRect">
            <a:avLst>
              <a:gd name="adj" fmla="val 16667"/>
            </a:avLst>
          </a:prstGeom>
          <a:solidFill>
            <a:srgbClr val="213E57"/>
          </a:solidFill>
          <a:ln w="12700" cap="flat" cmpd="sng" algn="ctr">
            <a:solidFill>
              <a:srgbClr val="265E7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/>
          <a:p>
            <a:pPr algn="l">
              <a:defRPr/>
            </a:pPr>
            <a:r>
              <a:rPr sz="1100" b="0">
                <a:solidFill>
                  <a:srgbClr val="2F92C3"/>
                </a:solidFill>
                <a:latin typeface="JetBrainsMono NF SemiBold"/>
                <a:ea typeface="JetBrainsMono NF SemiBold"/>
                <a:cs typeface="JetBrainsMono NF SemiBold"/>
              </a:rPr>
              <a:t>ELECTRUM</a:t>
            </a:r>
            <a:endParaRPr sz="1100" b="0">
              <a:solidFill>
                <a:srgbClr val="2F92C3"/>
              </a:solidFill>
              <a:latin typeface="JetBrainsMono NF SemiBold"/>
              <a:ea typeface="JetBrainsMono NF SemiBold"/>
              <a:cs typeface="JetBrainsMono NF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98300156" name="Google Shape;264;p21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6957573" name="Google Shape;266;p21"/>
          <p:cNvSpPr txBox="1"/>
          <p:nvPr/>
        </p:nvSpPr>
        <p:spPr bwMode="auto">
          <a:xfrm>
            <a:off x="819149" y="517282"/>
            <a:ext cx="11377169" cy="388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Salvataggio </a:t>
            </a: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Wallet su Disco</a:t>
            </a:r>
            <a:endParaRPr/>
          </a:p>
        </p:txBody>
      </p:sp>
      <p:pic>
        <p:nvPicPr>
          <p:cNvPr id="942062378" name="Google Shape;268;p21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5" y="576262"/>
            <a:ext cx="2381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58837" name=""/>
          <p:cNvSpPr txBox="1"/>
          <p:nvPr/>
        </p:nvSpPr>
        <p:spPr bwMode="auto">
          <a:xfrm rot="0" flipH="0" flipV="0">
            <a:off x="7157092" y="1196162"/>
            <a:ext cx="4588792" cy="4663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type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CryptoEnvelope </a:t>
            </a: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struct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{</a:t>
            </a:r>
            <a:endParaRPr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Cipher   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string   </a:t>
            </a:r>
            <a:endParaRPr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Ciphertext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[]byte    </a:t>
            </a:r>
            <a:endParaRPr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Nonce    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[]byte    </a:t>
            </a:r>
            <a:endParaRPr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KDF      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string    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ea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KDFParams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KDFParams</a:t>
            </a:r>
            <a:endParaRPr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}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ea typeface="JetBrainsMono NF"/>
              <a:cs typeface="JetBrainsMono NF"/>
            </a:endParaRPr>
          </a:p>
          <a:p>
            <a:pPr>
              <a:defRPr/>
            </a:pPr>
            <a:endParaRPr sz="120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type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KeystoreData </a:t>
            </a: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struct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{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Mnemonic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12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]string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Seed   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64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]byte   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Xpub   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[]byte     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Xprv   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[]byte     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}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type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AddressSet </a:t>
            </a: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struct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{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Legacy </a:t>
            </a: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map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string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]keymanager.Address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Segwit </a:t>
            </a: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map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[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string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]keymanager.Address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}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type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Payload </a:t>
            </a:r>
            <a:r>
              <a:rPr lang="it-IT" sz="1200" b="0" i="0" u="none" strike="noStrike" cap="none" spc="0">
                <a:solidFill>
                  <a:srgbClr val="9E3F19"/>
                </a:solidFill>
                <a:latin typeface="JetBrainsMono NF"/>
                <a:ea typeface="JetBrainsMono NF"/>
                <a:cs typeface="JetBrainsMono NF"/>
              </a:rPr>
              <a:t>struct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{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Keystore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KeystoreData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Receivers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AddressSet   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    </a:t>
            </a:r>
            <a:r>
              <a:rPr lang="it-IT" sz="1200" b="0" i="0" u="none" strike="noStrike" cap="none" spc="0">
                <a:solidFill>
                  <a:srgbClr val="33ABE1"/>
                </a:solidFill>
                <a:latin typeface="JetBrainsMono NF"/>
                <a:ea typeface="JetBrainsMono NF"/>
                <a:cs typeface="JetBrainsMono NF"/>
              </a:rPr>
              <a:t>Change    </a:t>
            </a: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AddressSet   </a:t>
            </a:r>
            <a:endParaRPr lang="it-IT" sz="1200" b="0" i="0" u="none" strike="noStrike" cap="none" spc="0">
              <a:solidFill>
                <a:schemeClr val="bg1"/>
              </a:solidFill>
              <a:latin typeface="JetBrainsMono NF"/>
              <a:cs typeface="JetBrainsMono NF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bg1"/>
                </a:solidFill>
                <a:latin typeface="JetBrainsMono NF"/>
                <a:ea typeface="JetBrainsMono NF"/>
                <a:cs typeface="JetBrainsMono NF"/>
              </a:rPr>
              <a:t>}</a:t>
            </a:r>
            <a:endParaRPr sz="1200">
              <a:solidFill>
                <a:schemeClr val="bg1"/>
              </a:solidFill>
              <a:latin typeface="JetBrainsMono NF"/>
              <a:cs typeface="JetBrainsMono N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0238364" name="Google Shape;292;p22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300336" name="Google Shape;293;p22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66725" y="2628900"/>
            <a:ext cx="11258550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35693" name="Google Shape;294;p22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1102965" y="2867025"/>
            <a:ext cx="1924050" cy="44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5071535" name="Google Shape;295;p22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4752826" y="2867025"/>
            <a:ext cx="2019300" cy="44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018451" name="Google Shape;296;p22" descr="image.png"/>
          <p:cNvPicPr/>
          <p:nvPr/>
        </p:nvPicPr>
        <p:blipFill rotWithShape="1">
          <a:blip r:embed="rId7">
            <a:alphaModFix/>
          </a:blip>
          <a:srcRect l="0" t="0" r="0" b="0"/>
          <a:stretch/>
        </p:blipFill>
        <p:spPr bwMode="auto">
          <a:xfrm>
            <a:off x="8497937" y="2867025"/>
            <a:ext cx="2590800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695444289" name="Google Shape;297;p22"/>
          <p:cNvSpPr txBox="1"/>
          <p:nvPr/>
        </p:nvSpPr>
        <p:spPr bwMode="auto">
          <a:xfrm>
            <a:off x="847725" y="466725"/>
            <a:ext cx="1134427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Broadcast Transazioni: Architettura Proxy</a:t>
            </a:r>
            <a:endParaRPr/>
          </a:p>
        </p:txBody>
      </p:sp>
      <p:sp>
        <p:nvSpPr>
          <p:cNvPr id="1158980034" name="Google Shape;298;p22"/>
          <p:cNvSpPr txBox="1"/>
          <p:nvPr/>
        </p:nvSpPr>
        <p:spPr bwMode="auto">
          <a:xfrm>
            <a:off x="10325100" y="6515100"/>
            <a:ext cx="140017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9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</a:rPr>
              <a:t>Fase 3: Integrazione Nodo</a:t>
            </a:r>
            <a:endParaRPr/>
          </a:p>
        </p:txBody>
      </p:sp>
      <p:pic>
        <p:nvPicPr>
          <p:cNvPr id="2016608946" name="Google Shape;299;p22" descr="image.png"/>
          <p:cNvPicPr/>
          <p:nvPr/>
        </p:nvPicPr>
        <p:blipFill rotWithShape="1">
          <a:blip r:embed="rId8">
            <a:alphaModFix/>
          </a:blip>
          <a:srcRect l="0" t="0" r="0" b="0"/>
          <a:stretch/>
        </p:blipFill>
        <p:spPr bwMode="auto">
          <a:xfrm>
            <a:off x="466725" y="576262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1759353" name="Google Shape;300;p22" descr="image.png"/>
          <p:cNvPicPr/>
          <p:nvPr/>
        </p:nvPicPr>
        <p:blipFill rotWithShape="1">
          <a:blip r:embed="rId9">
            <a:alphaModFix/>
          </a:blip>
          <a:srcRect l="0" t="0" r="0" b="0"/>
          <a:stretch/>
        </p:blipFill>
        <p:spPr bwMode="auto">
          <a:xfrm>
            <a:off x="3823245" y="3014662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7654206" name="Google Shape;301;p22" descr="image.png"/>
          <p:cNvPicPr/>
          <p:nvPr/>
        </p:nvPicPr>
        <p:blipFill rotWithShape="1">
          <a:blip r:embed="rId10">
            <a:alphaModFix/>
          </a:blip>
          <a:srcRect l="0" t="0" r="0" b="0"/>
          <a:stretch/>
        </p:blipFill>
        <p:spPr bwMode="auto">
          <a:xfrm>
            <a:off x="7568356" y="3014662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1139766" name="Google Shape;302;p22"/>
          <p:cNvSpPr txBox="1"/>
          <p:nvPr/>
        </p:nvSpPr>
        <p:spPr bwMode="auto">
          <a:xfrm>
            <a:off x="466725" y="3781425"/>
            <a:ext cx="57507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400" b="1" i="0" u="none" strike="noStrike" cap="none">
                <a:solidFill>
                  <a:srgbClr val="F7931A"/>
                </a:solidFill>
                <a:latin typeface="Poppins"/>
                <a:ea typeface="Poppins"/>
                <a:cs typeface="Poppins"/>
              </a:rPr>
              <a:t>Perché un Proxy Python?</a:t>
            </a:r>
            <a:endParaRPr/>
          </a:p>
        </p:txBody>
      </p:sp>
      <p:sp>
        <p:nvSpPr>
          <p:cNvPr id="244412308" name="Google Shape;303;p22"/>
          <p:cNvSpPr txBox="1"/>
          <p:nvPr/>
        </p:nvSpPr>
        <p:spPr bwMode="auto">
          <a:xfrm>
            <a:off x="466725" y="4191000"/>
            <a:ext cx="54768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Il nodo Bitcoin Core espone un'interfaccia RPC complessa e sensibile. Il server Python agisce da middleware sicuro esponendo solo gli endpoint essenziali (es. /sendtx, /utxos).</a:t>
            </a:r>
            <a:endParaRPr/>
          </a:p>
        </p:txBody>
      </p:sp>
      <p:sp>
        <p:nvSpPr>
          <p:cNvPr id="1842037017" name="Google Shape;304;p22"/>
          <p:cNvSpPr txBox="1"/>
          <p:nvPr/>
        </p:nvSpPr>
        <p:spPr bwMode="auto">
          <a:xfrm>
            <a:off x="6248400" y="3781425"/>
            <a:ext cx="57507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4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</a:rPr>
              <a:t>Isolamento &amp; Sicurezza</a:t>
            </a:r>
            <a:endParaRPr/>
          </a:p>
        </p:txBody>
      </p:sp>
      <p:sp>
        <p:nvSpPr>
          <p:cNvPr id="405434809" name="Google Shape;305;p22"/>
          <p:cNvSpPr txBox="1"/>
          <p:nvPr/>
        </p:nvSpPr>
        <p:spPr bwMode="auto">
          <a:xfrm>
            <a:off x="6248400" y="4191000"/>
            <a:ext cx="54768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Le credenziali RPC del nodo rimangono sul server locale. Il wallet Go invia unicamente la transazione già firmata in esadecimale (rawtx).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5959575" name="Google Shape;310;p23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9352043" name="Google Shape;311;p23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6248400" y="2705100"/>
            <a:ext cx="5476875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9816168" name="Google Shape;312;p23"/>
          <p:cNvSpPr txBox="1"/>
          <p:nvPr/>
        </p:nvSpPr>
        <p:spPr bwMode="auto">
          <a:xfrm>
            <a:off x="847725" y="466725"/>
            <a:ext cx="1134427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Resilienza di Rete: Fallback REST</a:t>
            </a:r>
            <a:endParaRPr/>
          </a:p>
        </p:txBody>
      </p:sp>
      <p:sp>
        <p:nvSpPr>
          <p:cNvPr id="568048933" name="Google Shape;313;p23"/>
          <p:cNvSpPr txBox="1"/>
          <p:nvPr/>
        </p:nvSpPr>
        <p:spPr bwMode="auto">
          <a:xfrm>
            <a:off x="10458450" y="6515100"/>
            <a:ext cx="126682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9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</a:rPr>
              <a:t>Fase 3: High Availability</a:t>
            </a:r>
            <a:endParaRPr/>
          </a:p>
        </p:txBody>
      </p:sp>
      <p:pic>
        <p:nvPicPr>
          <p:cNvPr id="1161116411" name="Google Shape;314;p23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466725" y="5762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7063835" name="Google Shape;315;p23"/>
          <p:cNvSpPr txBox="1"/>
          <p:nvPr/>
        </p:nvSpPr>
        <p:spPr bwMode="auto">
          <a:xfrm>
            <a:off x="466725" y="2705100"/>
            <a:ext cx="57507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Gestione dei Fallimento di Rete</a:t>
            </a:r>
            <a:endParaRPr/>
          </a:p>
        </p:txBody>
      </p:sp>
      <p:sp>
        <p:nvSpPr>
          <p:cNvPr id="578119891" name="Google Shape;316;p23"/>
          <p:cNvSpPr txBox="1"/>
          <p:nvPr/>
        </p:nvSpPr>
        <p:spPr bwMode="auto">
          <a:xfrm>
            <a:off x="733424" y="3095625"/>
            <a:ext cx="52101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Primary Provider: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 Nodo Bitcoin Core locale gestito tramite il Proxy Python.</a:t>
            </a:r>
            <a:endParaRPr/>
          </a:p>
        </p:txBody>
      </p:sp>
      <p:sp>
        <p:nvSpPr>
          <p:cNvPr id="1318764903" name="Google Shape;317;p23"/>
          <p:cNvSpPr txBox="1"/>
          <p:nvPr/>
        </p:nvSpPr>
        <p:spPr bwMode="auto">
          <a:xfrm>
            <a:off x="733424" y="3686175"/>
            <a:ext cx="52101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Failover Automatico: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 Se il nodo è offline o in fase di sincronizzazione, il wallet intercetta l'errore.</a:t>
            </a:r>
            <a:endParaRPr/>
          </a:p>
        </p:txBody>
      </p:sp>
      <p:sp>
        <p:nvSpPr>
          <p:cNvPr id="723631368" name="Google Shape;318;p23"/>
          <p:cNvSpPr txBox="1"/>
          <p:nvPr/>
        </p:nvSpPr>
        <p:spPr bwMode="auto">
          <a:xfrm>
            <a:off x="733424" y="4276725"/>
            <a:ext cx="52101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Secondary Provider: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 Chiamata HTTP REST verso le API di Mempool.space.</a:t>
            </a:r>
            <a:endParaRPr/>
          </a:p>
        </p:txBody>
      </p:sp>
      <p:sp>
        <p:nvSpPr>
          <p:cNvPr id="463096919" name="Google Shape;319;p23"/>
          <p:cNvSpPr txBox="1"/>
          <p:nvPr/>
        </p:nvSpPr>
        <p:spPr bwMode="auto">
          <a:xfrm>
            <a:off x="6410325" y="2876550"/>
            <a:ext cx="20669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1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</a:rPr>
              <a:t>// Flusso di Broadcast con Fallback</a:t>
            </a:r>
            <a:endParaRPr/>
          </a:p>
        </p:txBody>
      </p:sp>
      <p:sp>
        <p:nvSpPr>
          <p:cNvPr id="2104758219" name="Google Shape;320;p23"/>
          <p:cNvSpPr txBox="1"/>
          <p:nvPr/>
        </p:nvSpPr>
        <p:spPr bwMode="auto">
          <a:xfrm>
            <a:off x="8515350" y="287655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F43F5E"/>
                </a:solidFill>
                <a:latin typeface="Inter"/>
                <a:ea typeface="Inter"/>
                <a:cs typeface="Inter"/>
              </a:rPr>
              <a:t>func</a:t>
            </a:r>
            <a:endParaRPr/>
          </a:p>
        </p:txBody>
      </p:sp>
      <p:sp>
        <p:nvSpPr>
          <p:cNvPr id="663786064" name="Google Shape;321;p23"/>
          <p:cNvSpPr txBox="1"/>
          <p:nvPr/>
        </p:nvSpPr>
        <p:spPr bwMode="auto">
          <a:xfrm>
            <a:off x="9525000" y="2876550"/>
            <a:ext cx="7239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A855F7"/>
                </a:solidFill>
                <a:latin typeface="Inter"/>
                <a:ea typeface="Inter"/>
                <a:cs typeface="Inter"/>
              </a:rPr>
              <a:t>BroadcastTx</a:t>
            </a:r>
            <a:endParaRPr/>
          </a:p>
        </p:txBody>
      </p:sp>
      <p:sp>
        <p:nvSpPr>
          <p:cNvPr id="1312548968" name="Google Shape;322;p23"/>
          <p:cNvSpPr txBox="1"/>
          <p:nvPr/>
        </p:nvSpPr>
        <p:spPr bwMode="auto">
          <a:xfrm>
            <a:off x="10677525" y="2876550"/>
            <a:ext cx="33337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F43F5E"/>
                </a:solidFill>
                <a:latin typeface="Inter"/>
                <a:ea typeface="Inter"/>
                <a:cs typeface="Inter"/>
              </a:rPr>
              <a:t>string</a:t>
            </a:r>
            <a:endParaRPr/>
          </a:p>
        </p:txBody>
      </p:sp>
      <p:sp>
        <p:nvSpPr>
          <p:cNvPr id="1626329623" name="Google Shape;323;p23"/>
          <p:cNvSpPr txBox="1"/>
          <p:nvPr/>
        </p:nvSpPr>
        <p:spPr bwMode="auto">
          <a:xfrm>
            <a:off x="7629525" y="3062287"/>
            <a:ext cx="438149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A855F7"/>
                </a:solidFill>
                <a:latin typeface="Inter"/>
                <a:ea typeface="Inter"/>
                <a:cs typeface="Inter"/>
              </a:rPr>
              <a:t>SendTx</a:t>
            </a:r>
            <a:endParaRPr/>
          </a:p>
        </p:txBody>
      </p:sp>
      <p:sp>
        <p:nvSpPr>
          <p:cNvPr id="98338502" name="Google Shape;324;p23"/>
          <p:cNvSpPr txBox="1"/>
          <p:nvPr/>
        </p:nvSpPr>
        <p:spPr bwMode="auto">
          <a:xfrm>
            <a:off x="8543925" y="3062287"/>
            <a:ext cx="762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F43F5E"/>
                </a:solidFill>
                <a:latin typeface="Inter"/>
                <a:ea typeface="Inter"/>
                <a:cs typeface="Inter"/>
              </a:rPr>
              <a:t>if</a:t>
            </a:r>
            <a:endParaRPr/>
          </a:p>
        </p:txBody>
      </p:sp>
      <p:sp>
        <p:nvSpPr>
          <p:cNvPr id="1526777916" name="Google Shape;325;p23"/>
          <p:cNvSpPr txBox="1"/>
          <p:nvPr/>
        </p:nvSpPr>
        <p:spPr bwMode="auto">
          <a:xfrm>
            <a:off x="9344025" y="3062287"/>
            <a:ext cx="36195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F43F5E"/>
                </a:solidFill>
                <a:latin typeface="Inter"/>
                <a:ea typeface="Inter"/>
                <a:cs typeface="Inter"/>
              </a:rPr>
              <a:t>return</a:t>
            </a:r>
            <a:endParaRPr/>
          </a:p>
        </p:txBody>
      </p:sp>
      <p:sp>
        <p:nvSpPr>
          <p:cNvPr id="1780553155" name="Google Shape;326;p23"/>
          <p:cNvSpPr txBox="1"/>
          <p:nvPr/>
        </p:nvSpPr>
        <p:spPr bwMode="auto">
          <a:xfrm>
            <a:off x="9915525" y="3062287"/>
            <a:ext cx="14859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1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</a:rPr>
              <a:t>// Inviata via Nodo Locale</a:t>
            </a:r>
            <a:endParaRPr/>
          </a:p>
        </p:txBody>
      </p:sp>
      <p:sp>
        <p:nvSpPr>
          <p:cNvPr id="1618164824" name="Google Shape;327;p23"/>
          <p:cNvSpPr txBox="1"/>
          <p:nvPr/>
        </p:nvSpPr>
        <p:spPr bwMode="auto">
          <a:xfrm>
            <a:off x="6629400" y="3248025"/>
            <a:ext cx="37147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A855F7"/>
                </a:solidFill>
                <a:latin typeface="Inter"/>
                <a:ea typeface="Inter"/>
                <a:cs typeface="Inter"/>
              </a:rPr>
              <a:t>Println</a:t>
            </a:r>
            <a:endParaRPr/>
          </a:p>
        </p:txBody>
      </p:sp>
      <p:sp>
        <p:nvSpPr>
          <p:cNvPr id="1337852851" name="Google Shape;328;p23"/>
          <p:cNvSpPr txBox="1"/>
          <p:nvPr/>
        </p:nvSpPr>
        <p:spPr bwMode="auto">
          <a:xfrm>
            <a:off x="7048500" y="3248025"/>
            <a:ext cx="341947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22C55E"/>
                </a:solidFill>
                <a:latin typeface="Inter"/>
                <a:ea typeface="Inter"/>
                <a:cs typeface="Inter"/>
              </a:rPr>
              <a:t>"Nodo locale indisponibile. Fallback su Mempool.space..."</a:t>
            </a:r>
            <a:endParaRPr/>
          </a:p>
        </p:txBody>
      </p:sp>
      <p:sp>
        <p:nvSpPr>
          <p:cNvPr id="1009286424" name="Google Shape;329;p23"/>
          <p:cNvSpPr txBox="1"/>
          <p:nvPr/>
        </p:nvSpPr>
        <p:spPr bwMode="auto">
          <a:xfrm>
            <a:off x="10553700" y="3248025"/>
            <a:ext cx="36195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F43F5E"/>
                </a:solidFill>
                <a:latin typeface="Inter"/>
                <a:ea typeface="Inter"/>
                <a:cs typeface="Inter"/>
              </a:rPr>
              <a:t>return</a:t>
            </a:r>
            <a:endParaRPr/>
          </a:p>
        </p:txBody>
      </p:sp>
      <p:sp>
        <p:nvSpPr>
          <p:cNvPr id="1310274759" name="Google Shape;330;p23"/>
          <p:cNvSpPr txBox="1"/>
          <p:nvPr/>
        </p:nvSpPr>
        <p:spPr bwMode="auto">
          <a:xfrm>
            <a:off x="7467600" y="3433762"/>
            <a:ext cx="590549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00" b="0" i="0" u="none" strike="noStrike" cap="none">
                <a:solidFill>
                  <a:srgbClr val="A855F7"/>
                </a:solidFill>
                <a:latin typeface="Inter"/>
                <a:ea typeface="Inter"/>
                <a:cs typeface="Inter"/>
              </a:rPr>
              <a:t>Broadcast</a:t>
            </a:r>
            <a:endParaRPr/>
          </a:p>
        </p:txBody>
      </p:sp>
      <p:pic>
        <p:nvPicPr>
          <p:cNvPr id="1464628372" name="Google Shape;331;p23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466725" y="3114675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7187585" name="Google Shape;332;p23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466725" y="3705225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1386283" name="Google Shape;333;p23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466725" y="4295775"/>
            <a:ext cx="114300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41338" name="Google Shape;312;p23"/>
          <p:cNvSpPr txBox="1"/>
          <p:nvPr/>
        </p:nvSpPr>
        <p:spPr bwMode="auto">
          <a:xfrm>
            <a:off x="847724" y="523942"/>
            <a:ext cx="11361914" cy="38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25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Funzionamento Applicativo</a:t>
            </a:r>
            <a:endParaRPr/>
          </a:p>
        </p:txBody>
      </p:sp>
      <p:sp>
        <p:nvSpPr>
          <p:cNvPr id="799444284" name="Google Shape;313;p23"/>
          <p:cNvSpPr txBox="1"/>
          <p:nvPr/>
        </p:nvSpPr>
        <p:spPr bwMode="auto">
          <a:xfrm>
            <a:off x="10458450" y="6515100"/>
            <a:ext cx="1266824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9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</a:rPr>
              <a:t>Fase 3: High Availability</a:t>
            </a:r>
            <a:endParaRPr/>
          </a:p>
        </p:txBody>
      </p:sp>
      <p:pic>
        <p:nvPicPr>
          <p:cNvPr id="1015115902" name="Google Shape;314;p23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466724" y="576261"/>
            <a:ext cx="266699" cy="266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20</Slides>
  <Notes>20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5</cp:revision>
  <dcterms:modified xsi:type="dcterms:W3CDTF">2026-08-22T14:52:50Z</dcterms:modified>
</cp:coreProperties>
</file>